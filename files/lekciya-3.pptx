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9"/>
  </p:notesMasterIdLst>
  <p:sldIdLst>
    <p:sldId id="256" r:id="rId4"/>
    <p:sldId id="285" r:id="rId5"/>
    <p:sldId id="286" r:id="rId6"/>
    <p:sldId id="287" r:id="rId7"/>
    <p:sldId id="257" r:id="rId8"/>
    <p:sldId id="258" r:id="rId9"/>
    <p:sldId id="278" r:id="rId10"/>
    <p:sldId id="292" r:id="rId11"/>
    <p:sldId id="288" r:id="rId12"/>
    <p:sldId id="289" r:id="rId13"/>
    <p:sldId id="290" r:id="rId14"/>
    <p:sldId id="279" r:id="rId15"/>
    <p:sldId id="294" r:id="rId16"/>
    <p:sldId id="295" r:id="rId17"/>
    <p:sldId id="293" r:id="rId18"/>
    <p:sldId id="296" r:id="rId19"/>
    <p:sldId id="297" r:id="rId20"/>
    <p:sldId id="298" r:id="rId21"/>
    <p:sldId id="299" r:id="rId22"/>
    <p:sldId id="280" r:id="rId23"/>
    <p:sldId id="300" r:id="rId24"/>
    <p:sldId id="284" r:id="rId25"/>
    <p:sldId id="264" r:id="rId26"/>
    <p:sldId id="281" r:id="rId27"/>
    <p:sldId id="301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C3A6F9-838E-4728-A547-B578F7D7EC7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F5A9F0C-AFE3-43A3-A685-FEBC4C5A2834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Экспансия</a:t>
          </a:r>
        </a:p>
      </dgm:t>
    </dgm:pt>
    <dgm:pt modelId="{172817EB-ADDC-42D5-82D3-360885B172AB}" type="parTrans" cxnId="{0D3D0AEB-575C-4F68-8DE0-297F56AAA236}">
      <dgm:prSet/>
      <dgm:spPr/>
      <dgm:t>
        <a:bodyPr/>
        <a:lstStyle/>
        <a:p>
          <a:endParaRPr lang="ru-RU"/>
        </a:p>
      </dgm:t>
    </dgm:pt>
    <dgm:pt modelId="{2C486CE9-A511-41CC-A9F3-0E6A1A8FDDCE}" type="sibTrans" cxnId="{0D3D0AEB-575C-4F68-8DE0-297F56AAA236}">
      <dgm:prSet/>
      <dgm:spPr/>
      <dgm:t>
        <a:bodyPr/>
        <a:lstStyle/>
        <a:p>
          <a:endParaRPr lang="ru-RU"/>
        </a:p>
      </dgm:t>
    </dgm:pt>
    <dgm:pt modelId="{19631627-8BBF-4622-9FDA-C8B8DB3834E4}">
      <dgm:prSet phldrT="[Текст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000" dirty="0"/>
            <a:t>Постоянное расширение территории</a:t>
          </a:r>
        </a:p>
      </dgm:t>
    </dgm:pt>
    <dgm:pt modelId="{5A698444-9D7A-4C3D-AA6D-1A907CE1C652}" type="parTrans" cxnId="{8FF4F5A6-B28D-4A9A-A3AC-31A8C3C96143}">
      <dgm:prSet/>
      <dgm:spPr/>
      <dgm:t>
        <a:bodyPr/>
        <a:lstStyle/>
        <a:p>
          <a:endParaRPr lang="ru-RU"/>
        </a:p>
      </dgm:t>
    </dgm:pt>
    <dgm:pt modelId="{BF168C61-3B7F-46EC-A3A5-21C8DABFB05D}" type="sibTrans" cxnId="{8FF4F5A6-B28D-4A9A-A3AC-31A8C3C96143}">
      <dgm:prSet/>
      <dgm:spPr/>
      <dgm:t>
        <a:bodyPr/>
        <a:lstStyle/>
        <a:p>
          <a:endParaRPr lang="ru-RU"/>
        </a:p>
      </dgm:t>
    </dgm:pt>
    <dgm:pt modelId="{90AC043E-6286-4CF6-90E8-D6DF7194B7D9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Влияние</a:t>
          </a:r>
        </a:p>
      </dgm:t>
    </dgm:pt>
    <dgm:pt modelId="{18CFAC7F-A36A-4D26-8EE2-13AE2DA048F5}" type="parTrans" cxnId="{B8CD681C-A55F-43AA-8D23-105C3498B40C}">
      <dgm:prSet/>
      <dgm:spPr/>
      <dgm:t>
        <a:bodyPr/>
        <a:lstStyle/>
        <a:p>
          <a:endParaRPr lang="ru-RU"/>
        </a:p>
      </dgm:t>
    </dgm:pt>
    <dgm:pt modelId="{2D9F5239-D961-426E-A011-5D85DF8D4950}" type="sibTrans" cxnId="{B8CD681C-A55F-43AA-8D23-105C3498B40C}">
      <dgm:prSet/>
      <dgm:spPr/>
      <dgm:t>
        <a:bodyPr/>
        <a:lstStyle/>
        <a:p>
          <a:endParaRPr lang="ru-RU"/>
        </a:p>
      </dgm:t>
    </dgm:pt>
    <dgm:pt modelId="{F1932DFA-9753-4F33-B0FD-2D1FD65FA2BC}">
      <dgm:prSet phldrT="[Текст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Заключение союзов.</a:t>
          </a:r>
        </a:p>
      </dgm:t>
    </dgm:pt>
    <dgm:pt modelId="{96D7C8D3-3DDD-480B-8D67-2D007838B326}" type="parTrans" cxnId="{EBBE2873-C531-4024-BD5A-DE53B6F88755}">
      <dgm:prSet/>
      <dgm:spPr/>
      <dgm:t>
        <a:bodyPr/>
        <a:lstStyle/>
        <a:p>
          <a:endParaRPr lang="ru-RU"/>
        </a:p>
      </dgm:t>
    </dgm:pt>
    <dgm:pt modelId="{1805C4FE-52C2-4C12-850F-C723121EF933}" type="sibTrans" cxnId="{EBBE2873-C531-4024-BD5A-DE53B6F88755}">
      <dgm:prSet/>
      <dgm:spPr/>
      <dgm:t>
        <a:bodyPr/>
        <a:lstStyle/>
        <a:p>
          <a:endParaRPr lang="ru-RU"/>
        </a:p>
      </dgm:t>
    </dgm:pt>
    <dgm:pt modelId="{CA0CC0A6-8AC5-469E-8F81-7001732B53A2}">
      <dgm:prSet phldrT="[Текст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Победа в войнах без расширения территорий.</a:t>
          </a:r>
        </a:p>
      </dgm:t>
    </dgm:pt>
    <dgm:pt modelId="{9D8F8014-863A-49E9-B084-6FEBBEEB682A}" type="parTrans" cxnId="{98191E86-1ECF-4E34-9D53-B3DF04D61B7E}">
      <dgm:prSet/>
      <dgm:spPr/>
      <dgm:t>
        <a:bodyPr/>
        <a:lstStyle/>
        <a:p>
          <a:endParaRPr lang="ru-RU"/>
        </a:p>
      </dgm:t>
    </dgm:pt>
    <dgm:pt modelId="{D8C4C541-64F0-49E6-99E7-18FC9DB9B499}" type="sibTrans" cxnId="{98191E86-1ECF-4E34-9D53-B3DF04D61B7E}">
      <dgm:prSet/>
      <dgm:spPr/>
      <dgm:t>
        <a:bodyPr/>
        <a:lstStyle/>
        <a:p>
          <a:endParaRPr lang="ru-RU"/>
        </a:p>
      </dgm:t>
    </dgm:pt>
    <dgm:pt modelId="{BBD6A478-D888-421D-A12D-272E27150D11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Обособление</a:t>
          </a:r>
        </a:p>
      </dgm:t>
    </dgm:pt>
    <dgm:pt modelId="{79EAADCE-1E86-45E6-9AAD-6AECB4152168}" type="parTrans" cxnId="{EA939C06-3866-4EC4-A493-EA5F720A9AFB}">
      <dgm:prSet/>
      <dgm:spPr/>
      <dgm:t>
        <a:bodyPr/>
        <a:lstStyle/>
        <a:p>
          <a:endParaRPr lang="ru-RU"/>
        </a:p>
      </dgm:t>
    </dgm:pt>
    <dgm:pt modelId="{F44EEB6C-2A93-4D5C-92BB-CA4AE8D22EAC}" type="sibTrans" cxnId="{EA939C06-3866-4EC4-A493-EA5F720A9AFB}">
      <dgm:prSet/>
      <dgm:spPr/>
      <dgm:t>
        <a:bodyPr/>
        <a:lstStyle/>
        <a:p>
          <a:endParaRPr lang="ru-RU"/>
        </a:p>
      </dgm:t>
    </dgm:pt>
    <dgm:pt modelId="{67E51799-FDA5-4D42-BF2B-C2B2627C2F98}">
      <dgm:prSet phldrT="[Текст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Отказ от взаимодействия с другими сообществами.</a:t>
          </a:r>
        </a:p>
      </dgm:t>
    </dgm:pt>
    <dgm:pt modelId="{F6D05D15-E449-4210-AE0B-15919A2230E7}" type="parTrans" cxnId="{63106B0E-E90A-433B-B59F-6DDE00DA5375}">
      <dgm:prSet/>
      <dgm:spPr/>
      <dgm:t>
        <a:bodyPr/>
        <a:lstStyle/>
        <a:p>
          <a:endParaRPr lang="ru-RU"/>
        </a:p>
      </dgm:t>
    </dgm:pt>
    <dgm:pt modelId="{F6C82940-E4F9-4FEC-B694-0AACC3E10EC7}" type="sibTrans" cxnId="{63106B0E-E90A-433B-B59F-6DDE00DA5375}">
      <dgm:prSet/>
      <dgm:spPr/>
      <dgm:t>
        <a:bodyPr/>
        <a:lstStyle/>
        <a:p>
          <a:endParaRPr lang="ru-RU"/>
        </a:p>
      </dgm:t>
    </dgm:pt>
    <dgm:pt modelId="{38F38514-472A-4CE3-8C20-2251E9F2FAAE}">
      <dgm:prSet phldrT="[Текст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Получение возможности воздействовать на другие сообщества  через экономику или культуру.</a:t>
          </a:r>
        </a:p>
      </dgm:t>
    </dgm:pt>
    <dgm:pt modelId="{6F32E9E9-3918-46EB-A0A6-A37C34775EEE}" type="parTrans" cxnId="{460FCE70-0D76-4E6F-8103-4882DCC995DA}">
      <dgm:prSet/>
      <dgm:spPr/>
    </dgm:pt>
    <dgm:pt modelId="{A07EC2CC-142D-49E9-BA1C-085BE0FCCD4C}" type="sibTrans" cxnId="{460FCE70-0D76-4E6F-8103-4882DCC995DA}">
      <dgm:prSet/>
      <dgm:spPr/>
    </dgm:pt>
    <dgm:pt modelId="{EC1606CF-18BE-48A1-A17C-B2D8037E7879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800" dirty="0"/>
            <a:t>Поглощение </a:t>
          </a:r>
        </a:p>
      </dgm:t>
    </dgm:pt>
    <dgm:pt modelId="{612CDF8A-17AA-4947-9C9C-261ADA8E9899}" type="parTrans" cxnId="{9705CACB-0245-4224-B270-74DBA981E092}">
      <dgm:prSet/>
      <dgm:spPr/>
    </dgm:pt>
    <dgm:pt modelId="{2A6BA15D-0488-477F-8FB7-529D40080735}" type="sibTrans" cxnId="{9705CACB-0245-4224-B270-74DBA981E092}">
      <dgm:prSet/>
      <dgm:spPr/>
    </dgm:pt>
    <dgm:pt modelId="{0E3F494F-A85C-4290-9DF6-D2AAB66449C8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Добровольное или насильственное подчинение другому сообществу.</a:t>
          </a:r>
        </a:p>
      </dgm:t>
    </dgm:pt>
    <dgm:pt modelId="{058CE52D-52C0-4B92-B62C-11F74233B754}" type="parTrans" cxnId="{60B01CA6-D828-411E-9A0F-F6FCCA3F686D}">
      <dgm:prSet/>
      <dgm:spPr/>
    </dgm:pt>
    <dgm:pt modelId="{33446DC8-B7EC-4013-9E2C-CF14BAA290DC}" type="sibTrans" cxnId="{60B01CA6-D828-411E-9A0F-F6FCCA3F686D}">
      <dgm:prSet/>
      <dgm:spPr/>
    </dgm:pt>
    <dgm:pt modelId="{485C44CA-C306-452E-A038-F0C09723FC13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lnSpc>
              <a:spcPts val="2000"/>
            </a:lnSpc>
          </a:pPr>
          <a:r>
            <a:rPr lang="ru-RU" sz="2800" dirty="0"/>
            <a:t>Разделение/</a:t>
          </a:r>
        </a:p>
        <a:p>
          <a:pPr>
            <a:lnSpc>
              <a:spcPts val="2000"/>
            </a:lnSpc>
          </a:pPr>
          <a:r>
            <a:rPr lang="ru-RU" sz="2800" dirty="0"/>
            <a:t>Распад</a:t>
          </a:r>
        </a:p>
      </dgm:t>
    </dgm:pt>
    <dgm:pt modelId="{8E6180EA-16E5-4A85-99BD-F24201FE85FB}" type="parTrans" cxnId="{DE10BEB9-75F2-46C6-9846-709DC8CB3A6B}">
      <dgm:prSet/>
      <dgm:spPr/>
    </dgm:pt>
    <dgm:pt modelId="{29B5C17B-2F1B-4E27-B359-83C62EF9EB20}" type="sibTrans" cxnId="{DE10BEB9-75F2-46C6-9846-709DC8CB3A6B}">
      <dgm:prSet/>
      <dgm:spPr/>
    </dgm:pt>
    <dgm:pt modelId="{F3D5EF13-C6C0-49E7-93AB-12D8434D20C4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Формирование на прежде единой территории новых отдельных сообществ.</a:t>
          </a:r>
        </a:p>
      </dgm:t>
    </dgm:pt>
    <dgm:pt modelId="{3D8EDA96-DD7B-418F-B5FD-7C3D4F2A3604}" type="parTrans" cxnId="{6DB43295-4D90-4FD3-9A4E-5072AC0DAAA3}">
      <dgm:prSet/>
      <dgm:spPr/>
    </dgm:pt>
    <dgm:pt modelId="{5DB6D78D-BEBF-4C27-98CA-8A85EBBE2B9A}" type="sibTrans" cxnId="{6DB43295-4D90-4FD3-9A4E-5072AC0DAAA3}">
      <dgm:prSet/>
      <dgm:spPr/>
    </dgm:pt>
    <dgm:pt modelId="{FC43BFAB-86A8-408E-ABB2-7657B21C02FD}" type="pres">
      <dgm:prSet presAssocID="{04C3A6F9-838E-4728-A547-B578F7D7EC7D}" presName="Name0" presStyleCnt="0">
        <dgm:presLayoutVars>
          <dgm:dir/>
          <dgm:animLvl val="lvl"/>
          <dgm:resizeHandles val="exact"/>
        </dgm:presLayoutVars>
      </dgm:prSet>
      <dgm:spPr/>
    </dgm:pt>
    <dgm:pt modelId="{536901AD-954D-464B-B18E-B4F4409F4A55}" type="pres">
      <dgm:prSet presAssocID="{0F5A9F0C-AFE3-43A3-A685-FEBC4C5A2834}" presName="linNode" presStyleCnt="0"/>
      <dgm:spPr/>
    </dgm:pt>
    <dgm:pt modelId="{C29AE568-5E6A-4908-80F0-D59446A41759}" type="pres">
      <dgm:prSet presAssocID="{0F5A9F0C-AFE3-43A3-A685-FEBC4C5A283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79027B1-4436-4A85-A940-6870B2DA5765}" type="pres">
      <dgm:prSet presAssocID="{0F5A9F0C-AFE3-43A3-A685-FEBC4C5A2834}" presName="descendantText" presStyleLbl="alignAccFollowNode1" presStyleIdx="0" presStyleCnt="5">
        <dgm:presLayoutVars>
          <dgm:bulletEnabled val="1"/>
        </dgm:presLayoutVars>
      </dgm:prSet>
      <dgm:spPr/>
    </dgm:pt>
    <dgm:pt modelId="{B5A0B003-81D3-46E4-90A4-966471D0E912}" type="pres">
      <dgm:prSet presAssocID="{2C486CE9-A511-41CC-A9F3-0E6A1A8FDDCE}" presName="sp" presStyleCnt="0"/>
      <dgm:spPr/>
    </dgm:pt>
    <dgm:pt modelId="{E4A9E9CF-C74B-4146-94ED-433CDFB76760}" type="pres">
      <dgm:prSet presAssocID="{90AC043E-6286-4CF6-90E8-D6DF7194B7D9}" presName="linNode" presStyleCnt="0"/>
      <dgm:spPr/>
    </dgm:pt>
    <dgm:pt modelId="{0ED74623-36CF-481A-A445-93A4EB8164F2}" type="pres">
      <dgm:prSet presAssocID="{90AC043E-6286-4CF6-90E8-D6DF7194B7D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12F5C78F-18A6-47F0-85A8-3AF1CF90146A}" type="pres">
      <dgm:prSet presAssocID="{90AC043E-6286-4CF6-90E8-D6DF7194B7D9}" presName="descendantText" presStyleLbl="alignAccFollowNode1" presStyleIdx="1" presStyleCnt="5" custScaleY="164803">
        <dgm:presLayoutVars>
          <dgm:bulletEnabled val="1"/>
        </dgm:presLayoutVars>
      </dgm:prSet>
      <dgm:spPr/>
    </dgm:pt>
    <dgm:pt modelId="{56132C91-66DE-43C7-935B-827BB771B9DA}" type="pres">
      <dgm:prSet presAssocID="{2D9F5239-D961-426E-A011-5D85DF8D4950}" presName="sp" presStyleCnt="0"/>
      <dgm:spPr/>
    </dgm:pt>
    <dgm:pt modelId="{31F7ACB0-27ED-4554-8E92-865D56042A58}" type="pres">
      <dgm:prSet presAssocID="{BBD6A478-D888-421D-A12D-272E27150D11}" presName="linNode" presStyleCnt="0"/>
      <dgm:spPr/>
    </dgm:pt>
    <dgm:pt modelId="{7D5878CA-45C6-4F6C-9DE1-787DC252026B}" type="pres">
      <dgm:prSet presAssocID="{BBD6A478-D888-421D-A12D-272E27150D1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4771177-2928-4AF8-A26E-48EC8C571840}" type="pres">
      <dgm:prSet presAssocID="{BBD6A478-D888-421D-A12D-272E27150D11}" presName="descendantText" presStyleLbl="alignAccFollowNode1" presStyleIdx="2" presStyleCnt="5">
        <dgm:presLayoutVars>
          <dgm:bulletEnabled val="1"/>
        </dgm:presLayoutVars>
      </dgm:prSet>
      <dgm:spPr/>
    </dgm:pt>
    <dgm:pt modelId="{92621956-2DFB-434B-B4E9-393A5DDAF15F}" type="pres">
      <dgm:prSet presAssocID="{F44EEB6C-2A93-4D5C-92BB-CA4AE8D22EAC}" presName="sp" presStyleCnt="0"/>
      <dgm:spPr/>
    </dgm:pt>
    <dgm:pt modelId="{0C2E7ED0-0428-47DF-8F83-EC7A9499CE58}" type="pres">
      <dgm:prSet presAssocID="{EC1606CF-18BE-48A1-A17C-B2D8037E7879}" presName="linNode" presStyleCnt="0"/>
      <dgm:spPr/>
    </dgm:pt>
    <dgm:pt modelId="{573A39BF-E8A9-46B5-BDEE-F4D6FD678213}" type="pres">
      <dgm:prSet presAssocID="{EC1606CF-18BE-48A1-A17C-B2D8037E787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43235E8-70E1-47C9-AB17-4D4682E97DD3}" type="pres">
      <dgm:prSet presAssocID="{EC1606CF-18BE-48A1-A17C-B2D8037E7879}" presName="descendantText" presStyleLbl="alignAccFollowNode1" presStyleIdx="3" presStyleCnt="5">
        <dgm:presLayoutVars>
          <dgm:bulletEnabled val="1"/>
        </dgm:presLayoutVars>
      </dgm:prSet>
      <dgm:spPr/>
    </dgm:pt>
    <dgm:pt modelId="{3FA00B45-7CEA-4802-80E6-EE3415624AFE}" type="pres">
      <dgm:prSet presAssocID="{2A6BA15D-0488-477F-8FB7-529D40080735}" presName="sp" presStyleCnt="0"/>
      <dgm:spPr/>
    </dgm:pt>
    <dgm:pt modelId="{D946A552-16C6-4F34-8011-9838B5D4761B}" type="pres">
      <dgm:prSet presAssocID="{485C44CA-C306-452E-A038-F0C09723FC13}" presName="linNode" presStyleCnt="0"/>
      <dgm:spPr/>
    </dgm:pt>
    <dgm:pt modelId="{08FC9091-A60A-4248-8FC3-F228F827AA38}" type="pres">
      <dgm:prSet presAssocID="{485C44CA-C306-452E-A038-F0C09723FC13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1AB9B5E-BACB-407B-9A93-08538F42B40E}" type="pres">
      <dgm:prSet presAssocID="{485C44CA-C306-452E-A038-F0C09723FC13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DFABC300-6104-425E-ACB6-0F3D264855C3}" type="presOf" srcId="{0E3F494F-A85C-4290-9DF6-D2AAB66449C8}" destId="{C43235E8-70E1-47C9-AB17-4D4682E97DD3}" srcOrd="0" destOrd="0" presId="urn:microsoft.com/office/officeart/2005/8/layout/vList5"/>
    <dgm:cxn modelId="{89CB9104-B96A-436C-9D17-D4CE0A933D92}" type="presOf" srcId="{F3D5EF13-C6C0-49E7-93AB-12D8434D20C4}" destId="{21AB9B5E-BACB-407B-9A93-08538F42B40E}" srcOrd="0" destOrd="0" presId="urn:microsoft.com/office/officeart/2005/8/layout/vList5"/>
    <dgm:cxn modelId="{EA939C06-3866-4EC4-A493-EA5F720A9AFB}" srcId="{04C3A6F9-838E-4728-A547-B578F7D7EC7D}" destId="{BBD6A478-D888-421D-A12D-272E27150D11}" srcOrd="2" destOrd="0" parTransId="{79EAADCE-1E86-45E6-9AAD-6AECB4152168}" sibTransId="{F44EEB6C-2A93-4D5C-92BB-CA4AE8D22EAC}"/>
    <dgm:cxn modelId="{6459E308-64DE-45F6-9FF6-9E504E3BF3F8}" type="presOf" srcId="{67E51799-FDA5-4D42-BF2B-C2B2627C2F98}" destId="{44771177-2928-4AF8-A26E-48EC8C571840}" srcOrd="0" destOrd="0" presId="urn:microsoft.com/office/officeart/2005/8/layout/vList5"/>
    <dgm:cxn modelId="{63106B0E-E90A-433B-B59F-6DDE00DA5375}" srcId="{BBD6A478-D888-421D-A12D-272E27150D11}" destId="{67E51799-FDA5-4D42-BF2B-C2B2627C2F98}" srcOrd="0" destOrd="0" parTransId="{F6D05D15-E449-4210-AE0B-15919A2230E7}" sibTransId="{F6C82940-E4F9-4FEC-B694-0AACC3E10EC7}"/>
    <dgm:cxn modelId="{8D3E2111-5E18-4068-9164-F06E97EB24A4}" type="presOf" srcId="{EC1606CF-18BE-48A1-A17C-B2D8037E7879}" destId="{573A39BF-E8A9-46B5-BDEE-F4D6FD678213}" srcOrd="0" destOrd="0" presId="urn:microsoft.com/office/officeart/2005/8/layout/vList5"/>
    <dgm:cxn modelId="{B8CD681C-A55F-43AA-8D23-105C3498B40C}" srcId="{04C3A6F9-838E-4728-A547-B578F7D7EC7D}" destId="{90AC043E-6286-4CF6-90E8-D6DF7194B7D9}" srcOrd="1" destOrd="0" parTransId="{18CFAC7F-A36A-4D26-8EE2-13AE2DA048F5}" sibTransId="{2D9F5239-D961-426E-A011-5D85DF8D4950}"/>
    <dgm:cxn modelId="{FCC0221E-D535-40E6-84CC-37781CF8A84B}" type="presOf" srcId="{90AC043E-6286-4CF6-90E8-D6DF7194B7D9}" destId="{0ED74623-36CF-481A-A445-93A4EB8164F2}" srcOrd="0" destOrd="0" presId="urn:microsoft.com/office/officeart/2005/8/layout/vList5"/>
    <dgm:cxn modelId="{95D9CA2A-8406-4535-9BDD-CEBAEE3A3F34}" type="presOf" srcId="{19631627-8BBF-4622-9FDA-C8B8DB3834E4}" destId="{779027B1-4436-4A85-A940-6870B2DA5765}" srcOrd="0" destOrd="0" presId="urn:microsoft.com/office/officeart/2005/8/layout/vList5"/>
    <dgm:cxn modelId="{604C115D-8AA4-41CA-9FF1-BFAA5E7F5511}" type="presOf" srcId="{485C44CA-C306-452E-A038-F0C09723FC13}" destId="{08FC9091-A60A-4248-8FC3-F228F827AA38}" srcOrd="0" destOrd="0" presId="urn:microsoft.com/office/officeart/2005/8/layout/vList5"/>
    <dgm:cxn modelId="{460FCE70-0D76-4E6F-8103-4882DCC995DA}" srcId="{90AC043E-6286-4CF6-90E8-D6DF7194B7D9}" destId="{38F38514-472A-4CE3-8C20-2251E9F2FAAE}" srcOrd="2" destOrd="0" parTransId="{6F32E9E9-3918-46EB-A0A6-A37C34775EEE}" sibTransId="{A07EC2CC-142D-49E9-BA1C-085BE0FCCD4C}"/>
    <dgm:cxn modelId="{EBBE2873-C531-4024-BD5A-DE53B6F88755}" srcId="{90AC043E-6286-4CF6-90E8-D6DF7194B7D9}" destId="{F1932DFA-9753-4F33-B0FD-2D1FD65FA2BC}" srcOrd="0" destOrd="0" parTransId="{96D7C8D3-3DDD-480B-8D67-2D007838B326}" sibTransId="{1805C4FE-52C2-4C12-850F-C723121EF933}"/>
    <dgm:cxn modelId="{2D576E85-334C-40D5-9CCB-4694DA007381}" type="presOf" srcId="{F1932DFA-9753-4F33-B0FD-2D1FD65FA2BC}" destId="{12F5C78F-18A6-47F0-85A8-3AF1CF90146A}" srcOrd="0" destOrd="0" presId="urn:microsoft.com/office/officeart/2005/8/layout/vList5"/>
    <dgm:cxn modelId="{98191E86-1ECF-4E34-9D53-B3DF04D61B7E}" srcId="{90AC043E-6286-4CF6-90E8-D6DF7194B7D9}" destId="{CA0CC0A6-8AC5-469E-8F81-7001732B53A2}" srcOrd="1" destOrd="0" parTransId="{9D8F8014-863A-49E9-B084-6FEBBEEB682A}" sibTransId="{D8C4C541-64F0-49E6-99E7-18FC9DB9B499}"/>
    <dgm:cxn modelId="{6DB43295-4D90-4FD3-9A4E-5072AC0DAAA3}" srcId="{485C44CA-C306-452E-A038-F0C09723FC13}" destId="{F3D5EF13-C6C0-49E7-93AB-12D8434D20C4}" srcOrd="0" destOrd="0" parTransId="{3D8EDA96-DD7B-418F-B5FD-7C3D4F2A3604}" sibTransId="{5DB6D78D-BEBF-4C27-98CA-8A85EBBE2B9A}"/>
    <dgm:cxn modelId="{60B01CA6-D828-411E-9A0F-F6FCCA3F686D}" srcId="{EC1606CF-18BE-48A1-A17C-B2D8037E7879}" destId="{0E3F494F-A85C-4290-9DF6-D2AAB66449C8}" srcOrd="0" destOrd="0" parTransId="{058CE52D-52C0-4B92-B62C-11F74233B754}" sibTransId="{33446DC8-B7EC-4013-9E2C-CF14BAA290DC}"/>
    <dgm:cxn modelId="{8FF4F5A6-B28D-4A9A-A3AC-31A8C3C96143}" srcId="{0F5A9F0C-AFE3-43A3-A685-FEBC4C5A2834}" destId="{19631627-8BBF-4622-9FDA-C8B8DB3834E4}" srcOrd="0" destOrd="0" parTransId="{5A698444-9D7A-4C3D-AA6D-1A907CE1C652}" sibTransId="{BF168C61-3B7F-46EC-A3A5-21C8DABFB05D}"/>
    <dgm:cxn modelId="{DF0582B5-4961-4C5B-A174-0CFA8ACBC8D6}" type="presOf" srcId="{CA0CC0A6-8AC5-469E-8F81-7001732B53A2}" destId="{12F5C78F-18A6-47F0-85A8-3AF1CF90146A}" srcOrd="0" destOrd="1" presId="urn:microsoft.com/office/officeart/2005/8/layout/vList5"/>
    <dgm:cxn modelId="{5DEC49B9-4631-418C-BD98-DC570B5A2D97}" type="presOf" srcId="{38F38514-472A-4CE3-8C20-2251E9F2FAAE}" destId="{12F5C78F-18A6-47F0-85A8-3AF1CF90146A}" srcOrd="0" destOrd="2" presId="urn:microsoft.com/office/officeart/2005/8/layout/vList5"/>
    <dgm:cxn modelId="{DE10BEB9-75F2-46C6-9846-709DC8CB3A6B}" srcId="{04C3A6F9-838E-4728-A547-B578F7D7EC7D}" destId="{485C44CA-C306-452E-A038-F0C09723FC13}" srcOrd="4" destOrd="0" parTransId="{8E6180EA-16E5-4A85-99BD-F24201FE85FB}" sibTransId="{29B5C17B-2F1B-4E27-B359-83C62EF9EB20}"/>
    <dgm:cxn modelId="{9705CACB-0245-4224-B270-74DBA981E092}" srcId="{04C3A6F9-838E-4728-A547-B578F7D7EC7D}" destId="{EC1606CF-18BE-48A1-A17C-B2D8037E7879}" srcOrd="3" destOrd="0" parTransId="{612CDF8A-17AA-4947-9C9C-261ADA8E9899}" sibTransId="{2A6BA15D-0488-477F-8FB7-529D40080735}"/>
    <dgm:cxn modelId="{BFBB24DC-5592-489F-98DD-04E51230DD51}" type="presOf" srcId="{04C3A6F9-838E-4728-A547-B578F7D7EC7D}" destId="{FC43BFAB-86A8-408E-ABB2-7657B21C02FD}" srcOrd="0" destOrd="0" presId="urn:microsoft.com/office/officeart/2005/8/layout/vList5"/>
    <dgm:cxn modelId="{A1F1A2E1-928F-47DE-A58E-45ABCBEEA882}" type="presOf" srcId="{BBD6A478-D888-421D-A12D-272E27150D11}" destId="{7D5878CA-45C6-4F6C-9DE1-787DC252026B}" srcOrd="0" destOrd="0" presId="urn:microsoft.com/office/officeart/2005/8/layout/vList5"/>
    <dgm:cxn modelId="{0D3D0AEB-575C-4F68-8DE0-297F56AAA236}" srcId="{04C3A6F9-838E-4728-A547-B578F7D7EC7D}" destId="{0F5A9F0C-AFE3-43A3-A685-FEBC4C5A2834}" srcOrd="0" destOrd="0" parTransId="{172817EB-ADDC-42D5-82D3-360885B172AB}" sibTransId="{2C486CE9-A511-41CC-A9F3-0E6A1A8FDDCE}"/>
    <dgm:cxn modelId="{33F170FD-2D9B-4365-9102-118182D5020D}" type="presOf" srcId="{0F5A9F0C-AFE3-43A3-A685-FEBC4C5A2834}" destId="{C29AE568-5E6A-4908-80F0-D59446A41759}" srcOrd="0" destOrd="0" presId="urn:microsoft.com/office/officeart/2005/8/layout/vList5"/>
    <dgm:cxn modelId="{919A7701-3CF0-46A1-B999-C63496193BBC}" type="presParOf" srcId="{FC43BFAB-86A8-408E-ABB2-7657B21C02FD}" destId="{536901AD-954D-464B-B18E-B4F4409F4A55}" srcOrd="0" destOrd="0" presId="urn:microsoft.com/office/officeart/2005/8/layout/vList5"/>
    <dgm:cxn modelId="{5ED769E2-4672-473E-B976-18ABD0D79A74}" type="presParOf" srcId="{536901AD-954D-464B-B18E-B4F4409F4A55}" destId="{C29AE568-5E6A-4908-80F0-D59446A41759}" srcOrd="0" destOrd="0" presId="urn:microsoft.com/office/officeart/2005/8/layout/vList5"/>
    <dgm:cxn modelId="{92FEF191-5058-43A7-9DF2-DE6B2E8DE74C}" type="presParOf" srcId="{536901AD-954D-464B-B18E-B4F4409F4A55}" destId="{779027B1-4436-4A85-A940-6870B2DA5765}" srcOrd="1" destOrd="0" presId="urn:microsoft.com/office/officeart/2005/8/layout/vList5"/>
    <dgm:cxn modelId="{94CE9DE6-B502-42F6-9323-04786F770B39}" type="presParOf" srcId="{FC43BFAB-86A8-408E-ABB2-7657B21C02FD}" destId="{B5A0B003-81D3-46E4-90A4-966471D0E912}" srcOrd="1" destOrd="0" presId="urn:microsoft.com/office/officeart/2005/8/layout/vList5"/>
    <dgm:cxn modelId="{25918BDD-7D7A-4F63-A99B-29777A0F53CB}" type="presParOf" srcId="{FC43BFAB-86A8-408E-ABB2-7657B21C02FD}" destId="{E4A9E9CF-C74B-4146-94ED-433CDFB76760}" srcOrd="2" destOrd="0" presId="urn:microsoft.com/office/officeart/2005/8/layout/vList5"/>
    <dgm:cxn modelId="{7E593E6B-F6A5-45DE-A3D4-7C556A34ED65}" type="presParOf" srcId="{E4A9E9CF-C74B-4146-94ED-433CDFB76760}" destId="{0ED74623-36CF-481A-A445-93A4EB8164F2}" srcOrd="0" destOrd="0" presId="urn:microsoft.com/office/officeart/2005/8/layout/vList5"/>
    <dgm:cxn modelId="{B93D58BD-955C-4CB5-AA51-3F4C14CA248B}" type="presParOf" srcId="{E4A9E9CF-C74B-4146-94ED-433CDFB76760}" destId="{12F5C78F-18A6-47F0-85A8-3AF1CF90146A}" srcOrd="1" destOrd="0" presId="urn:microsoft.com/office/officeart/2005/8/layout/vList5"/>
    <dgm:cxn modelId="{E9696FD7-B8C0-464E-B27D-48A61A70BC52}" type="presParOf" srcId="{FC43BFAB-86A8-408E-ABB2-7657B21C02FD}" destId="{56132C91-66DE-43C7-935B-827BB771B9DA}" srcOrd="3" destOrd="0" presId="urn:microsoft.com/office/officeart/2005/8/layout/vList5"/>
    <dgm:cxn modelId="{244F4AB7-9145-4E68-9880-72EE6CF34463}" type="presParOf" srcId="{FC43BFAB-86A8-408E-ABB2-7657B21C02FD}" destId="{31F7ACB0-27ED-4554-8E92-865D56042A58}" srcOrd="4" destOrd="0" presId="urn:microsoft.com/office/officeart/2005/8/layout/vList5"/>
    <dgm:cxn modelId="{751C0A93-F757-486F-B5CE-5B110B59BCF0}" type="presParOf" srcId="{31F7ACB0-27ED-4554-8E92-865D56042A58}" destId="{7D5878CA-45C6-4F6C-9DE1-787DC252026B}" srcOrd="0" destOrd="0" presId="urn:microsoft.com/office/officeart/2005/8/layout/vList5"/>
    <dgm:cxn modelId="{2D43DAAD-A2ED-4EA3-A134-0399B875EEE2}" type="presParOf" srcId="{31F7ACB0-27ED-4554-8E92-865D56042A58}" destId="{44771177-2928-4AF8-A26E-48EC8C571840}" srcOrd="1" destOrd="0" presId="urn:microsoft.com/office/officeart/2005/8/layout/vList5"/>
    <dgm:cxn modelId="{5CF5AEE1-8667-487F-9818-919FE53527A4}" type="presParOf" srcId="{FC43BFAB-86A8-408E-ABB2-7657B21C02FD}" destId="{92621956-2DFB-434B-B4E9-393A5DDAF15F}" srcOrd="5" destOrd="0" presId="urn:microsoft.com/office/officeart/2005/8/layout/vList5"/>
    <dgm:cxn modelId="{E177550A-15D3-42D0-9DE3-71A3CB036CC2}" type="presParOf" srcId="{FC43BFAB-86A8-408E-ABB2-7657B21C02FD}" destId="{0C2E7ED0-0428-47DF-8F83-EC7A9499CE58}" srcOrd="6" destOrd="0" presId="urn:microsoft.com/office/officeart/2005/8/layout/vList5"/>
    <dgm:cxn modelId="{0B475478-B605-4477-943B-1237DE704C34}" type="presParOf" srcId="{0C2E7ED0-0428-47DF-8F83-EC7A9499CE58}" destId="{573A39BF-E8A9-46B5-BDEE-F4D6FD678213}" srcOrd="0" destOrd="0" presId="urn:microsoft.com/office/officeart/2005/8/layout/vList5"/>
    <dgm:cxn modelId="{93CE935D-7225-4032-BAE7-A2096A78CD0B}" type="presParOf" srcId="{0C2E7ED0-0428-47DF-8F83-EC7A9499CE58}" destId="{C43235E8-70E1-47C9-AB17-4D4682E97DD3}" srcOrd="1" destOrd="0" presId="urn:microsoft.com/office/officeart/2005/8/layout/vList5"/>
    <dgm:cxn modelId="{DE10F9C7-8B4A-4143-817F-EE8CDB60443F}" type="presParOf" srcId="{FC43BFAB-86A8-408E-ABB2-7657B21C02FD}" destId="{3FA00B45-7CEA-4802-80E6-EE3415624AFE}" srcOrd="7" destOrd="0" presId="urn:microsoft.com/office/officeart/2005/8/layout/vList5"/>
    <dgm:cxn modelId="{5D4036A0-1549-48A9-8A2B-2EF6BB0276B3}" type="presParOf" srcId="{FC43BFAB-86A8-408E-ABB2-7657B21C02FD}" destId="{D946A552-16C6-4F34-8011-9838B5D4761B}" srcOrd="8" destOrd="0" presId="urn:microsoft.com/office/officeart/2005/8/layout/vList5"/>
    <dgm:cxn modelId="{D457DF38-8AB9-46C3-964E-87D4EC878133}" type="presParOf" srcId="{D946A552-16C6-4F34-8011-9838B5D4761B}" destId="{08FC9091-A60A-4248-8FC3-F228F827AA38}" srcOrd="0" destOrd="0" presId="urn:microsoft.com/office/officeart/2005/8/layout/vList5"/>
    <dgm:cxn modelId="{4B19DE19-F74B-4BB2-BDC4-3A8D3CAFC3C0}" type="presParOf" srcId="{D946A552-16C6-4F34-8011-9838B5D4761B}" destId="{21AB9B5E-BACB-407B-9A93-08538F42B40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5A9D95-5005-4C25-8F48-E6F861455842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D7AAA6B-D587-4C8F-B714-05FB022538EA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VIII -</a:t>
          </a:r>
          <a:r>
            <a:rPr lang="ru-RU" sz="1800" dirty="0"/>
            <a:t> </a:t>
          </a:r>
          <a:r>
            <a:rPr lang="en-US" sz="1800" dirty="0"/>
            <a:t>X</a:t>
          </a:r>
          <a:endParaRPr lang="ru-RU" sz="1800" dirty="0"/>
        </a:p>
      </dgm:t>
    </dgm:pt>
    <dgm:pt modelId="{00A748EC-63D0-4014-89FD-17E07B292B7E}" type="parTrans" cxnId="{8C87ECDF-CF5B-47C9-9870-DB97BD2C7E44}">
      <dgm:prSet/>
      <dgm:spPr/>
      <dgm:t>
        <a:bodyPr/>
        <a:lstStyle/>
        <a:p>
          <a:endParaRPr lang="ru-RU"/>
        </a:p>
      </dgm:t>
    </dgm:pt>
    <dgm:pt modelId="{ACFC8DB4-C366-4BAD-BE49-1D430EC602BC}" type="sibTrans" cxnId="{8C87ECDF-CF5B-47C9-9870-DB97BD2C7E44}">
      <dgm:prSet/>
      <dgm:spPr/>
      <dgm:t>
        <a:bodyPr/>
        <a:lstStyle/>
        <a:p>
          <a:endParaRPr lang="ru-RU"/>
        </a:p>
      </dgm:t>
    </dgm:pt>
    <dgm:pt modelId="{70B5BA80-643A-44C5-B3BB-7B79B7B8A2F9}">
      <dgm:prSet phldrT="[Текст]" custT="1"/>
      <dgm:spPr/>
      <dgm:t>
        <a:bodyPr/>
        <a:lstStyle/>
        <a:p>
          <a:r>
            <a:rPr lang="ru-RU" sz="1600" dirty="0"/>
            <a:t>Экспансия  </a:t>
          </a:r>
        </a:p>
      </dgm:t>
    </dgm:pt>
    <dgm:pt modelId="{5C4556E5-63EB-4248-88C2-A668E2E1809C}" type="parTrans" cxnId="{BB2944B3-EF00-4FC9-9C5A-97AA1A59A505}">
      <dgm:prSet/>
      <dgm:spPr/>
      <dgm:t>
        <a:bodyPr/>
        <a:lstStyle/>
        <a:p>
          <a:endParaRPr lang="ru-RU"/>
        </a:p>
      </dgm:t>
    </dgm:pt>
    <dgm:pt modelId="{BF6B5E90-4761-4467-A896-A236067DBE8F}" type="sibTrans" cxnId="{BB2944B3-EF00-4FC9-9C5A-97AA1A59A505}">
      <dgm:prSet/>
      <dgm:spPr/>
      <dgm:t>
        <a:bodyPr/>
        <a:lstStyle/>
        <a:p>
          <a:endParaRPr lang="ru-RU"/>
        </a:p>
      </dgm:t>
    </dgm:pt>
    <dgm:pt modelId="{901F5193-850B-42F0-B898-06F4AA0A48BD}">
      <dgm:prSet phldrT="[Текст]" custT="1"/>
      <dgm:spPr/>
      <dgm:t>
        <a:bodyPr/>
        <a:lstStyle/>
        <a:p>
          <a:r>
            <a:rPr lang="ru-RU" sz="1600" dirty="0"/>
            <a:t>Максимальная – при Святославе Игоревиче</a:t>
          </a:r>
        </a:p>
      </dgm:t>
    </dgm:pt>
    <dgm:pt modelId="{3FACFF81-20C9-4542-B733-CD0973583931}" type="parTrans" cxnId="{4495279E-30D2-439E-8FDD-D979D1964CBC}">
      <dgm:prSet/>
      <dgm:spPr/>
      <dgm:t>
        <a:bodyPr/>
        <a:lstStyle/>
        <a:p>
          <a:endParaRPr lang="ru-RU"/>
        </a:p>
      </dgm:t>
    </dgm:pt>
    <dgm:pt modelId="{A4EEC7B4-F494-4B4A-9908-E4A4D2117B10}" type="sibTrans" cxnId="{4495279E-30D2-439E-8FDD-D979D1964CBC}">
      <dgm:prSet/>
      <dgm:spPr/>
      <dgm:t>
        <a:bodyPr/>
        <a:lstStyle/>
        <a:p>
          <a:endParaRPr lang="ru-RU"/>
        </a:p>
      </dgm:t>
    </dgm:pt>
    <dgm:pt modelId="{B7AAFA84-3D0D-48D2-A623-96DCB3BE2B57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XI – </a:t>
          </a:r>
          <a:r>
            <a:rPr lang="ru-RU" sz="1800" dirty="0"/>
            <a:t>нач. </a:t>
          </a:r>
          <a:r>
            <a:rPr lang="en-US" sz="1800" dirty="0"/>
            <a:t>XIII </a:t>
          </a:r>
          <a:endParaRPr lang="ru-RU" sz="1800" dirty="0"/>
        </a:p>
      </dgm:t>
    </dgm:pt>
    <dgm:pt modelId="{B37D7D72-B48B-4BDC-AF83-F60F08EFB540}" type="parTrans" cxnId="{6B4F4CA9-CD8E-4D64-BF9B-1A516F885DD9}">
      <dgm:prSet/>
      <dgm:spPr/>
      <dgm:t>
        <a:bodyPr/>
        <a:lstStyle/>
        <a:p>
          <a:endParaRPr lang="ru-RU"/>
        </a:p>
      </dgm:t>
    </dgm:pt>
    <dgm:pt modelId="{82A29646-7C90-4D42-81BF-7AEB096E87A5}" type="sibTrans" cxnId="{6B4F4CA9-CD8E-4D64-BF9B-1A516F885DD9}">
      <dgm:prSet/>
      <dgm:spPr/>
      <dgm:t>
        <a:bodyPr/>
        <a:lstStyle/>
        <a:p>
          <a:endParaRPr lang="ru-RU"/>
        </a:p>
      </dgm:t>
    </dgm:pt>
    <dgm:pt modelId="{20E57F8A-79DD-4E7E-9811-BD8E41BC9FCA}">
      <dgm:prSet phldrT="[Текст]" custT="1"/>
      <dgm:spPr/>
      <dgm:t>
        <a:bodyPr/>
        <a:lstStyle/>
        <a:p>
          <a:r>
            <a:rPr lang="ru-RU" sz="1600" dirty="0"/>
            <a:t>Под культурным влиянием Византии </a:t>
          </a:r>
        </a:p>
      </dgm:t>
    </dgm:pt>
    <dgm:pt modelId="{34C885DD-D4EF-4001-8203-A95EA687BAC9}" type="parTrans" cxnId="{74B6E12B-B19A-4127-97A0-3DC0F783231D}">
      <dgm:prSet/>
      <dgm:spPr/>
      <dgm:t>
        <a:bodyPr/>
        <a:lstStyle/>
        <a:p>
          <a:endParaRPr lang="ru-RU"/>
        </a:p>
      </dgm:t>
    </dgm:pt>
    <dgm:pt modelId="{A6EB2487-5239-490F-B9D6-0F098DA977D3}" type="sibTrans" cxnId="{74B6E12B-B19A-4127-97A0-3DC0F783231D}">
      <dgm:prSet/>
      <dgm:spPr/>
      <dgm:t>
        <a:bodyPr/>
        <a:lstStyle/>
        <a:p>
          <a:endParaRPr lang="ru-RU"/>
        </a:p>
      </dgm:t>
    </dgm:pt>
    <dgm:pt modelId="{7F519B19-D5D7-48EE-9348-A4A2E33667EE}">
      <dgm:prSet phldrT="[Текст]" custT="1"/>
      <dgm:spPr/>
      <dgm:t>
        <a:bodyPr/>
        <a:lstStyle/>
        <a:p>
          <a:r>
            <a:rPr lang="ru-RU" sz="1600" dirty="0"/>
            <a:t>Русь – митрополия Восточной христианской церкви </a:t>
          </a:r>
        </a:p>
      </dgm:t>
    </dgm:pt>
    <dgm:pt modelId="{76FF07C4-3C34-4C46-8B88-5E80B3051929}" type="parTrans" cxnId="{EEEB21EE-82B7-4578-86E2-1D99890505D8}">
      <dgm:prSet/>
      <dgm:spPr/>
      <dgm:t>
        <a:bodyPr/>
        <a:lstStyle/>
        <a:p>
          <a:endParaRPr lang="ru-RU"/>
        </a:p>
      </dgm:t>
    </dgm:pt>
    <dgm:pt modelId="{BC914474-B2D5-4488-A08E-7D05D74771E9}" type="sibTrans" cxnId="{EEEB21EE-82B7-4578-86E2-1D99890505D8}">
      <dgm:prSet/>
      <dgm:spPr/>
      <dgm:t>
        <a:bodyPr/>
        <a:lstStyle/>
        <a:p>
          <a:endParaRPr lang="ru-RU"/>
        </a:p>
      </dgm:t>
    </dgm:pt>
    <dgm:pt modelId="{59F27D0C-4550-41F1-976A-1A8F5DCBA3DE}">
      <dgm:prSet phldrT="[Текст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XIII - XV </a:t>
          </a:r>
          <a:endParaRPr lang="ru-RU" sz="1800" dirty="0"/>
        </a:p>
      </dgm:t>
    </dgm:pt>
    <dgm:pt modelId="{DE64C349-6B89-40B4-BA5D-28288494D8E6}" type="parTrans" cxnId="{1C123B25-966B-4292-8765-E4BC7A40968E}">
      <dgm:prSet/>
      <dgm:spPr/>
      <dgm:t>
        <a:bodyPr/>
        <a:lstStyle/>
        <a:p>
          <a:endParaRPr lang="ru-RU"/>
        </a:p>
      </dgm:t>
    </dgm:pt>
    <dgm:pt modelId="{F5ABB855-6BD0-49AB-92AC-D89B8583B39D}" type="sibTrans" cxnId="{1C123B25-966B-4292-8765-E4BC7A40968E}">
      <dgm:prSet/>
      <dgm:spPr/>
      <dgm:t>
        <a:bodyPr/>
        <a:lstStyle/>
        <a:p>
          <a:endParaRPr lang="ru-RU"/>
        </a:p>
      </dgm:t>
    </dgm:pt>
    <dgm:pt modelId="{0980ADD6-FA7B-4D5B-B60E-AC73BB0B195D}">
      <dgm:prSet phldrT="[Текст]" custT="1"/>
      <dgm:spPr/>
      <dgm:t>
        <a:bodyPr/>
        <a:lstStyle/>
        <a:p>
          <a:r>
            <a:rPr lang="ru-RU" sz="1600" dirty="0"/>
            <a:t>Поглощение Ордой и Вел. Кн. Литовским</a:t>
          </a:r>
        </a:p>
      </dgm:t>
    </dgm:pt>
    <dgm:pt modelId="{7E204FB8-3CB1-4979-9AB6-229B6CCBA7FF}" type="parTrans" cxnId="{2EFD246F-1AE6-41CE-A05C-550B68AEF8E3}">
      <dgm:prSet/>
      <dgm:spPr/>
      <dgm:t>
        <a:bodyPr/>
        <a:lstStyle/>
        <a:p>
          <a:endParaRPr lang="ru-RU"/>
        </a:p>
      </dgm:t>
    </dgm:pt>
    <dgm:pt modelId="{8E9F4500-37DC-4DED-AC0E-166BC61C0CC3}" type="sibTrans" cxnId="{2EFD246F-1AE6-41CE-A05C-550B68AEF8E3}">
      <dgm:prSet/>
      <dgm:spPr/>
      <dgm:t>
        <a:bodyPr/>
        <a:lstStyle/>
        <a:p>
          <a:endParaRPr lang="ru-RU"/>
        </a:p>
      </dgm:t>
    </dgm:pt>
    <dgm:pt modelId="{90DC0764-FAD6-494F-8765-54204454CF76}">
      <dgm:prSet phldrT="[Текст]" custT="1"/>
      <dgm:spPr/>
      <dgm:t>
        <a:bodyPr/>
        <a:lstStyle/>
        <a:p>
          <a:r>
            <a:rPr lang="ru-RU" sz="1600" dirty="0"/>
            <a:t>Внутренняя экспансия Москвы на русских землях и начальный этап экспансии на восток </a:t>
          </a:r>
        </a:p>
      </dgm:t>
    </dgm:pt>
    <dgm:pt modelId="{01FDC1B2-51B8-4490-B501-51EC346BFD12}" type="parTrans" cxnId="{9C5261E4-DAF0-4372-BB42-5E2B9FBDB330}">
      <dgm:prSet/>
      <dgm:spPr/>
      <dgm:t>
        <a:bodyPr/>
        <a:lstStyle/>
        <a:p>
          <a:endParaRPr lang="ru-RU"/>
        </a:p>
      </dgm:t>
    </dgm:pt>
    <dgm:pt modelId="{5C17D0F2-9FC3-49A6-B2BE-38D17ED6C1F9}" type="sibTrans" cxnId="{9C5261E4-DAF0-4372-BB42-5E2B9FBDB330}">
      <dgm:prSet/>
      <dgm:spPr/>
      <dgm:t>
        <a:bodyPr/>
        <a:lstStyle/>
        <a:p>
          <a:endParaRPr lang="ru-RU"/>
        </a:p>
      </dgm:t>
    </dgm:pt>
    <dgm:pt modelId="{C9F5C89B-0FE6-4564-84AB-ED61C2B5135A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XVI </a:t>
          </a:r>
          <a:endParaRPr lang="ru-RU" sz="1800" dirty="0"/>
        </a:p>
      </dgm:t>
    </dgm:pt>
    <dgm:pt modelId="{DA9E22D3-DEE3-42E0-8CF9-5A4E9D027E24}" type="parTrans" cxnId="{2DDC0B4B-B0CE-47F6-9C11-2B1352542C49}">
      <dgm:prSet/>
      <dgm:spPr/>
      <dgm:t>
        <a:bodyPr/>
        <a:lstStyle/>
        <a:p>
          <a:endParaRPr lang="ru-RU"/>
        </a:p>
      </dgm:t>
    </dgm:pt>
    <dgm:pt modelId="{479E3CD6-082C-48CB-B4ED-F2A28417F27D}" type="sibTrans" cxnId="{2DDC0B4B-B0CE-47F6-9C11-2B1352542C49}">
      <dgm:prSet/>
      <dgm:spPr/>
      <dgm:t>
        <a:bodyPr/>
        <a:lstStyle/>
        <a:p>
          <a:endParaRPr lang="ru-RU"/>
        </a:p>
      </dgm:t>
    </dgm:pt>
    <dgm:pt modelId="{05D05FBC-4E87-4AFC-8284-B7716B2C2CF3}">
      <dgm:prSet custT="1"/>
      <dgm:spPr/>
      <dgm:t>
        <a:bodyPr/>
        <a:lstStyle/>
        <a:p>
          <a:r>
            <a:rPr lang="ru-RU" sz="1600" dirty="0"/>
            <a:t>Экспансия </a:t>
          </a:r>
        </a:p>
      </dgm:t>
    </dgm:pt>
    <dgm:pt modelId="{D31B332F-19A4-4191-BBB4-36D9DF52D5F7}" type="parTrans" cxnId="{8A86BA47-A587-484E-AD7E-78476F80F380}">
      <dgm:prSet/>
      <dgm:spPr/>
      <dgm:t>
        <a:bodyPr/>
        <a:lstStyle/>
        <a:p>
          <a:endParaRPr lang="ru-RU"/>
        </a:p>
      </dgm:t>
    </dgm:pt>
    <dgm:pt modelId="{26E3564B-8C5D-4D2F-913D-54BF9D45D105}" type="sibTrans" cxnId="{8A86BA47-A587-484E-AD7E-78476F80F380}">
      <dgm:prSet/>
      <dgm:spPr/>
      <dgm:t>
        <a:bodyPr/>
        <a:lstStyle/>
        <a:p>
          <a:endParaRPr lang="ru-RU"/>
        </a:p>
      </dgm:t>
    </dgm:pt>
    <dgm:pt modelId="{45B1B8AB-A99C-4002-9FEC-4C0F8B0D855A}">
      <dgm:prSet custT="1"/>
      <dgm:spPr/>
      <dgm:t>
        <a:bodyPr/>
        <a:lstStyle/>
        <a:p>
          <a:r>
            <a:rPr lang="ru-RU" sz="1600" dirty="0"/>
            <a:t>Успешная – на восток. Неудачная – на запад</a:t>
          </a:r>
        </a:p>
      </dgm:t>
    </dgm:pt>
    <dgm:pt modelId="{9FA47B1C-BD4B-4B47-8473-4FF760A6CCED}" type="parTrans" cxnId="{D91A4D88-90EB-473F-BDF2-B5374D8416CE}">
      <dgm:prSet/>
      <dgm:spPr/>
      <dgm:t>
        <a:bodyPr/>
        <a:lstStyle/>
        <a:p>
          <a:endParaRPr lang="ru-RU"/>
        </a:p>
      </dgm:t>
    </dgm:pt>
    <dgm:pt modelId="{21838CA7-468D-4CF5-BC3F-25CE3C94AEEE}" type="sibTrans" cxnId="{D91A4D88-90EB-473F-BDF2-B5374D8416CE}">
      <dgm:prSet/>
      <dgm:spPr/>
      <dgm:t>
        <a:bodyPr/>
        <a:lstStyle/>
        <a:p>
          <a:endParaRPr lang="ru-RU"/>
        </a:p>
      </dgm:t>
    </dgm:pt>
    <dgm:pt modelId="{0CD72EB1-CB5D-4776-A2CE-15CF0388C9D7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800" dirty="0"/>
            <a:t>нач. </a:t>
          </a:r>
          <a:r>
            <a:rPr lang="en-US" sz="1800" dirty="0"/>
            <a:t>XVII </a:t>
          </a:r>
          <a:r>
            <a:rPr lang="ru-RU" sz="1800" dirty="0"/>
            <a:t> </a:t>
          </a:r>
        </a:p>
      </dgm:t>
    </dgm:pt>
    <dgm:pt modelId="{1A1FBC9B-AC86-4021-97C6-6D45CFAD4147}" type="parTrans" cxnId="{A956EA32-E3E6-4035-87F3-C56FC8F7BCF3}">
      <dgm:prSet/>
      <dgm:spPr/>
      <dgm:t>
        <a:bodyPr/>
        <a:lstStyle/>
        <a:p>
          <a:endParaRPr lang="ru-RU"/>
        </a:p>
      </dgm:t>
    </dgm:pt>
    <dgm:pt modelId="{D8FCB9C2-6AA1-4EA7-BF45-88FECE65CB24}" type="sibTrans" cxnId="{A956EA32-E3E6-4035-87F3-C56FC8F7BCF3}">
      <dgm:prSet/>
      <dgm:spPr/>
      <dgm:t>
        <a:bodyPr/>
        <a:lstStyle/>
        <a:p>
          <a:endParaRPr lang="ru-RU"/>
        </a:p>
      </dgm:t>
    </dgm:pt>
    <dgm:pt modelId="{D09F2F1D-C19B-4859-AFC1-09C18632CFB5}">
      <dgm:prSet custT="1"/>
      <dgm:spPr/>
      <dgm:t>
        <a:bodyPr/>
        <a:lstStyle/>
        <a:p>
          <a:r>
            <a:rPr lang="ru-RU" sz="1600" dirty="0"/>
            <a:t>Распад</a:t>
          </a:r>
        </a:p>
      </dgm:t>
    </dgm:pt>
    <dgm:pt modelId="{58CE65AD-EBA9-4379-A3FD-2863350823FA}" type="parTrans" cxnId="{2C7C1BB2-1D3A-4158-A5CA-5AAB6ABD340D}">
      <dgm:prSet/>
      <dgm:spPr/>
      <dgm:t>
        <a:bodyPr/>
        <a:lstStyle/>
        <a:p>
          <a:endParaRPr lang="ru-RU"/>
        </a:p>
      </dgm:t>
    </dgm:pt>
    <dgm:pt modelId="{8670F720-A277-4829-AF21-67F7FD02405E}" type="sibTrans" cxnId="{2C7C1BB2-1D3A-4158-A5CA-5AAB6ABD340D}">
      <dgm:prSet/>
      <dgm:spPr/>
      <dgm:t>
        <a:bodyPr/>
        <a:lstStyle/>
        <a:p>
          <a:endParaRPr lang="ru-RU"/>
        </a:p>
      </dgm:t>
    </dgm:pt>
    <dgm:pt modelId="{78EAE50F-CE0B-4A72-9938-4D13AC1614D3}">
      <dgm:prSet custT="1"/>
      <dgm:spPr/>
      <dgm:t>
        <a:bodyPr/>
        <a:lstStyle/>
        <a:p>
          <a:r>
            <a:rPr lang="ru-RU" sz="1600" dirty="0"/>
            <a:t>Процесс не был завершен и официально оформлен</a:t>
          </a:r>
        </a:p>
      </dgm:t>
    </dgm:pt>
    <dgm:pt modelId="{8CC6F058-60F2-421F-961D-D72483AA2D36}" type="parTrans" cxnId="{E62EF5EB-48CE-46F6-AEFF-44EC3099FFEA}">
      <dgm:prSet/>
      <dgm:spPr/>
      <dgm:t>
        <a:bodyPr/>
        <a:lstStyle/>
        <a:p>
          <a:endParaRPr lang="ru-RU"/>
        </a:p>
      </dgm:t>
    </dgm:pt>
    <dgm:pt modelId="{9C174BA5-8C86-464E-965D-C1BB737DCC95}" type="sibTrans" cxnId="{E62EF5EB-48CE-46F6-AEFF-44EC3099FFEA}">
      <dgm:prSet/>
      <dgm:spPr/>
      <dgm:t>
        <a:bodyPr/>
        <a:lstStyle/>
        <a:p>
          <a:endParaRPr lang="ru-RU"/>
        </a:p>
      </dgm:t>
    </dgm:pt>
    <dgm:pt modelId="{FD814358-8A65-4B6D-8804-4FC0C9A0472E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XVII </a:t>
          </a:r>
          <a:endParaRPr lang="ru-RU" sz="1800" dirty="0"/>
        </a:p>
      </dgm:t>
    </dgm:pt>
    <dgm:pt modelId="{442C288C-FFE8-4D28-8A0F-7D8CA9DA5172}" type="parTrans" cxnId="{DC00769D-EE17-4184-B1C1-6D5A25C2753B}">
      <dgm:prSet/>
      <dgm:spPr/>
      <dgm:t>
        <a:bodyPr/>
        <a:lstStyle/>
        <a:p>
          <a:endParaRPr lang="ru-RU"/>
        </a:p>
      </dgm:t>
    </dgm:pt>
    <dgm:pt modelId="{FB2448FA-3A46-41EA-8743-95E6BEC49F1B}" type="sibTrans" cxnId="{DC00769D-EE17-4184-B1C1-6D5A25C2753B}">
      <dgm:prSet/>
      <dgm:spPr/>
      <dgm:t>
        <a:bodyPr/>
        <a:lstStyle/>
        <a:p>
          <a:endParaRPr lang="ru-RU"/>
        </a:p>
      </dgm:t>
    </dgm:pt>
    <dgm:pt modelId="{19F57C16-CF53-47CD-B42B-296673DB896D}">
      <dgm:prSet custT="1"/>
      <dgm:spPr/>
      <dgm:t>
        <a:bodyPr/>
        <a:lstStyle/>
        <a:p>
          <a:r>
            <a:rPr lang="ru-RU" sz="1400" dirty="0"/>
            <a:t>Экспансия на восток и на запад</a:t>
          </a:r>
        </a:p>
      </dgm:t>
    </dgm:pt>
    <dgm:pt modelId="{20DC4726-2C32-40F2-920C-C6AD022741C9}" type="parTrans" cxnId="{9A340D62-894B-42B8-8533-85F2C421D797}">
      <dgm:prSet/>
      <dgm:spPr/>
      <dgm:t>
        <a:bodyPr/>
        <a:lstStyle/>
        <a:p>
          <a:endParaRPr lang="ru-RU"/>
        </a:p>
      </dgm:t>
    </dgm:pt>
    <dgm:pt modelId="{21673E30-201E-4B32-9FB6-D8733730BA8E}" type="sibTrans" cxnId="{9A340D62-894B-42B8-8533-85F2C421D797}">
      <dgm:prSet/>
      <dgm:spPr/>
      <dgm:t>
        <a:bodyPr/>
        <a:lstStyle/>
        <a:p>
          <a:endParaRPr lang="ru-RU"/>
        </a:p>
      </dgm:t>
    </dgm:pt>
    <dgm:pt modelId="{36394330-0820-4071-8BD9-5BC31318A6ED}" type="pres">
      <dgm:prSet presAssocID="{C45A9D95-5005-4C25-8F48-E6F861455842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0F14149-B9EA-4A66-9369-896C87FB9EC3}" type="pres">
      <dgm:prSet presAssocID="{8D7AAA6B-D587-4C8F-B714-05FB022538EA}" presName="composite" presStyleCnt="0"/>
      <dgm:spPr/>
    </dgm:pt>
    <dgm:pt modelId="{73833B5B-0CD0-4369-BC37-9C7DEB0B12CF}" type="pres">
      <dgm:prSet presAssocID="{8D7AAA6B-D587-4C8F-B714-05FB022538EA}" presName="FirstChild" presStyleLbl="revTx" presStyleIdx="0" presStyleCnt="11">
        <dgm:presLayoutVars>
          <dgm:chMax val="0"/>
          <dgm:chPref val="0"/>
          <dgm:bulletEnabled val="1"/>
        </dgm:presLayoutVars>
      </dgm:prSet>
      <dgm:spPr/>
    </dgm:pt>
    <dgm:pt modelId="{05545E2D-496E-43DB-95DC-4BF1F9851B35}" type="pres">
      <dgm:prSet presAssocID="{8D7AAA6B-D587-4C8F-B714-05FB022538EA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DDF113B7-E5C3-4DD3-BDAB-0EC6C14686F2}" type="pres">
      <dgm:prSet presAssocID="{8D7AAA6B-D587-4C8F-B714-05FB022538EA}" presName="Accent" presStyleLbl="parChTrans1D1" presStyleIdx="0" presStyleCnt="6"/>
      <dgm:spPr/>
    </dgm:pt>
    <dgm:pt modelId="{EB0E50D1-50AB-455A-B602-F0771BEE97CB}" type="pres">
      <dgm:prSet presAssocID="{8D7AAA6B-D587-4C8F-B714-05FB022538EA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6CF34090-A80A-4D87-8A2F-4956D4078A53}" type="pres">
      <dgm:prSet presAssocID="{ACFC8DB4-C366-4BAD-BE49-1D430EC602BC}" presName="sibTrans" presStyleCnt="0"/>
      <dgm:spPr/>
    </dgm:pt>
    <dgm:pt modelId="{C8287542-6DB4-4894-9B41-895272673F1D}" type="pres">
      <dgm:prSet presAssocID="{B7AAFA84-3D0D-48D2-A623-96DCB3BE2B57}" presName="composite" presStyleCnt="0"/>
      <dgm:spPr/>
    </dgm:pt>
    <dgm:pt modelId="{ED629BAE-83C7-4150-B0F7-AE430847B334}" type="pres">
      <dgm:prSet presAssocID="{B7AAFA84-3D0D-48D2-A623-96DCB3BE2B57}" presName="First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A9B8082B-5474-4522-A302-F4363BC6F7C1}" type="pres">
      <dgm:prSet presAssocID="{B7AAFA84-3D0D-48D2-A623-96DCB3BE2B57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C5E0F2B2-9EED-4ED5-9DA5-3BF25922C6BD}" type="pres">
      <dgm:prSet presAssocID="{B7AAFA84-3D0D-48D2-A623-96DCB3BE2B57}" presName="Accent" presStyleLbl="parChTrans1D1" presStyleIdx="1" presStyleCnt="6"/>
      <dgm:spPr/>
    </dgm:pt>
    <dgm:pt modelId="{A4ACB16D-59F9-4C74-93EA-94CE3C46B253}" type="pres">
      <dgm:prSet presAssocID="{B7AAFA84-3D0D-48D2-A623-96DCB3BE2B57}" presName="Child" presStyleLbl="revTx" presStyleIdx="3" presStyleCnt="11">
        <dgm:presLayoutVars>
          <dgm:chMax val="0"/>
          <dgm:chPref val="0"/>
          <dgm:bulletEnabled val="1"/>
        </dgm:presLayoutVars>
      </dgm:prSet>
      <dgm:spPr/>
    </dgm:pt>
    <dgm:pt modelId="{7CB852D0-3E45-4B58-9E0A-C4344992CDB0}" type="pres">
      <dgm:prSet presAssocID="{82A29646-7C90-4D42-81BF-7AEB096E87A5}" presName="sibTrans" presStyleCnt="0"/>
      <dgm:spPr/>
    </dgm:pt>
    <dgm:pt modelId="{004A0C8E-38E0-4F4C-8ED5-AEF30A53F92C}" type="pres">
      <dgm:prSet presAssocID="{59F27D0C-4550-41F1-976A-1A8F5DCBA3DE}" presName="composite" presStyleCnt="0"/>
      <dgm:spPr/>
    </dgm:pt>
    <dgm:pt modelId="{9C5F1F24-990D-465F-877F-6C32D24E845A}" type="pres">
      <dgm:prSet presAssocID="{59F27D0C-4550-41F1-976A-1A8F5DCBA3DE}" presName="First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719FB3F7-9724-48D0-80FA-CABA86854504}" type="pres">
      <dgm:prSet presAssocID="{59F27D0C-4550-41F1-976A-1A8F5DCBA3DE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4364F1CC-1EB7-4112-83A5-E548B87E4750}" type="pres">
      <dgm:prSet presAssocID="{59F27D0C-4550-41F1-976A-1A8F5DCBA3DE}" presName="Accent" presStyleLbl="parChTrans1D1" presStyleIdx="2" presStyleCnt="6"/>
      <dgm:spPr/>
    </dgm:pt>
    <dgm:pt modelId="{F233A418-EB90-41CE-8DF0-D0A2AD4577D7}" type="pres">
      <dgm:prSet presAssocID="{59F27D0C-4550-41F1-976A-1A8F5DCBA3DE}" presName="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246F075A-E1C3-40F3-82A3-2110C156EF06}" type="pres">
      <dgm:prSet presAssocID="{F5ABB855-6BD0-49AB-92AC-D89B8583B39D}" presName="sibTrans" presStyleCnt="0"/>
      <dgm:spPr/>
    </dgm:pt>
    <dgm:pt modelId="{26CF584A-D2F6-4982-9B15-A9899B83B45D}" type="pres">
      <dgm:prSet presAssocID="{C9F5C89B-0FE6-4564-84AB-ED61C2B5135A}" presName="composite" presStyleCnt="0"/>
      <dgm:spPr/>
    </dgm:pt>
    <dgm:pt modelId="{1286767F-C191-4B3C-831E-FDCAEB7B732D}" type="pres">
      <dgm:prSet presAssocID="{C9F5C89B-0FE6-4564-84AB-ED61C2B5135A}" presName="First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8DE8D7EA-D466-44D8-81B7-B41FC47A7548}" type="pres">
      <dgm:prSet presAssocID="{C9F5C89B-0FE6-4564-84AB-ED61C2B5135A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3E003822-41DE-400A-AAE3-D1F3F6AED96C}" type="pres">
      <dgm:prSet presAssocID="{C9F5C89B-0FE6-4564-84AB-ED61C2B5135A}" presName="Accent" presStyleLbl="parChTrans1D1" presStyleIdx="3" presStyleCnt="6"/>
      <dgm:spPr/>
    </dgm:pt>
    <dgm:pt modelId="{101E2364-9521-4CCE-9A98-4434B4F951F9}" type="pres">
      <dgm:prSet presAssocID="{C9F5C89B-0FE6-4564-84AB-ED61C2B5135A}" presName="Child" presStyleLbl="revTx" presStyleIdx="7" presStyleCnt="11">
        <dgm:presLayoutVars>
          <dgm:chMax val="0"/>
          <dgm:chPref val="0"/>
          <dgm:bulletEnabled val="1"/>
        </dgm:presLayoutVars>
      </dgm:prSet>
      <dgm:spPr/>
    </dgm:pt>
    <dgm:pt modelId="{7FC5E3D8-1070-4EEB-B2DB-0DE80CE64B0D}" type="pres">
      <dgm:prSet presAssocID="{479E3CD6-082C-48CB-B4ED-F2A28417F27D}" presName="sibTrans" presStyleCnt="0"/>
      <dgm:spPr/>
    </dgm:pt>
    <dgm:pt modelId="{084ED434-F654-4FC9-912C-829DC8A87D9C}" type="pres">
      <dgm:prSet presAssocID="{0CD72EB1-CB5D-4776-A2CE-15CF0388C9D7}" presName="composite" presStyleCnt="0"/>
      <dgm:spPr/>
    </dgm:pt>
    <dgm:pt modelId="{FA64F6B2-E9ED-42FD-AF05-5CEC0DDF732E}" type="pres">
      <dgm:prSet presAssocID="{0CD72EB1-CB5D-4776-A2CE-15CF0388C9D7}" presName="First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8831467A-B132-418B-87E3-A42D915DBC5E}" type="pres">
      <dgm:prSet presAssocID="{0CD72EB1-CB5D-4776-A2CE-15CF0388C9D7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54E6E9F7-5DAA-4788-8888-3FC1B0BA539D}" type="pres">
      <dgm:prSet presAssocID="{0CD72EB1-CB5D-4776-A2CE-15CF0388C9D7}" presName="Accent" presStyleLbl="parChTrans1D1" presStyleIdx="4" presStyleCnt="6"/>
      <dgm:spPr/>
    </dgm:pt>
    <dgm:pt modelId="{E0E4606A-B0E5-4F02-9701-FB382BFAF577}" type="pres">
      <dgm:prSet presAssocID="{0CD72EB1-CB5D-4776-A2CE-15CF0388C9D7}" presName="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32D4CA22-4D5B-4D6E-9955-ADEE6F071A51}" type="pres">
      <dgm:prSet presAssocID="{D8FCB9C2-6AA1-4EA7-BF45-88FECE65CB24}" presName="sibTrans" presStyleCnt="0"/>
      <dgm:spPr/>
    </dgm:pt>
    <dgm:pt modelId="{F16B2250-BC51-48B8-833C-72CF7565F279}" type="pres">
      <dgm:prSet presAssocID="{FD814358-8A65-4B6D-8804-4FC0C9A0472E}" presName="composite" presStyleCnt="0"/>
      <dgm:spPr/>
    </dgm:pt>
    <dgm:pt modelId="{9AC18BF8-E8B3-4779-8392-EFD11EDD0C5C}" type="pres">
      <dgm:prSet presAssocID="{FD814358-8A65-4B6D-8804-4FC0C9A0472E}" presName="FirstChild" presStyleLbl="revTx" presStyleIdx="10" presStyleCnt="11">
        <dgm:presLayoutVars>
          <dgm:chMax val="0"/>
          <dgm:chPref val="0"/>
          <dgm:bulletEnabled val="1"/>
        </dgm:presLayoutVars>
      </dgm:prSet>
      <dgm:spPr/>
    </dgm:pt>
    <dgm:pt modelId="{2074A536-D6C1-4A16-B962-3D5811340CC1}" type="pres">
      <dgm:prSet presAssocID="{FD814358-8A65-4B6D-8804-4FC0C9A0472E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EFFD5E40-C742-4218-8BA4-C2B5EF17D60C}" type="pres">
      <dgm:prSet presAssocID="{FD814358-8A65-4B6D-8804-4FC0C9A0472E}" presName="Accent" presStyleLbl="parChTrans1D1" presStyleIdx="5" presStyleCnt="6"/>
      <dgm:spPr/>
    </dgm:pt>
  </dgm:ptLst>
  <dgm:cxnLst>
    <dgm:cxn modelId="{E38ADE06-A1BD-49C6-AE45-9E97EA6DC963}" type="presOf" srcId="{8D7AAA6B-D587-4C8F-B714-05FB022538EA}" destId="{05545E2D-496E-43DB-95DC-4BF1F9851B35}" srcOrd="0" destOrd="0" presId="urn:microsoft.com/office/officeart/2011/layout/TabList"/>
    <dgm:cxn modelId="{DD6D7621-6C1F-4976-9261-57A54B1C5C8B}" type="presOf" srcId="{901F5193-850B-42F0-B898-06F4AA0A48BD}" destId="{EB0E50D1-50AB-455A-B602-F0771BEE97CB}" srcOrd="0" destOrd="0" presId="urn:microsoft.com/office/officeart/2011/layout/TabList"/>
    <dgm:cxn modelId="{B2A4F323-D06D-4A0C-B559-60EEA6D4BD21}" type="presOf" srcId="{7F519B19-D5D7-48EE-9348-A4A2E33667EE}" destId="{A4ACB16D-59F9-4C74-93EA-94CE3C46B253}" srcOrd="0" destOrd="0" presId="urn:microsoft.com/office/officeart/2011/layout/TabList"/>
    <dgm:cxn modelId="{1C123B25-966B-4292-8765-E4BC7A40968E}" srcId="{C45A9D95-5005-4C25-8F48-E6F861455842}" destId="{59F27D0C-4550-41F1-976A-1A8F5DCBA3DE}" srcOrd="2" destOrd="0" parTransId="{DE64C349-6B89-40B4-BA5D-28288494D8E6}" sibTransId="{F5ABB855-6BD0-49AB-92AC-D89B8583B39D}"/>
    <dgm:cxn modelId="{74B6E12B-B19A-4127-97A0-3DC0F783231D}" srcId="{B7AAFA84-3D0D-48D2-A623-96DCB3BE2B57}" destId="{20E57F8A-79DD-4E7E-9811-BD8E41BC9FCA}" srcOrd="0" destOrd="0" parTransId="{34C885DD-D4EF-4001-8203-A95EA687BAC9}" sibTransId="{A6EB2487-5239-490F-B9D6-0F098DA977D3}"/>
    <dgm:cxn modelId="{A956EA32-E3E6-4035-87F3-C56FC8F7BCF3}" srcId="{C45A9D95-5005-4C25-8F48-E6F861455842}" destId="{0CD72EB1-CB5D-4776-A2CE-15CF0388C9D7}" srcOrd="4" destOrd="0" parTransId="{1A1FBC9B-AC86-4021-97C6-6D45CFAD4147}" sibTransId="{D8FCB9C2-6AA1-4EA7-BF45-88FECE65CB24}"/>
    <dgm:cxn modelId="{3EA1EE33-30CF-4F16-8A80-400645630425}" type="presOf" srcId="{90DC0764-FAD6-494F-8765-54204454CF76}" destId="{F233A418-EB90-41CE-8DF0-D0A2AD4577D7}" srcOrd="0" destOrd="0" presId="urn:microsoft.com/office/officeart/2011/layout/TabList"/>
    <dgm:cxn modelId="{1C697135-0486-417F-B67C-B8726E71C747}" type="presOf" srcId="{C45A9D95-5005-4C25-8F48-E6F861455842}" destId="{36394330-0820-4071-8BD9-5BC31318A6ED}" srcOrd="0" destOrd="0" presId="urn:microsoft.com/office/officeart/2011/layout/TabList"/>
    <dgm:cxn modelId="{FF16F15F-1911-4AA0-8FEF-4F19301295FA}" type="presOf" srcId="{C9F5C89B-0FE6-4564-84AB-ED61C2B5135A}" destId="{8DE8D7EA-D466-44D8-81B7-B41FC47A7548}" srcOrd="0" destOrd="0" presId="urn:microsoft.com/office/officeart/2011/layout/TabList"/>
    <dgm:cxn modelId="{9A340D62-894B-42B8-8533-85F2C421D797}" srcId="{FD814358-8A65-4B6D-8804-4FC0C9A0472E}" destId="{19F57C16-CF53-47CD-B42B-296673DB896D}" srcOrd="0" destOrd="0" parTransId="{20DC4726-2C32-40F2-920C-C6AD022741C9}" sibTransId="{21673E30-201E-4B32-9FB6-D8733730BA8E}"/>
    <dgm:cxn modelId="{77399944-6A6A-459D-A690-EF89E2AACD20}" type="presOf" srcId="{45B1B8AB-A99C-4002-9FEC-4C0F8B0D855A}" destId="{101E2364-9521-4CCE-9A98-4434B4F951F9}" srcOrd="0" destOrd="0" presId="urn:microsoft.com/office/officeart/2011/layout/TabList"/>
    <dgm:cxn modelId="{8A86BA47-A587-484E-AD7E-78476F80F380}" srcId="{C9F5C89B-0FE6-4564-84AB-ED61C2B5135A}" destId="{05D05FBC-4E87-4AFC-8284-B7716B2C2CF3}" srcOrd="0" destOrd="0" parTransId="{D31B332F-19A4-4191-BBB4-36D9DF52D5F7}" sibTransId="{26E3564B-8C5D-4D2F-913D-54BF9D45D105}"/>
    <dgm:cxn modelId="{26C04249-5EAB-480B-A6BC-DCF58C547715}" type="presOf" srcId="{0CD72EB1-CB5D-4776-A2CE-15CF0388C9D7}" destId="{8831467A-B132-418B-87E3-A42D915DBC5E}" srcOrd="0" destOrd="0" presId="urn:microsoft.com/office/officeart/2011/layout/TabList"/>
    <dgm:cxn modelId="{2DDC0B4B-B0CE-47F6-9C11-2B1352542C49}" srcId="{C45A9D95-5005-4C25-8F48-E6F861455842}" destId="{C9F5C89B-0FE6-4564-84AB-ED61C2B5135A}" srcOrd="3" destOrd="0" parTransId="{DA9E22D3-DEE3-42E0-8CF9-5A4E9D027E24}" sibTransId="{479E3CD6-082C-48CB-B4ED-F2A28417F27D}"/>
    <dgm:cxn modelId="{2EFD246F-1AE6-41CE-A05C-550B68AEF8E3}" srcId="{59F27D0C-4550-41F1-976A-1A8F5DCBA3DE}" destId="{0980ADD6-FA7B-4D5B-B60E-AC73BB0B195D}" srcOrd="0" destOrd="0" parTransId="{7E204FB8-3CB1-4979-9AB6-229B6CCBA7FF}" sibTransId="{8E9F4500-37DC-4DED-AC0E-166BC61C0CC3}"/>
    <dgm:cxn modelId="{BFB53373-7D93-470D-A3EA-F5DBAB15AB0F}" type="presOf" srcId="{19F57C16-CF53-47CD-B42B-296673DB896D}" destId="{9AC18BF8-E8B3-4779-8392-EFD11EDD0C5C}" srcOrd="0" destOrd="0" presId="urn:microsoft.com/office/officeart/2011/layout/TabList"/>
    <dgm:cxn modelId="{F2B7D755-976D-431C-ABC5-E3254E5CE57C}" type="presOf" srcId="{0980ADD6-FA7B-4D5B-B60E-AC73BB0B195D}" destId="{9C5F1F24-990D-465F-877F-6C32D24E845A}" srcOrd="0" destOrd="0" presId="urn:microsoft.com/office/officeart/2011/layout/TabList"/>
    <dgm:cxn modelId="{D91A4D88-90EB-473F-BDF2-B5374D8416CE}" srcId="{C9F5C89B-0FE6-4564-84AB-ED61C2B5135A}" destId="{45B1B8AB-A99C-4002-9FEC-4C0F8B0D855A}" srcOrd="1" destOrd="0" parTransId="{9FA47B1C-BD4B-4B47-8473-4FF760A6CCED}" sibTransId="{21838CA7-468D-4CF5-BC3F-25CE3C94AEEE}"/>
    <dgm:cxn modelId="{F516BC99-E6EF-4199-9E98-232302424D16}" type="presOf" srcId="{FD814358-8A65-4B6D-8804-4FC0C9A0472E}" destId="{2074A536-D6C1-4A16-B962-3D5811340CC1}" srcOrd="0" destOrd="0" presId="urn:microsoft.com/office/officeart/2011/layout/TabList"/>
    <dgm:cxn modelId="{DC00769D-EE17-4184-B1C1-6D5A25C2753B}" srcId="{C45A9D95-5005-4C25-8F48-E6F861455842}" destId="{FD814358-8A65-4B6D-8804-4FC0C9A0472E}" srcOrd="5" destOrd="0" parTransId="{442C288C-FFE8-4D28-8A0F-7D8CA9DA5172}" sibTransId="{FB2448FA-3A46-41EA-8743-95E6BEC49F1B}"/>
    <dgm:cxn modelId="{4495279E-30D2-439E-8FDD-D979D1964CBC}" srcId="{8D7AAA6B-D587-4C8F-B714-05FB022538EA}" destId="{901F5193-850B-42F0-B898-06F4AA0A48BD}" srcOrd="1" destOrd="0" parTransId="{3FACFF81-20C9-4542-B733-CD0973583931}" sibTransId="{A4EEC7B4-F494-4B4A-9908-E4A4D2117B10}"/>
    <dgm:cxn modelId="{9C77C79E-1C22-4354-9ED7-4AD573C4D1D3}" type="presOf" srcId="{20E57F8A-79DD-4E7E-9811-BD8E41BC9FCA}" destId="{ED629BAE-83C7-4150-B0F7-AE430847B334}" srcOrd="0" destOrd="0" presId="urn:microsoft.com/office/officeart/2011/layout/TabList"/>
    <dgm:cxn modelId="{CEE05FA2-1E5A-4B62-9DEE-2747F3AB85F7}" type="presOf" srcId="{78EAE50F-CE0B-4A72-9938-4D13AC1614D3}" destId="{E0E4606A-B0E5-4F02-9701-FB382BFAF577}" srcOrd="0" destOrd="0" presId="urn:microsoft.com/office/officeart/2011/layout/TabList"/>
    <dgm:cxn modelId="{336BFDA3-CA0D-4A72-BCAD-9A5D2FD1ABF6}" type="presOf" srcId="{D09F2F1D-C19B-4859-AFC1-09C18632CFB5}" destId="{FA64F6B2-E9ED-42FD-AF05-5CEC0DDF732E}" srcOrd="0" destOrd="0" presId="urn:microsoft.com/office/officeart/2011/layout/TabList"/>
    <dgm:cxn modelId="{6B4F4CA9-CD8E-4D64-BF9B-1A516F885DD9}" srcId="{C45A9D95-5005-4C25-8F48-E6F861455842}" destId="{B7AAFA84-3D0D-48D2-A623-96DCB3BE2B57}" srcOrd="1" destOrd="0" parTransId="{B37D7D72-B48B-4BDC-AF83-F60F08EFB540}" sibTransId="{82A29646-7C90-4D42-81BF-7AEB096E87A5}"/>
    <dgm:cxn modelId="{2C7C1BB2-1D3A-4158-A5CA-5AAB6ABD340D}" srcId="{0CD72EB1-CB5D-4776-A2CE-15CF0388C9D7}" destId="{D09F2F1D-C19B-4859-AFC1-09C18632CFB5}" srcOrd="0" destOrd="0" parTransId="{58CE65AD-EBA9-4379-A3FD-2863350823FA}" sibTransId="{8670F720-A277-4829-AF21-67F7FD02405E}"/>
    <dgm:cxn modelId="{5358F6B2-4095-4A91-A256-446197AD823A}" type="presOf" srcId="{B7AAFA84-3D0D-48D2-A623-96DCB3BE2B57}" destId="{A9B8082B-5474-4522-A302-F4363BC6F7C1}" srcOrd="0" destOrd="0" presId="urn:microsoft.com/office/officeart/2011/layout/TabList"/>
    <dgm:cxn modelId="{BB2944B3-EF00-4FC9-9C5A-97AA1A59A505}" srcId="{8D7AAA6B-D587-4C8F-B714-05FB022538EA}" destId="{70B5BA80-643A-44C5-B3BB-7B79B7B8A2F9}" srcOrd="0" destOrd="0" parTransId="{5C4556E5-63EB-4248-88C2-A668E2E1809C}" sibTransId="{BF6B5E90-4761-4467-A896-A236067DBE8F}"/>
    <dgm:cxn modelId="{0DCA59B8-D820-47B2-99EB-9EF8D9A2B0B9}" type="presOf" srcId="{59F27D0C-4550-41F1-976A-1A8F5DCBA3DE}" destId="{719FB3F7-9724-48D0-80FA-CABA86854504}" srcOrd="0" destOrd="0" presId="urn:microsoft.com/office/officeart/2011/layout/TabList"/>
    <dgm:cxn modelId="{801168C3-B4C4-4FBA-B47A-6176D8E7DD4B}" type="presOf" srcId="{70B5BA80-643A-44C5-B3BB-7B79B7B8A2F9}" destId="{73833B5B-0CD0-4369-BC37-9C7DEB0B12CF}" srcOrd="0" destOrd="0" presId="urn:microsoft.com/office/officeart/2011/layout/TabList"/>
    <dgm:cxn modelId="{8C87ECDF-CF5B-47C9-9870-DB97BD2C7E44}" srcId="{C45A9D95-5005-4C25-8F48-E6F861455842}" destId="{8D7AAA6B-D587-4C8F-B714-05FB022538EA}" srcOrd="0" destOrd="0" parTransId="{00A748EC-63D0-4014-89FD-17E07B292B7E}" sibTransId="{ACFC8DB4-C366-4BAD-BE49-1D430EC602BC}"/>
    <dgm:cxn modelId="{9C5261E4-DAF0-4372-BB42-5E2B9FBDB330}" srcId="{59F27D0C-4550-41F1-976A-1A8F5DCBA3DE}" destId="{90DC0764-FAD6-494F-8765-54204454CF76}" srcOrd="1" destOrd="0" parTransId="{01FDC1B2-51B8-4490-B501-51EC346BFD12}" sibTransId="{5C17D0F2-9FC3-49A6-B2BE-38D17ED6C1F9}"/>
    <dgm:cxn modelId="{E62EF5EB-48CE-46F6-AEFF-44EC3099FFEA}" srcId="{0CD72EB1-CB5D-4776-A2CE-15CF0388C9D7}" destId="{78EAE50F-CE0B-4A72-9938-4D13AC1614D3}" srcOrd="1" destOrd="0" parTransId="{8CC6F058-60F2-421F-961D-D72483AA2D36}" sibTransId="{9C174BA5-8C86-464E-965D-C1BB737DCC95}"/>
    <dgm:cxn modelId="{EEEB21EE-82B7-4578-86E2-1D99890505D8}" srcId="{B7AAFA84-3D0D-48D2-A623-96DCB3BE2B57}" destId="{7F519B19-D5D7-48EE-9348-A4A2E33667EE}" srcOrd="1" destOrd="0" parTransId="{76FF07C4-3C34-4C46-8B88-5E80B3051929}" sibTransId="{BC914474-B2D5-4488-A08E-7D05D74771E9}"/>
    <dgm:cxn modelId="{5512B6F7-CB28-48D6-9960-BDD528BA3B44}" type="presOf" srcId="{05D05FBC-4E87-4AFC-8284-B7716B2C2CF3}" destId="{1286767F-C191-4B3C-831E-FDCAEB7B732D}" srcOrd="0" destOrd="0" presId="urn:microsoft.com/office/officeart/2011/layout/TabList"/>
    <dgm:cxn modelId="{EF8C4C09-BEAF-4802-B10F-C2038FC9B48B}" type="presParOf" srcId="{36394330-0820-4071-8BD9-5BC31318A6ED}" destId="{50F14149-B9EA-4A66-9369-896C87FB9EC3}" srcOrd="0" destOrd="0" presId="urn:microsoft.com/office/officeart/2011/layout/TabList"/>
    <dgm:cxn modelId="{C4576938-3085-4006-A79C-CD16DA055027}" type="presParOf" srcId="{50F14149-B9EA-4A66-9369-896C87FB9EC3}" destId="{73833B5B-0CD0-4369-BC37-9C7DEB0B12CF}" srcOrd="0" destOrd="0" presId="urn:microsoft.com/office/officeart/2011/layout/TabList"/>
    <dgm:cxn modelId="{BF27BCBB-8F8C-4DAC-93DF-2030D5EDF27E}" type="presParOf" srcId="{50F14149-B9EA-4A66-9369-896C87FB9EC3}" destId="{05545E2D-496E-43DB-95DC-4BF1F9851B35}" srcOrd="1" destOrd="0" presId="urn:microsoft.com/office/officeart/2011/layout/TabList"/>
    <dgm:cxn modelId="{788EC0B1-D0C9-45DF-AE96-8F6F0A502511}" type="presParOf" srcId="{50F14149-B9EA-4A66-9369-896C87FB9EC3}" destId="{DDF113B7-E5C3-4DD3-BDAB-0EC6C14686F2}" srcOrd="2" destOrd="0" presId="urn:microsoft.com/office/officeart/2011/layout/TabList"/>
    <dgm:cxn modelId="{CB77C8F9-002D-4A57-918B-AC6A9D737405}" type="presParOf" srcId="{36394330-0820-4071-8BD9-5BC31318A6ED}" destId="{EB0E50D1-50AB-455A-B602-F0771BEE97CB}" srcOrd="1" destOrd="0" presId="urn:microsoft.com/office/officeart/2011/layout/TabList"/>
    <dgm:cxn modelId="{6E4DCD03-2C81-4AAE-9A3F-9E7457675BDA}" type="presParOf" srcId="{36394330-0820-4071-8BD9-5BC31318A6ED}" destId="{6CF34090-A80A-4D87-8A2F-4956D4078A53}" srcOrd="2" destOrd="0" presId="urn:microsoft.com/office/officeart/2011/layout/TabList"/>
    <dgm:cxn modelId="{BA0A4D3B-58ED-4E55-8BC6-D1F42E53F779}" type="presParOf" srcId="{36394330-0820-4071-8BD9-5BC31318A6ED}" destId="{C8287542-6DB4-4894-9B41-895272673F1D}" srcOrd="3" destOrd="0" presId="urn:microsoft.com/office/officeart/2011/layout/TabList"/>
    <dgm:cxn modelId="{671393D6-5E29-4BD6-A9DB-A032DBDCDEF2}" type="presParOf" srcId="{C8287542-6DB4-4894-9B41-895272673F1D}" destId="{ED629BAE-83C7-4150-B0F7-AE430847B334}" srcOrd="0" destOrd="0" presId="urn:microsoft.com/office/officeart/2011/layout/TabList"/>
    <dgm:cxn modelId="{0D73E8DA-EB03-4E2B-AC85-C575979D17B1}" type="presParOf" srcId="{C8287542-6DB4-4894-9B41-895272673F1D}" destId="{A9B8082B-5474-4522-A302-F4363BC6F7C1}" srcOrd="1" destOrd="0" presId="urn:microsoft.com/office/officeart/2011/layout/TabList"/>
    <dgm:cxn modelId="{75F51781-AF5D-484E-9173-C67999243AB3}" type="presParOf" srcId="{C8287542-6DB4-4894-9B41-895272673F1D}" destId="{C5E0F2B2-9EED-4ED5-9DA5-3BF25922C6BD}" srcOrd="2" destOrd="0" presId="urn:microsoft.com/office/officeart/2011/layout/TabList"/>
    <dgm:cxn modelId="{A9C7F129-530E-47CC-A9EC-7AD094329B2D}" type="presParOf" srcId="{36394330-0820-4071-8BD9-5BC31318A6ED}" destId="{A4ACB16D-59F9-4C74-93EA-94CE3C46B253}" srcOrd="4" destOrd="0" presId="urn:microsoft.com/office/officeart/2011/layout/TabList"/>
    <dgm:cxn modelId="{65D4FB6C-1322-414C-BA5B-E9E68DA3DC87}" type="presParOf" srcId="{36394330-0820-4071-8BD9-5BC31318A6ED}" destId="{7CB852D0-3E45-4B58-9E0A-C4344992CDB0}" srcOrd="5" destOrd="0" presId="urn:microsoft.com/office/officeart/2011/layout/TabList"/>
    <dgm:cxn modelId="{D76A368B-67B2-4371-BCF5-969352746459}" type="presParOf" srcId="{36394330-0820-4071-8BD9-5BC31318A6ED}" destId="{004A0C8E-38E0-4F4C-8ED5-AEF30A53F92C}" srcOrd="6" destOrd="0" presId="urn:microsoft.com/office/officeart/2011/layout/TabList"/>
    <dgm:cxn modelId="{671068FD-045B-4A70-A624-2320F8FA42EF}" type="presParOf" srcId="{004A0C8E-38E0-4F4C-8ED5-AEF30A53F92C}" destId="{9C5F1F24-990D-465F-877F-6C32D24E845A}" srcOrd="0" destOrd="0" presId="urn:microsoft.com/office/officeart/2011/layout/TabList"/>
    <dgm:cxn modelId="{9520E13C-39B4-419F-AED6-94F9C4507286}" type="presParOf" srcId="{004A0C8E-38E0-4F4C-8ED5-AEF30A53F92C}" destId="{719FB3F7-9724-48D0-80FA-CABA86854504}" srcOrd="1" destOrd="0" presId="urn:microsoft.com/office/officeart/2011/layout/TabList"/>
    <dgm:cxn modelId="{A02DFA11-CB9B-42BD-AC9E-80350922279D}" type="presParOf" srcId="{004A0C8E-38E0-4F4C-8ED5-AEF30A53F92C}" destId="{4364F1CC-1EB7-4112-83A5-E548B87E4750}" srcOrd="2" destOrd="0" presId="urn:microsoft.com/office/officeart/2011/layout/TabList"/>
    <dgm:cxn modelId="{7314D6F5-FA39-407C-AFDD-6A2054B64F8B}" type="presParOf" srcId="{36394330-0820-4071-8BD9-5BC31318A6ED}" destId="{F233A418-EB90-41CE-8DF0-D0A2AD4577D7}" srcOrd="7" destOrd="0" presId="urn:microsoft.com/office/officeart/2011/layout/TabList"/>
    <dgm:cxn modelId="{2384D95C-068C-482B-8993-76B6600367DE}" type="presParOf" srcId="{36394330-0820-4071-8BD9-5BC31318A6ED}" destId="{246F075A-E1C3-40F3-82A3-2110C156EF06}" srcOrd="8" destOrd="0" presId="urn:microsoft.com/office/officeart/2011/layout/TabList"/>
    <dgm:cxn modelId="{EAE267AA-6A66-4F4E-B278-CDFD4801FF02}" type="presParOf" srcId="{36394330-0820-4071-8BD9-5BC31318A6ED}" destId="{26CF584A-D2F6-4982-9B15-A9899B83B45D}" srcOrd="9" destOrd="0" presId="urn:microsoft.com/office/officeart/2011/layout/TabList"/>
    <dgm:cxn modelId="{E2BE40BC-517D-4ED4-B426-6A3571C3C2B0}" type="presParOf" srcId="{26CF584A-D2F6-4982-9B15-A9899B83B45D}" destId="{1286767F-C191-4B3C-831E-FDCAEB7B732D}" srcOrd="0" destOrd="0" presId="urn:microsoft.com/office/officeart/2011/layout/TabList"/>
    <dgm:cxn modelId="{4FDF815A-BFE3-4708-8EA8-3E2955220CE9}" type="presParOf" srcId="{26CF584A-D2F6-4982-9B15-A9899B83B45D}" destId="{8DE8D7EA-D466-44D8-81B7-B41FC47A7548}" srcOrd="1" destOrd="0" presId="urn:microsoft.com/office/officeart/2011/layout/TabList"/>
    <dgm:cxn modelId="{11293FD6-595C-4E2D-A2E0-C55EE7554913}" type="presParOf" srcId="{26CF584A-D2F6-4982-9B15-A9899B83B45D}" destId="{3E003822-41DE-400A-AAE3-D1F3F6AED96C}" srcOrd="2" destOrd="0" presId="urn:microsoft.com/office/officeart/2011/layout/TabList"/>
    <dgm:cxn modelId="{9F21387E-2BE7-42BD-8A9A-370686731F6B}" type="presParOf" srcId="{36394330-0820-4071-8BD9-5BC31318A6ED}" destId="{101E2364-9521-4CCE-9A98-4434B4F951F9}" srcOrd="10" destOrd="0" presId="urn:microsoft.com/office/officeart/2011/layout/TabList"/>
    <dgm:cxn modelId="{05839630-6FB6-4216-A056-394B0E430E15}" type="presParOf" srcId="{36394330-0820-4071-8BD9-5BC31318A6ED}" destId="{7FC5E3D8-1070-4EEB-B2DB-0DE80CE64B0D}" srcOrd="11" destOrd="0" presId="urn:microsoft.com/office/officeart/2011/layout/TabList"/>
    <dgm:cxn modelId="{8CA8B517-77D8-4073-92F2-1E3BCA867DB8}" type="presParOf" srcId="{36394330-0820-4071-8BD9-5BC31318A6ED}" destId="{084ED434-F654-4FC9-912C-829DC8A87D9C}" srcOrd="12" destOrd="0" presId="urn:microsoft.com/office/officeart/2011/layout/TabList"/>
    <dgm:cxn modelId="{BAC4446E-2989-40FD-9ECA-37C9711B3EC8}" type="presParOf" srcId="{084ED434-F654-4FC9-912C-829DC8A87D9C}" destId="{FA64F6B2-E9ED-42FD-AF05-5CEC0DDF732E}" srcOrd="0" destOrd="0" presId="urn:microsoft.com/office/officeart/2011/layout/TabList"/>
    <dgm:cxn modelId="{D5C85A4F-06A8-4A84-B24D-EC9B69F310D8}" type="presParOf" srcId="{084ED434-F654-4FC9-912C-829DC8A87D9C}" destId="{8831467A-B132-418B-87E3-A42D915DBC5E}" srcOrd="1" destOrd="0" presId="urn:microsoft.com/office/officeart/2011/layout/TabList"/>
    <dgm:cxn modelId="{E38990BF-AD6F-40D7-BDD3-05209DCE6679}" type="presParOf" srcId="{084ED434-F654-4FC9-912C-829DC8A87D9C}" destId="{54E6E9F7-5DAA-4788-8888-3FC1B0BA539D}" srcOrd="2" destOrd="0" presId="urn:microsoft.com/office/officeart/2011/layout/TabList"/>
    <dgm:cxn modelId="{F8BC3B11-7DBF-48D3-A0C2-90AE9DD5474B}" type="presParOf" srcId="{36394330-0820-4071-8BD9-5BC31318A6ED}" destId="{E0E4606A-B0E5-4F02-9701-FB382BFAF577}" srcOrd="13" destOrd="0" presId="urn:microsoft.com/office/officeart/2011/layout/TabList"/>
    <dgm:cxn modelId="{44677989-9E62-4BB9-90BF-92B34A61092D}" type="presParOf" srcId="{36394330-0820-4071-8BD9-5BC31318A6ED}" destId="{32D4CA22-4D5B-4D6E-9955-ADEE6F071A51}" srcOrd="14" destOrd="0" presId="urn:microsoft.com/office/officeart/2011/layout/TabList"/>
    <dgm:cxn modelId="{06142103-D5AC-49C6-8895-6E97D5A6D047}" type="presParOf" srcId="{36394330-0820-4071-8BD9-5BC31318A6ED}" destId="{F16B2250-BC51-48B8-833C-72CF7565F279}" srcOrd="15" destOrd="0" presId="urn:microsoft.com/office/officeart/2011/layout/TabList"/>
    <dgm:cxn modelId="{0F1B5576-5ACC-41B8-B75D-D70F703D1778}" type="presParOf" srcId="{F16B2250-BC51-48B8-833C-72CF7565F279}" destId="{9AC18BF8-E8B3-4779-8392-EFD11EDD0C5C}" srcOrd="0" destOrd="0" presId="urn:microsoft.com/office/officeart/2011/layout/TabList"/>
    <dgm:cxn modelId="{5631A6BD-09F8-42BF-848E-7261744804E8}" type="presParOf" srcId="{F16B2250-BC51-48B8-833C-72CF7565F279}" destId="{2074A536-D6C1-4A16-B962-3D5811340CC1}" srcOrd="1" destOrd="0" presId="urn:microsoft.com/office/officeart/2011/layout/TabList"/>
    <dgm:cxn modelId="{A095574C-E44F-4C33-8200-D63F294BF507}" type="presParOf" srcId="{F16B2250-BC51-48B8-833C-72CF7565F279}" destId="{EFFD5E40-C742-4218-8BA4-C2B5EF17D60C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027B1-4436-4A85-A940-6870B2DA5765}">
      <dsp:nvSpPr>
        <dsp:cNvPr id="0" name=""/>
        <dsp:cNvSpPr/>
      </dsp:nvSpPr>
      <dsp:spPr>
        <a:xfrm rot="5400000">
          <a:off x="5268172" y="-2222793"/>
          <a:ext cx="655911" cy="5266944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Постоянное расширение территории</a:t>
          </a:r>
        </a:p>
      </dsp:txBody>
      <dsp:txXfrm rot="-5400000">
        <a:off x="2962656" y="114742"/>
        <a:ext cx="5234925" cy="591873"/>
      </dsp:txXfrm>
    </dsp:sp>
    <dsp:sp modelId="{C29AE568-5E6A-4908-80F0-D59446A41759}">
      <dsp:nvSpPr>
        <dsp:cNvPr id="0" name=""/>
        <dsp:cNvSpPr/>
      </dsp:nvSpPr>
      <dsp:spPr>
        <a:xfrm>
          <a:off x="0" y="734"/>
          <a:ext cx="2962656" cy="819888"/>
        </a:xfrm>
        <a:prstGeom prst="roundRect">
          <a:avLst/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Экспансия</a:t>
          </a:r>
        </a:p>
      </dsp:txBody>
      <dsp:txXfrm>
        <a:off x="40024" y="40758"/>
        <a:ext cx="2882608" cy="739840"/>
      </dsp:txXfrm>
    </dsp:sp>
    <dsp:sp modelId="{12F5C78F-18A6-47F0-85A8-3AF1CF90146A}">
      <dsp:nvSpPr>
        <dsp:cNvPr id="0" name=""/>
        <dsp:cNvSpPr/>
      </dsp:nvSpPr>
      <dsp:spPr>
        <a:xfrm rot="5400000">
          <a:off x="5050182" y="-1228801"/>
          <a:ext cx="1080961" cy="5261800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Заключение союзов.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Победа в войнах без расширения территорий.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Получение возможности воздействовать на другие сообщества  через экономику или культуру.</a:t>
          </a:r>
        </a:p>
      </dsp:txBody>
      <dsp:txXfrm rot="-5400000">
        <a:off x="2959763" y="914386"/>
        <a:ext cx="5209032" cy="975425"/>
      </dsp:txXfrm>
    </dsp:sp>
    <dsp:sp modelId="{0ED74623-36CF-481A-A445-93A4EB8164F2}">
      <dsp:nvSpPr>
        <dsp:cNvPr id="0" name=""/>
        <dsp:cNvSpPr/>
      </dsp:nvSpPr>
      <dsp:spPr>
        <a:xfrm>
          <a:off x="0" y="992153"/>
          <a:ext cx="2959762" cy="819888"/>
        </a:xfrm>
        <a:prstGeom prst="roundRect">
          <a:avLst/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Влияние</a:t>
          </a:r>
        </a:p>
      </dsp:txBody>
      <dsp:txXfrm>
        <a:off x="40024" y="1032177"/>
        <a:ext cx="2879714" cy="739840"/>
      </dsp:txXfrm>
    </dsp:sp>
    <dsp:sp modelId="{44771177-2928-4AF8-A26E-48EC8C571840}">
      <dsp:nvSpPr>
        <dsp:cNvPr id="0" name=""/>
        <dsp:cNvSpPr/>
      </dsp:nvSpPr>
      <dsp:spPr>
        <a:xfrm rot="5400000">
          <a:off x="5268172" y="-239954"/>
          <a:ext cx="655911" cy="5266944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Отказ от взаимодействия с другими сообществами.</a:t>
          </a:r>
        </a:p>
      </dsp:txBody>
      <dsp:txXfrm rot="-5400000">
        <a:off x="2962656" y="2097581"/>
        <a:ext cx="5234925" cy="591873"/>
      </dsp:txXfrm>
    </dsp:sp>
    <dsp:sp modelId="{7D5878CA-45C6-4F6C-9DE1-787DC252026B}">
      <dsp:nvSpPr>
        <dsp:cNvPr id="0" name=""/>
        <dsp:cNvSpPr/>
      </dsp:nvSpPr>
      <dsp:spPr>
        <a:xfrm>
          <a:off x="0" y="1983573"/>
          <a:ext cx="2962656" cy="819888"/>
        </a:xfrm>
        <a:prstGeom prst="roundRect">
          <a:avLst/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Обособление</a:t>
          </a:r>
        </a:p>
      </dsp:txBody>
      <dsp:txXfrm>
        <a:off x="40024" y="2023597"/>
        <a:ext cx="2882608" cy="739840"/>
      </dsp:txXfrm>
    </dsp:sp>
    <dsp:sp modelId="{C43235E8-70E1-47C9-AB17-4D4682E97DD3}">
      <dsp:nvSpPr>
        <dsp:cNvPr id="0" name=""/>
        <dsp:cNvSpPr/>
      </dsp:nvSpPr>
      <dsp:spPr>
        <a:xfrm rot="5400000">
          <a:off x="5268172" y="620928"/>
          <a:ext cx="655911" cy="5266944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Добровольное или насильственное подчинение другому сообществу.</a:t>
          </a:r>
        </a:p>
      </dsp:txBody>
      <dsp:txXfrm rot="-5400000">
        <a:off x="2962656" y="2958464"/>
        <a:ext cx="5234925" cy="591873"/>
      </dsp:txXfrm>
    </dsp:sp>
    <dsp:sp modelId="{573A39BF-E8A9-46B5-BDEE-F4D6FD678213}">
      <dsp:nvSpPr>
        <dsp:cNvPr id="0" name=""/>
        <dsp:cNvSpPr/>
      </dsp:nvSpPr>
      <dsp:spPr>
        <a:xfrm>
          <a:off x="0" y="2844456"/>
          <a:ext cx="2962656" cy="819888"/>
        </a:xfrm>
        <a:prstGeom prst="roundRect">
          <a:avLst/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Поглощение </a:t>
          </a:r>
        </a:p>
      </dsp:txBody>
      <dsp:txXfrm>
        <a:off x="40024" y="2884480"/>
        <a:ext cx="2882608" cy="739840"/>
      </dsp:txXfrm>
    </dsp:sp>
    <dsp:sp modelId="{21AB9B5E-BACB-407B-9A93-08538F42B40E}">
      <dsp:nvSpPr>
        <dsp:cNvPr id="0" name=""/>
        <dsp:cNvSpPr/>
      </dsp:nvSpPr>
      <dsp:spPr>
        <a:xfrm rot="5400000">
          <a:off x="5268172" y="1481812"/>
          <a:ext cx="655911" cy="5266944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/>
            <a:t>Формирование на прежде единой территории новых отдельных сообществ.</a:t>
          </a:r>
        </a:p>
      </dsp:txBody>
      <dsp:txXfrm rot="-5400000">
        <a:off x="2962656" y="3819348"/>
        <a:ext cx="5234925" cy="591873"/>
      </dsp:txXfrm>
    </dsp:sp>
    <dsp:sp modelId="{08FC9091-A60A-4248-8FC3-F228F827AA38}">
      <dsp:nvSpPr>
        <dsp:cNvPr id="0" name=""/>
        <dsp:cNvSpPr/>
      </dsp:nvSpPr>
      <dsp:spPr>
        <a:xfrm>
          <a:off x="0" y="3705339"/>
          <a:ext cx="2962656" cy="819888"/>
        </a:xfrm>
        <a:prstGeom prst="roundRect">
          <a:avLst/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Разделение/</a:t>
          </a:r>
        </a:p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Распад</a:t>
          </a:r>
        </a:p>
      </dsp:txBody>
      <dsp:txXfrm>
        <a:off x="40024" y="3745363"/>
        <a:ext cx="2882608" cy="739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D5E40-C742-4218-8BA4-C2B5EF17D60C}">
      <dsp:nvSpPr>
        <dsp:cNvPr id="0" name=""/>
        <dsp:cNvSpPr/>
      </dsp:nvSpPr>
      <dsp:spPr>
        <a:xfrm>
          <a:off x="0" y="5045139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E6E9F7-5DAA-4788-8888-3FC1B0BA539D}">
      <dsp:nvSpPr>
        <dsp:cNvPr id="0" name=""/>
        <dsp:cNvSpPr/>
      </dsp:nvSpPr>
      <dsp:spPr>
        <a:xfrm>
          <a:off x="0" y="4098319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03822-41DE-400A-AAE3-D1F3F6AED96C}">
      <dsp:nvSpPr>
        <dsp:cNvPr id="0" name=""/>
        <dsp:cNvSpPr/>
      </dsp:nvSpPr>
      <dsp:spPr>
        <a:xfrm>
          <a:off x="0" y="3151498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64F1CC-1EB7-4112-83A5-E548B87E4750}">
      <dsp:nvSpPr>
        <dsp:cNvPr id="0" name=""/>
        <dsp:cNvSpPr/>
      </dsp:nvSpPr>
      <dsp:spPr>
        <a:xfrm>
          <a:off x="0" y="2204678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0F2B2-9EED-4ED5-9DA5-3BF25922C6BD}">
      <dsp:nvSpPr>
        <dsp:cNvPr id="0" name=""/>
        <dsp:cNvSpPr/>
      </dsp:nvSpPr>
      <dsp:spPr>
        <a:xfrm>
          <a:off x="0" y="1257858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113B7-E5C3-4DD3-BDAB-0EC6C14686F2}">
      <dsp:nvSpPr>
        <dsp:cNvPr id="0" name=""/>
        <dsp:cNvSpPr/>
      </dsp:nvSpPr>
      <dsp:spPr>
        <a:xfrm>
          <a:off x="0" y="311037"/>
          <a:ext cx="8229600" cy="0"/>
        </a:xfrm>
        <a:prstGeom prst="line">
          <a:avLst/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33B5B-0CD0-4369-BC37-9C7DEB0B12CF}">
      <dsp:nvSpPr>
        <dsp:cNvPr id="0" name=""/>
        <dsp:cNvSpPr/>
      </dsp:nvSpPr>
      <dsp:spPr>
        <a:xfrm>
          <a:off x="2139695" y="635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Экспансия  </a:t>
          </a:r>
        </a:p>
      </dsp:txBody>
      <dsp:txXfrm>
        <a:off x="2139695" y="635"/>
        <a:ext cx="6089904" cy="310402"/>
      </dsp:txXfrm>
    </dsp:sp>
    <dsp:sp modelId="{05545E2D-496E-43DB-95DC-4BF1F9851B35}">
      <dsp:nvSpPr>
        <dsp:cNvPr id="0" name=""/>
        <dsp:cNvSpPr/>
      </dsp:nvSpPr>
      <dsp:spPr>
        <a:xfrm>
          <a:off x="0" y="635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VIII -</a:t>
          </a:r>
          <a:r>
            <a:rPr lang="ru-RU" sz="1800" kern="1200" dirty="0"/>
            <a:t> </a:t>
          </a:r>
          <a:r>
            <a:rPr lang="en-US" sz="1800" kern="1200" dirty="0"/>
            <a:t>X</a:t>
          </a:r>
          <a:endParaRPr lang="ru-RU" sz="1800" kern="1200" dirty="0"/>
        </a:p>
      </dsp:txBody>
      <dsp:txXfrm>
        <a:off x="15155" y="15790"/>
        <a:ext cx="2109386" cy="295247"/>
      </dsp:txXfrm>
    </dsp:sp>
    <dsp:sp modelId="{EB0E50D1-50AB-455A-B602-F0771BEE97CB}">
      <dsp:nvSpPr>
        <dsp:cNvPr id="0" name=""/>
        <dsp:cNvSpPr/>
      </dsp:nvSpPr>
      <dsp:spPr>
        <a:xfrm>
          <a:off x="0" y="311037"/>
          <a:ext cx="8229600" cy="620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Максимальная – при Святославе Игоревиче</a:t>
          </a:r>
        </a:p>
      </dsp:txBody>
      <dsp:txXfrm>
        <a:off x="0" y="311037"/>
        <a:ext cx="8229600" cy="620897"/>
      </dsp:txXfrm>
    </dsp:sp>
    <dsp:sp modelId="{ED629BAE-83C7-4150-B0F7-AE430847B334}">
      <dsp:nvSpPr>
        <dsp:cNvPr id="0" name=""/>
        <dsp:cNvSpPr/>
      </dsp:nvSpPr>
      <dsp:spPr>
        <a:xfrm>
          <a:off x="2139695" y="947455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Под культурным влиянием Византии </a:t>
          </a:r>
        </a:p>
      </dsp:txBody>
      <dsp:txXfrm>
        <a:off x="2139695" y="947455"/>
        <a:ext cx="6089904" cy="310402"/>
      </dsp:txXfrm>
    </dsp:sp>
    <dsp:sp modelId="{A9B8082B-5474-4522-A302-F4363BC6F7C1}">
      <dsp:nvSpPr>
        <dsp:cNvPr id="0" name=""/>
        <dsp:cNvSpPr/>
      </dsp:nvSpPr>
      <dsp:spPr>
        <a:xfrm>
          <a:off x="0" y="947455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XI – </a:t>
          </a:r>
          <a:r>
            <a:rPr lang="ru-RU" sz="1800" kern="1200" dirty="0"/>
            <a:t>нач. </a:t>
          </a:r>
          <a:r>
            <a:rPr lang="en-US" sz="1800" kern="1200" dirty="0"/>
            <a:t>XIII </a:t>
          </a:r>
          <a:endParaRPr lang="ru-RU" sz="1800" kern="1200" dirty="0"/>
        </a:p>
      </dsp:txBody>
      <dsp:txXfrm>
        <a:off x="15155" y="962610"/>
        <a:ext cx="2109386" cy="295247"/>
      </dsp:txXfrm>
    </dsp:sp>
    <dsp:sp modelId="{A4ACB16D-59F9-4C74-93EA-94CE3C46B253}">
      <dsp:nvSpPr>
        <dsp:cNvPr id="0" name=""/>
        <dsp:cNvSpPr/>
      </dsp:nvSpPr>
      <dsp:spPr>
        <a:xfrm>
          <a:off x="0" y="1257858"/>
          <a:ext cx="8229600" cy="620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Русь – митрополия Восточной христианской церкви </a:t>
          </a:r>
        </a:p>
      </dsp:txBody>
      <dsp:txXfrm>
        <a:off x="0" y="1257858"/>
        <a:ext cx="8229600" cy="620897"/>
      </dsp:txXfrm>
    </dsp:sp>
    <dsp:sp modelId="{9C5F1F24-990D-465F-877F-6C32D24E845A}">
      <dsp:nvSpPr>
        <dsp:cNvPr id="0" name=""/>
        <dsp:cNvSpPr/>
      </dsp:nvSpPr>
      <dsp:spPr>
        <a:xfrm>
          <a:off x="2139695" y="1894276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Поглощение Ордой и Вел. Кн. Литовским</a:t>
          </a:r>
        </a:p>
      </dsp:txBody>
      <dsp:txXfrm>
        <a:off x="2139695" y="1894276"/>
        <a:ext cx="6089904" cy="310402"/>
      </dsp:txXfrm>
    </dsp:sp>
    <dsp:sp modelId="{719FB3F7-9724-48D0-80FA-CABA86854504}">
      <dsp:nvSpPr>
        <dsp:cNvPr id="0" name=""/>
        <dsp:cNvSpPr/>
      </dsp:nvSpPr>
      <dsp:spPr>
        <a:xfrm>
          <a:off x="0" y="1894276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XIII - XV </a:t>
          </a:r>
          <a:endParaRPr lang="ru-RU" sz="1800" kern="1200" dirty="0"/>
        </a:p>
      </dsp:txBody>
      <dsp:txXfrm>
        <a:off x="15155" y="1909431"/>
        <a:ext cx="2109386" cy="295247"/>
      </dsp:txXfrm>
    </dsp:sp>
    <dsp:sp modelId="{F233A418-EB90-41CE-8DF0-D0A2AD4577D7}">
      <dsp:nvSpPr>
        <dsp:cNvPr id="0" name=""/>
        <dsp:cNvSpPr/>
      </dsp:nvSpPr>
      <dsp:spPr>
        <a:xfrm>
          <a:off x="0" y="2204678"/>
          <a:ext cx="8229600" cy="620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Внутренняя экспансия Москвы на русских землях и начальный этап экспансии на восток </a:t>
          </a:r>
        </a:p>
      </dsp:txBody>
      <dsp:txXfrm>
        <a:off x="0" y="2204678"/>
        <a:ext cx="8229600" cy="620897"/>
      </dsp:txXfrm>
    </dsp:sp>
    <dsp:sp modelId="{1286767F-C191-4B3C-831E-FDCAEB7B732D}">
      <dsp:nvSpPr>
        <dsp:cNvPr id="0" name=""/>
        <dsp:cNvSpPr/>
      </dsp:nvSpPr>
      <dsp:spPr>
        <a:xfrm>
          <a:off x="2139695" y="2841096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Экспансия </a:t>
          </a:r>
        </a:p>
      </dsp:txBody>
      <dsp:txXfrm>
        <a:off x="2139695" y="2841096"/>
        <a:ext cx="6089904" cy="310402"/>
      </dsp:txXfrm>
    </dsp:sp>
    <dsp:sp modelId="{8DE8D7EA-D466-44D8-81B7-B41FC47A7548}">
      <dsp:nvSpPr>
        <dsp:cNvPr id="0" name=""/>
        <dsp:cNvSpPr/>
      </dsp:nvSpPr>
      <dsp:spPr>
        <a:xfrm>
          <a:off x="0" y="2841096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XVI </a:t>
          </a:r>
          <a:endParaRPr lang="ru-RU" sz="1800" kern="1200" dirty="0"/>
        </a:p>
      </dsp:txBody>
      <dsp:txXfrm>
        <a:off x="15155" y="2856251"/>
        <a:ext cx="2109386" cy="295247"/>
      </dsp:txXfrm>
    </dsp:sp>
    <dsp:sp modelId="{101E2364-9521-4CCE-9A98-4434B4F951F9}">
      <dsp:nvSpPr>
        <dsp:cNvPr id="0" name=""/>
        <dsp:cNvSpPr/>
      </dsp:nvSpPr>
      <dsp:spPr>
        <a:xfrm>
          <a:off x="0" y="3151498"/>
          <a:ext cx="8229600" cy="620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Успешная – на восток. Неудачная – на запад</a:t>
          </a:r>
        </a:p>
      </dsp:txBody>
      <dsp:txXfrm>
        <a:off x="0" y="3151498"/>
        <a:ext cx="8229600" cy="620897"/>
      </dsp:txXfrm>
    </dsp:sp>
    <dsp:sp modelId="{FA64F6B2-E9ED-42FD-AF05-5CEC0DDF732E}">
      <dsp:nvSpPr>
        <dsp:cNvPr id="0" name=""/>
        <dsp:cNvSpPr/>
      </dsp:nvSpPr>
      <dsp:spPr>
        <a:xfrm>
          <a:off x="2139695" y="3787916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Распад</a:t>
          </a:r>
        </a:p>
      </dsp:txBody>
      <dsp:txXfrm>
        <a:off x="2139695" y="3787916"/>
        <a:ext cx="6089904" cy="310402"/>
      </dsp:txXfrm>
    </dsp:sp>
    <dsp:sp modelId="{8831467A-B132-418B-87E3-A42D915DBC5E}">
      <dsp:nvSpPr>
        <dsp:cNvPr id="0" name=""/>
        <dsp:cNvSpPr/>
      </dsp:nvSpPr>
      <dsp:spPr>
        <a:xfrm>
          <a:off x="0" y="3787916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нач. </a:t>
          </a:r>
          <a:r>
            <a:rPr lang="en-US" sz="1800" kern="1200" dirty="0"/>
            <a:t>XVII </a:t>
          </a:r>
          <a:r>
            <a:rPr lang="ru-RU" sz="1800" kern="1200" dirty="0"/>
            <a:t> </a:t>
          </a:r>
        </a:p>
      </dsp:txBody>
      <dsp:txXfrm>
        <a:off x="15155" y="3803071"/>
        <a:ext cx="2109386" cy="295247"/>
      </dsp:txXfrm>
    </dsp:sp>
    <dsp:sp modelId="{E0E4606A-B0E5-4F02-9701-FB382BFAF577}">
      <dsp:nvSpPr>
        <dsp:cNvPr id="0" name=""/>
        <dsp:cNvSpPr/>
      </dsp:nvSpPr>
      <dsp:spPr>
        <a:xfrm>
          <a:off x="0" y="4098319"/>
          <a:ext cx="8229600" cy="620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Процесс не был завершен и официально оформлен</a:t>
          </a:r>
        </a:p>
      </dsp:txBody>
      <dsp:txXfrm>
        <a:off x="0" y="4098319"/>
        <a:ext cx="8229600" cy="620897"/>
      </dsp:txXfrm>
    </dsp:sp>
    <dsp:sp modelId="{9AC18BF8-E8B3-4779-8392-EFD11EDD0C5C}">
      <dsp:nvSpPr>
        <dsp:cNvPr id="0" name=""/>
        <dsp:cNvSpPr/>
      </dsp:nvSpPr>
      <dsp:spPr>
        <a:xfrm>
          <a:off x="2139695" y="4734737"/>
          <a:ext cx="6089904" cy="310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Экспансия на восток и на запад</a:t>
          </a:r>
        </a:p>
      </dsp:txBody>
      <dsp:txXfrm>
        <a:off x="2139695" y="4734737"/>
        <a:ext cx="6089904" cy="310402"/>
      </dsp:txXfrm>
    </dsp:sp>
    <dsp:sp modelId="{2074A536-D6C1-4A16-B962-3D5811340CC1}">
      <dsp:nvSpPr>
        <dsp:cNvPr id="0" name=""/>
        <dsp:cNvSpPr/>
      </dsp:nvSpPr>
      <dsp:spPr>
        <a:xfrm>
          <a:off x="0" y="4734737"/>
          <a:ext cx="2139696" cy="310402"/>
        </a:xfrm>
        <a:prstGeom prst="round2SameRect">
          <a:avLst>
            <a:gd name="adj1" fmla="val 16670"/>
            <a:gd name="adj2" fmla="val 0"/>
          </a:avLst>
        </a:prstGeom>
        <a:solidFill>
          <a:schemeClr val="lt1"/>
        </a:solidFill>
        <a:ln w="28575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XVII </a:t>
          </a:r>
          <a:endParaRPr lang="ru-RU" sz="1800" kern="1200" dirty="0"/>
        </a:p>
      </dsp:txBody>
      <dsp:txXfrm>
        <a:off x="15155" y="4749892"/>
        <a:ext cx="2109386" cy="295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66A72-A524-4D41-8D06-46011E6B06E5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DDAE3-260C-46BF-BCD8-5E2CA4E2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17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71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15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5502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49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912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471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949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808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105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25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1B316-0C1A-6ACE-6DE6-B47381E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1F4C36-B9F3-98B7-7D4C-15EF7BCBD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99DF7D-105F-491B-22FC-6B390F5B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E2EE73-7C4E-7C95-8B54-EDE1D017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6E206E-8DF7-A909-09EA-B1CE077B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48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E30BD-B665-35CC-610F-9DB490F6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1EDCE-A71F-9C64-ADAC-FA09351B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E27583-B267-A914-094D-F4A39644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73CCC3-9F4A-6CA8-481D-8D4E4DA7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4FE92-CDA6-C670-84CB-94B631C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6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EFE6-6CF3-1770-7E36-983D61C5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8B6428-26BB-7023-0E9A-43DB63B3C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C51959-5D82-7C70-E750-E297F263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FEAB5-0D0E-A843-45DD-3351EF3E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16E81-A1A9-DCA8-998F-B3732077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0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FE8A9-F0E8-E03E-6866-279CC7D6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6C4ED-BEE0-6BFB-17D6-CB7A0108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28C46D-5181-E827-8EAF-A09A3C15B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B1842-50E7-5CB9-B04D-82C7B34B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AF5AA8-7573-9F05-FB92-F51B984C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BF7498-09D8-6945-A2CD-352E5A7A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87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D099B-A858-C8D3-1FE1-B0221F82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5274B3-BAFE-30EA-EC98-B1BF0EFE9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51F158-B957-CEBF-F055-CA293B664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DF0193-DFFD-82BD-BEC5-5CD45D218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E30FD55-93D6-D2B1-6E8F-C8A82ACEF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423BAB-4BAA-C15A-6170-F3E5E457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039D3F-D0DB-5A7A-AB02-A5B30B90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B1191E-3713-F7CA-E77F-DCB27837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55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0F2D9-8158-3599-237D-D3CF6580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C1953E-DE3F-EEBC-28A6-A072FDF4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E2A39E-E90A-ABAE-195C-A949FE70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507CC9-4DA9-6A9E-C37F-8580AA43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85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3C2000-6F01-076D-1E54-936E0B81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F87E95-F411-1691-DB07-729D3496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D73BB1-F306-D535-83DA-6768C060B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93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762BB5-B9E1-09CF-6B50-C016BFF1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855E18-1BBD-8815-1E2F-29997E02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2A8DC0-A936-C095-9877-169AFF72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48C947-4328-CAAC-D476-28489435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D6244B-D0CE-58A2-945C-585BD200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FACA50-1A11-9AB3-B430-503267AE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07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7DC68-80A5-9E86-E486-3311517C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70E96A-B63D-3E2C-EB3C-65A33C924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4C29FA-6A11-35FD-A63D-945273CF6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350CB3-0539-B2EB-6307-118612C8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FEA9E9-4FCC-B8A9-29A9-9117D07A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5834F6-61B1-1FFC-6DD2-65C9E880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9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C07EB-2E62-0DB4-0DC5-5EADEE1E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B66CAD-DB4D-025A-A28B-AF1618934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C91EA-0811-36D9-AD39-055EA5AB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C034A8-132D-CBE9-9343-EA3995EA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D06F32-2065-81B8-CE54-5B1EEC6C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65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1F4AA9-76FD-7A48-128B-AEB44941B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40CECB-E3B8-63B7-E504-44E8D5A8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CDF5BC-0405-5AE9-4325-24BF46AF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1AFF0-826D-194F-3638-B4F157CB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73F5B-2E0B-D1C9-FF49-1E3E50FA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47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798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1" cy="1219200"/>
          </a:xfrm>
        </p:spPr>
        <p:txBody>
          <a:bodyPr>
            <a:normAutofit/>
          </a:bodyPr>
          <a:lstStyle>
            <a:lvl1pPr marL="0" indent="0" algn="ctr">
              <a:buNone/>
              <a:defRPr sz="2359">
                <a:solidFill>
                  <a:schemeClr val="tx1">
                    <a:tint val="75000"/>
                  </a:schemeClr>
                </a:solidFill>
              </a:defRPr>
            </a:lvl1pPr>
            <a:lvl2pPr marL="457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C27D0E68-19BF-4AA3-A1B7-726A726E7F8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9730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3E4A76-A200-4115-BCBE-7AE225083E5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171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1371601"/>
            <a:ext cx="10363200" cy="2505075"/>
          </a:xfrm>
        </p:spPr>
        <p:txBody>
          <a:bodyPr anchor="b"/>
          <a:lstStyle>
            <a:lvl1pPr algn="ctr" defTabSz="9144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8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4068763"/>
            <a:ext cx="10363200" cy="1131887"/>
          </a:xfrm>
        </p:spPr>
        <p:txBody>
          <a:bodyPr anchor="t"/>
          <a:lstStyle>
            <a:lvl1pPr marL="0" indent="0" algn="ctr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1pPr>
            <a:lvl2pPr marL="457203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2pPr>
            <a:lvl3pPr marL="914406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37160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4pPr>
            <a:lvl5pPr marL="1828812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5pPr>
            <a:lvl6pPr marL="2286015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6pPr>
            <a:lvl7pPr marL="2743218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7pPr>
            <a:lvl8pPr marL="3200421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8pPr>
            <a:lvl9pPr marL="3657624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E4977F-BC59-41C4-A227-3DC61F25909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/>
          </a:p>
        </p:txBody>
      </p:sp>
      <p:sp>
        <p:nvSpPr>
          <p:cNvPr id="8" name="Oval 7"/>
          <p:cNvSpPr/>
          <p:nvPr/>
        </p:nvSpPr>
        <p:spPr>
          <a:xfrm>
            <a:off x="626110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/>
          </a:p>
        </p:txBody>
      </p:sp>
    </p:spTree>
    <p:extLst>
      <p:ext uri="{BB962C8B-B14F-4D97-AF65-F5344CB8AC3E}">
        <p14:creationId xmlns:p14="http://schemas.microsoft.com/office/powerpoint/2010/main" val="101711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359"/>
            </a:lvl1pPr>
            <a:lvl2pPr>
              <a:defRPr sz="1633"/>
            </a:lvl2pPr>
            <a:lvl3pPr>
              <a:defRPr sz="1633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46258A-E26E-45E7-B31B-7D420FDB86A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42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359" b="0"/>
            </a:lvl1pPr>
            <a:lvl2pPr marL="457203" indent="0">
              <a:buNone/>
              <a:defRPr sz="1996" b="1"/>
            </a:lvl2pPr>
            <a:lvl3pPr marL="914406" indent="0">
              <a:buNone/>
              <a:defRPr sz="1814" b="1"/>
            </a:lvl3pPr>
            <a:lvl4pPr marL="1371609" indent="0">
              <a:buNone/>
              <a:defRPr sz="1633" b="1"/>
            </a:lvl4pPr>
            <a:lvl5pPr marL="1828812" indent="0">
              <a:buNone/>
              <a:defRPr sz="1633" b="1"/>
            </a:lvl5pPr>
            <a:lvl6pPr marL="2286015" indent="0">
              <a:buNone/>
              <a:defRPr sz="1633" b="1"/>
            </a:lvl6pPr>
            <a:lvl7pPr marL="2743218" indent="0">
              <a:buNone/>
              <a:defRPr sz="1633" b="1"/>
            </a:lvl7pPr>
            <a:lvl8pPr marL="3200421" indent="0">
              <a:buNone/>
              <a:defRPr sz="1633" b="1"/>
            </a:lvl8pPr>
            <a:lvl9pPr marL="3657624" indent="0">
              <a:buNone/>
              <a:defRPr sz="16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359" b="0"/>
            </a:lvl1pPr>
            <a:lvl2pPr marL="457203" indent="0">
              <a:buNone/>
              <a:defRPr sz="1996" b="1"/>
            </a:lvl2pPr>
            <a:lvl3pPr marL="914406" indent="0">
              <a:buNone/>
              <a:defRPr sz="1814" b="1"/>
            </a:lvl3pPr>
            <a:lvl4pPr marL="1371609" indent="0">
              <a:buNone/>
              <a:defRPr sz="1633" b="1"/>
            </a:lvl4pPr>
            <a:lvl5pPr marL="1828812" indent="0">
              <a:buNone/>
              <a:defRPr sz="1633" b="1"/>
            </a:lvl5pPr>
            <a:lvl6pPr marL="2286015" indent="0">
              <a:buNone/>
              <a:defRPr sz="1633" b="1"/>
            </a:lvl6pPr>
            <a:lvl7pPr marL="2743218" indent="0">
              <a:buNone/>
              <a:defRPr sz="1633" b="1"/>
            </a:lvl7pPr>
            <a:lvl8pPr marL="3200421" indent="0">
              <a:buNone/>
              <a:defRPr sz="1633" b="1"/>
            </a:lvl8pPr>
            <a:lvl9pPr marL="3657624" indent="0">
              <a:buNone/>
              <a:defRPr sz="16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BB8D5C-0F58-4E28-8415-9F1A569336D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9"/>
            <a:ext cx="5388864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3" y="2212849"/>
            <a:ext cx="5388864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80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21AEA2-6F50-400F-9A0B-F277EF5FA87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6834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A0F4A8-2C95-4423-8DF5-F178359122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310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12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175"/>
            </a:lvl1pPr>
            <a:lvl2pPr>
              <a:defRPr sz="2812"/>
            </a:lvl2pPr>
            <a:lvl3pPr>
              <a:defRPr sz="2359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33"/>
            </a:lvl1pPr>
            <a:lvl2pPr marL="457203" indent="0">
              <a:buNone/>
              <a:defRPr sz="1179"/>
            </a:lvl2pPr>
            <a:lvl3pPr marL="914406" indent="0">
              <a:buNone/>
              <a:defRPr sz="998"/>
            </a:lvl3pPr>
            <a:lvl4pPr marL="1371609" indent="0">
              <a:buNone/>
              <a:defRPr sz="907"/>
            </a:lvl4pPr>
            <a:lvl5pPr marL="1828812" indent="0">
              <a:buNone/>
              <a:defRPr sz="907"/>
            </a:lvl5pPr>
            <a:lvl6pPr marL="2286015" indent="0">
              <a:buNone/>
              <a:defRPr sz="907"/>
            </a:lvl6pPr>
            <a:lvl7pPr marL="2743218" indent="0">
              <a:buNone/>
              <a:defRPr sz="907"/>
            </a:lvl7pPr>
            <a:lvl8pPr marL="3200421" indent="0">
              <a:buNone/>
              <a:defRPr sz="907"/>
            </a:lvl8pPr>
            <a:lvl9pPr marL="3657624" indent="0">
              <a:buNone/>
              <a:defRPr sz="90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CC8A4E-65C7-4EF2-8E6D-9619EE522BB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247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12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6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175"/>
            </a:lvl1pPr>
            <a:lvl2pPr marL="457203" indent="0">
              <a:buNone/>
              <a:defRPr sz="2812"/>
            </a:lvl2pPr>
            <a:lvl3pPr marL="914406" indent="0">
              <a:buNone/>
              <a:defRPr sz="2359"/>
            </a:lvl3pPr>
            <a:lvl4pPr marL="1371609" indent="0">
              <a:buNone/>
              <a:defRPr sz="1996"/>
            </a:lvl4pPr>
            <a:lvl5pPr marL="1828812" indent="0">
              <a:buNone/>
              <a:defRPr sz="1996"/>
            </a:lvl5pPr>
            <a:lvl6pPr marL="2286015" indent="0">
              <a:buNone/>
              <a:defRPr sz="1996"/>
            </a:lvl6pPr>
            <a:lvl7pPr marL="2743218" indent="0">
              <a:buNone/>
              <a:defRPr sz="1996"/>
            </a:lvl7pPr>
            <a:lvl8pPr marL="3200421" indent="0">
              <a:buNone/>
              <a:defRPr sz="1996"/>
            </a:lvl8pPr>
            <a:lvl9pPr marL="3657624" indent="0">
              <a:buNone/>
              <a:defRPr sz="1996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1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33"/>
            </a:lvl1pPr>
            <a:lvl2pPr marL="457203" indent="0">
              <a:buNone/>
              <a:defRPr sz="1179"/>
            </a:lvl2pPr>
            <a:lvl3pPr marL="914406" indent="0">
              <a:buNone/>
              <a:defRPr sz="998"/>
            </a:lvl3pPr>
            <a:lvl4pPr marL="1371609" indent="0">
              <a:buNone/>
              <a:defRPr sz="907"/>
            </a:lvl4pPr>
            <a:lvl5pPr marL="1828812" indent="0">
              <a:buNone/>
              <a:defRPr sz="907"/>
            </a:lvl5pPr>
            <a:lvl6pPr marL="2286015" indent="0">
              <a:buNone/>
              <a:defRPr sz="907"/>
            </a:lvl6pPr>
            <a:lvl7pPr marL="2743218" indent="0">
              <a:buNone/>
              <a:defRPr sz="907"/>
            </a:lvl7pPr>
            <a:lvl8pPr marL="3200421" indent="0">
              <a:buNone/>
              <a:defRPr sz="907"/>
            </a:lvl8pPr>
            <a:lvl9pPr marL="3657624" indent="0">
              <a:buNone/>
              <a:defRPr sz="90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7F3C39-7590-41DD-9682-2FA73133CB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1099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6E070A-C3A1-44DF-B5A5-8A4B57EFD2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199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274639"/>
            <a:ext cx="8026399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0AF4E4-B946-4657-AAB8-20E09F7ED7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535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97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437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99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64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1650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783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0041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33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1884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28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47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9D49F-3C22-00D0-6DD7-C6B79E7F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3F0C95-9FD6-784B-6EBB-7ED09C0E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5F1649-C5A4-C563-95A3-F30509001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F79B3-DC2B-4212-A2C3-2AD5E067CCC6}" type="datetimeFigureOut">
              <a:rPr lang="ru-RU" smtClean="0"/>
              <a:t>24.08.2023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5935B-C03A-E720-E4AF-DBE6BD74D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E76E05-05EA-A438-2374-5AFEB44A0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88B79-09A0-4CEC-BE5B-57202E3E15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88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1" cy="1600200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1" cy="4525963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4" y="6356351"/>
            <a:ext cx="2781301" cy="365125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8" y="6356351"/>
            <a:ext cx="3797300" cy="365125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7" y="6356351"/>
            <a:ext cx="749300" cy="365125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179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27E168FE-E371-4623-AA0E-44FABA66183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algn="ctr" defTabSz="914406" rtl="0" eaLnBrk="1" latinLnBrk="0" hangingPunct="1"/>
            <a:endParaRPr lang="en-US" sz="1814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1633"/>
          </a:p>
        </p:txBody>
      </p:sp>
    </p:spTree>
    <p:extLst>
      <p:ext uri="{BB962C8B-B14F-4D97-AF65-F5344CB8AC3E}">
        <p14:creationId xmlns:p14="http://schemas.microsoft.com/office/powerpoint/2010/main" val="93929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6" rtl="0" eaLnBrk="1" latinLnBrk="0" hangingPunct="1">
        <a:lnSpc>
          <a:spcPts val="5800"/>
        </a:lnSpc>
        <a:spcBef>
          <a:spcPct val="0"/>
        </a:spcBef>
        <a:buNone/>
        <a:defRPr sz="5443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3" indent="-342903" algn="l" defTabSz="914406" rtl="0" eaLnBrk="1" latinLnBrk="0" hangingPunct="1">
        <a:spcBef>
          <a:spcPct val="20000"/>
        </a:spcBef>
        <a:buFont typeface="Arial" pitchFamily="34" charset="0"/>
        <a:buChar char="•"/>
        <a:defRPr sz="2359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5" indent="-28575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8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10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13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17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23" indent="-228602" algn="l" defTabSz="914406" rtl="0" eaLnBrk="1" latinLnBrk="0" hangingPunct="1">
        <a:spcBef>
          <a:spcPct val="20000"/>
        </a:spcBef>
        <a:buFont typeface="Courier New" pitchFamily="49" charset="0"/>
        <a:buChar char="o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25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1633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6AD1BD1-7870-48E0-BBBE-3003F38D8059}" type="datetimeFigureOut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24.08.2023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074C39D-85E0-4A2B-A76C-15A2F2BB0E92}" type="slidenum">
              <a:rPr lang="ru-RU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65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523DA-0B80-EA42-929D-C837AD887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История России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8468B4-397F-DDD2-2326-67AFA24254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3. Внешняя политика </a:t>
            </a:r>
            <a:br>
              <a:rPr lang="ru-RU" dirty="0"/>
            </a:br>
            <a:r>
              <a:rPr lang="ru-RU" dirty="0"/>
              <a:t>Древней Руси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69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F7D61F8-BA2A-4758-5D5F-770BCE60D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741"/>
            <a:ext cx="10515600" cy="37007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Внешняя политика – это деятельность государственных институций по решению задач:</a:t>
            </a:r>
          </a:p>
          <a:p>
            <a:r>
              <a:rPr lang="ru-RU" dirty="0"/>
              <a:t>обеспечение безопасности населения;</a:t>
            </a:r>
          </a:p>
          <a:p>
            <a:r>
              <a:rPr lang="ru-RU" dirty="0"/>
              <a:t>защита имеющихся в стране ресурсов;</a:t>
            </a:r>
          </a:p>
          <a:p>
            <a:r>
              <a:rPr lang="ru-RU" dirty="0"/>
              <a:t>обеспечение возможности обмена ресурсами (и производимыми товарами) с другими странами;</a:t>
            </a:r>
          </a:p>
          <a:p>
            <a:r>
              <a:rPr lang="ru-RU" dirty="0"/>
              <a:t>приобретение новых ресурсов;</a:t>
            </a:r>
          </a:p>
          <a:p>
            <a:r>
              <a:rPr lang="ru-RU" dirty="0"/>
              <a:t>обеспечение права населения (или властвующей его части) самостоятельно распоряжаться ресурсами страны (обеспечение суверенитета).</a:t>
            </a:r>
          </a:p>
          <a:p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A24F0E0-8253-AD5F-4D4F-8902E7BF3610}"/>
              </a:ext>
            </a:extLst>
          </p:cNvPr>
          <p:cNvSpPr/>
          <p:nvPr/>
        </p:nvSpPr>
        <p:spPr>
          <a:xfrm>
            <a:off x="646981" y="4399473"/>
            <a:ext cx="10515600" cy="193231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Два значения понятия суверенитет:</a:t>
            </a:r>
          </a:p>
          <a:p>
            <a:pPr algn="ctr"/>
            <a:r>
              <a:rPr lang="ru-RU" b="1" dirty="0"/>
              <a:t>Широкое: </a:t>
            </a:r>
            <a:r>
              <a:rPr lang="ru-RU" dirty="0"/>
              <a:t>право на принятие управленческих решений (примеры: суверенитет монарха; суверенитет народа).</a:t>
            </a:r>
          </a:p>
          <a:p>
            <a:pPr algn="ctr"/>
            <a:r>
              <a:rPr lang="ru-RU" b="1" dirty="0"/>
              <a:t>Узкое: </a:t>
            </a:r>
            <a:r>
              <a:rPr lang="ru-RU" dirty="0"/>
              <a:t>исключительное право принимать управленческие решения на территории собственной страны (синоним - «независимость»).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489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A0802-CA1D-C4F4-96BD-8171EFC5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 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0B8247-8881-A8C1-BB9B-2C2D83881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Материальные: </a:t>
            </a:r>
            <a:r>
              <a:rPr lang="ru-RU" dirty="0"/>
              <a:t>почва, вода, недра  и т.п.</a:t>
            </a:r>
          </a:p>
          <a:p>
            <a:pPr marL="0" indent="0">
              <a:buNone/>
            </a:pPr>
            <a:r>
              <a:rPr lang="ru-RU" b="1" dirty="0"/>
              <a:t>Человеческие:</a:t>
            </a:r>
            <a:r>
              <a:rPr lang="ru-RU" dirty="0"/>
              <a:t> рабочие руки, специалисты в различных сферах деятельности, интеллектуальные ресурсы.</a:t>
            </a:r>
          </a:p>
          <a:p>
            <a:pPr marL="0" indent="0">
              <a:buNone/>
            </a:pPr>
            <a:r>
              <a:rPr lang="ru-RU" b="1" dirty="0"/>
              <a:t>Логистические </a:t>
            </a:r>
            <a:r>
              <a:rPr lang="ru-RU" dirty="0"/>
              <a:t>– доступ к торговым путям: рекам, морям, караванным тропам, горным перевалам и т.п.</a:t>
            </a:r>
          </a:p>
          <a:p>
            <a:pPr marL="0" indent="0">
              <a:buNone/>
            </a:pPr>
            <a:r>
              <a:rPr lang="ru-RU" b="1" dirty="0"/>
              <a:t>Ресурсы влияния: </a:t>
            </a:r>
            <a:r>
              <a:rPr lang="ru-RU" dirty="0"/>
              <a:t>получение возможности воздействовать на решения, принимаемые в других странах </a:t>
            </a:r>
            <a:r>
              <a:rPr lang="ru-RU" dirty="0">
                <a:solidFill>
                  <a:srgbClr val="FF0000"/>
                </a:solidFill>
              </a:rPr>
              <a:t>(ВНИМАНИЕ – ОПАСНОСТЬ!)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Символические: </a:t>
            </a:r>
            <a:r>
              <a:rPr lang="ru-RU" dirty="0"/>
              <a:t>демонстрация силы и могущества (</a:t>
            </a:r>
            <a:r>
              <a:rPr lang="ru-RU" dirty="0">
                <a:solidFill>
                  <a:srgbClr val="C00000"/>
                </a:solidFill>
              </a:rPr>
              <a:t>еще большая опасность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5970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54E3F-250E-D0D2-C66A-89C92B67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достижения целей внешней политики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22B144C-0986-DE10-0375-9CD3D70AD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212626"/>
              </p:ext>
            </p:extLst>
          </p:nvPr>
        </p:nvGraphicFramePr>
        <p:xfrm>
          <a:off x="957532" y="1690688"/>
          <a:ext cx="10396268" cy="494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3117">
                  <a:extLst>
                    <a:ext uri="{9D8B030D-6E8A-4147-A177-3AD203B41FA5}">
                      <a16:colId xmlns:a16="http://schemas.microsoft.com/office/drawing/2014/main" val="1077134898"/>
                    </a:ext>
                  </a:extLst>
                </a:gridCol>
                <a:gridCol w="2515901">
                  <a:extLst>
                    <a:ext uri="{9D8B030D-6E8A-4147-A177-3AD203B41FA5}">
                      <a16:colId xmlns:a16="http://schemas.microsoft.com/office/drawing/2014/main" val="3164570262"/>
                    </a:ext>
                  </a:extLst>
                </a:gridCol>
                <a:gridCol w="2283808">
                  <a:extLst>
                    <a:ext uri="{9D8B030D-6E8A-4147-A177-3AD203B41FA5}">
                      <a16:colId xmlns:a16="http://schemas.microsoft.com/office/drawing/2014/main" val="3973285658"/>
                    </a:ext>
                  </a:extLst>
                </a:gridCol>
                <a:gridCol w="1986721">
                  <a:extLst>
                    <a:ext uri="{9D8B030D-6E8A-4147-A177-3AD203B41FA5}">
                      <a16:colId xmlns:a16="http://schemas.microsoft.com/office/drawing/2014/main" val="1597173398"/>
                    </a:ext>
                  </a:extLst>
                </a:gridCol>
                <a:gridCol w="1986721">
                  <a:extLst>
                    <a:ext uri="{9D8B030D-6E8A-4147-A177-3AD203B41FA5}">
                      <a16:colId xmlns:a16="http://schemas.microsoft.com/office/drawing/2014/main" val="2359844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Дипломатические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Экономические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Военные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«Мягкая сила»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6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Позитивные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Направление посольств, установление дипломатических отношений, заключение договоров и союзов.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Договоры о взаимной торговле, льготные таможенные режимы, варианты «порто-франко».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Заключение военных союзов и совместные военные действия.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Культурная экспансия в другие страны.</a:t>
                      </a:r>
                    </a:p>
                    <a:p>
                      <a:r>
                        <a:rPr lang="ru-RU" dirty="0"/>
                        <a:t>Создание в зарубежных странах дружественных сообществ и структур.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50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Негативные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Отзыв дипломатов, разрыв отношений, денонсация договоров.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Различные варианты протекционизма, «торговые войны», санкционная политика.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Демонстрация  применения силы, военная блокада, ведение боевых действий различного масштаба.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Использование дружественных общественных и культурных структур для критики политики правительств зарубежных государств.</a:t>
                      </a:r>
                    </a:p>
                    <a:p>
                      <a:r>
                        <a:rPr lang="ru-RU" sz="1200" dirty="0"/>
                        <a:t>Использование «агентов влияния».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38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404664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Парадигмы внешней политики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64616"/>
              </p:ext>
            </p:extLst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5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792088"/>
          </a:xfrm>
        </p:spPr>
        <p:txBody>
          <a:bodyPr/>
          <a:lstStyle/>
          <a:p>
            <a:r>
              <a:rPr lang="ru-RU" sz="2800" dirty="0"/>
              <a:t>Русь-Россия в </a:t>
            </a:r>
            <a:r>
              <a:rPr lang="en-US" sz="2800" dirty="0"/>
              <a:t>VIII – XVII </a:t>
            </a:r>
            <a:r>
              <a:rPr lang="ru-RU" sz="2800" dirty="0"/>
              <a:t>вв.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488761"/>
              </p:ext>
            </p:extLst>
          </p:nvPr>
        </p:nvGraphicFramePr>
        <p:xfrm>
          <a:off x="1981200" y="1268761"/>
          <a:ext cx="8229600" cy="5045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53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181819" y="1077324"/>
            <a:ext cx="9704717" cy="5048990"/>
          </a:xfrm>
        </p:spPr>
        <p:txBody>
          <a:bodyPr>
            <a:normAutofit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97978" indent="0">
              <a:buNone/>
            </a:pPr>
            <a:r>
              <a:rPr lang="ru-RU" i="1" dirty="0">
                <a:solidFill>
                  <a:schemeClr val="tx1"/>
                </a:solidFill>
                <a:latin typeface="Arial" pitchFamily="34"/>
              </a:rPr>
              <a:t>Направления внешней политики Древней Руси:</a:t>
            </a:r>
          </a:p>
          <a:p>
            <a:pPr lvl="0"/>
            <a:r>
              <a:rPr lang="ru-RU" i="1" dirty="0">
                <a:solidFill>
                  <a:schemeClr val="tx1"/>
                </a:solidFill>
                <a:latin typeface="Arial" pitchFamily="34"/>
              </a:rPr>
              <a:t>юго-западное</a:t>
            </a:r>
            <a:r>
              <a:rPr lang="ru-RU" dirty="0">
                <a:solidFill>
                  <a:schemeClr val="tx1"/>
                </a:solidFill>
                <a:latin typeface="Arial" pitchFamily="34"/>
              </a:rPr>
              <a:t> – отношения с Византийской империей;</a:t>
            </a:r>
          </a:p>
          <a:p>
            <a:pPr lvl="0"/>
            <a:r>
              <a:rPr lang="ru-RU" i="1" dirty="0">
                <a:solidFill>
                  <a:schemeClr val="tx1"/>
                </a:solidFill>
                <a:latin typeface="Arial" pitchFamily="34"/>
              </a:rPr>
              <a:t>юго-восточное</a:t>
            </a:r>
            <a:r>
              <a:rPr lang="ru-RU" dirty="0">
                <a:solidFill>
                  <a:schemeClr val="tx1"/>
                </a:solidFill>
              </a:rPr>
              <a:t> – отношения с государствами и народами Дикого Поля;</a:t>
            </a:r>
          </a:p>
          <a:p>
            <a:pPr lvl="0"/>
            <a:r>
              <a:rPr lang="ru-RU" i="1" dirty="0">
                <a:solidFill>
                  <a:schemeClr val="tx1"/>
                </a:solidFill>
                <a:latin typeface="Arial" pitchFamily="34"/>
              </a:rPr>
              <a:t>западное</a:t>
            </a:r>
            <a:r>
              <a:rPr lang="ru-RU" dirty="0">
                <a:solidFill>
                  <a:schemeClr val="tx1"/>
                </a:solidFill>
              </a:rPr>
              <a:t> – взаимодействие с народами и государствами Восточной Европы: Польшей, Чехией, Венгрией;</a:t>
            </a:r>
          </a:p>
          <a:p>
            <a:pPr lvl="0"/>
            <a:r>
              <a:rPr lang="ru-RU" i="1" dirty="0">
                <a:solidFill>
                  <a:schemeClr val="tx1"/>
                </a:solidFill>
                <a:latin typeface="Arial" pitchFamily="34"/>
              </a:rPr>
              <a:t>северо-западное</a:t>
            </a:r>
            <a:r>
              <a:rPr lang="ru-RU" dirty="0">
                <a:solidFill>
                  <a:schemeClr val="tx1"/>
                </a:solidFill>
              </a:rPr>
              <a:t> – взаимодействие с народами Восточной Прибалтики, еще не имевшими собственной государственности, а также скандинавскими странами.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6C39DD-5181-B5F7-0181-495F4C1B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0814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Решение задач по получению материальных и логистических ресурсов </a:t>
            </a:r>
            <a:br>
              <a:rPr lang="ru-RU" sz="2400" dirty="0"/>
            </a:br>
            <a:r>
              <a:rPr lang="ru-RU" sz="2400" dirty="0"/>
              <a:t>(по всем возможным направлениям)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A12B31A-D6B9-A9D8-D8C1-21342E8DD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375594"/>
              </p:ext>
            </p:extLst>
          </p:nvPr>
        </p:nvGraphicFramePr>
        <p:xfrm>
          <a:off x="828139" y="1268083"/>
          <a:ext cx="10525661" cy="5414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9786">
                  <a:extLst>
                    <a:ext uri="{9D8B030D-6E8A-4147-A177-3AD203B41FA5}">
                      <a16:colId xmlns:a16="http://schemas.microsoft.com/office/drawing/2014/main" val="622404173"/>
                    </a:ext>
                  </a:extLst>
                </a:gridCol>
                <a:gridCol w="4615132">
                  <a:extLst>
                    <a:ext uri="{9D8B030D-6E8A-4147-A177-3AD203B41FA5}">
                      <a16:colId xmlns:a16="http://schemas.microsoft.com/office/drawing/2014/main" val="531891499"/>
                    </a:ext>
                  </a:extLst>
                </a:gridCol>
                <a:gridCol w="4150743">
                  <a:extLst>
                    <a:ext uri="{9D8B030D-6E8A-4147-A177-3AD203B41FA5}">
                      <a16:colId xmlns:a16="http://schemas.microsoft.com/office/drawing/2014/main" val="3200805078"/>
                    </a:ext>
                  </a:extLst>
                </a:gridCol>
              </a:tblGrid>
              <a:tr h="384918">
                <a:tc>
                  <a:txBody>
                    <a:bodyPr/>
                    <a:lstStyle/>
                    <a:p>
                      <a:r>
                        <a:rPr lang="ru-RU" sz="1400" dirty="0"/>
                        <a:t>Князья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Логистические ресурсы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Материальные ресурсы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12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Олег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Установление контроля на всем пути «Из варяг в Греки» от Балтики до черного моря.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Установление контроля над Северянами в противоборстве с Хазарией.</a:t>
                      </a:r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34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Святослав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Установление частичного контроля над Волжским торговым путем.</a:t>
                      </a:r>
                    </a:p>
                    <a:p>
                      <a:r>
                        <a:rPr lang="ru-RU" sz="1400" dirty="0"/>
                        <a:t>Основание Тьмутаракани с выходом к северному рукаву Великого шелкового пути.</a:t>
                      </a: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37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Ярослав Мудрый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Основание Юрьева (сейчас – Тарту), обеспечивавшего контроль над сухопутными торговыми путями вдоль балтийского моря.</a:t>
                      </a: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Основание Ярославля для освоения север-восточных территорий.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Ярослав Святославич (внук Ярослава мудрого)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Основание Рязанского княжества.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81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Владимир Мономах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Основание Владимира для расширения ресурсной базы на востоке.</a:t>
                      </a:r>
                    </a:p>
                    <a:p>
                      <a:r>
                        <a:rPr lang="ru-RU" sz="1400" dirty="0"/>
                        <a:t>Ликвидация династии князей вятичей.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8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Юрий Долгорукий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Основание ряда небольших городов (в том числе Москвы) для усиления контроля над землями «Великой руси».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886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854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487680" y="250166"/>
            <a:ext cx="10972801" cy="802257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3" dirty="0"/>
              <a:t>Отношения с Византией: Олег и Игорь.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sz="half" idx="2"/>
          </p:nvPr>
        </p:nvSpPr>
        <p:spPr>
          <a:xfrm>
            <a:off x="5555410" y="1216325"/>
            <a:ext cx="6026989" cy="3692105"/>
          </a:xfrm>
        </p:spPr>
        <p:txBody>
          <a:bodyPr>
            <a:normAutofit fontScale="925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1633" b="1" dirty="0"/>
              <a:t>Договор 907 г.:</a:t>
            </a:r>
          </a:p>
          <a:p>
            <a:pPr marL="97978" indent="0">
              <a:buNone/>
            </a:pPr>
            <a:r>
              <a:rPr lang="ru-RU" sz="1633" dirty="0"/>
              <a:t> „Когда приходят русские, пусть берут содержание для послов, сколько хотят; а если придут купцы, пусть берут месячное на 6 месяцев: хлеба, вина, мяса, рыбы, плодов. И пусть устраивают им баню – сколько захотят. Когда же русские отправятся домой, пусть берут у царя на дорогу еду, якоря, канаты, паруса и что им нужно. (…) Прибывающие сюда русские пусть обитают у церкви св. Мамонта и, когда пришлют к ним от нашего государства и перепишут имена их, только тогда пусть возьмут полагающееся им месячное, – сперва пришедшие из Киева, затем из Чернигова и из Переяславля и из других городов. И пусть входят в город через одни только ворота в сопровождении царского мужа, без оружия, по 50 человек, и торгуют сколько им нужно, не уплачивая никаких сборов”.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160FB-BB85-0B6B-AB09-05FBB593C5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7680" y="1216325"/>
            <a:ext cx="4688169" cy="4780759"/>
          </a:xfrm>
        </p:spPr>
        <p:txBody>
          <a:bodyPr>
            <a:normAutofit fontScale="92500"/>
          </a:bodyPr>
          <a:lstStyle/>
          <a:p>
            <a:pPr marL="108000" lvl="0" indent="0">
              <a:buNone/>
            </a:pPr>
            <a:r>
              <a:rPr lang="ru-RU" sz="2400" b="1" dirty="0"/>
              <a:t>Задачи</a:t>
            </a:r>
          </a:p>
          <a:p>
            <a:pPr lvl="0"/>
            <a:r>
              <a:rPr lang="ru-RU" sz="2400" dirty="0"/>
              <a:t>Обеспечить устойчивость торговых путей</a:t>
            </a:r>
            <a:r>
              <a:rPr lang="en-US" sz="2400" dirty="0"/>
              <a:t> </a:t>
            </a:r>
            <a:r>
              <a:rPr lang="ru-RU" sz="2400" dirty="0"/>
              <a:t>для организации сбыта имеющихся ресурсов (пушнина, мед, воск,  строевой лес, поташ, рабы).</a:t>
            </a:r>
          </a:p>
          <a:p>
            <a:pPr lvl="0"/>
            <a:r>
              <a:rPr lang="ru-RU" sz="2400" dirty="0"/>
              <a:t>Получить льготный торговый режим.</a:t>
            </a:r>
          </a:p>
          <a:p>
            <a:pPr lvl="0"/>
            <a:r>
              <a:rPr lang="ru-RU" sz="2400" dirty="0"/>
              <a:t>Получить дополнительные символические ресурсы для собственной власти.</a:t>
            </a:r>
          </a:p>
          <a:p>
            <a:pPr marL="0" lvl="0" indent="0">
              <a:buNone/>
            </a:pPr>
            <a:r>
              <a:rPr lang="ru-RU" sz="2400" b="1" dirty="0"/>
              <a:t>Метод: военный поход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8485D8-63EB-4EAB-C019-0FAE21847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70" y="4760840"/>
            <a:ext cx="3540798" cy="196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2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487680" y="250166"/>
            <a:ext cx="10972801" cy="802257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3" dirty="0"/>
              <a:t>Отношения с Византией: Ольга и Владимир.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160FB-BB85-0B6B-AB09-05FBB593C5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7680" y="1345721"/>
            <a:ext cx="3558109" cy="4780759"/>
          </a:xfrm>
        </p:spPr>
        <p:txBody>
          <a:bodyPr>
            <a:normAutofit fontScale="70000" lnSpcReduction="20000"/>
          </a:bodyPr>
          <a:lstStyle/>
          <a:p>
            <a:pPr marL="108000" lvl="0" indent="0">
              <a:buNone/>
            </a:pPr>
            <a:r>
              <a:rPr lang="ru-RU" sz="2400" b="1" dirty="0"/>
              <a:t>Задачи</a:t>
            </a:r>
          </a:p>
          <a:p>
            <a:pPr lvl="0"/>
            <a:r>
              <a:rPr lang="ru-RU" sz="2400" dirty="0"/>
              <a:t>Обеспечить устойчивость торговых путей</a:t>
            </a:r>
            <a:r>
              <a:rPr lang="en-US" sz="2400" dirty="0"/>
              <a:t> </a:t>
            </a:r>
            <a:r>
              <a:rPr lang="ru-RU" sz="2400" dirty="0"/>
              <a:t>для организации сбыта имеющихся ресурсов (пушнина, мед, воск,  строевой лес, поташ, рабы).</a:t>
            </a:r>
          </a:p>
          <a:p>
            <a:pPr lvl="0"/>
            <a:r>
              <a:rPr lang="ru-RU" sz="2400" dirty="0"/>
              <a:t>Получить льготный торговый режим.</a:t>
            </a:r>
          </a:p>
          <a:p>
            <a:pPr lvl="0"/>
            <a:r>
              <a:rPr lang="ru-RU" sz="2400" dirty="0"/>
              <a:t>Получить дополнительные символические ресурсы для собственной власти.</a:t>
            </a:r>
          </a:p>
          <a:p>
            <a:pPr marL="0" lvl="0" indent="0">
              <a:buNone/>
            </a:pPr>
            <a:r>
              <a:rPr lang="ru-RU" sz="2400" b="1" dirty="0"/>
              <a:t>Методы: </a:t>
            </a:r>
          </a:p>
          <a:p>
            <a:r>
              <a:rPr lang="ru-RU" sz="2400" dirty="0"/>
              <a:t>дипломатия,</a:t>
            </a:r>
          </a:p>
          <a:p>
            <a:r>
              <a:rPr lang="ru-RU" sz="2400" dirty="0"/>
              <a:t>мягкая сила (Ольга),</a:t>
            </a:r>
          </a:p>
          <a:p>
            <a:r>
              <a:rPr lang="ru-RU" sz="2400" dirty="0"/>
              <a:t>военный действия (Владимир - Херсонес),</a:t>
            </a:r>
          </a:p>
          <a:p>
            <a:r>
              <a:rPr lang="ru-RU" sz="2400" dirty="0"/>
              <a:t>династический брак (Владимир).</a:t>
            </a:r>
          </a:p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C5D3AB-5A52-5026-FD38-2E463A47E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988" y="1621766"/>
            <a:ext cx="7954463" cy="377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7622BC7-500F-F896-4EF1-02CD5C8B252A}"/>
              </a:ext>
            </a:extLst>
          </p:cNvPr>
          <p:cNvSpPr/>
          <p:nvPr/>
        </p:nvSpPr>
        <p:spPr>
          <a:xfrm>
            <a:off x="5702060" y="5650302"/>
            <a:ext cx="6002260" cy="81088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Золотая монета Владимира</a:t>
            </a:r>
          </a:p>
        </p:txBody>
      </p:sp>
    </p:spTree>
    <p:extLst>
      <p:ext uri="{BB962C8B-B14F-4D97-AF65-F5344CB8AC3E}">
        <p14:creationId xmlns:p14="http://schemas.microsoft.com/office/powerpoint/2010/main" val="235474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487680" y="250166"/>
            <a:ext cx="10972801" cy="802257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3" dirty="0"/>
              <a:t>Святослав Игоревич: борьба за ресурсы влияния   </a:t>
            </a:r>
          </a:p>
        </p:txBody>
      </p:sp>
      <p:pic>
        <p:nvPicPr>
          <p:cNvPr id="2050" name="Picture 2" descr="Восточный поход Святослава ">
            <a:extLst>
              <a:ext uri="{FF2B5EF4-FFF2-40B4-BE49-F238E27FC236}">
                <a16:creationId xmlns:a16="http://schemas.microsoft.com/office/drawing/2014/main" id="{0F243170-4CC2-7895-517A-EC6CE96DC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58" y="1211654"/>
            <a:ext cx="5306414" cy="524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82B239C-7BE4-3DB8-D4B3-128BFA921100}"/>
              </a:ext>
            </a:extLst>
          </p:cNvPr>
          <p:cNvSpPr/>
          <p:nvPr/>
        </p:nvSpPr>
        <p:spPr>
          <a:xfrm>
            <a:off x="7289321" y="1362974"/>
            <a:ext cx="4287328" cy="483941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Поход 965 г.: обеспечение безопасности суверенитета.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Походы 966 – 967 гг.: приобретение логистических ресурсов.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Походы 968-970 гг.: стремление «переместить» государство на территорию Балкан.</a:t>
            </a:r>
          </a:p>
        </p:txBody>
      </p:sp>
    </p:spTree>
    <p:extLst>
      <p:ext uri="{BB962C8B-B14F-4D97-AF65-F5344CB8AC3E}">
        <p14:creationId xmlns:p14="http://schemas.microsoft.com/office/powerpoint/2010/main" val="545626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8230465" cy="642307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903" dirty="0"/>
              <a:t>Отношения с Византией: Ярослав Мудрый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868393" y="1190446"/>
            <a:ext cx="10455214" cy="3252158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1633" b="1" dirty="0"/>
              <a:t>Основная задача: </a:t>
            </a:r>
            <a:r>
              <a:rPr lang="ru-RU" sz="1633" dirty="0"/>
              <a:t>противостояние ассимиляционной политике Византии (сопротивление «мягкой силе).</a:t>
            </a:r>
          </a:p>
          <a:p>
            <a:pPr marL="108000" lvl="0" indent="0">
              <a:buNone/>
            </a:pPr>
            <a:r>
              <a:rPr lang="ru-RU" sz="1633" b="1" dirty="0"/>
              <a:t>Дополнительные задачи </a:t>
            </a:r>
            <a:r>
              <a:rPr lang="ru-RU" sz="1633" dirty="0"/>
              <a:t>– те же, что у его отца Владимира.</a:t>
            </a:r>
          </a:p>
          <a:p>
            <a:pPr marL="108000" lvl="0" indent="0">
              <a:buNone/>
            </a:pPr>
            <a:r>
              <a:rPr lang="ru-RU" sz="1633" b="1" dirty="0"/>
              <a:t>Методы: </a:t>
            </a:r>
          </a:p>
          <a:p>
            <a:pPr marL="383728" indent="-285750"/>
            <a:r>
              <a:rPr lang="ru-RU" sz="1633" dirty="0"/>
              <a:t>поход Владимира Ярославича 1043 г. (неудачный);</a:t>
            </a:r>
          </a:p>
          <a:p>
            <a:pPr marL="383728" indent="-285750"/>
            <a:r>
              <a:rPr lang="ru-RU" sz="1633" dirty="0"/>
              <a:t>отказ принять греческого митрополита и выборы собственного (Илариона);</a:t>
            </a:r>
          </a:p>
          <a:p>
            <a:pPr marL="383728" indent="-285750"/>
            <a:r>
              <a:rPr lang="ru-RU" sz="1633" dirty="0"/>
              <a:t>женитьба четвертого сына Ярослава Всеволода на византийской принцессе, дочери Константина Мономаха.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AA85CE2-5FCB-3BF3-D594-771946350E8C}"/>
              </a:ext>
            </a:extLst>
          </p:cNvPr>
          <p:cNvSpPr/>
          <p:nvPr/>
        </p:nvSpPr>
        <p:spPr>
          <a:xfrm>
            <a:off x="1086928" y="4166558"/>
            <a:ext cx="9428672" cy="207034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После смерти Ярослав Мудрого ярких событий в отношениях с Византией нет, вследствие регионализации внешней политики русских земель и переориентации внешнеполитической деятельности на ближайших соседей.</a:t>
            </a:r>
          </a:p>
          <a:p>
            <a:pPr algn="ctr"/>
            <a:r>
              <a:rPr lang="ru-RU" dirty="0"/>
              <a:t>Значимые событие – высылка (или бегство) в Византию младших (сводных) братьев Андрея Боголюбского и предпринятая Андреем попытка основать во Владимире митрополию (посольство епископа Феодора).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29"/>
            <a:ext cx="9052464" cy="125324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«Дикое поле» – территория на юго-востоке от «Малой Руси» (от нижнего течения Днепра до предгорий Кавказа), населенная кочевниками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207697" y="2035834"/>
            <a:ext cx="9834113" cy="3989759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2177" dirty="0"/>
              <a:t>«Кочевое вождество» (в отличие от земледельческого) – паразитарная форма социальной организации.  Его развитие и перерастание в государство зависит от того, может ли это сообщество получать ресурсы и блага от какого-либо земледельческого сообщества.</a:t>
            </a:r>
          </a:p>
          <a:p>
            <a:pPr marL="108000" lvl="0" indent="0">
              <a:buNone/>
            </a:pPr>
            <a:r>
              <a:rPr lang="ru-RU" sz="2177" dirty="0"/>
              <a:t>Формы паразитарной социальной деятельности кочевого сообщества:</a:t>
            </a:r>
          </a:p>
          <a:p>
            <a:r>
              <a:rPr lang="ru-RU" sz="2177" dirty="0"/>
              <a:t>«набеги» с ограблением населения земледельческого сообщества, повторяемый с определённой периодичностью;</a:t>
            </a:r>
          </a:p>
          <a:p>
            <a:r>
              <a:rPr lang="ru-RU" sz="2177" dirty="0"/>
              <a:t>получение «дани» под угрозой набега;</a:t>
            </a:r>
          </a:p>
          <a:p>
            <a:r>
              <a:rPr lang="ru-RU" sz="2177" dirty="0"/>
              <a:t>подчинение земледельческого сообщества и с установлением регулярной дани;</a:t>
            </a:r>
          </a:p>
          <a:p>
            <a:r>
              <a:rPr lang="ru-RU" sz="2177" dirty="0"/>
              <a:t>контроль над торговыми путями с предоставлением услуг по защите караванов от грабителей;</a:t>
            </a:r>
          </a:p>
          <a:p>
            <a:r>
              <a:rPr lang="ru-RU" sz="2177" dirty="0"/>
              <a:t>ограбление тех торговых караванов, которые отказались от «защиты».</a:t>
            </a:r>
          </a:p>
        </p:txBody>
      </p:sp>
    </p:spTree>
    <p:extLst>
      <p:ext uri="{BB962C8B-B14F-4D97-AF65-F5344CB8AC3E}">
        <p14:creationId xmlns:p14="http://schemas.microsoft.com/office/powerpoint/2010/main" val="47141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9181860" cy="11152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Взаимодействие с Диким полем: 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Хазары, конгломерат тюркских племен , в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VII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веке принявший форму «суперсложного вождества» </a:t>
            </a: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85908DD-C370-EB78-4D8D-42A2788302F0}"/>
              </a:ext>
            </a:extLst>
          </p:cNvPr>
          <p:cNvGraphicFramePr>
            <a:graphicFrameLocks noGrp="1"/>
          </p:cNvGraphicFramePr>
          <p:nvPr/>
        </p:nvGraphicFramePr>
        <p:xfrm>
          <a:off x="284672" y="1764808"/>
          <a:ext cx="8635044" cy="35920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4294">
                  <a:extLst>
                    <a:ext uri="{9D8B030D-6E8A-4147-A177-3AD203B41FA5}">
                      <a16:colId xmlns:a16="http://schemas.microsoft.com/office/drawing/2014/main" val="1279040531"/>
                    </a:ext>
                  </a:extLst>
                </a:gridCol>
                <a:gridCol w="1811547">
                  <a:extLst>
                    <a:ext uri="{9D8B030D-6E8A-4147-A177-3AD203B41FA5}">
                      <a16:colId xmlns:a16="http://schemas.microsoft.com/office/drawing/2014/main" val="4093085607"/>
                    </a:ext>
                  </a:extLst>
                </a:gridCol>
                <a:gridCol w="2398144">
                  <a:extLst>
                    <a:ext uri="{9D8B030D-6E8A-4147-A177-3AD203B41FA5}">
                      <a16:colId xmlns:a16="http://schemas.microsoft.com/office/drawing/2014/main" val="2090360674"/>
                    </a:ext>
                  </a:extLst>
                </a:gridCol>
                <a:gridCol w="2631059">
                  <a:extLst>
                    <a:ext uri="{9D8B030D-6E8A-4147-A177-3AD203B41FA5}">
                      <a16:colId xmlns:a16="http://schemas.microsoft.com/office/drawing/2014/main" val="1499628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Исторический 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Кто и как решал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Итог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8981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IX – I </a:t>
                      </a:r>
                      <a:r>
                        <a:rPr lang="ru-RU" dirty="0"/>
                        <a:t>половина Х вв.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Перехват дани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Олег, «выплата дани мечами».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Славянские земли, перешедшие под контроль династии </a:t>
                      </a:r>
                      <a:r>
                        <a:rPr lang="ru-RU" dirty="0" err="1"/>
                        <a:t>рюриковичей</a:t>
                      </a:r>
                      <a:r>
                        <a:rPr lang="ru-RU" dirty="0"/>
                        <a:t> платят дань Киеву, а не </a:t>
                      </a:r>
                      <a:r>
                        <a:rPr lang="ru-RU" dirty="0" err="1"/>
                        <a:t>Саркелу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273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Борьба с угрозой набегов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Святослав, поход 965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Разгром Хазарии, переход «Дикого поля» под контроль печенегов.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819087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19D3A8-E8A8-B45E-50B5-54864B251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766" y="1764808"/>
            <a:ext cx="2665562" cy="3554083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AE7DC49-B6F9-B6EF-D6EF-F4A3DE32E62E}"/>
              </a:ext>
            </a:extLst>
          </p:cNvPr>
          <p:cNvSpPr/>
          <p:nvPr/>
        </p:nvSpPr>
        <p:spPr>
          <a:xfrm>
            <a:off x="9238891" y="5520906"/>
            <a:ext cx="2668437" cy="7332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Хазарский воин (реконструкция)</a:t>
            </a:r>
          </a:p>
        </p:txBody>
      </p:sp>
    </p:spTree>
    <p:extLst>
      <p:ext uri="{BB962C8B-B14F-4D97-AF65-F5344CB8AC3E}">
        <p14:creationId xmlns:p14="http://schemas.microsoft.com/office/powerpoint/2010/main" val="3579070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9181860" cy="112385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Взаимодействие с Диким полем: 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Печенеги, союз 8 племенных объединений тюрков, пришедших из заволжских степей.</a:t>
            </a: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85908DD-C370-EB78-4D8D-42A278830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64068"/>
              </p:ext>
            </p:extLst>
          </p:nvPr>
        </p:nvGraphicFramePr>
        <p:xfrm>
          <a:off x="293298" y="1578635"/>
          <a:ext cx="6645218" cy="5086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990">
                  <a:extLst>
                    <a:ext uri="{9D8B030D-6E8A-4147-A177-3AD203B41FA5}">
                      <a16:colId xmlns:a16="http://schemas.microsoft.com/office/drawing/2014/main" val="1279040531"/>
                    </a:ext>
                  </a:extLst>
                </a:gridCol>
                <a:gridCol w="1179429">
                  <a:extLst>
                    <a:ext uri="{9D8B030D-6E8A-4147-A177-3AD203B41FA5}">
                      <a16:colId xmlns:a16="http://schemas.microsoft.com/office/drawing/2014/main" val="4093085607"/>
                    </a:ext>
                  </a:extLst>
                </a:gridCol>
                <a:gridCol w="2064403">
                  <a:extLst>
                    <a:ext uri="{9D8B030D-6E8A-4147-A177-3AD203B41FA5}">
                      <a16:colId xmlns:a16="http://schemas.microsoft.com/office/drawing/2014/main" val="2090360674"/>
                    </a:ext>
                  </a:extLst>
                </a:gridCol>
                <a:gridCol w="2027396">
                  <a:extLst>
                    <a:ext uri="{9D8B030D-6E8A-4147-A177-3AD203B41FA5}">
                      <a16:colId xmlns:a16="http://schemas.microsoft.com/office/drawing/2014/main" val="1499628256"/>
                    </a:ext>
                  </a:extLst>
                </a:gridCol>
              </a:tblGrid>
              <a:tr h="833700">
                <a:tc>
                  <a:txBody>
                    <a:bodyPr/>
                    <a:lstStyle/>
                    <a:p>
                      <a:r>
                        <a:rPr lang="ru-RU" sz="1600" dirty="0"/>
                        <a:t>Исторический 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Кто и как решал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89815"/>
                  </a:ext>
                </a:extLst>
              </a:tr>
              <a:tr h="1084006">
                <a:tc rowSpan="3">
                  <a:txBody>
                    <a:bodyPr/>
                    <a:lstStyle/>
                    <a:p>
                      <a:r>
                        <a:rPr lang="ru-RU" sz="1600" dirty="0"/>
                        <a:t>Вторая половина </a:t>
                      </a:r>
                      <a:r>
                        <a:rPr lang="en-US" sz="1600" dirty="0"/>
                        <a:t>X – I </a:t>
                      </a:r>
                      <a:r>
                        <a:rPr lang="ru-RU" sz="1600" dirty="0" err="1"/>
                        <a:t>половинаполовина</a:t>
                      </a:r>
                      <a:r>
                        <a:rPr lang="ru-RU" sz="1600" dirty="0"/>
                        <a:t> Х</a:t>
                      </a:r>
                      <a:r>
                        <a:rPr lang="en-US" sz="1600" dirty="0"/>
                        <a:t> I</a:t>
                      </a:r>
                      <a:r>
                        <a:rPr lang="ru-RU" sz="1600" dirty="0"/>
                        <a:t> вв.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ru-RU" sz="1600" dirty="0"/>
                        <a:t>Борьба с угрозой набегов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Святослав Игоревич игнорировал угрозу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968 г. печенеги осадили Киев, а в 972 г. убили Святослава.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27396"/>
                  </a:ext>
                </a:extLst>
              </a:tr>
              <a:tr h="15846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ru-RU" sz="1600" dirty="0"/>
                        <a:t>Борьба с угрозой набегов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Владимир Святославич. Строительство «</a:t>
                      </a:r>
                      <a:r>
                        <a:rPr lang="ru-RU" sz="1600" dirty="0" err="1"/>
                        <a:t>змиевых</a:t>
                      </a:r>
                      <a:r>
                        <a:rPr lang="ru-RU" sz="1600" dirty="0"/>
                        <a:t> валов»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Разгром Хазарии, переход «Дикого поля» под контроль печенегов.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819087"/>
                  </a:ext>
                </a:extLst>
              </a:tr>
              <a:tr h="1584617">
                <a:tc vMerge="1"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Ярослав Владимирович, победа над печенегами в сражении под Киевом в 1032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Вытеснение печенегов половцами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26916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85E384-6613-D141-B0AD-39D977B00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451" y="1874139"/>
            <a:ext cx="4724397" cy="2717829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41E6045-520E-E281-0D53-9E9EF18E7BBD}"/>
              </a:ext>
            </a:extLst>
          </p:cNvPr>
          <p:cNvSpPr/>
          <p:nvPr/>
        </p:nvSpPr>
        <p:spPr>
          <a:xfrm>
            <a:off x="8091577" y="5011947"/>
            <a:ext cx="3588589" cy="118181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Русский богатырь побеждает печенежского. Миниатюра в летописи.</a:t>
            </a:r>
          </a:p>
        </p:txBody>
      </p:sp>
    </p:spTree>
    <p:extLst>
      <p:ext uri="{BB962C8B-B14F-4D97-AF65-F5344CB8AC3E}">
        <p14:creationId xmlns:p14="http://schemas.microsoft.com/office/powerpoint/2010/main" val="4168430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84B03CA-AA39-A6A4-E17F-BE49098FC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07" y="309024"/>
            <a:ext cx="7286625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CB949C-4007-FF67-0368-FB7AAF088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105" y="1358661"/>
            <a:ext cx="4576359" cy="3429000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4C11F07-3240-74F4-83BA-185ADCF23061}"/>
              </a:ext>
            </a:extLst>
          </p:cNvPr>
          <p:cNvSpPr/>
          <p:nvPr/>
        </p:nvSpPr>
        <p:spPr>
          <a:xfrm>
            <a:off x="7824158" y="5158596"/>
            <a:ext cx="3597216" cy="67870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«</a:t>
            </a:r>
            <a:r>
              <a:rPr lang="ru-RU" dirty="0" err="1"/>
              <a:t>Змиевы</a:t>
            </a:r>
            <a:r>
              <a:rPr lang="ru-RU" dirty="0"/>
              <a:t> валы» современное состояние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87C3FA-DEB0-2E44-DF9E-C62BF3A91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276" y="3959525"/>
            <a:ext cx="3725829" cy="2589451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E78FCFD-D2E6-21A3-79A5-5CB31339B60B}"/>
              </a:ext>
            </a:extLst>
          </p:cNvPr>
          <p:cNvSpPr/>
          <p:nvPr/>
        </p:nvSpPr>
        <p:spPr>
          <a:xfrm>
            <a:off x="603849" y="5020573"/>
            <a:ext cx="2803585" cy="1155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Варианты оборонительных сооружений</a:t>
            </a:r>
          </a:p>
          <a:p>
            <a:pPr algn="ctr"/>
            <a:r>
              <a:rPr lang="ru-RU" sz="1400" dirty="0"/>
              <a:t>(реконструкция по археологическим данным)</a:t>
            </a:r>
          </a:p>
        </p:txBody>
      </p:sp>
    </p:spTree>
    <p:extLst>
      <p:ext uri="{BB962C8B-B14F-4D97-AF65-F5344CB8AC3E}">
        <p14:creationId xmlns:p14="http://schemas.microsoft.com/office/powerpoint/2010/main" val="384784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9181860" cy="11152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Взаимодействие с Диким полем: 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Половцы (кыпчаки), племенной союз тюрков, вышедших из Средней Азии.</a:t>
            </a: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85908DD-C370-EB78-4D8D-42A278830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822495"/>
              </p:ext>
            </p:extLst>
          </p:nvPr>
        </p:nvGraphicFramePr>
        <p:xfrm>
          <a:off x="284671" y="1764808"/>
          <a:ext cx="11257471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6223">
                  <a:extLst>
                    <a:ext uri="{9D8B030D-6E8A-4147-A177-3AD203B41FA5}">
                      <a16:colId xmlns:a16="http://schemas.microsoft.com/office/drawing/2014/main" val="263190109"/>
                    </a:ext>
                  </a:extLst>
                </a:gridCol>
                <a:gridCol w="2100874">
                  <a:extLst>
                    <a:ext uri="{9D8B030D-6E8A-4147-A177-3AD203B41FA5}">
                      <a16:colId xmlns:a16="http://schemas.microsoft.com/office/drawing/2014/main" val="4093085607"/>
                    </a:ext>
                  </a:extLst>
                </a:gridCol>
                <a:gridCol w="4615559">
                  <a:extLst>
                    <a:ext uri="{9D8B030D-6E8A-4147-A177-3AD203B41FA5}">
                      <a16:colId xmlns:a16="http://schemas.microsoft.com/office/drawing/2014/main" val="2090360674"/>
                    </a:ext>
                  </a:extLst>
                </a:gridCol>
                <a:gridCol w="2694815">
                  <a:extLst>
                    <a:ext uri="{9D8B030D-6E8A-4147-A177-3AD203B41FA5}">
                      <a16:colId xmlns:a16="http://schemas.microsoft.com/office/drawing/2014/main" val="1499628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Исторический период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Кто и как решал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II </a:t>
                      </a:r>
                      <a:r>
                        <a:rPr lang="ru-RU" sz="1600" dirty="0"/>
                        <a:t>половина </a:t>
                      </a:r>
                      <a:r>
                        <a:rPr lang="en-US" sz="1600" dirty="0"/>
                        <a:t>XI</a:t>
                      </a:r>
                      <a:r>
                        <a:rPr lang="ru-RU" sz="1600" dirty="0"/>
                        <a:t> века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Защита русских земель от набегов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Князья русских земель, как в союзе, так и по отдельности.</a:t>
                      </a:r>
                    </a:p>
                    <a:p>
                      <a:r>
                        <a:rPr lang="ru-RU" sz="1600" dirty="0"/>
                        <a:t>1062 г. – разорение половцами Переяславского княжества</a:t>
                      </a:r>
                    </a:p>
                    <a:p>
                      <a:r>
                        <a:rPr lang="ru-RU" sz="1600" dirty="0"/>
                        <a:t>1068 г. – поражение Ярославичей на р. Альте.</a:t>
                      </a:r>
                    </a:p>
                    <a:p>
                      <a:r>
                        <a:rPr lang="ru-RU" sz="1600" dirty="0"/>
                        <a:t>1092 г. – поражение трех внуков Ярослава (Святополка, Владимира и Ростислава)  на р. Стогне. </a:t>
                      </a:r>
                    </a:p>
                    <a:p>
                      <a:r>
                        <a:rPr lang="ru-RU" sz="1600" dirty="0"/>
                        <a:t>1096 г. – первая крупная победа русских князей на р. Трубеж.</a:t>
                      </a:r>
                    </a:p>
                    <a:p>
                      <a:r>
                        <a:rPr lang="ru-RU" sz="1600" dirty="0"/>
                        <a:t>1103-117 – три похода Владимира мономах и его союзников в половецкие земли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en-US" sz="1600" dirty="0"/>
                        <a:t>XII </a:t>
                      </a:r>
                      <a:r>
                        <a:rPr lang="ru-RU" sz="1600" dirty="0"/>
                        <a:t>веке русские князья и половецкие ханы перешли политике заключения временных (тактических) союзов, иногда закрепляемых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27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XII </a:t>
                      </a:r>
                      <a:r>
                        <a:rPr lang="ru-RU" sz="1600" dirty="0"/>
                        <a:t>век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Восстановление контроля над Тьмутараканью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Два похода русских князей (в разных составах) на половцев в 1185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Оба похода окончились неудачей.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81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958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9181860" cy="11152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Взаимодействие с Диким полем: 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</a:b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uLnTx/>
                <a:uFillTx/>
                <a:latin typeface="Palatino Linotype"/>
                <a:ea typeface="+mj-ea"/>
                <a:cs typeface="+mj-cs"/>
              </a:rPr>
              <a:t>Половцы (кыпчаки)</a:t>
            </a: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85908DD-C370-EB78-4D8D-42A278830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53306"/>
              </p:ext>
            </p:extLst>
          </p:nvPr>
        </p:nvGraphicFramePr>
        <p:xfrm>
          <a:off x="284671" y="1764808"/>
          <a:ext cx="9187133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0393">
                  <a:extLst>
                    <a:ext uri="{9D8B030D-6E8A-4147-A177-3AD203B41FA5}">
                      <a16:colId xmlns:a16="http://schemas.microsoft.com/office/drawing/2014/main" val="263190109"/>
                    </a:ext>
                  </a:extLst>
                </a:gridCol>
                <a:gridCol w="2691442">
                  <a:extLst>
                    <a:ext uri="{9D8B030D-6E8A-4147-A177-3AD203B41FA5}">
                      <a16:colId xmlns:a16="http://schemas.microsoft.com/office/drawing/2014/main" val="4093085607"/>
                    </a:ext>
                  </a:extLst>
                </a:gridCol>
                <a:gridCol w="3010619">
                  <a:extLst>
                    <a:ext uri="{9D8B030D-6E8A-4147-A177-3AD203B41FA5}">
                      <a16:colId xmlns:a16="http://schemas.microsoft.com/office/drawing/2014/main" val="2090360674"/>
                    </a:ext>
                  </a:extLst>
                </a:gridCol>
                <a:gridCol w="1854679">
                  <a:extLst>
                    <a:ext uri="{9D8B030D-6E8A-4147-A177-3AD203B41FA5}">
                      <a16:colId xmlns:a16="http://schemas.microsoft.com/office/drawing/2014/main" val="1499628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Исторический период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Кто и как решал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89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Конец половина </a:t>
                      </a:r>
                      <a:r>
                        <a:rPr lang="en-US" sz="1600" dirty="0"/>
                        <a:t>XI</a:t>
                      </a:r>
                      <a:r>
                        <a:rPr lang="ru-RU" sz="1600" dirty="0"/>
                        <a:t> века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Использование половцев, в качестве военной силы в княжеских междоусобицах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1078 г. Роман и Олег Святославичи заключили союз с половцами против дяди – Изяслава Ярославича.</a:t>
                      </a:r>
                    </a:p>
                    <a:p>
                      <a:r>
                        <a:rPr lang="ru-RU" sz="1600" dirty="0"/>
                        <a:t>1094-1097 гг. Князь Олег Святославич («</a:t>
                      </a:r>
                      <a:r>
                        <a:rPr lang="ru-RU" sz="1600" dirty="0" err="1"/>
                        <a:t>Гореславич</a:t>
                      </a:r>
                      <a:r>
                        <a:rPr lang="ru-RU" sz="1600" dirty="0"/>
                        <a:t>») приводит половцев на русь в борьбе с Владимиром Мономахом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Мономах победил, но многие русские земли были разорены.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27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XII </a:t>
                      </a:r>
                      <a:r>
                        <a:rPr lang="ru-RU" sz="1600" dirty="0"/>
                        <a:t>век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Комбинированная задача защита собственной земли с возможностью использовать половцев, как инструмент в междоусобных войнах.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Династическая политика и заключение союзов.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81908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BAF9839-FDC2-76C6-CAF8-ADD1A353D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003" y="1764808"/>
            <a:ext cx="2282326" cy="324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DA66C7F-85A9-5928-A3E4-A08665ED8D25}"/>
              </a:ext>
            </a:extLst>
          </p:cNvPr>
          <p:cNvSpPr/>
          <p:nvPr/>
        </p:nvSpPr>
        <p:spPr>
          <a:xfrm>
            <a:off x="9627079" y="5279366"/>
            <a:ext cx="2280250" cy="87989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Половецкий воин - реконструкция</a:t>
            </a:r>
          </a:p>
        </p:txBody>
      </p:sp>
    </p:spTree>
    <p:extLst>
      <p:ext uri="{BB962C8B-B14F-4D97-AF65-F5344CB8AC3E}">
        <p14:creationId xmlns:p14="http://schemas.microsoft.com/office/powerpoint/2010/main" val="1232716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49E37-1073-E606-D3E5-DB7B5A11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1320"/>
            <a:ext cx="10972801" cy="836763"/>
          </a:xfrm>
        </p:spPr>
        <p:txBody>
          <a:bodyPr/>
          <a:lstStyle/>
          <a:p>
            <a:r>
              <a:rPr lang="ru-RU" sz="2800" dirty="0"/>
              <a:t>Половчанки – жены русских князей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67EAD48-61BD-1F5A-421F-48FDEC7E9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993021"/>
              </p:ext>
            </p:extLst>
          </p:nvPr>
        </p:nvGraphicFramePr>
        <p:xfrm>
          <a:off x="612475" y="1600200"/>
          <a:ext cx="10969922" cy="30457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4724">
                  <a:extLst>
                    <a:ext uri="{9D8B030D-6E8A-4147-A177-3AD203B41FA5}">
                      <a16:colId xmlns:a16="http://schemas.microsoft.com/office/drawing/2014/main" val="3984025476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2692443881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535406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Князь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Жена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768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Святополк </a:t>
                      </a:r>
                      <a:r>
                        <a:rPr lang="ru-RU" dirty="0" err="1"/>
                        <a:t>Изяславич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II </a:t>
                      </a:r>
                      <a:r>
                        <a:rPr lang="ru-RU" dirty="0"/>
                        <a:t>брак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Елена, дочь </a:t>
                      </a:r>
                      <a:r>
                        <a:rPr lang="ru-RU" dirty="0" err="1"/>
                        <a:t>Тугоркана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Брячеслав</a:t>
                      </a:r>
                      <a:r>
                        <a:rPr lang="ru-RU" dirty="0"/>
                        <a:t>, Изяслав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421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Владимир Мономах, </a:t>
                      </a:r>
                      <a:r>
                        <a:rPr lang="en-US" dirty="0"/>
                        <a:t>II </a:t>
                      </a:r>
                      <a:r>
                        <a:rPr lang="ru-RU" dirty="0"/>
                        <a:t>брак.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Ефимия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Юрий (долгорукий), Роман, Андрей.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59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Юрий </a:t>
                      </a:r>
                      <a:endParaRPr lang="en-US" dirty="0"/>
                    </a:p>
                    <a:p>
                      <a:r>
                        <a:rPr lang="ru-RU" dirty="0"/>
                        <a:t>Долгорукий, </a:t>
                      </a:r>
                      <a:r>
                        <a:rPr lang="en-US" dirty="0"/>
                        <a:t>I </a:t>
                      </a:r>
                      <a:r>
                        <a:rPr lang="ru-RU" dirty="0"/>
                        <a:t>брак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дочь </a:t>
                      </a:r>
                      <a:r>
                        <a:rPr lang="ru-RU" dirty="0" err="1"/>
                        <a:t>Аепы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Осеневича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Ростислав, Андрей Боголюбский и еще 3 сына.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50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Рюрик </a:t>
                      </a:r>
                      <a:r>
                        <a:rPr lang="ru-RU" dirty="0" err="1"/>
                        <a:t>Ростиславич</a:t>
                      </a:r>
                      <a:r>
                        <a:rPr lang="ru-RU" dirty="0"/>
                        <a:t> (правнук Мономаха)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Дочь хана </a:t>
                      </a:r>
                      <a:r>
                        <a:rPr lang="ru-RU" dirty="0" err="1"/>
                        <a:t>Белука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5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Ярослав Всеволодович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Дочь хана Юрия </a:t>
                      </a:r>
                      <a:r>
                        <a:rPr lang="ru-RU" dirty="0" err="1"/>
                        <a:t>Кончаковича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9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49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8230465" cy="105483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Последнее крупное событие во взаимоотношениях с половцами – сражение на р. Калке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BABC11-B501-4E48-3B47-6F7D7DC2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223" y="1362500"/>
            <a:ext cx="6000570" cy="5221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176539" y="273630"/>
            <a:ext cx="8100220" cy="73837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400" dirty="0"/>
              <a:t>Регионализация внешней политики в XII в.: Новгород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026543" y="1207972"/>
            <a:ext cx="10575985" cy="3918967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endParaRPr lang="ru-RU" dirty="0"/>
          </a:p>
          <a:p>
            <a:pPr marL="108000" lvl="0" indent="0">
              <a:buNone/>
            </a:pPr>
            <a:r>
              <a:rPr lang="ru-RU" dirty="0"/>
              <a:t>Середина </a:t>
            </a:r>
            <a:r>
              <a:rPr lang="en-US" dirty="0"/>
              <a:t>XII </a:t>
            </a:r>
            <a:r>
              <a:rPr lang="ru-RU" dirty="0"/>
              <a:t>века: создание в Новгороде «Готского двора» (для купцов из «Ганзейского союза») и утверждение для него особого Устава («</a:t>
            </a:r>
            <a:r>
              <a:rPr lang="ru-RU" dirty="0" err="1"/>
              <a:t>Скра</a:t>
            </a:r>
            <a:r>
              <a:rPr lang="ru-RU" dirty="0"/>
              <a:t>»).</a:t>
            </a:r>
          </a:p>
          <a:p>
            <a:pPr marL="108000" lvl="0" indent="0">
              <a:buNone/>
            </a:pPr>
            <a:r>
              <a:rPr lang="ru-RU" dirty="0"/>
              <a:t>1163 – закрепление взаимных привилегий в торговлей между Ганзой и Новгородом.</a:t>
            </a:r>
          </a:p>
          <a:p>
            <a:pPr marL="108000" lvl="0" indent="0">
              <a:buNone/>
            </a:pPr>
            <a:r>
              <a:rPr lang="ru-RU" dirty="0"/>
              <a:t>1189-1199 – действие Договорной грамоты между Новгородом и «Готским берегом» (Готланд-Любек) о суде.</a:t>
            </a:r>
          </a:p>
          <a:p>
            <a:pPr marL="108000" lvl="0" indent="0">
              <a:buNone/>
            </a:pPr>
            <a:r>
              <a:rPr lang="ru-RU" dirty="0"/>
              <a:t>1191-1192 – заключение договора о беспошлинной </a:t>
            </a:r>
            <a:r>
              <a:rPr lang="ru-RU" dirty="0" err="1"/>
              <a:t>троговли</a:t>
            </a:r>
            <a:r>
              <a:rPr lang="ru-RU" dirty="0"/>
              <a:t> между Ганзой и Новгородом.</a:t>
            </a:r>
          </a:p>
          <a:p>
            <a:pPr marL="108000" lv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349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768" y="358755"/>
            <a:ext cx="8724613" cy="9093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dirty="0">
                <a:solidFill>
                  <a:srgbClr val="2F5897"/>
                </a:solidFill>
              </a:rPr>
              <a:t>Регионализация внешней политики в XII в.: Новгород: угроза с Запада: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2808" y="1371874"/>
            <a:ext cx="10610489" cy="4918192"/>
          </a:xfrm>
        </p:spPr>
        <p:txBody>
          <a:bodyPr>
            <a:normAutofit lnSpcReduction="10000"/>
          </a:bodyPr>
          <a:lstStyle/>
          <a:p>
            <a:r>
              <a:rPr lang="ru-RU" sz="1814" dirty="0"/>
              <a:t>1157 –  вторжение Швеции в Финляндию и ее временная оккупация (прекращена в 1230-е гг.).</a:t>
            </a:r>
          </a:p>
          <a:p>
            <a:r>
              <a:rPr lang="ru-RU" sz="1814" dirty="0"/>
              <a:t>1199 – начало крестового похода в Прибалтику под руководством еп. Адальберта.</a:t>
            </a:r>
          </a:p>
          <a:p>
            <a:r>
              <a:rPr lang="ru-RU" sz="1814" dirty="0"/>
              <a:t>1201 – основание Риги, 1202 – основания «Братства рыцарей христовых» (Ордена Меченосцев).</a:t>
            </a:r>
          </a:p>
          <a:p>
            <a:r>
              <a:rPr lang="ru-RU" sz="1814" dirty="0"/>
              <a:t>1208 – подчинение ордену ливов и летов.</a:t>
            </a:r>
          </a:p>
          <a:p>
            <a:r>
              <a:rPr lang="ru-RU" sz="1814" dirty="0"/>
              <a:t>1219 – поход Дании в земли эстов и основание Ревеля (Таллинна).</a:t>
            </a:r>
          </a:p>
          <a:p>
            <a:r>
              <a:rPr lang="ru-RU" sz="1814" dirty="0"/>
              <a:t>1232 –  прибытие в Польшу рыцарей Тевтонского ордена и начало завоевание земель пруссов (Восточной Пруссии)</a:t>
            </a:r>
          </a:p>
          <a:p>
            <a:r>
              <a:rPr lang="ru-RU" sz="1814" dirty="0"/>
              <a:t>1234 –  победа новгородских войск во главе с кн. Ярославом Всеволодовичем над меченосцами в сражении у Омовжи (земли города Юрьева).</a:t>
            </a:r>
          </a:p>
          <a:p>
            <a:r>
              <a:rPr lang="ru-RU" sz="1814" dirty="0"/>
              <a:t>1237 – организация </a:t>
            </a:r>
            <a:r>
              <a:rPr lang="en-US" sz="1814" dirty="0"/>
              <a:t>II </a:t>
            </a:r>
            <a:r>
              <a:rPr lang="ru-RU" sz="1814" dirty="0"/>
              <a:t>крестового похода в Финляндию; создание Ливонского ордена путем слияния орденов: Тевтонского и меченосцев.</a:t>
            </a:r>
          </a:p>
          <a:p>
            <a:r>
              <a:rPr lang="ru-RU" sz="1814" dirty="0"/>
              <a:t>15 июля 1240 – победа новгородских войск под командованием кн. Александра Ярославича в сражении на Неве.</a:t>
            </a:r>
          </a:p>
          <a:p>
            <a:r>
              <a:rPr lang="ru-RU" sz="1814" dirty="0"/>
              <a:t>1240 – захват Ливонским орденом Изборска и Пскова.</a:t>
            </a:r>
          </a:p>
          <a:p>
            <a:endParaRPr lang="ru-RU" sz="1814" dirty="0"/>
          </a:p>
        </p:txBody>
      </p:sp>
    </p:spTree>
    <p:extLst>
      <p:ext uri="{BB962C8B-B14F-4D97-AF65-F5344CB8AC3E}">
        <p14:creationId xmlns:p14="http://schemas.microsoft.com/office/powerpoint/2010/main" val="949563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23521" y="273630"/>
            <a:ext cx="8230465" cy="672551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177" dirty="0"/>
              <a:t>Александр Невский и российская тактика ведения боя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33810" y="1403945"/>
            <a:ext cx="7225557" cy="4589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Регионализация внешней политики в Полоцк.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sz="half" idx="2"/>
          </p:nvPr>
        </p:nvSpPr>
        <p:spPr>
          <a:xfrm>
            <a:off x="6197601" y="1600517"/>
            <a:ext cx="5384800" cy="4525963"/>
          </a:xfrm>
        </p:spPr>
        <p:txBody>
          <a:bodyPr>
            <a:normAutofit fontScale="850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ctr">
              <a:buNone/>
            </a:pPr>
            <a:r>
              <a:rPr lang="ru-RU" sz="2400" dirty="0">
                <a:latin typeface="Century" panose="02040604050505020304" pitchFamily="18" charset="0"/>
              </a:rPr>
              <a:t>Нач. </a:t>
            </a:r>
            <a:r>
              <a:rPr lang="en-US" sz="2400" dirty="0">
                <a:latin typeface="Century" panose="02040604050505020304" pitchFamily="18" charset="0"/>
              </a:rPr>
              <a:t>XIII </a:t>
            </a:r>
            <a:r>
              <a:rPr lang="ru-RU" sz="2400" dirty="0">
                <a:latin typeface="Century" panose="02040604050505020304" pitchFamily="18" charset="0"/>
              </a:rPr>
              <a:t>века</a:t>
            </a:r>
          </a:p>
          <a:p>
            <a:pPr marL="108000" lvl="0" indent="0">
              <a:buNone/>
            </a:pPr>
            <a:r>
              <a:rPr lang="ru-RU" sz="2400" dirty="0">
                <a:latin typeface="Century" panose="02040604050505020304" pitchFamily="18" charset="0"/>
              </a:rPr>
              <a:t>1206 г. – посольство Ливонского ордена (аббата Теодориха) в Полоцк, с целью заключить военный союз (неудачно).</a:t>
            </a:r>
          </a:p>
          <a:p>
            <a:pPr marL="108000" lvl="0" indent="0">
              <a:buNone/>
            </a:pPr>
            <a:r>
              <a:rPr lang="ru-RU" sz="2400" dirty="0">
                <a:latin typeface="Century" panose="02040604050505020304" pitchFamily="18" charset="0"/>
              </a:rPr>
              <a:t>1210 – обмен посольствами между Полоцком и Ригой.</a:t>
            </a:r>
          </a:p>
          <a:p>
            <a:pPr marL="108000" lvl="0" indent="0">
              <a:buNone/>
            </a:pPr>
            <a:r>
              <a:rPr lang="ru-RU" sz="2400" dirty="0">
                <a:latin typeface="Century" panose="02040604050505020304" pitchFamily="18" charset="0"/>
              </a:rPr>
              <a:t>1212 – личная встреча епископа Альберта и кн. Владимира Полоцкого, договор о «вечном мире».</a:t>
            </a:r>
          </a:p>
          <a:p>
            <a:pPr marL="108000" lvl="0" indent="0">
              <a:buNone/>
            </a:pPr>
            <a:r>
              <a:rPr lang="ru-RU" sz="2400" dirty="0">
                <a:latin typeface="Century" panose="02040604050505020304" pitchFamily="18" charset="0"/>
              </a:rPr>
              <a:t>1213-1223  - постоянные контакты Полоцка с литовцами и эстами, связанные с попытками организовать совместное сопротивление экспансии ливонского ордена.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3F9777-5129-C021-1FCA-9F043C839CD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108000" lvl="0" indent="0" algn="ctr">
              <a:buNone/>
            </a:pPr>
            <a:r>
              <a:rPr lang="ru-RU" sz="2400" dirty="0"/>
              <a:t>XI век</a:t>
            </a:r>
          </a:p>
          <a:p>
            <a:pPr lvl="0"/>
            <a:r>
              <a:rPr lang="ru-RU" sz="2400" dirty="0"/>
              <a:t>Брячислав </a:t>
            </a:r>
            <a:r>
              <a:rPr lang="ru-RU" sz="2400" dirty="0" err="1"/>
              <a:t>Изяславич</a:t>
            </a:r>
            <a:r>
              <a:rPr lang="ru-RU" sz="2400" dirty="0"/>
              <a:t> (внук Владимира Святого) захватывает земли по западной Двине и основывает г. Брячислав (Браслав).</a:t>
            </a:r>
          </a:p>
          <a:p>
            <a:pPr lvl="0"/>
            <a:r>
              <a:rPr lang="ru-RU" sz="2400" dirty="0"/>
              <a:t>Всеволод </a:t>
            </a:r>
            <a:r>
              <a:rPr lang="ru-RU" sz="2400" dirty="0" err="1"/>
              <a:t>Брячиславич</a:t>
            </a:r>
            <a:r>
              <a:rPr lang="ru-RU" sz="2400" dirty="0"/>
              <a:t>, продолжая политику отца подчиняет племена ливов, </a:t>
            </a:r>
            <a:r>
              <a:rPr lang="ru-RU" sz="2400" dirty="0" err="1"/>
              <a:t>латгалов</a:t>
            </a:r>
            <a:r>
              <a:rPr lang="ru-RU" sz="2400" dirty="0"/>
              <a:t> и </a:t>
            </a:r>
            <a:r>
              <a:rPr lang="ru-RU" sz="2400" dirty="0" err="1"/>
              <a:t>селов</a:t>
            </a:r>
            <a:r>
              <a:rPr lang="ru-RU" sz="2400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176539" y="273630"/>
            <a:ext cx="8100220" cy="934342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Регионализация внешней политики в XII в.</a:t>
            </a:r>
            <a:br>
              <a:rPr lang="ru-RU" sz="2800" dirty="0"/>
            </a:br>
            <a:r>
              <a:rPr lang="ru-RU" sz="2800" dirty="0"/>
              <a:t>Галицкая земля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175883" y="1440885"/>
            <a:ext cx="10101532" cy="4269802"/>
          </a:xfrm>
        </p:spPr>
        <p:txBody>
          <a:bodyPr>
            <a:normAutofit fontScale="70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1125-1126 гг. Владимир </a:t>
            </a:r>
            <a:r>
              <a:rPr lang="ru-RU" dirty="0" err="1"/>
              <a:t>Володаревич</a:t>
            </a:r>
            <a:r>
              <a:rPr lang="ru-RU" dirty="0"/>
              <a:t> (основатель галицкой династии) заключил союз с Венгерским королем против своего брата Ростислава.</a:t>
            </a:r>
          </a:p>
          <a:p>
            <a:pPr lvl="0"/>
            <a:r>
              <a:rPr lang="ru-RU" dirty="0"/>
              <a:t>1152 г. Венгерский король помог великому князю Киевскому разгромить войск Владимира </a:t>
            </a:r>
            <a:r>
              <a:rPr lang="ru-RU" dirty="0" err="1"/>
              <a:t>Володревича</a:t>
            </a:r>
            <a:r>
              <a:rPr lang="ru-RU" dirty="0"/>
              <a:t> на р. Сане.</a:t>
            </a:r>
          </a:p>
          <a:p>
            <a:pPr lvl="0"/>
            <a:r>
              <a:rPr lang="ru-RU" dirty="0"/>
              <a:t>1164 Ярослав Владимирович </a:t>
            </a:r>
            <a:r>
              <a:rPr lang="ru-RU" dirty="0" err="1"/>
              <a:t>Осмомысл</a:t>
            </a:r>
            <a:r>
              <a:rPr lang="ru-RU" dirty="0"/>
              <a:t> приютил сбежавшего из Византии принца Андроника.</a:t>
            </a:r>
          </a:p>
          <a:p>
            <a:pPr lvl="0"/>
            <a:r>
              <a:rPr lang="ru-RU" dirty="0"/>
              <a:t>1167 г. Ярослав заключил с императором Византии Мануилом союз против Венгрии.</a:t>
            </a:r>
          </a:p>
          <a:p>
            <a:pPr lvl="0"/>
            <a:r>
              <a:rPr lang="ru-RU" dirty="0"/>
              <a:t>1172 Ярослав в конфликте с сыном Владимиром использует наемное польское войско.</a:t>
            </a:r>
          </a:p>
          <a:p>
            <a:pPr lvl="0"/>
            <a:r>
              <a:rPr lang="ru-RU" dirty="0"/>
              <a:t>1187 г. После смерти Ярослава, Владимир пытается найти поддержку у венгерского короля Беллы </a:t>
            </a:r>
            <a:r>
              <a:rPr lang="en-US" dirty="0"/>
              <a:t>III</a:t>
            </a:r>
            <a:r>
              <a:rPr lang="ru-RU" dirty="0"/>
              <a:t>, но попадает в заключение (освобожден по приказу императора Фридриха Барбароссы).</a:t>
            </a:r>
          </a:p>
          <a:p>
            <a:pPr lvl="0"/>
            <a:r>
              <a:rPr lang="ru-RU" dirty="0"/>
              <a:t>1199-1200. После смерти Владимира Ярославича, князь Роман Мстиславич Волынский, с помощью «малых» польских князей захватил Галич, создав Галицко-Волынское княжество.</a:t>
            </a:r>
          </a:p>
        </p:txBody>
      </p:sp>
    </p:spTree>
    <p:extLst>
      <p:ext uri="{BB962C8B-B14F-4D97-AF65-F5344CB8AC3E}">
        <p14:creationId xmlns:p14="http://schemas.microsoft.com/office/powerpoint/2010/main" val="292366405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2251</Words>
  <Application>Microsoft Office PowerPoint</Application>
  <PresentationFormat>Широкоэкранный</PresentationFormat>
  <Paragraphs>247</Paragraphs>
  <Slides>25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25</vt:i4>
      </vt:variant>
    </vt:vector>
  </HeadingPairs>
  <TitlesOfParts>
    <vt:vector size="36" baseType="lpstr">
      <vt:lpstr>Arial</vt:lpstr>
      <vt:lpstr>Calibri</vt:lpstr>
      <vt:lpstr>Calibri Light</vt:lpstr>
      <vt:lpstr>Century</vt:lpstr>
      <vt:lpstr>Century Gothic</vt:lpstr>
      <vt:lpstr>Courier New</vt:lpstr>
      <vt:lpstr>Palatino Linotype</vt:lpstr>
      <vt:lpstr>StarSymbol</vt:lpstr>
      <vt:lpstr>Тема Office</vt:lpstr>
      <vt:lpstr>Исполнительная</vt:lpstr>
      <vt:lpstr>1_Исполнительная</vt:lpstr>
      <vt:lpstr>История России</vt:lpstr>
      <vt:lpstr>Презентация PowerPoint</vt:lpstr>
      <vt:lpstr>Варианты ресурсов</vt:lpstr>
      <vt:lpstr>Способы достижения целей внешней политики</vt:lpstr>
      <vt:lpstr>Парадигмы внешней политики</vt:lpstr>
      <vt:lpstr>Русь-Россия в VIII – XVII вв.</vt:lpstr>
      <vt:lpstr>Презентация PowerPoint</vt:lpstr>
      <vt:lpstr>Решение задач по получению материальных и логистических ресурсов  (по всем возможным направлениям)</vt:lpstr>
      <vt:lpstr>Отношения с Византией: Олег и Игорь.</vt:lpstr>
      <vt:lpstr>Отношения с Византией: Ольга и Владимир.</vt:lpstr>
      <vt:lpstr>Святослав Игоревич: борьба за ресурсы влияния   </vt:lpstr>
      <vt:lpstr>Отношения с Византией: Ярослав Мудрый</vt:lpstr>
      <vt:lpstr>«Дикое поле» – территория на юго-востоке от «Малой Руси» (от нижнего течения Днепра до предгорий Кавказа), населенная кочевниками</vt:lpstr>
      <vt:lpstr>Взаимодействие с Диким полем:  Хазары, конгломерат тюркских племен , в VII веке принявший форму «суперсложного вождества» </vt:lpstr>
      <vt:lpstr>Взаимодействие с Диким полем:  Печенеги, союз 8 племенных объединений тюрков, пришедших из заволжских степей.</vt:lpstr>
      <vt:lpstr>Презентация PowerPoint</vt:lpstr>
      <vt:lpstr>Взаимодействие с Диким полем:  Половцы (кыпчаки), племенной союз тюрков, вышедших из Средней Азии.</vt:lpstr>
      <vt:lpstr>Взаимодействие с Диким полем:  Половцы (кыпчаки)</vt:lpstr>
      <vt:lpstr>Половчанки – жены русских князей</vt:lpstr>
      <vt:lpstr>Последнее крупное событие во взаимоотношениях с половцами – сражение на р. Калке</vt:lpstr>
      <vt:lpstr>Регионализация внешней политики в XII в.: Новгород</vt:lpstr>
      <vt:lpstr>Регионализация внешней политики в XII в.: Новгород: угроза с Запада:</vt:lpstr>
      <vt:lpstr>Александр Невский и российская тактика ведения боя</vt:lpstr>
      <vt:lpstr>Регионализация внешней политики в Полоцк.</vt:lpstr>
      <vt:lpstr>Регионализация внешней политики в XII в. Галицкая земля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Соловьев</dc:creator>
  <cp:lastModifiedBy>Константин Соловьев</cp:lastModifiedBy>
  <cp:revision>17</cp:revision>
  <dcterms:created xsi:type="dcterms:W3CDTF">2023-08-21T12:07:30Z</dcterms:created>
  <dcterms:modified xsi:type="dcterms:W3CDTF">2023-08-24T11:17:06Z</dcterms:modified>
</cp:coreProperties>
</file>