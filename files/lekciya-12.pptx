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87" r:id="rId4"/>
    <p:sldId id="288" r:id="rId5"/>
    <p:sldId id="289" r:id="rId6"/>
    <p:sldId id="290" r:id="rId7"/>
    <p:sldId id="292" r:id="rId8"/>
    <p:sldId id="291" r:id="rId9"/>
    <p:sldId id="293" r:id="rId10"/>
    <p:sldId id="294" r:id="rId11"/>
    <p:sldId id="295" r:id="rId12"/>
    <p:sldId id="296" r:id="rId13"/>
    <p:sldId id="297" r:id="rId14"/>
    <p:sldId id="298" r:id="rId15"/>
    <p:sldId id="301" r:id="rId16"/>
    <p:sldId id="260" r:id="rId17"/>
    <p:sldId id="299" r:id="rId18"/>
    <p:sldId id="300" r:id="rId19"/>
    <p:sldId id="302" r:id="rId20"/>
    <p:sldId id="281" r:id="rId21"/>
    <p:sldId id="282" r:id="rId22"/>
    <p:sldId id="276" r:id="rId23"/>
    <p:sldId id="277" r:id="rId24"/>
    <p:sldId id="278" r:id="rId25"/>
    <p:sldId id="279" r:id="rId26"/>
    <p:sldId id="280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A0E9E1-869B-2331-B0BC-90A9841A2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244C4FE-460D-C6EF-3359-13D0DA8FE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750C81-263E-B072-E6F5-BB8AEA44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366F3B-4C84-B568-76C1-7F13905D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6C81F-D0F9-D3A5-AFCA-ECA53872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4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A01A7-9CB1-C8BA-2FE8-65657993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8142CD-9267-D4F1-4799-CE376EBC8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EAEF01-AD8C-8B8C-F3C7-612B53C4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359B7C-584C-159A-DDB8-C63FF7D0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9FAA5-1859-5465-A3DD-DC2A5D36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5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425272-060F-1668-38F0-F1F1974E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A1F138-348A-BC9A-DA4B-650D450B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E466D7-4A1B-967C-1E5C-D1535F634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D7BBF9-5817-EDD9-808C-A86E58B2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5E9F7-1B05-3AE1-EC83-7766D968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86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C65AA-7387-72F7-59CF-A24163C3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F0D9DD-988E-3307-D082-8CCB0DCE1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368D6E-98CB-1D71-F2D5-9442E09DA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4D7AF1-A5C6-26F0-56DB-E20B1640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98D1D3-8B43-3543-E043-B3779ECF8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BB3D1C-EEF7-08A5-5D9B-E46943D4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36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7E81A-446F-A50C-2CC0-F48C8E9A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205CEA-DFD1-BF6C-8E1C-05C61E18B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E2BD86-27F5-3359-3D6C-85F870DF2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D52DD8-6CDB-6251-0AF1-8D6EC7427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7B711A1-B487-6CDA-D0FA-5FAB82795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53CBC-464F-ACF3-DAA5-ECD50EAD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C8383C-B3C5-45EB-3239-83EA2786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29B45E-A5F7-EE24-7D9B-1A16650A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4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12F80-1EAD-6C8D-2EF4-25169D1A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661DCDB-B9A9-543F-A476-3D0AB7E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8CE9A1-57F9-9457-51DA-4CB60D15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785A37-A1E3-2488-E62D-D320DC67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77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0FF8F3-8A88-D946-0F0A-3CB22309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869FDC-B14F-472B-651A-574A08D7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CDA83B-A0BC-B771-E9BF-EA3274B8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5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61A31-76CA-3729-460D-9824B32A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491C99-3D81-C619-0F6E-020FBFDAD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7D21DF-0EF1-46F1-EA54-FA8C221A1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4ABC3F-EECB-A4F7-7757-908F4E0B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7FE8B9-4877-9D01-9B29-B1F76A62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4A3459-61D3-7DD4-75A8-97C4FD63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44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7E6CE-D8E1-5C39-C87D-1E7DDF7B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9589D7-19A2-B520-23CA-B4A666305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9807C2-E7A1-4D04-8901-8BF23B5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80D06D-74F2-5DE1-5601-5ABC3E8B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85847C-2E79-B0EE-C63D-A4E70974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E2531-51A1-AD68-8BB9-F68A1BD1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260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E5167-97AC-69D5-1DB0-FA31C359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2E9F9C-A490-B046-4F4D-85E8EB216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12E942-0038-E4EA-1CDC-8D28BF9D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A36A4F-3908-61A1-3C19-3F6A2143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66BDF4-870F-CD3D-3168-3987A8F8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9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DA3FDA-2571-D5E7-4787-9A049B8CF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138FBD-9C9C-124A-C7EB-C2947B7A7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E02EE9-DC84-A8AA-E7A2-A85665E9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162E12-0650-54C0-2DBD-2C5D8029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D5E802-5E48-80FF-DB2A-43703F644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780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845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0054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0568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3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56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790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0883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0558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4559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33296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95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46F77-B218-386C-0818-56831B63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FAA668-5B23-1865-8975-7ACFFB792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BF2977-45B3-0739-5973-64B6E4510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6FA98-8E97-4CB0-AFCF-9B91851823CE}" type="datetimeFigureOut">
              <a:rPr lang="ru-RU" smtClean="0"/>
              <a:t>31.08.2023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E21F1A-197A-032D-613B-3FFDB103B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2864B1-0120-DF4D-0661-9E3A9C278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1908C-8EC4-4D9A-8751-FB7BF11145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6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6AD1BD1-7870-48E0-BBBE-3003F38D8059}" type="datetimeFigureOut">
              <a:rPr lang="ru-RU" smtClean="0"/>
              <a:t>31.08.2023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1074C39D-85E0-4A2B-A76C-15A2F2BB0E9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018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classical-composers.org/img/grosse.jpg" TargetMode="Externa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www.krugosvet.ru/uploads/enc/images/5/1235639599d448.jpg" TargetMode="Externa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5B1A-58B6-8BD4-59C2-292F84A533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История России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5E210F-A453-66E1-ED90-C24C0A761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Лекция 12</a:t>
            </a:r>
          </a:p>
          <a:p>
            <a:r>
              <a:rPr lang="ru-RU" sz="2800" dirty="0"/>
              <a:t>Российская империя в </a:t>
            </a:r>
            <a:r>
              <a:rPr lang="en-US" sz="2800" dirty="0"/>
              <a:t>XVIII </a:t>
            </a:r>
            <a:r>
              <a:rPr lang="ru-RU" sz="2800" dirty="0"/>
              <a:t>веке</a:t>
            </a:r>
          </a:p>
          <a:p>
            <a:r>
              <a:rPr lang="ru-RU" sz="2800" dirty="0"/>
              <a:t>(1730-1801) </a:t>
            </a:r>
          </a:p>
        </p:txBody>
      </p:sp>
    </p:spTree>
    <p:extLst>
      <p:ext uri="{BB962C8B-B14F-4D97-AF65-F5344CB8AC3E}">
        <p14:creationId xmlns:p14="http://schemas.microsoft.com/office/powerpoint/2010/main" val="62801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4E81F-9966-B863-D709-FD071A2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4226"/>
          </a:xfrm>
        </p:spPr>
        <p:txBody>
          <a:bodyPr>
            <a:normAutofit/>
          </a:bodyPr>
          <a:lstStyle/>
          <a:p>
            <a:r>
              <a:rPr lang="ru-RU" sz="2800" b="1" dirty="0"/>
              <a:t>При обострении борьбы за власть в высших слоях правящей элиты может поникнуть потребность в </a:t>
            </a:r>
            <a:r>
              <a:rPr lang="ru-RU" sz="2800" dirty="0"/>
              <a:t>дополнительной легитимации </a:t>
            </a:r>
            <a:r>
              <a:rPr lang="ru-RU" sz="2800" b="1" dirty="0"/>
              <a:t>прав на управление, для одной из противоборствующих сторон. Тогда возникает «окно возможностей», для тех, кто не входить в элиту.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C8CE0-848E-8A98-64DB-83ADDADD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58" y="2389517"/>
            <a:ext cx="10844842" cy="2907102"/>
          </a:xfrm>
        </p:spPr>
        <p:txBody>
          <a:bodyPr/>
          <a:lstStyle/>
          <a:p>
            <a:r>
              <a:rPr lang="ru-RU" dirty="0"/>
              <a:t>Понятие «окно возможностей» используется в науках, посвященных обществу, для описания состояния неустойчивости общественной системы, которая долго не менялась и стала помехой развитию.</a:t>
            </a:r>
          </a:p>
          <a:p>
            <a:r>
              <a:rPr lang="ru-RU" dirty="0"/>
              <a:t>Самый частый случай появления окна возможностей – транзит власти, особенно если он проходит в слабой институциональной среде.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37EA466-D3BD-0837-F115-A6ECBE8DBE78}"/>
              </a:ext>
            </a:extLst>
          </p:cNvPr>
          <p:cNvSpPr/>
          <p:nvPr/>
        </p:nvSpPr>
        <p:spPr>
          <a:xfrm>
            <a:off x="1362975" y="5469147"/>
            <a:ext cx="9402792" cy="8453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Раскол в элите – обязательное условие для того, чтобы «окно возможностей» открылось.</a:t>
            </a:r>
          </a:p>
        </p:txBody>
      </p:sp>
    </p:spTree>
    <p:extLst>
      <p:ext uri="{BB962C8B-B14F-4D97-AF65-F5344CB8AC3E}">
        <p14:creationId xmlns:p14="http://schemas.microsoft.com/office/powerpoint/2010/main" val="329516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4E81F-9966-B863-D709-FD071A2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947"/>
          </a:xfrm>
        </p:spPr>
        <p:txBody>
          <a:bodyPr>
            <a:normAutofit/>
          </a:bodyPr>
          <a:lstStyle/>
          <a:p>
            <a:r>
              <a:rPr lang="ru-RU" sz="3600" b="1" dirty="0"/>
              <a:t>Что дает «окно возможностей»: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C8CE0-848E-8A98-64DB-83ADDADD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887"/>
            <a:ext cx="10515600" cy="4581076"/>
          </a:xfrm>
        </p:spPr>
        <p:txBody>
          <a:bodyPr/>
          <a:lstStyle/>
          <a:p>
            <a:r>
              <a:rPr lang="ru-RU" dirty="0"/>
              <a:t>При обращении за дополнительной легитимацией, все население (но чаще – его активная часть) получает возможность принять участие в разработке и принятии государственных решений.</a:t>
            </a:r>
          </a:p>
          <a:p>
            <a:r>
              <a:rPr lang="ru-RU" dirty="0"/>
              <a:t>Если в стране существует «контрэлита», то она получает возможности а) быть услышанной, б) воздействовать легальными способами на принятие решений; в) войти в состав элиты.</a:t>
            </a:r>
          </a:p>
          <a:p>
            <a:r>
              <a:rPr lang="ru-RU" dirty="0"/>
              <a:t>Возникают новые «социальные лифты», предоставляющие войти в элиту тем, кто не был ей близок.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43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4E81F-9966-B863-D709-FD071A2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74226"/>
          </a:xfrm>
        </p:spPr>
        <p:txBody>
          <a:bodyPr>
            <a:normAutofit/>
          </a:bodyPr>
          <a:lstStyle/>
          <a:p>
            <a:r>
              <a:rPr lang="ru-RU" sz="2800" b="1" dirty="0"/>
              <a:t>Историческое содержание «окна возможности»: формирование нескольких «вариантов будущего» («парадигм развития», один из которых определит направления изменений в стране (ее политике, экономике, культуре).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C8CE0-848E-8A98-64DB-83ADDADD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9517"/>
            <a:ext cx="10515600" cy="378744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Окна возможностей в предшествующей истории России: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1E0325B-4D07-C2CA-CE42-EB1F23628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959802"/>
              </p:ext>
            </p:extLst>
          </p:nvPr>
        </p:nvGraphicFramePr>
        <p:xfrm>
          <a:off x="777815" y="3117810"/>
          <a:ext cx="10515600" cy="229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9234">
                  <a:extLst>
                    <a:ext uri="{9D8B030D-6E8A-4147-A177-3AD203B41FA5}">
                      <a16:colId xmlns:a16="http://schemas.microsoft.com/office/drawing/2014/main" val="3253492094"/>
                    </a:ext>
                  </a:extLst>
                </a:gridCol>
                <a:gridCol w="2035834">
                  <a:extLst>
                    <a:ext uri="{9D8B030D-6E8A-4147-A177-3AD203B41FA5}">
                      <a16:colId xmlns:a16="http://schemas.microsoft.com/office/drawing/2014/main" val="2785880335"/>
                    </a:ext>
                  </a:extLst>
                </a:gridCol>
                <a:gridCol w="5910532">
                  <a:extLst>
                    <a:ext uri="{9D8B030D-6E8A-4147-A177-3AD203B41FA5}">
                      <a16:colId xmlns:a16="http://schemas.microsoft.com/office/drawing/2014/main" val="202839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Название периода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686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«</a:t>
                      </a:r>
                      <a:r>
                        <a:rPr lang="ru-RU" dirty="0" err="1"/>
                        <a:t>Избраная</a:t>
                      </a:r>
                      <a:r>
                        <a:rPr lang="ru-RU" dirty="0"/>
                        <a:t> рада»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1547-1560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Формирование первых элементов системы сословно-представительной монархии.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33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Смутное 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1598-1618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Закрепление политической системы сословной монархии.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10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Правление Софьи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1682-189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Произошел поворот к абсолютистской монархии с проекцией некоторых элементов «окна возможностей» на весь период Правления Петра </a:t>
                      </a:r>
                      <a:r>
                        <a:rPr lang="en-US" dirty="0"/>
                        <a:t>I</a:t>
                      </a:r>
                      <a:r>
                        <a:rPr lang="ru-RU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26850"/>
                  </a:ext>
                </a:extLst>
              </a:tr>
            </a:tbl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9CA029E-8278-9402-9BCA-EAAEC8EFF2BD}"/>
              </a:ext>
            </a:extLst>
          </p:cNvPr>
          <p:cNvSpPr/>
          <p:nvPr/>
        </p:nvSpPr>
        <p:spPr>
          <a:xfrm>
            <a:off x="1138687" y="5607170"/>
            <a:ext cx="9532188" cy="109555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 смертью Петра Первого окно возможностей не открылось!</a:t>
            </a:r>
          </a:p>
          <a:p>
            <a:pPr algn="ctr"/>
            <a:r>
              <a:rPr lang="ru-RU" dirty="0"/>
              <a:t>Появились признаки «закупоривания» элиты и остановки модернизационных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313927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C3290-122F-A767-0218-031499B7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76672"/>
            <a:ext cx="8363272" cy="86409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Модернизационная пауза второй половины 1720-х гг.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C86D3-2BC7-4764-915F-18FFB3349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225" y="1600201"/>
            <a:ext cx="9825487" cy="318745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Столица фактически перенесена обратно в Москву.</a:t>
            </a:r>
          </a:p>
          <a:p>
            <a:r>
              <a:rPr lang="ru-RU" dirty="0"/>
              <a:t>Флот бездействует и фактически перестает существовать.</a:t>
            </a:r>
          </a:p>
          <a:p>
            <a:r>
              <a:rPr lang="ru-RU" dirty="0"/>
              <a:t>Резко падает финансирование академии и всех типов школ.</a:t>
            </a:r>
          </a:p>
          <a:p>
            <a:r>
              <a:rPr lang="ru-RU" dirty="0"/>
              <a:t>Модель «император – работник на троне» больше не работает.</a:t>
            </a:r>
          </a:p>
          <a:p>
            <a:r>
              <a:rPr lang="ru-RU" dirty="0"/>
              <a:t>Создан Верховный тайный совет – институция, обеспечивающая узурпацию права на приятие государственных решений небольшим числом приближенных к фигуре монарха лиц.</a:t>
            </a:r>
          </a:p>
          <a:p>
            <a:r>
              <a:rPr lang="ru-RU" dirty="0"/>
              <a:t>Сенат переименован из Правительствующего в Высокий, потерял большую часть полномочий, должность Генерал-прокурора упразднена.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1775E2B-8659-0C84-9152-52F9083F33C3}"/>
              </a:ext>
            </a:extLst>
          </p:cNvPr>
          <p:cNvSpPr/>
          <p:nvPr/>
        </p:nvSpPr>
        <p:spPr>
          <a:xfrm>
            <a:off x="1863306" y="5175849"/>
            <a:ext cx="8721305" cy="104379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Главный показатель «отката» от модернизационных преобразований (а также незавершенности институциональных изменений - фаворитизм</a:t>
            </a:r>
          </a:p>
        </p:txBody>
      </p:sp>
    </p:spTree>
    <p:extLst>
      <p:ext uri="{BB962C8B-B14F-4D97-AF65-F5344CB8AC3E}">
        <p14:creationId xmlns:p14="http://schemas.microsoft.com/office/powerpoint/2010/main" val="424841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82BAEA-B542-3E10-A5A2-22759D00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br>
              <a:rPr lang="ru-RU" sz="1600" dirty="0"/>
            </a:br>
            <a:endParaRPr lang="ru-RU" sz="1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E73FAB-86CD-7AC6-DBED-36FACF1AD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36430"/>
            <a:ext cx="10972800" cy="41493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Фаворитизм </a:t>
            </a:r>
            <a:r>
              <a:rPr lang="ru-RU" dirty="0"/>
              <a:t>- практика наделения исключительным правом на принятие управленческих решений государственного уровня одного (как правило) человека, выбранного субъективным решением монарха.</a:t>
            </a:r>
          </a:p>
          <a:p>
            <a:pPr marL="0" indent="0">
              <a:buNone/>
            </a:pPr>
            <a:r>
              <a:rPr lang="ru-RU" dirty="0"/>
              <a:t>Положение фаворита в системе управления определяется не его формальным постом и чином, но исключительно доверием монарха.</a:t>
            </a:r>
          </a:p>
          <a:p>
            <a:pPr marL="0" indent="0">
              <a:buNone/>
            </a:pPr>
            <a:r>
              <a:rPr lang="ru-RU" dirty="0"/>
              <a:t>Возможности фаворита:</a:t>
            </a:r>
          </a:p>
          <a:p>
            <a:pPr marL="0" indent="0">
              <a:buNone/>
            </a:pPr>
            <a:r>
              <a:rPr lang="ru-RU" dirty="0"/>
              <a:t>А) избирательно информировать монарха о состоянии дел в государстве</a:t>
            </a:r>
          </a:p>
          <a:p>
            <a:pPr marL="0" indent="0">
              <a:buNone/>
            </a:pPr>
            <a:r>
              <a:rPr lang="ru-RU" dirty="0"/>
              <a:t>Б) предлагать государю те или иные решения, стоящих перед государством проблем;</a:t>
            </a:r>
          </a:p>
          <a:p>
            <a:pPr marL="0" indent="0">
              <a:buNone/>
            </a:pPr>
            <a:r>
              <a:rPr lang="ru-RU" dirty="0"/>
              <a:t>В) принимать решения от имени государя.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5E23658-9511-1F63-9F2E-D67E727D4192}"/>
              </a:ext>
            </a:extLst>
          </p:cNvPr>
          <p:cNvSpPr/>
          <p:nvPr/>
        </p:nvSpPr>
        <p:spPr>
          <a:xfrm>
            <a:off x="1362974" y="4822166"/>
            <a:ext cx="9575320" cy="111280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Главная опасность фаворитизма состоит в том, что в этой практике институциональное среда государственного управлении подменяется другой – личных отношений, как правило коррупциогенного свойства.</a:t>
            </a:r>
          </a:p>
        </p:txBody>
      </p:sp>
    </p:spTree>
    <p:extLst>
      <p:ext uri="{BB962C8B-B14F-4D97-AF65-F5344CB8AC3E}">
        <p14:creationId xmlns:p14="http://schemas.microsoft.com/office/powerpoint/2010/main" val="1090202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C3290-122F-A767-0218-031499B7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76672"/>
            <a:ext cx="8363272" cy="55849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2800" dirty="0">
                <a:solidFill>
                  <a:schemeClr val="tx1"/>
                </a:solidFill>
                <a:effectLst/>
                <a:latin typeface="Palatino Linotype"/>
                <a:ea typeface="+mn-ea"/>
                <a:cs typeface="+mn-cs"/>
              </a:rPr>
              <a:t>Фавориты второй четверти </a:t>
            </a:r>
            <a:r>
              <a:rPr lang="en-US" sz="2800" dirty="0">
                <a:solidFill>
                  <a:schemeClr val="tx1"/>
                </a:solidFill>
                <a:effectLst/>
                <a:latin typeface="Palatino Linotype"/>
                <a:ea typeface="+mn-ea"/>
                <a:cs typeface="+mn-cs"/>
              </a:rPr>
              <a:t>XVIII </a:t>
            </a:r>
            <a:r>
              <a:rPr lang="ru-RU" sz="2800" dirty="0">
                <a:solidFill>
                  <a:schemeClr val="tx1"/>
                </a:solidFill>
                <a:effectLst/>
                <a:latin typeface="Palatino Linotype"/>
                <a:ea typeface="+mn-ea"/>
                <a:cs typeface="+mn-cs"/>
              </a:rPr>
              <a:t>в.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0A4E6BE-1051-A966-F0DC-6EC02F0C9A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69005"/>
              </p:ext>
            </p:extLst>
          </p:nvPr>
        </p:nvGraphicFramePr>
        <p:xfrm>
          <a:off x="419819" y="1690777"/>
          <a:ext cx="6196641" cy="238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6079">
                  <a:extLst>
                    <a:ext uri="{9D8B030D-6E8A-4147-A177-3AD203B41FA5}">
                      <a16:colId xmlns:a16="http://schemas.microsoft.com/office/drawing/2014/main" val="2237248424"/>
                    </a:ext>
                  </a:extLst>
                </a:gridCol>
                <a:gridCol w="3940562">
                  <a:extLst>
                    <a:ext uri="{9D8B030D-6E8A-4147-A177-3AD203B41FA5}">
                      <a16:colId xmlns:a16="http://schemas.microsoft.com/office/drawing/2014/main" val="803075661"/>
                    </a:ext>
                  </a:extLst>
                </a:gridCol>
              </a:tblGrid>
              <a:tr h="323395"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Правители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i="1" dirty="0"/>
                        <a:t>Фавориты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33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Екатерина </a:t>
                      </a:r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А.С. Меньшиков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99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Петр </a:t>
                      </a:r>
                      <a:r>
                        <a:rPr lang="en-US" dirty="0"/>
                        <a:t>III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(навязанный) А.С. Меньшиков и И.А. Долгоруков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341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Анна </a:t>
                      </a:r>
                      <a:r>
                        <a:rPr lang="ru-RU" dirty="0" err="1"/>
                        <a:t>Иоановна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Э. И. Бирон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3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Елизавета Петровна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А.Г. Разумовский, затем И.И. Шувалов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943481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DBABC7-F6E7-C019-43F5-13F2992E0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108165" y="1690777"/>
            <a:ext cx="1606396" cy="2132491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9C7D1CE-0D8B-8C26-2707-5032EE66AA92}"/>
              </a:ext>
            </a:extLst>
          </p:cNvPr>
          <p:cNvSpPr/>
          <p:nvPr/>
        </p:nvSpPr>
        <p:spPr>
          <a:xfrm>
            <a:off x="7108165" y="3994030"/>
            <a:ext cx="1606396" cy="46406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Кн. И.А. Долгоруков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35A0DC-0C36-E107-FCAC-470765040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651" y="1689010"/>
            <a:ext cx="1642203" cy="2027208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74E5232-9343-BDAA-2CDF-2E3D81F53154}"/>
              </a:ext>
            </a:extLst>
          </p:cNvPr>
          <p:cNvSpPr/>
          <p:nvPr/>
        </p:nvSpPr>
        <p:spPr>
          <a:xfrm>
            <a:off x="9282023" y="3994030"/>
            <a:ext cx="1690777" cy="46406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Герцог И.Э. Бирон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90812F-E6B3-06AA-D337-D0AB210F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1" y="4179394"/>
            <a:ext cx="1759787" cy="2201934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F36305A-AE37-FC2C-6B8A-2900FD611DAB}"/>
              </a:ext>
            </a:extLst>
          </p:cNvPr>
          <p:cNvSpPr/>
          <p:nvPr/>
        </p:nvSpPr>
        <p:spPr>
          <a:xfrm>
            <a:off x="2356895" y="5604519"/>
            <a:ext cx="1690777" cy="64698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Гр. А.Г. Разумовский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BFE15F-D3E5-DA36-DC82-93D9C6F03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377" y="4170767"/>
            <a:ext cx="1803449" cy="2210561"/>
          </a:xfrm>
          <a:prstGeom prst="rect">
            <a:avLst/>
          </a:prstGeom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99E0E16-9734-12B8-A215-75990E2A6D61}"/>
              </a:ext>
            </a:extLst>
          </p:cNvPr>
          <p:cNvSpPr/>
          <p:nvPr/>
        </p:nvSpPr>
        <p:spPr>
          <a:xfrm>
            <a:off x="6682732" y="5495026"/>
            <a:ext cx="2599291" cy="55849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И. И. Шувалов</a:t>
            </a:r>
          </a:p>
        </p:txBody>
      </p:sp>
    </p:spTree>
    <p:extLst>
      <p:ext uri="{BB962C8B-B14F-4D97-AF65-F5344CB8AC3E}">
        <p14:creationId xmlns:p14="http://schemas.microsoft.com/office/powerpoint/2010/main" val="222807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387F9-836A-8211-8A72-7E09F000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682"/>
            <a:ext cx="10972800" cy="87989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Окно возможностей 1730 г. Призвание на престол Анны </a:t>
            </a:r>
            <a:r>
              <a:rPr lang="ru-RU" sz="2800" dirty="0" err="1"/>
              <a:t>Иоановны</a:t>
            </a:r>
            <a:r>
              <a:rPr lang="ru-RU" sz="2800" dirty="0"/>
              <a:t> с выдвижением «Кондиций».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E21A7-010B-342E-C397-25A209C17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Институциональный кризис: </a:t>
            </a:r>
            <a:r>
              <a:rPr lang="ru-RU" dirty="0"/>
              <a:t>транзит власти проходит не по установлению Петра </a:t>
            </a:r>
            <a:r>
              <a:rPr lang="en-US" dirty="0"/>
              <a:t>I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а по династическому признаку с крайне слабыми основаниями. Анна – дочь Ивана </a:t>
            </a:r>
            <a:r>
              <a:rPr lang="en-US" dirty="0"/>
              <a:t>V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формально бывшего соправителем Петра. </a:t>
            </a:r>
          </a:p>
          <a:p>
            <a:pPr marL="0" indent="0">
              <a:buNone/>
            </a:pPr>
            <a:r>
              <a:rPr lang="ru-RU" b="1" dirty="0"/>
              <a:t>Раскол в элите:</a:t>
            </a:r>
          </a:p>
          <a:p>
            <a:r>
              <a:rPr lang="ru-RU" dirty="0"/>
              <a:t>между старой знатью и «петровскими выдвиженцами»;</a:t>
            </a:r>
          </a:p>
          <a:p>
            <a:r>
              <a:rPr lang="ru-RU" dirty="0"/>
              <a:t>между российским дворянством и поступившими на русскую службу иностранцами;</a:t>
            </a:r>
          </a:p>
          <a:p>
            <a:r>
              <a:rPr lang="ru-RU" dirty="0"/>
              <a:t>между членами Верховного тайного совета и остальным дворянством.</a:t>
            </a:r>
          </a:p>
          <a:p>
            <a:pPr marL="0" indent="0">
              <a:buNone/>
            </a:pPr>
            <a:r>
              <a:rPr lang="ru-RU" b="1" dirty="0"/>
              <a:t>Роль «народа» </a:t>
            </a:r>
            <a:r>
              <a:rPr lang="ru-RU" dirty="0"/>
              <a:t>придающего большую легитимность правителю в этот момент играют, главным образом, столичное дворянство и офицеры гвардейских полков (около 800 человек).</a:t>
            </a:r>
          </a:p>
        </p:txBody>
      </p:sp>
    </p:spTree>
    <p:extLst>
      <p:ext uri="{BB962C8B-B14F-4D97-AF65-F5344CB8AC3E}">
        <p14:creationId xmlns:p14="http://schemas.microsoft.com/office/powerpoint/2010/main" val="325701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79F6FA-5088-B959-F787-F9363E28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8408"/>
            <a:ext cx="10972800" cy="465826"/>
          </a:xfrm>
        </p:spPr>
        <p:txBody>
          <a:bodyPr/>
          <a:lstStyle/>
          <a:p>
            <a:r>
              <a:rPr lang="ru-RU" sz="2800" dirty="0"/>
              <a:t>Два варианта управления, предложенные Анне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11EEB3-140C-524C-B162-ACB368ECC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967" y="752295"/>
            <a:ext cx="5386917" cy="306238"/>
          </a:xfrm>
        </p:spPr>
        <p:txBody>
          <a:bodyPr/>
          <a:lstStyle/>
          <a:p>
            <a:r>
              <a:rPr lang="ru-RU" sz="1800" dirty="0"/>
              <a:t>Кондиции. Зачитана 2 февраля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649DA0-A7A0-A0AF-5568-D73A6823D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689394"/>
            <a:ext cx="5389033" cy="356558"/>
          </a:xfrm>
        </p:spPr>
        <p:txBody>
          <a:bodyPr/>
          <a:lstStyle/>
          <a:p>
            <a:r>
              <a:rPr lang="ru-RU" sz="1800" dirty="0"/>
              <a:t>Предложения дворянства 4 февраля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4C4C42-BADD-05A5-2A88-E66498C886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146595"/>
            <a:ext cx="5386917" cy="44346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 </a:t>
            </a:r>
            <a:r>
              <a:rPr lang="ru-RU" sz="2600" dirty="0"/>
              <a:t>Верховный тайный совет в восьми персонах всегда содержать и без оного Верховного тайного совета согласия:</a:t>
            </a:r>
          </a:p>
          <a:p>
            <a:pPr marL="0" indent="0">
              <a:buNone/>
            </a:pPr>
            <a:r>
              <a:rPr lang="ru-RU" sz="2600" dirty="0"/>
              <a:t>1) Ни с кем войны не </a:t>
            </a:r>
            <a:r>
              <a:rPr lang="ru-RU" sz="2600" dirty="0" err="1"/>
              <a:t>всчинять</a:t>
            </a:r>
            <a:r>
              <a:rPr lang="ru-RU" sz="2600" dirty="0"/>
              <a:t>.</a:t>
            </a:r>
          </a:p>
          <a:p>
            <a:pPr marL="0" indent="0">
              <a:buNone/>
            </a:pPr>
            <a:r>
              <a:rPr lang="ru-RU" sz="2600" dirty="0"/>
              <a:t>2) Миру не заключать.</a:t>
            </a:r>
          </a:p>
          <a:p>
            <a:pPr marL="0" indent="0">
              <a:buNone/>
            </a:pPr>
            <a:r>
              <a:rPr lang="ru-RU" sz="2600" dirty="0"/>
              <a:t>3) Верных наших подданных никакими новыми </a:t>
            </a:r>
            <a:r>
              <a:rPr lang="ru-RU" sz="2600" dirty="0" err="1"/>
              <a:t>податми</a:t>
            </a:r>
            <a:r>
              <a:rPr lang="ru-RU" sz="2600" dirty="0"/>
              <a:t> не отягощать.</a:t>
            </a:r>
          </a:p>
          <a:p>
            <a:pPr marL="0" indent="0">
              <a:buNone/>
            </a:pPr>
            <a:r>
              <a:rPr lang="ru-RU" sz="2600" dirty="0"/>
              <a:t>4) В знатные чины, как в </a:t>
            </a:r>
            <a:r>
              <a:rPr lang="ru-RU" sz="2600" dirty="0" err="1"/>
              <a:t>статцкие</a:t>
            </a:r>
            <a:r>
              <a:rPr lang="ru-RU" sz="2600" dirty="0"/>
              <a:t>, так и в военные,</a:t>
            </a:r>
          </a:p>
          <a:p>
            <a:pPr marL="0" indent="0">
              <a:buNone/>
            </a:pPr>
            <a:r>
              <a:rPr lang="ru-RU" sz="2600" dirty="0"/>
              <a:t>сухопутные и морские, выше полковничья ранга не жаловать, ниже к знатным делам никого не определять, и гвардии и прочим полкам быть под ведением Верховного тайного совета.</a:t>
            </a:r>
          </a:p>
          <a:p>
            <a:pPr marL="0" indent="0">
              <a:buNone/>
            </a:pPr>
            <a:r>
              <a:rPr lang="ru-RU" sz="2600" dirty="0"/>
              <a:t>5) У шляхетства живота и имения и чести без суда не отымать.</a:t>
            </a:r>
          </a:p>
          <a:p>
            <a:pPr marL="0" indent="0">
              <a:buNone/>
            </a:pPr>
            <a:r>
              <a:rPr lang="ru-RU" sz="2600" dirty="0"/>
              <a:t>6) Вотчины и деревни не жаловать.</a:t>
            </a:r>
          </a:p>
          <a:p>
            <a:pPr marL="0" indent="0">
              <a:buNone/>
            </a:pPr>
            <a:r>
              <a:rPr lang="ru-RU" sz="2600" dirty="0"/>
              <a:t>7) В придворные чины как русских, так и иноземцев без совету Верховного тайного совета не производить.</a:t>
            </a:r>
          </a:p>
          <a:p>
            <a:pPr marL="0" indent="0">
              <a:buNone/>
            </a:pPr>
            <a:r>
              <a:rPr lang="ru-RU" sz="2600" dirty="0"/>
              <a:t>8) Государственные доходы в расход не употреблять и всех верных своих подданных в </a:t>
            </a:r>
            <a:r>
              <a:rPr lang="ru-RU" sz="2600" dirty="0" err="1"/>
              <a:t>неотменной</a:t>
            </a:r>
            <a:r>
              <a:rPr lang="ru-RU" sz="2600" dirty="0"/>
              <a:t> своей милости содержать.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b="1" dirty="0"/>
              <a:t>Мнение ВТС подписали 97 представителей дворянства.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404D3B7-039C-61A7-FBBD-21BDF4AFFC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3884" y="1146594"/>
            <a:ext cx="5677492" cy="551299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2900" dirty="0"/>
              <a:t>1. Быть при ее величестве в Вышнем правлении, Сенате или Совете 21-й персоне, в котором нынешний Верховный совет останется.</a:t>
            </a:r>
          </a:p>
          <a:p>
            <a:pPr marL="0" indent="0">
              <a:buNone/>
            </a:pPr>
            <a:r>
              <a:rPr lang="ru-RU" sz="2900" dirty="0"/>
              <a:t>2. Чтоб оной делами внутренней </a:t>
            </a:r>
            <a:r>
              <a:rPr lang="ru-RU" sz="2900" dirty="0" err="1"/>
              <a:t>економии</a:t>
            </a:r>
            <a:r>
              <a:rPr lang="ru-RU" sz="2900" dirty="0"/>
              <a:t> </a:t>
            </a:r>
            <a:r>
              <a:rPr lang="ru-RU" sz="2900" dirty="0" err="1"/>
              <a:t>отягосчен</a:t>
            </a:r>
            <a:r>
              <a:rPr lang="ru-RU" sz="2900" dirty="0"/>
              <a:t> не был, другое правительство учредить во ста персонах, которым по третям года </a:t>
            </a:r>
            <a:r>
              <a:rPr lang="ru-RU" sz="2900" dirty="0" err="1"/>
              <a:t>третией</a:t>
            </a:r>
            <a:r>
              <a:rPr lang="ru-RU" sz="2900" dirty="0"/>
              <a:t> части в правлении </a:t>
            </a:r>
            <a:r>
              <a:rPr lang="ru-RU" sz="2900" dirty="0" err="1"/>
              <a:t>оставятся</a:t>
            </a:r>
            <a:r>
              <a:rPr lang="ru-RU" sz="2900" dirty="0"/>
              <a:t>, а две части могут в </a:t>
            </a:r>
            <a:r>
              <a:rPr lang="ru-RU" sz="2900" dirty="0" err="1"/>
              <a:t>домех</a:t>
            </a:r>
            <a:r>
              <a:rPr lang="ru-RU" sz="2900" dirty="0"/>
              <a:t> своих управлять. Но в каждой трети в конце, то есть в декабре, апреле, августе или в начале в генваре, майе и сентябре, для </a:t>
            </a:r>
            <a:r>
              <a:rPr lang="ru-RU" sz="2900" dirty="0" err="1"/>
              <a:t>разсмотрения</a:t>
            </a:r>
            <a:r>
              <a:rPr lang="ru-RU" sz="2900" dirty="0"/>
              <a:t> важных дел </a:t>
            </a:r>
            <a:r>
              <a:rPr lang="ru-RU" sz="2900" dirty="0" err="1"/>
              <a:t>кождогодно</a:t>
            </a:r>
            <a:r>
              <a:rPr lang="ru-RU" sz="2900" dirty="0"/>
              <a:t> собираться или когда чрезвычайное что случится, яко война, кончина государя или другое так великое дело, то по повестке всем съезжаться и не более месяца </a:t>
            </a:r>
            <a:r>
              <a:rPr lang="ru-RU" sz="2900" dirty="0" err="1"/>
              <a:t>обсчее</a:t>
            </a:r>
            <a:r>
              <a:rPr lang="ru-RU" sz="2900" dirty="0"/>
              <a:t> собрание продолжать.</a:t>
            </a:r>
          </a:p>
          <a:p>
            <a:pPr marL="0" indent="0">
              <a:buNone/>
            </a:pPr>
            <a:r>
              <a:rPr lang="ru-RU" sz="2900" dirty="0"/>
              <a:t>…</a:t>
            </a:r>
          </a:p>
          <a:p>
            <a:pPr marL="0" indent="0">
              <a:buNone/>
            </a:pPr>
            <a:r>
              <a:rPr lang="ru-RU" sz="2900" dirty="0"/>
              <a:t>4. </a:t>
            </a:r>
            <a:r>
              <a:rPr lang="ru-RU" sz="2900" dirty="0" err="1"/>
              <a:t>Законоиздание</a:t>
            </a:r>
            <a:r>
              <a:rPr lang="ru-RU" sz="2900" dirty="0"/>
              <a:t> хотя состоит единственно во власти </a:t>
            </a:r>
            <a:r>
              <a:rPr lang="ru-RU" sz="2900" dirty="0" err="1"/>
              <a:t>монаршеской</a:t>
            </a:r>
            <a:r>
              <a:rPr lang="ru-RU" sz="2900" dirty="0"/>
              <a:t> как о том выше показано, однако ж </a:t>
            </a:r>
            <a:r>
              <a:rPr lang="ru-RU" sz="2900" dirty="0" err="1"/>
              <a:t>разсудя</a:t>
            </a:r>
            <a:r>
              <a:rPr lang="ru-RU" sz="2900" dirty="0"/>
              <a:t> намерение государя не в чем ином, как к пользе </a:t>
            </a:r>
            <a:r>
              <a:rPr lang="ru-RU" sz="2900" dirty="0" err="1"/>
              <a:t>обсчей</a:t>
            </a:r>
            <a:r>
              <a:rPr lang="ru-RU" sz="2900" dirty="0"/>
              <a:t> и справедливости состоит, так оное точно наблюдать должно … Оное же сочинение никак невозможно одному поверить, хотя бы он искусен и в намерении </a:t>
            </a:r>
            <a:r>
              <a:rPr lang="ru-RU" sz="2900" dirty="0" err="1"/>
              <a:t>никоея</a:t>
            </a:r>
            <a:r>
              <a:rPr lang="ru-RU" sz="2900" dirty="0"/>
              <a:t> собственные страсти не имел, по природе легко погрешить может, того ради как скоро </a:t>
            </a:r>
            <a:r>
              <a:rPr lang="ru-RU" sz="2900" dirty="0" err="1"/>
              <a:t>ея</a:t>
            </a:r>
            <a:r>
              <a:rPr lang="ru-RU" sz="2900" dirty="0"/>
              <a:t> величества повеление будет какой закон сочинить, оной послать во все коллегии, чтоб довольно </a:t>
            </a:r>
            <a:r>
              <a:rPr lang="ru-RU" sz="2900" dirty="0" err="1"/>
              <a:t>разсмотрели</a:t>
            </a:r>
            <a:r>
              <a:rPr lang="ru-RU" sz="2900" dirty="0"/>
              <a:t> и чрез </a:t>
            </a:r>
            <a:r>
              <a:rPr lang="ru-RU" sz="2900" dirty="0" err="1"/>
              <a:t>седмь</a:t>
            </a:r>
            <a:r>
              <a:rPr lang="ru-RU" sz="2900" dirty="0"/>
              <a:t> дней, </a:t>
            </a:r>
            <a:r>
              <a:rPr lang="ru-RU" sz="2900" dirty="0" err="1"/>
              <a:t>сочиня</a:t>
            </a:r>
            <a:r>
              <a:rPr lang="ru-RU" sz="2900" dirty="0"/>
              <a:t>, каждая </a:t>
            </a:r>
            <a:r>
              <a:rPr lang="ru-RU" sz="2900" dirty="0" err="1"/>
              <a:t>обсчее</a:t>
            </a:r>
            <a:r>
              <a:rPr lang="ru-RU" sz="2900" dirty="0"/>
              <a:t> или кто собственное свое в собрании вышнему правительству объявили и по довольном </a:t>
            </a:r>
            <a:r>
              <a:rPr lang="ru-RU" sz="2900" dirty="0" err="1"/>
              <a:t>разсуждении</a:t>
            </a:r>
            <a:r>
              <a:rPr lang="ru-RU" sz="2900" dirty="0"/>
              <a:t>, </a:t>
            </a:r>
            <a:r>
              <a:rPr lang="ru-RU" sz="2900" dirty="0" err="1"/>
              <a:t>сочиня</a:t>
            </a:r>
            <a:r>
              <a:rPr lang="ru-RU" sz="2900" dirty="0"/>
              <a:t>, ее величеству ко утверждению представили.</a:t>
            </a:r>
          </a:p>
          <a:p>
            <a:pPr marL="0" indent="0">
              <a:buNone/>
            </a:pPr>
            <a:endParaRPr lang="ru-RU" sz="2900" dirty="0"/>
          </a:p>
          <a:p>
            <a:pPr marL="0" indent="0">
              <a:buNone/>
            </a:pPr>
            <a:r>
              <a:rPr lang="ru-RU" sz="2900" b="1" dirty="0"/>
              <a:t>«Пункты» дворянства, составленные </a:t>
            </a:r>
            <a:r>
              <a:rPr lang="ru-RU" sz="2900" b="1" dirty="0" err="1"/>
              <a:t>В.Н.Татищевым</a:t>
            </a:r>
            <a:r>
              <a:rPr lang="ru-RU" sz="2900" b="1" dirty="0"/>
              <a:t>, подписали 288 чел.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519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D4B91B79-8465-1F28-A65A-FEA40180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39946"/>
            <a:ext cx="10972800" cy="690113"/>
          </a:xfrm>
        </p:spPr>
        <p:txBody>
          <a:bodyPr/>
          <a:lstStyle/>
          <a:p>
            <a:r>
              <a:rPr lang="ru-RU" sz="2800" dirty="0"/>
              <a:t>Итог: «окно возможностей» закрывается 25 февраля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7500AA-4EEE-EDA1-5A0C-CB6425ECE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04" y="1315706"/>
            <a:ext cx="10052649" cy="4404888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5A59E27-5030-C013-9D44-833B7D17903C}"/>
              </a:ext>
            </a:extLst>
          </p:cNvPr>
          <p:cNvSpPr/>
          <p:nvPr/>
        </p:nvSpPr>
        <p:spPr>
          <a:xfrm>
            <a:off x="1311215" y="5848708"/>
            <a:ext cx="9678838" cy="86998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 сообщению Татищева «Кондиции» надорвал и бросил на пол подполковник </a:t>
            </a:r>
            <a:r>
              <a:rPr lang="ru-RU" dirty="0" err="1"/>
              <a:t>Переображенского</a:t>
            </a:r>
            <a:r>
              <a:rPr lang="ru-RU" dirty="0"/>
              <a:t> полка С.А. Салтыков. Анна подписала «челобитную» 166 дворян о сохранении самодержавной власти.</a:t>
            </a:r>
          </a:p>
        </p:txBody>
      </p:sp>
    </p:spTree>
    <p:extLst>
      <p:ext uri="{BB962C8B-B14F-4D97-AF65-F5344CB8AC3E}">
        <p14:creationId xmlns:p14="http://schemas.microsoft.com/office/powerpoint/2010/main" val="148327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FDBB3-BB25-FB9E-330B-EB2A6669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1154"/>
            <a:ext cx="10972800" cy="810883"/>
          </a:xfrm>
        </p:spPr>
        <p:txBody>
          <a:bodyPr/>
          <a:lstStyle/>
          <a:p>
            <a:r>
              <a:rPr lang="ru-RU" dirty="0"/>
              <a:t>Знаковые события 1830-х гг.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C4D6CA-3B65-AF35-E2B9-A59FD8FAA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366" y="1065362"/>
            <a:ext cx="5386917" cy="306238"/>
          </a:xfrm>
        </p:spPr>
        <p:txBody>
          <a:bodyPr/>
          <a:lstStyle/>
          <a:p>
            <a:r>
              <a:rPr lang="ru-RU" dirty="0"/>
              <a:t>Государство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35689E-B42A-180D-F296-B430D0916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9719" y="1030856"/>
            <a:ext cx="5389033" cy="340744"/>
          </a:xfrm>
        </p:spPr>
        <p:txBody>
          <a:bodyPr/>
          <a:lstStyle/>
          <a:p>
            <a:r>
              <a:rPr lang="ru-RU" dirty="0"/>
              <a:t>Власть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F416789-2BDF-3CF5-C7AC-5D1A1099D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748287"/>
            <a:ext cx="5388864" cy="4378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1730. Воссоздание Сената в качестве высшего органа государственной власти.</a:t>
            </a:r>
          </a:p>
          <a:p>
            <a:pPr marL="0" indent="0">
              <a:buNone/>
            </a:pPr>
            <a:r>
              <a:rPr lang="ru-RU" dirty="0"/>
              <a:t>1731. Создан Кабинет министров </a:t>
            </a:r>
          </a:p>
          <a:p>
            <a:r>
              <a:rPr lang="ru-RU" dirty="0"/>
              <a:t>Миних - армия и флот,</a:t>
            </a:r>
          </a:p>
          <a:p>
            <a:r>
              <a:rPr lang="ru-RU" dirty="0"/>
              <a:t>Остерман – внешняя политика,</a:t>
            </a:r>
          </a:p>
          <a:p>
            <a:r>
              <a:rPr lang="ru-RU" dirty="0"/>
              <a:t> кн. Черкасский, и Головкин – внутренние дела.</a:t>
            </a:r>
          </a:p>
          <a:p>
            <a:pPr marL="0" indent="0">
              <a:buNone/>
            </a:pPr>
            <a:r>
              <a:rPr lang="ru-RU" dirty="0"/>
              <a:t>1732. Создана Воинская морская комиссия, началось воссоздание флота.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90A659D-98CD-EF1E-3253-CC5F5B9EB9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0112" y="1747843"/>
            <a:ext cx="5388864" cy="437819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1730 – создана Канцелярия тайных розыскных дел.</a:t>
            </a:r>
          </a:p>
          <a:p>
            <a:pPr marL="0" indent="0">
              <a:buNone/>
            </a:pPr>
            <a:r>
              <a:rPr lang="ru-RU" dirty="0"/>
              <a:t>1739 – казнь четырех князей Долгоруковых.</a:t>
            </a:r>
          </a:p>
          <a:p>
            <a:pPr marL="0" indent="0">
              <a:buNone/>
            </a:pPr>
            <a:r>
              <a:rPr lang="ru-RU" dirty="0"/>
              <a:t>1739-1740 – дело кабинет-министра Волынского</a:t>
            </a:r>
          </a:p>
        </p:txBody>
      </p:sp>
    </p:spTree>
    <p:extLst>
      <p:ext uri="{BB962C8B-B14F-4D97-AF65-F5344CB8AC3E}">
        <p14:creationId xmlns:p14="http://schemas.microsoft.com/office/powerpoint/2010/main" val="264286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D27C0-1D0E-47C8-9F37-E7D693A5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1924"/>
            <a:ext cx="10972800" cy="12982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600" dirty="0"/>
              <a:t>Попытка преобразований вне «окна возможностей»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9A718A-0545-18B8-4122-968C7A7DC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3 февраля 1738 г. Артемий Волынской становится кабинет-министром (протекция Бирона) и докладчиком по делам кабинета.</a:t>
            </a:r>
          </a:p>
          <a:p>
            <a:pPr marL="0" indent="0">
              <a:buNone/>
            </a:pPr>
            <a:r>
              <a:rPr lang="ru-RU" dirty="0"/>
              <a:t>1738 и 1739 г. Волынский работает над текстом «Генеральный проект о поправлении внутренних государственных дел» (с ведома императрицы) и обсуждает его с обер-прокурором Сената И.А. </a:t>
            </a:r>
            <a:r>
              <a:rPr lang="ru-RU" dirty="0" err="1"/>
              <a:t>Соймоновым</a:t>
            </a:r>
            <a:r>
              <a:rPr lang="ru-RU" dirty="0"/>
              <a:t>, главным архитектором «Комиссии о Санкт-Петербургском строении» П.М. Еропкиным, советником Адмиралтейской конторы А.Ф. Хрущевым, советниками Александром Нарышкиным, Василием Новосильцевым, Платоном Мусиным-Пушкиным, князем Яковом Шаховским, контр-адмиралом Захаром Мишуковым, прокурором Адмиралтейской коллегии Никитой Желябужским, гвардии офицерами Василием Чичериным и Федором Ушаковым, секретарем Иностранной коллегии Иваном </a:t>
            </a:r>
            <a:r>
              <a:rPr lang="ru-RU" dirty="0" err="1"/>
              <a:t>Судой</a:t>
            </a:r>
            <a:r>
              <a:rPr lang="ru-RU" dirty="0"/>
              <a:t> и личным секретарем государыни Иваном </a:t>
            </a:r>
            <a:r>
              <a:rPr lang="ru-RU" dirty="0" err="1"/>
              <a:t>Эйхлером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13 апреля 1740 г. Волынский отставлен от всех постов (интрига Остермана и прямое требование Бирона).</a:t>
            </a:r>
          </a:p>
          <a:p>
            <a:pPr marL="0" indent="0">
              <a:buNone/>
            </a:pPr>
            <a:r>
              <a:rPr lang="ru-RU" dirty="0"/>
              <a:t>27 июня 1740 г. – казнь Волынского, Хрущева и Еропкина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8795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BA49A-57E8-4184-5185-0E0BF692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Институционный тупик: переворот не может стать институтом, но без переворот смена власти не происходит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F5F8B7-2E72-BA8E-464B-7196451B4F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25 декабря 1761 г. Умирает Елизавета Петровна, 5 января 1762 г., по ее завещаний императором становится Петр </a:t>
            </a:r>
            <a:r>
              <a:rPr lang="en-US" dirty="0"/>
              <a:t>III</a:t>
            </a:r>
          </a:p>
          <a:p>
            <a:pPr marL="0" indent="0">
              <a:buNone/>
            </a:pPr>
            <a:r>
              <a:rPr lang="ru-RU" dirty="0"/>
              <a:t>28-29 июля – гвардейский переворот, отречение и смерть Петра </a:t>
            </a:r>
            <a:r>
              <a:rPr lang="en-US" dirty="0"/>
              <a:t>III</a:t>
            </a:r>
            <a:r>
              <a:rPr lang="ru-RU" dirty="0"/>
              <a:t>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5CC065-AC6A-2FC4-7168-C20D8EBBA5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Государственные перевороты1740-х гг. </a:t>
            </a:r>
          </a:p>
          <a:p>
            <a:r>
              <a:rPr lang="ru-RU" dirty="0"/>
              <a:t>16 октября Анно </a:t>
            </a:r>
            <a:r>
              <a:rPr lang="ru-RU" dirty="0" err="1"/>
              <a:t>Иоановна</a:t>
            </a:r>
            <a:r>
              <a:rPr lang="ru-RU" dirty="0"/>
              <a:t> завещает престол Ивану Антоновичу (внучатому племяннику) при регентстве Бирона и на следующий день умирает.</a:t>
            </a:r>
          </a:p>
          <a:p>
            <a:r>
              <a:rPr lang="ru-RU" dirty="0"/>
              <a:t>9 ноября 1740 г. Миних с отрядом в 100 гвардейцев свергает Бирона.</a:t>
            </a:r>
          </a:p>
          <a:p>
            <a:r>
              <a:rPr lang="ru-RU" dirty="0"/>
              <a:t>25 ноября 1741 г. Рот </a:t>
            </a:r>
            <a:r>
              <a:rPr lang="ru-RU" dirty="0" err="1"/>
              <a:t>Пеображенского</a:t>
            </a:r>
            <a:r>
              <a:rPr lang="ru-RU" dirty="0"/>
              <a:t> полка свергает Ивана Антоновича и приводит к власти Елизавету Петровну.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73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C3BC4AF-A965-EA5D-8C1F-224CD31AA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9781"/>
            <a:ext cx="10972800" cy="1026544"/>
          </a:xfrm>
        </p:spPr>
        <p:txBody>
          <a:bodyPr/>
          <a:lstStyle/>
          <a:p>
            <a:r>
              <a:rPr lang="ru-RU" sz="3200" dirty="0"/>
              <a:t>Письмо Алексея Орлова Екатерине </a:t>
            </a:r>
            <a:r>
              <a:rPr lang="en-US" sz="3200" dirty="0"/>
              <a:t>II</a:t>
            </a:r>
            <a:endParaRPr lang="ru-RU" sz="32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1B35940C-2D07-878B-A238-C3DF20D278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Воспоминания Ф.В. Ростопчина:</a:t>
            </a:r>
          </a:p>
          <a:p>
            <a:pPr marL="0" indent="0">
              <a:buNone/>
            </a:pPr>
            <a:r>
              <a:rPr lang="ru-RU" dirty="0"/>
              <a:t>«Через три дня по смерти Императрицы поручено было великому князю Александру Павловичу и графу Безбородко рассмотреть все бумаги. В первый самый день найдено это письмо графа Алексея Орлова и принесено к Императору Павлу: по прочтении им возращено Безбородко и я имел его с четверть часа в руках. Почерк известный мне графа Орлова. Бумага — лист серой и нечистой, а слог означает положение души сего злодея и ясно </a:t>
            </a:r>
            <a:r>
              <a:rPr lang="ru-RU" dirty="0" err="1"/>
              <a:t>доказываеть</a:t>
            </a:r>
            <a:r>
              <a:rPr lang="ru-RU" dirty="0"/>
              <a:t>, что убийцы опасались гнева Государыни, и сим изобличает клевету, падшую на жизнь и память сей великой царицы. На другой день граф Безбородко сказал мне, что Император Павел потребовал от него вторично письмо графа Орлова. Прочитав в присутствии его, бросил в камин и сам истребил памятник невинности Великой Екатерины, о чем и сам чрезмерно после соболезновал».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8F481428-8995-6F0E-B0DA-97764BFFD7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«Матушка, милосердная государыня! Как мне изъяснить, описать, что случилось: не поверишь верному своему рабу; но как перед Богом скажу истину. Матушка! Готов идти на смерть; но сам не знаю, как эта беда случилась. Погибли мы, когда ты не помилуешь. Матушка — его нет на свете. Но никто сего не думал, и как нам задумать поднять руки на Государя! Но, Государыня, свершилась беда. Он заспорил за столом с князем Федором, не успели мы разнять, а его уже и не стало. Сами не помним, что делали; но все до единого виноваты, достойны казни. Помилуй меня, хоть для брата. Повинную тебе принес, и разыскивать нечего. Прости или прикажи скорее окончить. Свет не мил; прогневали тебя и погубили души на век».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913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3200" dirty="0"/>
              <a:t>Зависимость от гвардии в при трансфере власти. Проблемы: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7147" y="1600200"/>
            <a:ext cx="10213676" cy="492514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Вертикальная легитимация власти «замыкается» на той части дворянства, которая связана со службой в гвардейских полках. Уже в правление Екатерины </a:t>
            </a:r>
            <a:r>
              <a:rPr lang="en-US" dirty="0"/>
              <a:t>I</a:t>
            </a:r>
            <a:r>
              <a:rPr lang="ru-RU" dirty="0"/>
              <a:t> происходит «отрыв от реальности». </a:t>
            </a:r>
            <a:r>
              <a:rPr lang="ru-RU" b="1" dirty="0"/>
              <a:t>Пример: </a:t>
            </a:r>
            <a:r>
              <a:rPr lang="ru-RU" dirty="0"/>
              <a:t>предложение А.С. Меньшикова не платить жалование чиновником, поскольку для жизни им хватит взяток.</a:t>
            </a:r>
          </a:p>
          <a:p>
            <a:r>
              <a:rPr lang="ru-RU" dirty="0"/>
              <a:t>Усиливается нигилистическое отношение к закону как «сверху» так и «снизу», поскольку военная сила выше закона.</a:t>
            </a:r>
          </a:p>
          <a:p>
            <a:r>
              <a:rPr lang="ru-RU" dirty="0"/>
              <a:t>Резко сокращается возможность проведения сколько-нибудь последовательной политики, особенно – реформирования страны.</a:t>
            </a:r>
          </a:p>
          <a:p>
            <a:r>
              <a:rPr lang="ru-RU" dirty="0"/>
              <a:t>Усиливается роль </a:t>
            </a:r>
            <a:r>
              <a:rPr lang="ru-RU" dirty="0" err="1"/>
              <a:t>внегосударственной</a:t>
            </a:r>
            <a:r>
              <a:rPr lang="ru-RU" dirty="0"/>
              <a:t> формы управления - фаворитизма. </a:t>
            </a:r>
          </a:p>
        </p:txBody>
      </p:sp>
    </p:spTree>
    <p:extLst>
      <p:ext uri="{BB962C8B-B14F-4D97-AF65-F5344CB8AC3E}">
        <p14:creationId xmlns:p14="http://schemas.microsoft.com/office/powerpoint/2010/main" val="119598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F644-FCB0-C8BF-753F-CAB81C842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274"/>
            <a:ext cx="10972800" cy="106105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3200" dirty="0"/>
              <a:t>Предложения по модернизации государственного управления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2BA5CB-412C-EAA2-7FE4-71119CD77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083" y="1173279"/>
            <a:ext cx="5386917" cy="280445"/>
          </a:xfrm>
        </p:spPr>
        <p:txBody>
          <a:bodyPr/>
          <a:lstStyle/>
          <a:p>
            <a:r>
              <a:rPr lang="ru-RU" sz="1800" dirty="0"/>
              <a:t>Вариант Миниха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A592A0-2963-0D00-D6DB-FA8E0B749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0112" y="1173279"/>
            <a:ext cx="5389033" cy="375249"/>
          </a:xfrm>
        </p:spPr>
        <p:txBody>
          <a:bodyPr/>
          <a:lstStyle/>
          <a:p>
            <a:r>
              <a:rPr lang="ru-RU" sz="1800" dirty="0"/>
              <a:t>Вариант Н.И. Панина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D67C5A8-2B16-0EC7-CA91-AE65C27F09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90613" y="1539456"/>
            <a:ext cx="4207850" cy="51028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Разделить управление по двум уровням в рамках «Совета Ея Величества»:</a:t>
            </a:r>
          </a:p>
          <a:p>
            <a:pPr marL="0" indent="0">
              <a:buNone/>
            </a:pPr>
            <a:r>
              <a:rPr lang="ru-RU" sz="1400" b="1" dirty="0"/>
              <a:t>Низший уровень </a:t>
            </a:r>
            <a:r>
              <a:rPr lang="ru-RU" sz="1400" dirty="0"/>
              <a:t>– решения, принимаемые лично главами департаментов «Совета», чтобы «облегчать этим труды ее величества императрицы и избавлять ее от тягости входить в подробности не особенно важных дел, для которых не хватит ее материнских забот без вреда для ее драгоценного здоровья» [Миних, 1874, С. 318]. </a:t>
            </a:r>
          </a:p>
          <a:p>
            <a:pPr marL="0" indent="0">
              <a:buNone/>
            </a:pPr>
            <a:r>
              <a:rPr lang="ru-RU" sz="1400" b="1" dirty="0"/>
              <a:t>Высший уровень</a:t>
            </a:r>
            <a:r>
              <a:rPr lang="ru-RU" sz="1400" dirty="0"/>
              <a:t> – решения принимаемые самой императрицей, в рамках новой процедуры: «пять лиц составляли бы совет ее величества, который представлял бы ей сущность дел и, руководясь мудрыми решениями государыни, изготовлял бы необходимые указы Сенату и тем присутственным местам, которые не находятся в прямой от него зависимости».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По сути – это создание Совета министров, мера, одобренная императрицей, но не приведенная в действие.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C19DD0-8925-2934-D6C2-9A924B6CC3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4345873" cy="391318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«Все дела, </a:t>
            </a:r>
            <a:r>
              <a:rPr lang="ru-RU" dirty="0" err="1"/>
              <a:t>принадлежащия</a:t>
            </a:r>
            <a:r>
              <a:rPr lang="ru-RU" dirty="0"/>
              <a:t> по уставам государственным и по существу монаршей самодержавной власти нашему собственному попечению и решению, яко то взносимые к нам не в присутствии в сенате доклады, мнения, проекты, </a:t>
            </a:r>
            <a:r>
              <a:rPr lang="ru-RU" dirty="0" err="1"/>
              <a:t>всякия</a:t>
            </a:r>
            <a:r>
              <a:rPr lang="ru-RU" dirty="0"/>
              <a:t> к нам </a:t>
            </a:r>
            <a:r>
              <a:rPr lang="ru-RU" dirty="0" err="1"/>
              <a:t>принадлежащия</a:t>
            </a:r>
            <a:r>
              <a:rPr lang="ru-RU" dirty="0"/>
              <a:t> просьбы, точное сведение всех разных частей составляющих государство и его пользу — словом, все то, что служить может к собственному </a:t>
            </a:r>
            <a:r>
              <a:rPr lang="ru-RU" dirty="0" err="1"/>
              <a:t>самодержавнаго</a:t>
            </a:r>
            <a:r>
              <a:rPr lang="ru-RU" dirty="0"/>
              <a:t> государя попечению о приращении и исправлении государственном, имеет быть в нашем императорском совете».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(Написано для текста указа императрицы, подписанном ею, а потом отвергнутом).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8BBE21-AB07-0966-663F-E4E21033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9" y="2032226"/>
            <a:ext cx="1583120" cy="2001328"/>
          </a:xfrm>
          <a:prstGeom prst="rect">
            <a:avLst/>
          </a:prstGeom>
        </p:spPr>
      </p:pic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75757C8-F034-B830-215E-2331C07A333B}"/>
              </a:ext>
            </a:extLst>
          </p:cNvPr>
          <p:cNvSpPr/>
          <p:nvPr/>
        </p:nvSpPr>
        <p:spPr>
          <a:xfrm>
            <a:off x="91669" y="4160815"/>
            <a:ext cx="1583120" cy="6642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Граф Б.К. Миних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28BB1-75B1-5CA1-966F-90294A185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097" y="2032226"/>
            <a:ext cx="1156061" cy="2001328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460B4E0-475D-C079-8089-05AC55E34F88}"/>
              </a:ext>
            </a:extLst>
          </p:cNvPr>
          <p:cNvSpPr/>
          <p:nvPr/>
        </p:nvSpPr>
        <p:spPr>
          <a:xfrm>
            <a:off x="10707097" y="4160815"/>
            <a:ext cx="1156061" cy="78212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Граф Н.И. Панин</a:t>
            </a:r>
          </a:p>
        </p:txBody>
      </p:sp>
    </p:spTree>
    <p:extLst>
      <p:ext uri="{BB962C8B-B14F-4D97-AF65-F5344CB8AC3E}">
        <p14:creationId xmlns:p14="http://schemas.microsoft.com/office/powerpoint/2010/main" val="2894235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4583A4-891D-2931-2962-21C68F27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3464"/>
            <a:ext cx="10972800" cy="810883"/>
          </a:xfrm>
        </p:spPr>
        <p:txBody>
          <a:bodyPr/>
          <a:lstStyle/>
          <a:p>
            <a:r>
              <a:rPr lang="ru-RU" sz="2800" dirty="0"/>
              <a:t>Уложенная комиссия, как инструмент «окна возможностей»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1DD359-1026-97C0-0345-AD26B9DC9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Институциональная ловушка – нет другой формы, кроме переворота, чтобы обеспечить транзит власти. Но гвардия, осуществляющая перевороты, постепенно становится институтом, в рамках которого происходит согласование </a:t>
            </a:r>
          </a:p>
          <a:p>
            <a:pPr marL="0" indent="0">
              <a:buNone/>
            </a:pPr>
            <a:r>
              <a:rPr lang="ru-RU" dirty="0"/>
              <a:t>Раскол элиты минимальный за последние сто лет: вражда «немецкой» и «русской» придворных затухает, так же как и противоборство родовой знати и выдвиженцев из низов.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Попытка открыть «окно возможностей» в данном случае определяется не историческими условиями, а представлениями императрицы о характере государственной власти в рамках концепции «просвещенного абсолютизма».</a:t>
            </a:r>
          </a:p>
        </p:txBody>
      </p:sp>
    </p:spTree>
    <p:extLst>
      <p:ext uri="{BB962C8B-B14F-4D97-AF65-F5344CB8AC3E}">
        <p14:creationId xmlns:p14="http://schemas.microsoft.com/office/powerpoint/2010/main" val="2312054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472CE-863E-276C-311E-3FF1C38C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022"/>
            <a:ext cx="10972800" cy="776377"/>
          </a:xfrm>
        </p:spPr>
        <p:txBody>
          <a:bodyPr/>
          <a:lstStyle/>
          <a:p>
            <a:r>
              <a:rPr lang="ru-RU" sz="3200" dirty="0"/>
              <a:t>Наказ уложенной комиссии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BC54DA-28E6-3FC8-16A3-C5EDC09C0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60588" y="1061049"/>
            <a:ext cx="3421811" cy="506511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294 статей наказ содержат цитаты из Трактата «О духе законов» Ш. Монтескье. Кроме того, в не есть отсылки к трудам Вольтера, </a:t>
            </a:r>
            <a:r>
              <a:rPr lang="ru-RU" dirty="0" err="1"/>
              <a:t>Ч.Беккариа</a:t>
            </a:r>
            <a:r>
              <a:rPr lang="ru-RU" dirty="0"/>
              <a:t>, </a:t>
            </a:r>
            <a:r>
              <a:rPr lang="ru-RU" dirty="0" err="1"/>
              <a:t>Д.Дидро</a:t>
            </a:r>
            <a:r>
              <a:rPr lang="ru-RU" dirty="0"/>
              <a:t> и Ж.Д. Д</a:t>
            </a:r>
            <a:r>
              <a:rPr lang="en-US" dirty="0"/>
              <a:t>’</a:t>
            </a:r>
            <a:r>
              <a:rPr lang="ru-RU" dirty="0"/>
              <a:t>Аламбера.</a:t>
            </a:r>
          </a:p>
          <a:p>
            <a:r>
              <a:rPr lang="ru-RU" dirty="0"/>
              <a:t>с 1767 по 1796 год “Наказ” издавался на русском языке восемь раз.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D970DD-3C68-9DC6-4C8F-81F20E3C49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7679" y="1061049"/>
            <a:ext cx="7224335" cy="5520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dirty="0"/>
              <a:t>Текст «Наказа»:</a:t>
            </a:r>
          </a:p>
          <a:p>
            <a:pPr marL="0" indent="0">
              <a:buNone/>
            </a:pPr>
            <a:r>
              <a:rPr lang="ru-RU" sz="1700" dirty="0"/>
              <a:t>1. Закон Христианский научает нас взаимно делать друг другу добро, сколько возможно.</a:t>
            </a:r>
          </a:p>
          <a:p>
            <a:pPr marL="0" indent="0">
              <a:buNone/>
            </a:pPr>
            <a:r>
              <a:rPr lang="ru-RU" sz="1700" dirty="0"/>
              <a:t>2. … не можем иного кроме сего сделать положения, что всякого честного человека в обществе желание есть или будет, видеть все отечество свое на самой вышней степени благополучия, славы, блаженства и спокойствия.</a:t>
            </a:r>
          </a:p>
          <a:p>
            <a:pPr marL="0" indent="0">
              <a:buNone/>
            </a:pPr>
            <a:r>
              <a:rPr lang="ru-RU" sz="1700" dirty="0"/>
              <a:t>3. А всякого согражданина особо видеть охраняемого законами, которые не утесняли бы его благосостояния, но защищали его ото всех сему правилу противных предприятий.</a:t>
            </a:r>
          </a:p>
          <a:p>
            <a:pPr marL="0" indent="0">
              <a:buNone/>
            </a:pPr>
            <a:r>
              <a:rPr lang="ru-RU" sz="1700" dirty="0"/>
              <a:t>…</a:t>
            </a:r>
          </a:p>
          <a:p>
            <a:pPr marL="0" indent="0">
              <a:buNone/>
            </a:pPr>
            <a:r>
              <a:rPr lang="ru-RU" sz="1700" dirty="0"/>
              <a:t>6. Россия есть Европейская держава.</a:t>
            </a:r>
          </a:p>
          <a:p>
            <a:pPr marL="0" indent="0">
              <a:buNone/>
            </a:pPr>
            <a:r>
              <a:rPr lang="ru-RU" sz="1700" dirty="0"/>
              <a:t>7. Доказательство сему следующее. Перемены, которые в России предпринял ПЕТР Великий, тем удобнее успех получили, что нравы, бывшие в то время, совсем не сходствовали со климатом и принесены были к нам смешением разных народов и завоеваниями чуждых областей. ПЕТР Первый, вводя нравы и обычаи европейские в европейском народе, нашел тогда такие удобности, каких он и сам не ожидал. </a:t>
            </a:r>
          </a:p>
        </p:txBody>
      </p:sp>
    </p:spTree>
    <p:extLst>
      <p:ext uri="{BB962C8B-B14F-4D97-AF65-F5344CB8AC3E}">
        <p14:creationId xmlns:p14="http://schemas.microsoft.com/office/powerpoint/2010/main" val="1290676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1"/>
            <a:ext cx="7846640" cy="828328"/>
          </a:xfrm>
        </p:spPr>
        <p:txBody>
          <a:bodyPr/>
          <a:lstStyle/>
          <a:p>
            <a:pPr>
              <a:defRPr/>
            </a:pPr>
            <a:r>
              <a:rPr lang="ru-RU" sz="2800" dirty="0"/>
              <a:t>Просвещенный абсолютизм: теория (1)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2209801" y="1412876"/>
            <a:ext cx="2517775" cy="4392613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1800" b="1" dirty="0"/>
              <a:t>Фридрих </a:t>
            </a:r>
            <a:r>
              <a:rPr lang="en-US" altLang="ru-RU" sz="1800" b="1" dirty="0"/>
              <a:t>II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ru-RU" altLang="ru-RU" sz="1800" b="1" dirty="0"/>
              <a:t>(1712—1786)</a:t>
            </a:r>
            <a:r>
              <a:rPr lang="ru-RU" altLang="ru-RU" sz="1600" b="1" dirty="0"/>
              <a:t> </a:t>
            </a:r>
          </a:p>
        </p:txBody>
      </p:sp>
      <p:sp>
        <p:nvSpPr>
          <p:cNvPr id="38916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943475" y="1484314"/>
            <a:ext cx="5545138" cy="496887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u-RU" altLang="ru-RU" dirty="0"/>
              <a:t>«Народы … избрали из своей среды тех, кого считали наиболее мудрыми, наиболее безукоризненными, наиболее человечными, наиболее храбрыми, чтобы люди эти могли ими управлять».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«Король не деспот, руководящийся своим капризом: его нужно представить себе как центральную точку, к которой сходятся все линии окружности».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ru-RU" altLang="ru-RU" dirty="0"/>
              <a:t>	                     «Антимаккиавель»</a:t>
            </a:r>
          </a:p>
        </p:txBody>
      </p:sp>
      <p:pic>
        <p:nvPicPr>
          <p:cNvPr id="38917" name="Picture 7" descr="Картинка 70 из 2006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811" y="2149474"/>
            <a:ext cx="2386540" cy="354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2310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1" y="152401"/>
            <a:ext cx="7415213" cy="612775"/>
          </a:xfrm>
        </p:spPr>
        <p:txBody>
          <a:bodyPr/>
          <a:lstStyle/>
          <a:p>
            <a:pPr>
              <a:defRPr/>
            </a:pPr>
            <a:r>
              <a:rPr lang="ru-RU" sz="2800" dirty="0"/>
              <a:t>Просвещенный абсолютизм: теория (2)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1631504" y="980728"/>
            <a:ext cx="3995738" cy="1008112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b="1" dirty="0"/>
              <a:t>Франсуа Кене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ru-RU" altLang="ru-RU" b="1" dirty="0"/>
              <a:t>(1694-1767) </a:t>
            </a:r>
          </a:p>
        </p:txBody>
      </p:sp>
      <p:sp>
        <p:nvSpPr>
          <p:cNvPr id="39940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5375275" y="1052514"/>
            <a:ext cx="5113338" cy="554513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ru-RU" altLang="ru-RU" sz="1600" b="1" dirty="0"/>
              <a:t>«Производительный класс</a:t>
            </a:r>
            <a:r>
              <a:rPr lang="ru-RU" altLang="ru-RU" sz="1600" dirty="0"/>
              <a:t>, возделывая землю, обеспечивает ежегодное возрождение богатства нации, авансирует затраты на сельскохозяйственные работы и ежегодно платит доход землевладельцам. Этот класс осуществляет все работы и все затраты, которые делаются до первой продажи продукции; именно при этой продаже мы узнаем ценность ежегодного богатства нации».</a:t>
            </a:r>
          </a:p>
          <a:p>
            <a:pPr>
              <a:lnSpc>
                <a:spcPct val="80000"/>
              </a:lnSpc>
            </a:pPr>
            <a:r>
              <a:rPr lang="ru-RU" altLang="ru-RU" sz="1600" b="1" dirty="0"/>
              <a:t>«Класс землевладельцев </a:t>
            </a:r>
            <a:r>
              <a:rPr lang="ru-RU" altLang="ru-RU" sz="1600" dirty="0"/>
              <a:t>включает монарха, собственников земли и сборщиков десятины. Этот класс существует за счет дохода или сельскохозяйственного продукта за вычетом средств для восстановления аванса и на поддержание своего хозяйства».</a:t>
            </a:r>
          </a:p>
          <a:p>
            <a:pPr>
              <a:lnSpc>
                <a:spcPct val="80000"/>
              </a:lnSpc>
            </a:pPr>
            <a:r>
              <a:rPr lang="ru-RU" altLang="ru-RU" sz="1600" b="1" dirty="0"/>
              <a:t>«Бесплодный класс </a:t>
            </a:r>
            <a:r>
              <a:rPr lang="ru-RU" altLang="ru-RU" sz="1600" dirty="0"/>
              <a:t>состоит из граждан, занятых всеми остальными работами, кроме сельскохозяйственных, затраты которых оплачиваются производительным классом и классом землевладельцев, который сам получает свой доход от продуктивного класса».</a:t>
            </a:r>
          </a:p>
        </p:txBody>
      </p:sp>
      <p:pic>
        <p:nvPicPr>
          <p:cNvPr id="39941" name="Picture 9" descr="Картинка 2 из 27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2132856"/>
            <a:ext cx="3085843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3515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dirty="0"/>
              <a:t>Просвещенный абсолютизм в России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919536" y="1340769"/>
            <a:ext cx="5112568" cy="4709119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ru-RU" b="1" dirty="0"/>
              <a:t>Образ правителя («мудрец на троне»):</a:t>
            </a:r>
          </a:p>
          <a:p>
            <a:r>
              <a:rPr lang="ru-RU" sz="2800" dirty="0"/>
              <a:t>Постоянно учится и пополняет свои знания.</a:t>
            </a:r>
          </a:p>
          <a:p>
            <a:r>
              <a:rPr lang="ru-RU" sz="2800" dirty="0"/>
              <a:t>Переписывается с Вольтером и Дидро.</a:t>
            </a:r>
          </a:p>
          <a:p>
            <a:r>
              <a:rPr lang="ru-RU" sz="2800" dirty="0"/>
              <a:t>Пишет и публикует трактаты, драмы. Издает журнал.</a:t>
            </a:r>
          </a:p>
          <a:p>
            <a:r>
              <a:rPr lang="ru-RU" sz="2800" dirty="0"/>
              <a:t>Уважает обычаи своего народа.</a:t>
            </a:r>
          </a:p>
          <a:p>
            <a:r>
              <a:rPr lang="ru-RU" sz="2800" dirty="0"/>
              <a:t>Следует принципу: закон карает – монарх милует.</a:t>
            </a:r>
          </a:p>
        </p:txBody>
      </p:sp>
      <p:pic>
        <p:nvPicPr>
          <p:cNvPr id="1029" name="Picture 5" descr="http://media.izi.travel/e69e5e56-287c-45bd-b9cd-382d1dd952c3/9c745325-5f6a-4876-9904-3c016918fe31_800x6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174" y="1340769"/>
            <a:ext cx="3102941" cy="438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361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53208" y="116632"/>
            <a:ext cx="8229600" cy="864096"/>
          </a:xfrm>
        </p:spPr>
        <p:txBody>
          <a:bodyPr>
            <a:noAutofit/>
          </a:bodyPr>
          <a:lstStyle/>
          <a:p>
            <a:r>
              <a:rPr lang="ru-RU" sz="2800" dirty="0"/>
              <a:t>Модернизация </a:t>
            </a:r>
            <a:r>
              <a:rPr lang="en-US" sz="2800" dirty="0"/>
              <a:t>II </a:t>
            </a:r>
            <a:r>
              <a:rPr lang="ru-RU" sz="2800" dirty="0"/>
              <a:t>пол. </a:t>
            </a:r>
            <a:r>
              <a:rPr lang="en-US" sz="2800" dirty="0"/>
              <a:t>XVIII </a:t>
            </a:r>
            <a:r>
              <a:rPr lang="ru-RU" sz="2800" dirty="0"/>
              <a:t>века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52423" y="1196752"/>
            <a:ext cx="10644996" cy="403244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b="1" dirty="0"/>
              <a:t>Система управления</a:t>
            </a:r>
          </a:p>
          <a:p>
            <a:pPr algn="ctr">
              <a:buNone/>
            </a:pPr>
            <a:r>
              <a:rPr lang="ru-RU" b="1" dirty="0"/>
              <a:t>(первые шаги к разделению властей)</a:t>
            </a:r>
          </a:p>
          <a:p>
            <a:r>
              <a:rPr lang="ru-RU" sz="2800" dirty="0"/>
              <a:t>Попытка созвать Уложенную комиссию (1767 г.)</a:t>
            </a:r>
          </a:p>
          <a:p>
            <a:r>
              <a:rPr lang="ru-RU" sz="2800" dirty="0"/>
              <a:t>Превращение Сената в высший суд по уголовным и административным делам.</a:t>
            </a:r>
          </a:p>
          <a:p>
            <a:r>
              <a:rPr lang="ru-RU" sz="2800" dirty="0"/>
              <a:t>Губернская реформа с выделением административных, финансовых и судебных органов</a:t>
            </a:r>
            <a:r>
              <a:rPr lang="ru-RU" dirty="0"/>
              <a:t>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2639616" y="5229200"/>
            <a:ext cx="7056784" cy="115212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prstClr val="black"/>
                </a:solidFill>
                <a:latin typeface="Palatino Linotype"/>
              </a:rPr>
              <a:t>В реальности главным принципом в управлении стал фаворитизм.</a:t>
            </a:r>
          </a:p>
        </p:txBody>
      </p:sp>
    </p:spTree>
    <p:extLst>
      <p:ext uri="{BB962C8B-B14F-4D97-AF65-F5344CB8AC3E}">
        <p14:creationId xmlns:p14="http://schemas.microsoft.com/office/powerpoint/2010/main" val="3569738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rgbClr val="2F5897"/>
                </a:solidFill>
              </a:rPr>
              <a:t>Модернизация </a:t>
            </a:r>
            <a:r>
              <a:rPr lang="en-US" sz="2800" dirty="0">
                <a:solidFill>
                  <a:srgbClr val="2F5897"/>
                </a:solidFill>
              </a:rPr>
              <a:t>II </a:t>
            </a:r>
            <a:r>
              <a:rPr lang="ru-RU" sz="2800" dirty="0">
                <a:solidFill>
                  <a:srgbClr val="2F5897"/>
                </a:solidFill>
              </a:rPr>
              <a:t>пол. </a:t>
            </a:r>
            <a:r>
              <a:rPr lang="en-US" sz="2800" dirty="0">
                <a:solidFill>
                  <a:srgbClr val="2F5897"/>
                </a:solidFill>
              </a:rPr>
              <a:t>XVIII </a:t>
            </a:r>
            <a:r>
              <a:rPr lang="ru-RU" sz="2800" dirty="0">
                <a:solidFill>
                  <a:srgbClr val="2F5897"/>
                </a:solidFill>
              </a:rPr>
              <a:t>века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10883" y="1124744"/>
            <a:ext cx="10550105" cy="547260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2800" b="1" dirty="0"/>
              <a:t>Экономическая политика</a:t>
            </a:r>
          </a:p>
          <a:p>
            <a:r>
              <a:rPr lang="ru-RU" sz="2800" dirty="0"/>
              <a:t>С/Х: генеральное межевание с фиксацией прав на земельную собственность.</a:t>
            </a:r>
          </a:p>
          <a:p>
            <a:r>
              <a:rPr lang="ru-RU" sz="2800" dirty="0"/>
              <a:t>Создание «Вольного экономического общества» для поощрения новаций в земледелии. </a:t>
            </a:r>
          </a:p>
          <a:p>
            <a:r>
              <a:rPr lang="ru-RU" sz="2800" dirty="0"/>
              <a:t>Промышленность: закрепление привилегий дворянских и купеческих мануфактур.</a:t>
            </a:r>
          </a:p>
          <a:p>
            <a:r>
              <a:rPr lang="ru-RU" sz="2800" dirty="0"/>
              <a:t>Торговля: протекционизм.</a:t>
            </a:r>
          </a:p>
          <a:p>
            <a:r>
              <a:rPr lang="ru-RU" sz="2800" dirty="0"/>
              <a:t>Финансы: введение в оборот ассигнаций.</a:t>
            </a:r>
          </a:p>
        </p:txBody>
      </p:sp>
    </p:spTree>
    <p:extLst>
      <p:ext uri="{BB962C8B-B14F-4D97-AF65-F5344CB8AC3E}">
        <p14:creationId xmlns:p14="http://schemas.microsoft.com/office/powerpoint/2010/main" val="3839976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8229600" cy="10081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2F5897"/>
                </a:solidFill>
              </a:rPr>
              <a:t>Модернизация </a:t>
            </a:r>
            <a:r>
              <a:rPr lang="en-US" sz="2800" dirty="0">
                <a:solidFill>
                  <a:srgbClr val="2F5897"/>
                </a:solidFill>
              </a:rPr>
              <a:t>II </a:t>
            </a:r>
            <a:r>
              <a:rPr lang="ru-RU" sz="2800" dirty="0">
                <a:solidFill>
                  <a:srgbClr val="2F5897"/>
                </a:solidFill>
              </a:rPr>
              <a:t>пол. </a:t>
            </a:r>
            <a:r>
              <a:rPr lang="en-US" sz="2800" dirty="0">
                <a:solidFill>
                  <a:srgbClr val="2F5897"/>
                </a:solidFill>
              </a:rPr>
              <a:t>XVIII </a:t>
            </a:r>
            <a:r>
              <a:rPr lang="ru-RU" sz="2800" dirty="0">
                <a:solidFill>
                  <a:srgbClr val="2F5897"/>
                </a:solidFill>
              </a:rPr>
              <a:t>века</a:t>
            </a:r>
            <a:br>
              <a:rPr lang="ru-RU" sz="2800" dirty="0">
                <a:solidFill>
                  <a:srgbClr val="2F5897"/>
                </a:solidFill>
              </a:rPr>
            </a:br>
            <a:r>
              <a:rPr lang="ru-RU" sz="2800" dirty="0"/>
              <a:t>Внутренняя (сословная) политика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2495600" y="1556792"/>
            <a:ext cx="2304256" cy="360040"/>
          </a:xfrm>
        </p:spPr>
        <p:txBody>
          <a:bodyPr>
            <a:noAutofit/>
          </a:bodyPr>
          <a:lstStyle/>
          <a:p>
            <a:pPr algn="ctr"/>
            <a:r>
              <a:rPr lang="ru-RU" sz="2000" dirty="0"/>
              <a:t>Модернизация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672064" y="1484784"/>
            <a:ext cx="2664296" cy="360040"/>
          </a:xfrm>
        </p:spPr>
        <p:txBody>
          <a:bodyPr>
            <a:noAutofit/>
          </a:bodyPr>
          <a:lstStyle/>
          <a:p>
            <a:pPr algn="ctr"/>
            <a:r>
              <a:rPr lang="ru-RU" sz="1800" dirty="0"/>
              <a:t>Архаизация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1991544" y="2132856"/>
            <a:ext cx="3931920" cy="3366864"/>
          </a:xfrm>
        </p:spPr>
        <p:txBody>
          <a:bodyPr>
            <a:normAutofit/>
          </a:bodyPr>
          <a:lstStyle/>
          <a:p>
            <a:r>
              <a:rPr lang="ru-RU" dirty="0"/>
              <a:t>Указ о вольности дворянства (1762).</a:t>
            </a:r>
          </a:p>
          <a:p>
            <a:r>
              <a:rPr lang="ru-RU" dirty="0"/>
              <a:t>Городская реформа с созданием «шестигласной думы» (1785).</a:t>
            </a:r>
          </a:p>
          <a:p>
            <a:r>
              <a:rPr lang="ru-RU" dirty="0"/>
              <a:t>Секуляризация церковных земель.</a:t>
            </a:r>
          </a:p>
          <a:p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4"/>
          </p:nvPr>
        </p:nvSpPr>
        <p:spPr>
          <a:xfrm>
            <a:off x="6312024" y="2060848"/>
            <a:ext cx="3931920" cy="374441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Раздача государственных земель дворянам.</a:t>
            </a:r>
          </a:p>
          <a:p>
            <a:r>
              <a:rPr lang="ru-RU" dirty="0"/>
              <a:t>Закрепощение крестьян Поволжья и Украины. </a:t>
            </a:r>
          </a:p>
          <a:p>
            <a:r>
              <a:rPr lang="ru-RU" dirty="0"/>
              <a:t>Подтверждение права собственности на «приписных крестьян»</a:t>
            </a:r>
          </a:p>
          <a:p>
            <a:r>
              <a:rPr lang="ru-RU" dirty="0"/>
              <a:t>Запрет крестьянам жаловаться на помещиков.</a:t>
            </a:r>
          </a:p>
        </p:txBody>
      </p:sp>
    </p:spTree>
    <p:extLst>
      <p:ext uri="{BB962C8B-B14F-4D97-AF65-F5344CB8AC3E}">
        <p14:creationId xmlns:p14="http://schemas.microsoft.com/office/powerpoint/2010/main" val="3001858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44" y="260648"/>
            <a:ext cx="8229600" cy="882352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rgbClr val="2F5897"/>
                </a:solidFill>
              </a:rPr>
              <a:t>Модернизация </a:t>
            </a:r>
            <a:r>
              <a:rPr lang="en-US" sz="2800" dirty="0">
                <a:solidFill>
                  <a:srgbClr val="2F5897"/>
                </a:solidFill>
              </a:rPr>
              <a:t>II </a:t>
            </a:r>
            <a:r>
              <a:rPr lang="ru-RU" sz="2800" dirty="0">
                <a:solidFill>
                  <a:srgbClr val="2F5897"/>
                </a:solidFill>
              </a:rPr>
              <a:t>пол. </a:t>
            </a:r>
            <a:r>
              <a:rPr lang="en-US" sz="2800" dirty="0">
                <a:solidFill>
                  <a:srgbClr val="2F5897"/>
                </a:solidFill>
              </a:rPr>
              <a:t>XVIII </a:t>
            </a:r>
            <a:r>
              <a:rPr lang="ru-RU" sz="2800" dirty="0">
                <a:solidFill>
                  <a:srgbClr val="2F5897"/>
                </a:solidFill>
              </a:rPr>
              <a:t>века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981200" y="1268761"/>
            <a:ext cx="8229600" cy="485740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ru-RU" b="1" dirty="0"/>
              <a:t>Культурная политика </a:t>
            </a:r>
            <a:r>
              <a:rPr lang="ru-RU" dirty="0"/>
              <a:t>(вдохновитель И.И. Бецкой).</a:t>
            </a:r>
            <a:endParaRPr lang="ru-RU" b="1" dirty="0"/>
          </a:p>
          <a:p>
            <a:r>
              <a:rPr lang="ru-RU" dirty="0"/>
              <a:t>Создание системы начального и среднего образования в уездах и губерниях</a:t>
            </a:r>
          </a:p>
          <a:p>
            <a:r>
              <a:rPr lang="ru-RU" dirty="0"/>
              <a:t>Создание воспитательного дома.</a:t>
            </a:r>
          </a:p>
          <a:p>
            <a:r>
              <a:rPr lang="ru-RU" dirty="0"/>
              <a:t>Начало женского образования.</a:t>
            </a:r>
          </a:p>
          <a:p>
            <a:r>
              <a:rPr lang="ru-RU" dirty="0"/>
              <a:t>Создание Российской академии (Е.Р. Дашкова).</a:t>
            </a:r>
          </a:p>
          <a:p>
            <a:r>
              <a:rPr lang="ru-RU" dirty="0"/>
              <a:t>Приглашение иезуитов для воплощения образовательной политики в западных регионах.</a:t>
            </a:r>
          </a:p>
          <a:p>
            <a:r>
              <a:rPr lang="ru-RU" dirty="0"/>
              <a:t>Покровительство театрам.</a:t>
            </a:r>
          </a:p>
          <a:p>
            <a:r>
              <a:rPr lang="ru-RU" dirty="0"/>
              <a:t>Поощрение книгоиздания и журналистики (до 1789 г.)</a:t>
            </a:r>
          </a:p>
        </p:txBody>
      </p:sp>
    </p:spTree>
    <p:extLst>
      <p:ext uri="{BB962C8B-B14F-4D97-AF65-F5344CB8AC3E}">
        <p14:creationId xmlns:p14="http://schemas.microsoft.com/office/powerpoint/2010/main" val="4013392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79208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dirty="0"/>
              <a:t>Элементы инновационности в российской модернизации </a:t>
            </a:r>
            <a:r>
              <a:rPr lang="en-US" sz="2400" dirty="0"/>
              <a:t>II </a:t>
            </a:r>
            <a:r>
              <a:rPr lang="ru-RU" sz="2400" dirty="0"/>
              <a:t>пол. </a:t>
            </a:r>
            <a:r>
              <a:rPr lang="en-US" sz="2400" dirty="0"/>
              <a:t>XVIII </a:t>
            </a:r>
            <a:r>
              <a:rPr lang="ru-RU" sz="2400" dirty="0"/>
              <a:t>века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81200" y="1600201"/>
            <a:ext cx="5338936" cy="4525963"/>
          </a:xfrm>
        </p:spPr>
        <p:txBody>
          <a:bodyPr/>
          <a:lstStyle/>
          <a:p>
            <a:r>
              <a:rPr lang="ru-RU" dirty="0"/>
              <a:t>1765 – создание «Вольного экономического общества», первого элемента гражданского общества в стране.</a:t>
            </a:r>
          </a:p>
          <a:p>
            <a:r>
              <a:rPr lang="ru-RU" dirty="0"/>
              <a:t>1782 г. Е. Р. Дашкова назначена президентом Академии наук</a:t>
            </a:r>
          </a:p>
        </p:txBody>
      </p:sp>
      <p:pic>
        <p:nvPicPr>
          <p:cNvPr id="5122" name="Picture 2" descr="http://pbs.twimg.com/media/CejP5bZWwAA0-pX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1844824"/>
            <a:ext cx="247115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038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792088"/>
          </a:xfrm>
        </p:spPr>
        <p:txBody>
          <a:bodyPr/>
          <a:lstStyle/>
          <a:p>
            <a:r>
              <a:rPr lang="ru-RU" sz="3200" dirty="0"/>
              <a:t>Павел </a:t>
            </a:r>
            <a:r>
              <a:rPr lang="en-US" sz="3200" dirty="0"/>
              <a:t>I </a:t>
            </a:r>
            <a:r>
              <a:rPr lang="ru-RU" sz="3200" dirty="0"/>
              <a:t>и «модернизационая окрошка»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6544" y="1412776"/>
            <a:ext cx="7643004" cy="4824536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Отказ от признания важности всех институтов, </a:t>
            </a:r>
            <a:r>
              <a:rPr lang="ru-RU" dirty="0"/>
              <a:t>кроме одой – самодержавной власти («В России вельможа – тот с кем я говорю и только в то время, когда я с ним говорю»).</a:t>
            </a:r>
          </a:p>
          <a:p>
            <a:r>
              <a:rPr lang="ru-RU" b="1" dirty="0"/>
              <a:t>Закрепление институтов:</a:t>
            </a:r>
            <a:r>
              <a:rPr lang="ru-RU" dirty="0"/>
              <a:t> «Указ о престолонаследии и формирование законодательства о «царской фамилии».</a:t>
            </a:r>
          </a:p>
          <a:p>
            <a:r>
              <a:rPr lang="ru-RU" b="1" dirty="0"/>
              <a:t>Восстановление институций</a:t>
            </a:r>
            <a:r>
              <a:rPr lang="ru-RU" dirty="0"/>
              <a:t>: повторное создание тех коллегий, которые были упразднены Екатериной </a:t>
            </a:r>
            <a:r>
              <a:rPr lang="en-US" dirty="0"/>
              <a:t>II</a:t>
            </a:r>
            <a:r>
              <a:rPr lang="ru-RU" dirty="0"/>
              <a:t>.</a:t>
            </a:r>
          </a:p>
          <a:p>
            <a:r>
              <a:rPr lang="ru-RU" b="1" dirty="0"/>
              <a:t>Заимствование институтов: Введение свободы </a:t>
            </a:r>
            <a:r>
              <a:rPr lang="ru-RU" dirty="0"/>
              <a:t>вероисповедания в Польше и восстановление в правах старообрядцев.</a:t>
            </a:r>
          </a:p>
          <a:p>
            <a:r>
              <a:rPr lang="ru-RU" b="1" dirty="0"/>
              <a:t>Заимствование институтов и институций</a:t>
            </a:r>
            <a:r>
              <a:rPr lang="ru-RU" dirty="0"/>
              <a:t>: Павел – во главе мальтийского ордена.</a:t>
            </a:r>
          </a:p>
          <a:p>
            <a:r>
              <a:rPr lang="ru-RU" b="1" dirty="0"/>
              <a:t>Попытки создания новых институтов: </a:t>
            </a:r>
            <a:r>
              <a:rPr lang="ru-RU" dirty="0"/>
              <a:t>Указ о «трехдневной барщине» и запрет на продажу крестьян без земли.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36AA026-2A42-F5E7-96C1-BD1FD72E9D13}"/>
              </a:ext>
            </a:extLst>
          </p:cNvPr>
          <p:cNvSpPr/>
          <p:nvPr/>
        </p:nvSpPr>
        <p:spPr>
          <a:xfrm>
            <a:off x="8997351" y="1397479"/>
            <a:ext cx="2820838" cy="485667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Институты – комплексы норм поведения, действующие в обществе данного </a:t>
            </a:r>
            <a:r>
              <a:rPr lang="ru-RU" dirty="0" err="1"/>
              <a:t>хронотопа</a:t>
            </a:r>
            <a:r>
              <a:rPr lang="ru-RU" dirty="0"/>
              <a:t> в виде норм, правил, традиций, обрядов и ритуалов.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Институции – формализованные объединения людей в рамках того или иного </a:t>
            </a:r>
            <a:r>
              <a:rPr lang="ru-RU" dirty="0" err="1"/>
              <a:t>иснтитута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3633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sz="4000" dirty="0"/>
              <a:t>Павел I и «</a:t>
            </a:r>
            <a:r>
              <a:rPr lang="ru-RU" sz="4000" dirty="0" err="1"/>
              <a:t>модернизационая</a:t>
            </a:r>
            <a:r>
              <a:rPr lang="ru-RU" sz="4000" dirty="0"/>
              <a:t> окрошка»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/>
              <a:t>Больше свободы и прав:</a:t>
            </a:r>
          </a:p>
          <a:p>
            <a:r>
              <a:rPr lang="ru-RU" dirty="0"/>
              <a:t>Указ о «трехдневной барщине» и запрет на продажу крестьян без земли.</a:t>
            </a:r>
          </a:p>
          <a:p>
            <a:r>
              <a:rPr lang="ru-RU" dirty="0"/>
              <a:t>Предоставление права купцам выбирать из свое среды советников в «коммерц-коллегию».</a:t>
            </a:r>
          </a:p>
          <a:p>
            <a:r>
              <a:rPr lang="ru-RU" dirty="0"/>
              <a:t>Предоставление возможности эмигрантам из Франции поселиться в России.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6CAE60-85A4-4E5B-6DF7-D9A3E628BE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/>
              <a:t>Меньше свободы и прав:</a:t>
            </a:r>
            <a:endParaRPr lang="ru-RU" dirty="0"/>
          </a:p>
          <a:p>
            <a:r>
              <a:rPr lang="ru-RU" dirty="0"/>
              <a:t>Запрет на доставку книг и журналов из-за границы.</a:t>
            </a:r>
          </a:p>
          <a:p>
            <a:r>
              <a:rPr lang="ru-RU" dirty="0"/>
              <a:t>Возвращение всех дворян на службу из отпусков.</a:t>
            </a:r>
          </a:p>
          <a:p>
            <a:r>
              <a:rPr lang="ru-RU" dirty="0"/>
              <a:t>Лишение дворянства большей части привилегий по самоуправлению и сохранению личной свободы; восстановление телесных наказаний для дворянства.</a:t>
            </a:r>
          </a:p>
          <a:p>
            <a:r>
              <a:rPr lang="ru-RU" dirty="0"/>
              <a:t>Запрет на ношение «круглых шляп».</a:t>
            </a:r>
          </a:p>
          <a:p>
            <a:r>
              <a:rPr lang="ru-RU" dirty="0"/>
              <a:t>Введение в армии формы по прусскому образцу.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005343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3248</Words>
  <Application>Microsoft Office PowerPoint</Application>
  <PresentationFormat>Широкоэкранный</PresentationFormat>
  <Paragraphs>226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Century Gothic</vt:lpstr>
      <vt:lpstr>Courier New</vt:lpstr>
      <vt:lpstr>Palatino Linotype</vt:lpstr>
      <vt:lpstr>Тема Office</vt:lpstr>
      <vt:lpstr>Исполнительная</vt:lpstr>
      <vt:lpstr>История России</vt:lpstr>
      <vt:lpstr>При обострении борьбы за власть в высших слоях правящей элиты может поникнуть потребность в дополнительной легитимации прав на управление, для одной из противоборствующих сторон. Тогда возникает «окно возможностей», для тех, кто не входить в элиту.</vt:lpstr>
      <vt:lpstr>Что дает «окно возможностей»:</vt:lpstr>
      <vt:lpstr>Историческое содержание «окна возможности»: формирование нескольких «вариантов будущего» («парадигм развития», один из которых определит направления изменений в стране (ее политике, экономике, культуре). </vt:lpstr>
      <vt:lpstr>Модернизационная пауза второй половины 1720-х гг.</vt:lpstr>
      <vt:lpstr> </vt:lpstr>
      <vt:lpstr>Фавориты второй четверти XVIII в.</vt:lpstr>
      <vt:lpstr>Окно возможностей 1730 г. Призвание на престол Анны Иоановны с выдвижением «Кондиций».</vt:lpstr>
      <vt:lpstr>Два варианта управления, предложенные Анне</vt:lpstr>
      <vt:lpstr>Итог: «окно возможностей» закрывается 25 февраля</vt:lpstr>
      <vt:lpstr>Знаковые события 1830-х гг.</vt:lpstr>
      <vt:lpstr>Попытка преобразований вне «окна возможностей»</vt:lpstr>
      <vt:lpstr>Институционный тупик: переворот не может стать институтом, но без переворот смена власти не происходит</vt:lpstr>
      <vt:lpstr>Письмо Алексея Орлова Екатерине II</vt:lpstr>
      <vt:lpstr>Зависимость от гвардии в при трансфере власти. Проблемы:</vt:lpstr>
      <vt:lpstr>Предложения по модернизации государственного управления</vt:lpstr>
      <vt:lpstr>Уложенная комиссия, как инструмент «окна возможностей»</vt:lpstr>
      <vt:lpstr>Наказ уложенной комиссии </vt:lpstr>
      <vt:lpstr>Просвещенный абсолютизм: теория (1)</vt:lpstr>
      <vt:lpstr>Просвещенный абсолютизм: теория (2)</vt:lpstr>
      <vt:lpstr>Просвещенный абсолютизм в России</vt:lpstr>
      <vt:lpstr>Модернизация II пол. XVIII века</vt:lpstr>
      <vt:lpstr>Модернизация II пол. XVIII века</vt:lpstr>
      <vt:lpstr>Модернизация II пол. XVIII века Внутренняя (сословная) политика</vt:lpstr>
      <vt:lpstr>Модернизация II пол. XVIII века</vt:lpstr>
      <vt:lpstr>Элементы инновационности в российской модернизации II пол. XVIII века </vt:lpstr>
      <vt:lpstr>Павел I и «модернизационая окрошка»</vt:lpstr>
      <vt:lpstr>Павел I и «модернизационая окрошка»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Соловьев</dc:creator>
  <cp:lastModifiedBy>Константин Соловьев</cp:lastModifiedBy>
  <cp:revision>13</cp:revision>
  <dcterms:created xsi:type="dcterms:W3CDTF">2023-08-21T12:36:28Z</dcterms:created>
  <dcterms:modified xsi:type="dcterms:W3CDTF">2023-08-31T13:02:33Z</dcterms:modified>
</cp:coreProperties>
</file>