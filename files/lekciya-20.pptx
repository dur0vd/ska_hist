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5" r:id="rId14"/>
    <p:sldId id="272" r:id="rId15"/>
    <p:sldId id="270" r:id="rId16"/>
    <p:sldId id="273" r:id="rId17"/>
    <p:sldId id="274" r:id="rId18"/>
    <p:sldId id="269" r:id="rId19"/>
    <p:sldId id="275" r:id="rId20"/>
    <p:sldId id="276" r:id="rId21"/>
    <p:sldId id="281" r:id="rId22"/>
    <p:sldId id="277" r:id="rId23"/>
    <p:sldId id="278" r:id="rId24"/>
    <p:sldId id="282" r:id="rId25"/>
    <p:sldId id="279" r:id="rId26"/>
    <p:sldId id="271" r:id="rId27"/>
    <p:sldId id="283" r:id="rId28"/>
    <p:sldId id="280" r:id="rId2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E4A87-ECF6-4CEC-A5AF-B946ACFBE3AB}" type="doc">
      <dgm:prSet loTypeId="urn:microsoft.com/office/officeart/2005/8/layout/arrow5" loCatId="process" qsTypeId="urn:microsoft.com/office/officeart/2005/8/quickstyle/simple1" qsCatId="simple" csTypeId="urn:microsoft.com/office/officeart/2005/8/colors/accent1_2" csCatId="accent1" phldr="1"/>
      <dgm:spPr/>
      <dgm:t>
        <a:bodyPr/>
        <a:lstStyle/>
        <a:p>
          <a:endParaRPr lang="ru-RU"/>
        </a:p>
      </dgm:t>
    </dgm:pt>
    <dgm:pt modelId="{6F347FA5-B9C6-431A-BC25-28DCC9ED7EDC}">
      <dgm:prSet phldrT="[Текст]">
        <dgm:style>
          <a:lnRef idx="1">
            <a:schemeClr val="dk1"/>
          </a:lnRef>
          <a:fillRef idx="2">
            <a:schemeClr val="dk1"/>
          </a:fillRef>
          <a:effectRef idx="1">
            <a:schemeClr val="dk1"/>
          </a:effectRef>
          <a:fontRef idx="minor">
            <a:schemeClr val="dk1"/>
          </a:fontRef>
        </dgm:style>
      </dgm:prSet>
      <dgm:spPr/>
      <dgm:t>
        <a:bodyPr/>
        <a:lstStyle/>
        <a:p>
          <a:r>
            <a:rPr lang="ru-RU" dirty="0"/>
            <a:t>Принцип «единства законов» требует унификации всех институтов управления</a:t>
          </a:r>
        </a:p>
      </dgm:t>
    </dgm:pt>
    <dgm:pt modelId="{F5F933F6-1F66-4E45-9B65-9079CB8B71D8}" type="parTrans" cxnId="{60C20D15-8790-4CAD-A3A0-AF2ED591408F}">
      <dgm:prSet/>
      <dgm:spPr/>
      <dgm:t>
        <a:bodyPr/>
        <a:lstStyle/>
        <a:p>
          <a:endParaRPr lang="ru-RU"/>
        </a:p>
      </dgm:t>
    </dgm:pt>
    <dgm:pt modelId="{C58AB3B5-365B-4E9C-97BA-A865F3E22A60}" type="sibTrans" cxnId="{60C20D15-8790-4CAD-A3A0-AF2ED591408F}">
      <dgm:prSet/>
      <dgm:spPr/>
      <dgm:t>
        <a:bodyPr/>
        <a:lstStyle/>
        <a:p>
          <a:endParaRPr lang="ru-RU"/>
        </a:p>
      </dgm:t>
    </dgm:pt>
    <dgm:pt modelId="{48D63B1E-61A4-44CF-8232-0F46C3A9D092}">
      <dgm:prSet phldrT="[Текст]">
        <dgm:style>
          <a:lnRef idx="1">
            <a:schemeClr val="accent1"/>
          </a:lnRef>
          <a:fillRef idx="2">
            <a:schemeClr val="accent1"/>
          </a:fillRef>
          <a:effectRef idx="1">
            <a:schemeClr val="accent1"/>
          </a:effectRef>
          <a:fontRef idx="minor">
            <a:schemeClr val="dk1"/>
          </a:fontRef>
        </dgm:style>
      </dgm:prSet>
      <dgm:spPr/>
      <dgm:t>
        <a:bodyPr/>
        <a:lstStyle/>
        <a:p>
          <a:r>
            <a:rPr lang="ru-RU" dirty="0"/>
            <a:t>Ментальное, экономическое и социальное разнообразие народов империи столь велико, что утверждение единообразия в управление ведет к нарастанию </a:t>
          </a:r>
          <a:r>
            <a:rPr lang="ru-RU"/>
            <a:t>этноконфессиональных</a:t>
          </a:r>
          <a:r>
            <a:rPr lang="ru-RU" dirty="0"/>
            <a:t> конфликтов. </a:t>
          </a:r>
        </a:p>
      </dgm:t>
    </dgm:pt>
    <dgm:pt modelId="{71FEE243-47A6-4B6F-AE5C-455AE7A7FB6E}" type="parTrans" cxnId="{FCFDB59A-B445-4723-A008-876FB108B4DD}">
      <dgm:prSet/>
      <dgm:spPr/>
      <dgm:t>
        <a:bodyPr/>
        <a:lstStyle/>
        <a:p>
          <a:endParaRPr lang="ru-RU"/>
        </a:p>
      </dgm:t>
    </dgm:pt>
    <dgm:pt modelId="{2E23E409-9364-4809-B303-3266764646F4}" type="sibTrans" cxnId="{FCFDB59A-B445-4723-A008-876FB108B4DD}">
      <dgm:prSet/>
      <dgm:spPr/>
      <dgm:t>
        <a:bodyPr/>
        <a:lstStyle/>
        <a:p>
          <a:endParaRPr lang="ru-RU"/>
        </a:p>
      </dgm:t>
    </dgm:pt>
    <dgm:pt modelId="{BB7D19FD-6273-4ED5-9E54-C3A1B6CBC655}" type="pres">
      <dgm:prSet presAssocID="{998E4A87-ECF6-4CEC-A5AF-B946ACFBE3AB}" presName="diagram" presStyleCnt="0">
        <dgm:presLayoutVars>
          <dgm:dir/>
          <dgm:resizeHandles val="exact"/>
        </dgm:presLayoutVars>
      </dgm:prSet>
      <dgm:spPr/>
    </dgm:pt>
    <dgm:pt modelId="{182EDED9-C169-4DF8-A4F1-386E8C8ADE6A}" type="pres">
      <dgm:prSet presAssocID="{6F347FA5-B9C6-431A-BC25-28DCC9ED7EDC}" presName="arrow" presStyleLbl="node1" presStyleIdx="0" presStyleCnt="2">
        <dgm:presLayoutVars>
          <dgm:bulletEnabled val="1"/>
        </dgm:presLayoutVars>
      </dgm:prSet>
      <dgm:spPr/>
    </dgm:pt>
    <dgm:pt modelId="{4FD94E5C-7C84-4469-AA1D-F9094221704C}" type="pres">
      <dgm:prSet presAssocID="{48D63B1E-61A4-44CF-8232-0F46C3A9D092}" presName="arrow" presStyleLbl="node1" presStyleIdx="1" presStyleCnt="2">
        <dgm:presLayoutVars>
          <dgm:bulletEnabled val="1"/>
        </dgm:presLayoutVars>
      </dgm:prSet>
      <dgm:spPr/>
    </dgm:pt>
  </dgm:ptLst>
  <dgm:cxnLst>
    <dgm:cxn modelId="{60C20D15-8790-4CAD-A3A0-AF2ED591408F}" srcId="{998E4A87-ECF6-4CEC-A5AF-B946ACFBE3AB}" destId="{6F347FA5-B9C6-431A-BC25-28DCC9ED7EDC}" srcOrd="0" destOrd="0" parTransId="{F5F933F6-1F66-4E45-9B65-9079CB8B71D8}" sibTransId="{C58AB3B5-365B-4E9C-97BA-A865F3E22A60}"/>
    <dgm:cxn modelId="{1EB3188B-A11D-4122-AF7D-C5442BC298BF}" type="presOf" srcId="{48D63B1E-61A4-44CF-8232-0F46C3A9D092}" destId="{4FD94E5C-7C84-4469-AA1D-F9094221704C}" srcOrd="0" destOrd="0" presId="urn:microsoft.com/office/officeart/2005/8/layout/arrow5"/>
    <dgm:cxn modelId="{2C729D92-A185-45E0-9CB4-DEC2970283E9}" type="presOf" srcId="{998E4A87-ECF6-4CEC-A5AF-B946ACFBE3AB}" destId="{BB7D19FD-6273-4ED5-9E54-C3A1B6CBC655}" srcOrd="0" destOrd="0" presId="urn:microsoft.com/office/officeart/2005/8/layout/arrow5"/>
    <dgm:cxn modelId="{FCFDB59A-B445-4723-A008-876FB108B4DD}" srcId="{998E4A87-ECF6-4CEC-A5AF-B946ACFBE3AB}" destId="{48D63B1E-61A4-44CF-8232-0F46C3A9D092}" srcOrd="1" destOrd="0" parTransId="{71FEE243-47A6-4B6F-AE5C-455AE7A7FB6E}" sibTransId="{2E23E409-9364-4809-B303-3266764646F4}"/>
    <dgm:cxn modelId="{488B75CC-4011-45E4-8200-A123BA08EC3A}" type="presOf" srcId="{6F347FA5-B9C6-431A-BC25-28DCC9ED7EDC}" destId="{182EDED9-C169-4DF8-A4F1-386E8C8ADE6A}" srcOrd="0" destOrd="0" presId="urn:microsoft.com/office/officeart/2005/8/layout/arrow5"/>
    <dgm:cxn modelId="{5240D6B5-CC04-4F94-91D1-DB6A4FDA2494}" type="presParOf" srcId="{BB7D19FD-6273-4ED5-9E54-C3A1B6CBC655}" destId="{182EDED9-C169-4DF8-A4F1-386E8C8ADE6A}" srcOrd="0" destOrd="0" presId="urn:microsoft.com/office/officeart/2005/8/layout/arrow5"/>
    <dgm:cxn modelId="{B5E8F7A1-97C3-4E55-9E3D-4FB48FBA08AB}" type="presParOf" srcId="{BB7D19FD-6273-4ED5-9E54-C3A1B6CBC655}" destId="{4FD94E5C-7C84-4469-AA1D-F9094221704C}"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EDED9-C169-4DF8-A4F1-386E8C8ADE6A}">
      <dsp:nvSpPr>
        <dsp:cNvPr id="0" name=""/>
        <dsp:cNvSpPr/>
      </dsp:nvSpPr>
      <dsp:spPr>
        <a:xfrm rot="16200000">
          <a:off x="811" y="99863"/>
          <a:ext cx="4010322" cy="4010322"/>
        </a:xfrm>
        <a:prstGeom prst="downArrow">
          <a:avLst>
            <a:gd name="adj1" fmla="val 50000"/>
            <a:gd name="adj2" fmla="val 35000"/>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ru-RU" sz="1500" kern="1200" dirty="0"/>
            <a:t>Принцип «единства законов» требует унификации всех институтов управления</a:t>
          </a:r>
        </a:p>
      </dsp:txBody>
      <dsp:txXfrm rot="5400000">
        <a:off x="812" y="1102443"/>
        <a:ext cx="3308516" cy="2005161"/>
      </dsp:txXfrm>
    </dsp:sp>
    <dsp:sp modelId="{4FD94E5C-7C84-4469-AA1D-F9094221704C}">
      <dsp:nvSpPr>
        <dsp:cNvPr id="0" name=""/>
        <dsp:cNvSpPr/>
      </dsp:nvSpPr>
      <dsp:spPr>
        <a:xfrm rot="5400000">
          <a:off x="4218465" y="99863"/>
          <a:ext cx="4010322" cy="4010322"/>
        </a:xfrm>
        <a:prstGeom prst="downArrow">
          <a:avLst>
            <a:gd name="adj1" fmla="val 50000"/>
            <a:gd name="adj2" fmla="val 35000"/>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ru-RU" sz="1500" kern="1200" dirty="0"/>
            <a:t>Ментальное, экономическое и социальное разнообразие народов империи столь велико, что утверждение единообразия в управление ведет к нарастанию </a:t>
          </a:r>
          <a:r>
            <a:rPr lang="ru-RU" sz="1500" kern="1200"/>
            <a:t>этноконфессиональных</a:t>
          </a:r>
          <a:r>
            <a:rPr lang="ru-RU" sz="1500" kern="1200" dirty="0"/>
            <a:t> конфликтов. </a:t>
          </a:r>
        </a:p>
      </dsp:txBody>
      <dsp:txXfrm rot="-5400000">
        <a:off x="4920272" y="1102444"/>
        <a:ext cx="3308516" cy="2005161"/>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ru-RU"/>
              <a:t>Образец заголовка</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7" name="Date Placeholder 6"/>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8" name="Slide Number Placeholder 7"/>
          <p:cNvSpPr>
            <a:spLocks noGrp="1"/>
          </p:cNvSpPr>
          <p:nvPr>
            <p:ph type="sldNum" sz="quarter" idx="11"/>
          </p:nvPr>
        </p:nvSpPr>
        <p:spPr/>
        <p:txBody>
          <a:bodyPr/>
          <a:lstStyle/>
          <a:p>
            <a:fld id="{86466135-D91F-4B65-B0DD-5E1767C03E7F}" type="slidenum">
              <a:rPr lang="ru-RU" smtClean="0"/>
              <a:t>‹#›</a:t>
            </a:fld>
            <a:endParaRPr lang="ru-RU" dirty="0"/>
          </a:p>
        </p:txBody>
      </p:sp>
      <p:sp>
        <p:nvSpPr>
          <p:cNvPr id="9" name="Footer Placeholder 8"/>
          <p:cNvSpPr>
            <a:spLocks noGrp="1"/>
          </p:cNvSpPr>
          <p:nvPr>
            <p:ph type="ftr" sz="quarter" idx="12"/>
          </p:nvPr>
        </p:nvSpPr>
        <p:spPr/>
        <p:txBody>
          <a:bodyPr/>
          <a:lstStyle/>
          <a:p>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ru-RU"/>
              <a:t>Образец заголовка</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86466135-D91F-4B65-B0DD-5E1767C03E7F}" type="slidenum">
              <a:rPr lang="ru-RU" smtClean="0"/>
              <a:t>‹#›</a:t>
            </a:fld>
            <a:endParaRPr lang="ru-RU"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86466135-D91F-4B65-B0DD-5E1767C03E7F}" type="slidenum">
              <a:rPr lang="ru-RU" smtClean="0"/>
              <a:t>‹#›</a:t>
            </a:fld>
            <a:endParaRPr lang="ru-RU" dirty="0"/>
          </a:p>
        </p:txBody>
      </p:sp>
      <p:sp>
        <p:nvSpPr>
          <p:cNvPr id="9" name="Content Placeholder 8"/>
          <p:cNvSpPr>
            <a:spLocks noGrp="1"/>
          </p:cNvSpPr>
          <p:nvPr>
            <p:ph sz="quarter" idx="13"/>
          </p:nvPr>
        </p:nvSpPr>
        <p:spPr>
          <a:xfrm>
            <a:off x="365760" y="1600200"/>
            <a:ext cx="4041648" cy="452628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7" name="Date Placeholder 6"/>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8" name="Footer Placeholder 7"/>
          <p:cNvSpPr>
            <a:spLocks noGrp="1"/>
          </p:cNvSpPr>
          <p:nvPr>
            <p:ph type="ftr" sz="quarter" idx="11"/>
          </p:nvPr>
        </p:nvSpPr>
        <p:spPr/>
        <p:txBody>
          <a:bodyPr/>
          <a:lstStyle/>
          <a:p>
            <a:endParaRPr lang="ru-RU" dirty="0"/>
          </a:p>
        </p:txBody>
      </p:sp>
      <p:sp>
        <p:nvSpPr>
          <p:cNvPr id="9" name="Slide Number Placeholder 8"/>
          <p:cNvSpPr>
            <a:spLocks noGrp="1"/>
          </p:cNvSpPr>
          <p:nvPr>
            <p:ph type="sldNum" sz="quarter" idx="12"/>
          </p:nvPr>
        </p:nvSpPr>
        <p:spPr/>
        <p:txBody>
          <a:bodyPr/>
          <a:lstStyle/>
          <a:p>
            <a:fld id="{86466135-D91F-4B65-B0DD-5E1767C03E7F}" type="slidenum">
              <a:rPr lang="ru-RU" smtClean="0"/>
              <a:t>‹#›</a:t>
            </a:fld>
            <a:endParaRPr lang="ru-RU" dirty="0"/>
          </a:p>
        </p:txBody>
      </p:sp>
      <p:sp>
        <p:nvSpPr>
          <p:cNvPr id="11" name="Content Placeholder 10"/>
          <p:cNvSpPr>
            <a:spLocks noGrp="1"/>
          </p:cNvSpPr>
          <p:nvPr>
            <p:ph sz="quarter" idx="13"/>
          </p:nvPr>
        </p:nvSpPr>
        <p:spPr>
          <a:xfrm>
            <a:off x="457200" y="2212848"/>
            <a:ext cx="4041648" cy="391363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4" name="Footer Placeholder 3"/>
          <p:cNvSpPr>
            <a:spLocks noGrp="1"/>
          </p:cNvSpPr>
          <p:nvPr>
            <p:ph type="ftr" sz="quarter" idx="11"/>
          </p:nvPr>
        </p:nvSpPr>
        <p:spPr/>
        <p:txBody>
          <a:bodyPr/>
          <a:lstStyle/>
          <a:p>
            <a:endParaRPr lang="ru-RU" dirty="0"/>
          </a:p>
        </p:txBody>
      </p:sp>
      <p:sp>
        <p:nvSpPr>
          <p:cNvPr id="5" name="Slide Number Placeholder 4"/>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3" name="Footer Placeholder 2"/>
          <p:cNvSpPr>
            <a:spLocks noGrp="1"/>
          </p:cNvSpPr>
          <p:nvPr>
            <p:ph type="ftr" sz="quarter" idx="11"/>
          </p:nvPr>
        </p:nvSpPr>
        <p:spPr/>
        <p:txBody>
          <a:bodyPr/>
          <a:lstStyle/>
          <a:p>
            <a:endParaRPr lang="ru-RU" dirty="0"/>
          </a:p>
        </p:txBody>
      </p:sp>
      <p:sp>
        <p:nvSpPr>
          <p:cNvPr id="4" name="Slide Number Placeholder 3"/>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ru-RU"/>
              <a:t>Образец заголовка</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ru-RU"/>
              <a:t>Образец заголовка</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dirty="0"/>
              <a:t>Вставка рисунка</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E76CB659-6554-46E9-A9B1-405B81705A79}" type="datetimeFigureOut">
              <a:rPr lang="ru-RU" smtClean="0"/>
              <a:t>24.08.2023</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86466135-D91F-4B65-B0DD-5E1767C03E7F}" type="slidenum">
              <a:rPr lang="ru-RU" smtClean="0"/>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ru-RU"/>
              <a:t>Образец заголовка</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E76CB659-6554-46E9-A9B1-405B81705A79}" type="datetimeFigureOut">
              <a:rPr lang="ru-RU" smtClean="0"/>
              <a:t>24.08.2023</a:t>
            </a:fld>
            <a:endParaRPr lang="ru-RU" dirty="0"/>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ru-RU" dirty="0"/>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86466135-D91F-4B65-B0DD-5E1767C03E7F}" type="slidenum">
              <a:rPr lang="ru-RU" smtClean="0"/>
              <a:t>‹#›</a:t>
            </a:fld>
            <a:endParaRPr lang="ru-RU"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609601"/>
            <a:ext cx="7772400" cy="2747391"/>
          </a:xfrm>
        </p:spPr>
        <p:txBody>
          <a:bodyPr/>
          <a:lstStyle/>
          <a:p>
            <a:r>
              <a:rPr lang="ru-RU" sz="4800" dirty="0"/>
              <a:t>История России</a:t>
            </a:r>
          </a:p>
        </p:txBody>
      </p:sp>
      <p:sp>
        <p:nvSpPr>
          <p:cNvPr id="3" name="Подзаголовок 2"/>
          <p:cNvSpPr>
            <a:spLocks noGrp="1"/>
          </p:cNvSpPr>
          <p:nvPr>
            <p:ph type="subTitle" idx="1"/>
          </p:nvPr>
        </p:nvSpPr>
        <p:spPr>
          <a:xfrm>
            <a:off x="1403648" y="3861048"/>
            <a:ext cx="6400800" cy="1435224"/>
          </a:xfrm>
        </p:spPr>
        <p:txBody>
          <a:bodyPr>
            <a:normAutofit fontScale="92500" lnSpcReduction="10000"/>
          </a:bodyPr>
          <a:lstStyle/>
          <a:p>
            <a:r>
              <a:rPr lang="ru-RU" dirty="0"/>
              <a:t>Лекция 18. </a:t>
            </a:r>
          </a:p>
          <a:p>
            <a:r>
              <a:rPr lang="ru-RU" dirty="0"/>
              <a:t>Становление государственной территории и этноконфессиональная политика в России XVI – XIX вв.</a:t>
            </a:r>
          </a:p>
        </p:txBody>
      </p:sp>
    </p:spTree>
    <p:extLst>
      <p:ext uri="{BB962C8B-B14F-4D97-AF65-F5344CB8AC3E}">
        <p14:creationId xmlns:p14="http://schemas.microsoft.com/office/powerpoint/2010/main" val="3984744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04664"/>
            <a:ext cx="8229600" cy="720080"/>
          </a:xfrm>
        </p:spPr>
        <p:txBody>
          <a:bodyPr/>
          <a:lstStyle/>
          <a:p>
            <a:r>
              <a:rPr lang="ru-RU" sz="3600" dirty="0"/>
              <a:t>Империя как тип государственности</a:t>
            </a:r>
          </a:p>
        </p:txBody>
      </p:sp>
      <p:sp>
        <p:nvSpPr>
          <p:cNvPr id="6" name="Текст 5"/>
          <p:cNvSpPr>
            <a:spLocks noGrp="1"/>
          </p:cNvSpPr>
          <p:nvPr>
            <p:ph type="body" idx="1"/>
          </p:nvPr>
        </p:nvSpPr>
        <p:spPr>
          <a:xfrm>
            <a:off x="611560" y="1340768"/>
            <a:ext cx="4040188" cy="1656184"/>
          </a:xfrm>
        </p:spPr>
        <p:txBody>
          <a:bodyPr/>
          <a:lstStyle/>
          <a:p>
            <a:pPr algn="l"/>
            <a:r>
              <a:rPr lang="ru-RU" sz="1600" dirty="0"/>
              <a:t>Территория, включающая несколько стран или народов, управляемая из одного центра, например, Британская империя, Российская империя и др.</a:t>
            </a:r>
          </a:p>
          <a:p>
            <a:pPr algn="r"/>
            <a:r>
              <a:rPr lang="ru-RU" sz="1600" dirty="0"/>
              <a:t>Словарь по географии. 2015.</a:t>
            </a:r>
          </a:p>
        </p:txBody>
      </p:sp>
      <p:sp>
        <p:nvSpPr>
          <p:cNvPr id="4" name="Объект 3"/>
          <p:cNvSpPr>
            <a:spLocks noGrp="1"/>
          </p:cNvSpPr>
          <p:nvPr>
            <p:ph sz="quarter" idx="13"/>
          </p:nvPr>
        </p:nvSpPr>
        <p:spPr>
          <a:xfrm>
            <a:off x="457200" y="3356992"/>
            <a:ext cx="4041648" cy="2769488"/>
          </a:xfrm>
        </p:spPr>
        <p:txBody>
          <a:bodyPr>
            <a:normAutofit/>
          </a:bodyPr>
          <a:lstStyle/>
          <a:p>
            <a:pPr marL="0" indent="0">
              <a:buNone/>
            </a:pPr>
            <a:r>
              <a:rPr lang="ru-RU" sz="1600" dirty="0"/>
              <a:t>…  слово "empire" стало обозначать группу государств, возникшую в результате колонизации или завоевания и подчиненную метрополии или имперскому государству, даже если оно превращалось в республику (как в случае с Францией и СССР). </a:t>
            </a:r>
          </a:p>
          <a:p>
            <a:pPr marL="0" indent="0" algn="r">
              <a:buNone/>
            </a:pPr>
            <a:r>
              <a:rPr lang="ru-RU" sz="1600" dirty="0"/>
              <a:t>Политика. Толковый словарь. — М.: </a:t>
            </a:r>
            <a:r>
              <a:rPr lang="en-US" sz="1600" dirty="0"/>
              <a:t>“</a:t>
            </a:r>
            <a:r>
              <a:rPr lang="ru-RU" sz="1600" dirty="0"/>
              <a:t>ИНФРА-М</a:t>
            </a:r>
            <a:r>
              <a:rPr lang="en-US" sz="1600" dirty="0"/>
              <a:t>”</a:t>
            </a:r>
            <a:r>
              <a:rPr lang="ru-RU" sz="1600" dirty="0"/>
              <a:t> 2001.</a:t>
            </a:r>
          </a:p>
        </p:txBody>
      </p:sp>
      <p:sp>
        <p:nvSpPr>
          <p:cNvPr id="5" name="Объект 4"/>
          <p:cNvSpPr>
            <a:spLocks noGrp="1"/>
          </p:cNvSpPr>
          <p:nvPr>
            <p:ph sz="quarter" idx="14"/>
          </p:nvPr>
        </p:nvSpPr>
        <p:spPr>
          <a:xfrm>
            <a:off x="4672584" y="1268760"/>
            <a:ext cx="4041648" cy="4857275"/>
          </a:xfrm>
        </p:spPr>
        <p:txBody>
          <a:bodyPr>
            <a:normAutofit/>
          </a:bodyPr>
          <a:lstStyle/>
          <a:p>
            <a:pPr marL="0" indent="0">
              <a:buNone/>
            </a:pPr>
            <a:r>
              <a:rPr lang="ru-RU" b="1" dirty="0"/>
              <a:t> </a:t>
            </a:r>
            <a:r>
              <a:rPr lang="ru-RU" sz="1600" b="1" dirty="0"/>
              <a:t>ИМПЕРИЯ </a:t>
            </a:r>
            <a:r>
              <a:rPr lang="ru-RU" sz="1600" dirty="0"/>
              <a:t>(от лат. Imperium — империя) — сложное государственное образование (сверхгосударство), унитарное объединение разнородных частей с имперским центром, страной-метрополией, создающей империю и управляющей ею и ее составными частями, находящимися на разной стадии формирования собственной государственности и подчиненных метрополии. </a:t>
            </a:r>
          </a:p>
          <a:p>
            <a:pPr marL="0" indent="0" algn="r">
              <a:buNone/>
            </a:pPr>
            <a:r>
              <a:rPr lang="ru-RU" sz="1600" dirty="0"/>
              <a:t>Новая философская энциклопедия: В 4 тт. М.: Мысль. </a:t>
            </a:r>
          </a:p>
          <a:p>
            <a:pPr marL="0" indent="0" algn="r">
              <a:buNone/>
            </a:pPr>
            <a:r>
              <a:rPr lang="ru-RU" sz="1600" dirty="0"/>
              <a:t>Под редакцией В. С. Стёпина. 2001.</a:t>
            </a:r>
          </a:p>
        </p:txBody>
      </p:sp>
    </p:spTree>
    <p:extLst>
      <p:ext uri="{BB962C8B-B14F-4D97-AF65-F5344CB8AC3E}">
        <p14:creationId xmlns:p14="http://schemas.microsoft.com/office/powerpoint/2010/main" val="1135918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1080120"/>
          </a:xfrm>
        </p:spPr>
        <p:txBody>
          <a:bodyPr/>
          <a:lstStyle/>
          <a:p>
            <a:pPr>
              <a:lnSpc>
                <a:spcPct val="100000"/>
              </a:lnSpc>
            </a:pPr>
            <a:r>
              <a:rPr lang="ru-RU" sz="3200" dirty="0"/>
              <a:t>Начало преобразования Московского княжества в «государство государств»</a:t>
            </a:r>
          </a:p>
        </p:txBody>
      </p:sp>
      <p:sp>
        <p:nvSpPr>
          <p:cNvPr id="3" name="Объект 2"/>
          <p:cNvSpPr>
            <a:spLocks noGrp="1"/>
          </p:cNvSpPr>
          <p:nvPr>
            <p:ph idx="1"/>
          </p:nvPr>
        </p:nvSpPr>
        <p:spPr/>
        <p:txBody>
          <a:bodyPr>
            <a:normAutofit fontScale="92500"/>
          </a:bodyPr>
          <a:lstStyle/>
          <a:p>
            <a:r>
              <a:rPr lang="ru-RU" dirty="0"/>
              <a:t>1470-е гг.: включение в состав «великого княжения Владимирского и Московского», Ярославского и Ростовского княжеств, Новгородской земли.</a:t>
            </a:r>
          </a:p>
          <a:p>
            <a:r>
              <a:rPr lang="ru-RU" dirty="0"/>
              <a:t>1480-е гг.: ликвидация Тверского великого княжения, Белозерского княжества и подчинение Вятки.</a:t>
            </a:r>
          </a:p>
          <a:p>
            <a:r>
              <a:rPr lang="ru-RU" dirty="0"/>
              <a:t>1499-1500 гг.: завоевание Югры.</a:t>
            </a:r>
          </a:p>
          <a:p>
            <a:r>
              <a:rPr lang="ru-RU" dirty="0"/>
              <a:t>1500-е гг.: захват 19 городов, входивших в состав Великого княжества Литовского.</a:t>
            </a:r>
          </a:p>
          <a:p>
            <a:r>
              <a:rPr lang="ru-RU" dirty="0"/>
              <a:t>1510 г.: ликвидация Псковской республики.</a:t>
            </a:r>
          </a:p>
          <a:p>
            <a:r>
              <a:rPr lang="ru-RU" dirty="0"/>
              <a:t>1510-е – 1520-е гг.: присоединение Рязанского великого княжения, Стародубского и Новгород-Северского княжеств.</a:t>
            </a:r>
          </a:p>
        </p:txBody>
      </p:sp>
    </p:spTree>
    <p:extLst>
      <p:ext uri="{BB962C8B-B14F-4D97-AF65-F5344CB8AC3E}">
        <p14:creationId xmlns:p14="http://schemas.microsoft.com/office/powerpoint/2010/main" val="1635487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88640"/>
            <a:ext cx="8229600" cy="1008112"/>
          </a:xfrm>
        </p:spPr>
        <p:txBody>
          <a:bodyPr/>
          <a:lstStyle/>
          <a:p>
            <a:pPr>
              <a:lnSpc>
                <a:spcPct val="100000"/>
              </a:lnSpc>
            </a:pPr>
            <a:r>
              <a:rPr lang="ru-RU" sz="2800" dirty="0"/>
              <a:t>Идеологическое обоснование имперской политики («</a:t>
            </a:r>
            <a:r>
              <a:rPr lang="en-US" sz="2800" dirty="0"/>
              <a:t>translatio imperii</a:t>
            </a:r>
            <a:r>
              <a:rPr lang="ru-RU" sz="2800" dirty="0"/>
              <a:t>»)</a:t>
            </a:r>
          </a:p>
        </p:txBody>
      </p:sp>
      <p:sp>
        <p:nvSpPr>
          <p:cNvPr id="3" name="Объект 2"/>
          <p:cNvSpPr>
            <a:spLocks noGrp="1"/>
          </p:cNvSpPr>
          <p:nvPr>
            <p:ph idx="1"/>
          </p:nvPr>
        </p:nvSpPr>
        <p:spPr>
          <a:xfrm>
            <a:off x="467544" y="4005064"/>
            <a:ext cx="8229600" cy="2404864"/>
          </a:xfrm>
        </p:spPr>
        <p:txBody>
          <a:bodyPr>
            <a:normAutofit fontScale="85000" lnSpcReduction="10000"/>
          </a:bodyPr>
          <a:lstStyle/>
          <a:p>
            <a:pPr marL="0" indent="0">
              <a:buNone/>
            </a:pPr>
            <a:r>
              <a:rPr lang="ru-RU" dirty="0">
                <a:solidFill>
                  <a:srgbClr val="000000"/>
                </a:solidFill>
                <a:latin typeface="Palatino Linotype"/>
              </a:rPr>
              <a:t>Так знай, боголюбец и христолюбец, что все христианские царства пришли к концу и сошлись в едином царстве нашего государя, согласно пророческим книгам, это и есть римское царство: ибо два Рима пали, а третий стоит, а четвертому не бывать. Много раз и апостол Павел упоминает Рим в посланиях, в толкованиях говорится: «Рим — весь мир».</a:t>
            </a:r>
          </a:p>
          <a:p>
            <a:pPr marL="0" indent="0" algn="r">
              <a:buNone/>
            </a:pPr>
            <a:r>
              <a:rPr lang="ru-RU" dirty="0"/>
              <a:t>«Послание о неблагоприятных днях и часах» старца Филофея (ок. 1524 г)</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527578"/>
            <a:ext cx="4824536" cy="237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Скругленный прямоугольник 3"/>
          <p:cNvSpPr/>
          <p:nvPr/>
        </p:nvSpPr>
        <p:spPr>
          <a:xfrm>
            <a:off x="6300192" y="1988840"/>
            <a:ext cx="2088232" cy="129614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dirty="0"/>
              <a:t>Гербовая печать Ивана </a:t>
            </a:r>
            <a:r>
              <a:rPr lang="en-US" dirty="0"/>
              <a:t>III</a:t>
            </a:r>
            <a:endParaRPr lang="ru-RU" dirty="0"/>
          </a:p>
        </p:txBody>
      </p:sp>
    </p:spTree>
    <p:extLst>
      <p:ext uri="{BB962C8B-B14F-4D97-AF65-F5344CB8AC3E}">
        <p14:creationId xmlns:p14="http://schemas.microsoft.com/office/powerpoint/2010/main" val="275494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720080"/>
          </a:xfrm>
        </p:spPr>
        <p:txBody>
          <a:bodyPr/>
          <a:lstStyle/>
          <a:p>
            <a:r>
              <a:rPr lang="ru-RU" sz="2800" dirty="0"/>
              <a:t>Официальное утверждение России империей:</a:t>
            </a:r>
          </a:p>
        </p:txBody>
      </p:sp>
      <p:sp>
        <p:nvSpPr>
          <p:cNvPr id="3" name="Объект 2"/>
          <p:cNvSpPr>
            <a:spLocks noGrp="1"/>
          </p:cNvSpPr>
          <p:nvPr>
            <p:ph idx="1"/>
          </p:nvPr>
        </p:nvSpPr>
        <p:spPr>
          <a:xfrm>
            <a:off x="457200" y="1268761"/>
            <a:ext cx="8229600" cy="3960440"/>
          </a:xfrm>
        </p:spPr>
        <p:txBody>
          <a:bodyPr>
            <a:normAutofit fontScale="85000" lnSpcReduction="20000"/>
          </a:bodyPr>
          <a:lstStyle/>
          <a:p>
            <a:r>
              <a:rPr lang="ru-RU"/>
              <a:t>Поучение </a:t>
            </a:r>
            <a:r>
              <a:rPr lang="ru-RU" dirty="0"/>
              <a:t>митрополита Макария Ивану </a:t>
            </a:r>
            <a:r>
              <a:rPr lang="en-US" dirty="0"/>
              <a:t>IV </a:t>
            </a:r>
            <a:r>
              <a:rPr lang="ru-RU" dirty="0"/>
              <a:t>при венчании царем 1547:</a:t>
            </a:r>
          </a:p>
          <a:p>
            <a:r>
              <a:rPr lang="ru-RU" dirty="0"/>
              <a:t>«О святем Дусе господий и възлюбленный сын святыя церкви и нашего смирениа, князь великий Иван Васильевичь, всеа Русии самодржець! Се отныне </a:t>
            </a:r>
            <a:r>
              <a:rPr lang="ru-RU" b="1" dirty="0"/>
              <a:t>от Бога поставлен еси князь великий и боговенчанный царь правити хоругви и съдръжати скипетро великого царства Росийскаго</a:t>
            </a:r>
            <a:r>
              <a:rPr lang="ru-RU" dirty="0"/>
              <a:t>, и венчан еси сим царскым венцем, по благодати святаго Духа, и по милости пресвятыя Богородица, и по благословению великого чюдотворца Петра митрополита Киевскаго и всеа Русии, и всех святых молитвами, и по благословению приснопомнимаго святаго отца твоего великого князя Василья Ивановича, всеа Русии самодержца…»</a:t>
            </a:r>
          </a:p>
        </p:txBody>
      </p:sp>
      <p:sp>
        <p:nvSpPr>
          <p:cNvPr id="4" name="Скругленный прямоугольник 3"/>
          <p:cNvSpPr/>
          <p:nvPr/>
        </p:nvSpPr>
        <p:spPr>
          <a:xfrm>
            <a:off x="611560" y="5085184"/>
            <a:ext cx="8136904" cy="136815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dirty="0"/>
              <a:t>Царь – искаженное </a:t>
            </a:r>
            <a:r>
              <a:rPr lang="en-US" dirty="0"/>
              <a:t>Caesar </a:t>
            </a:r>
            <a:r>
              <a:rPr lang="ru-RU" dirty="0"/>
              <a:t>(другое искажение – «кесарь», одно из обязательных титулований римских императоров.</a:t>
            </a:r>
          </a:p>
          <a:p>
            <a:pPr algn="ctr"/>
            <a:r>
              <a:rPr lang="ru-RU" sz="1200" dirty="0"/>
              <a:t>Например, титул Константина Великого:  </a:t>
            </a:r>
            <a:r>
              <a:rPr lang="en-US" sz="1200" dirty="0"/>
              <a:t> Imperator Caesar Flavius Constantinus Pius Felix Victor Maximus Augustus, Pontifex Maximus, Pater Patrie, Proconsul, Germanicus Maximus III, Sarmaticus Maximus, Gothicus Maximus III, Medicus Maximus, Britannicus Maximus, Arabicus Maximus, Adiabenicus Maximus, Persicus Maximus, Armenicus Maximus,</a:t>
            </a:r>
            <a:r>
              <a:rPr lang="ru-RU" sz="1200" dirty="0"/>
              <a:t> </a:t>
            </a:r>
            <a:r>
              <a:rPr lang="en-US" sz="1200" dirty="0"/>
              <a:t>Carpicus Maximus.</a:t>
            </a:r>
            <a:endParaRPr lang="ru-RU" sz="1200" dirty="0"/>
          </a:p>
        </p:txBody>
      </p:sp>
    </p:spTree>
    <p:extLst>
      <p:ext uri="{BB962C8B-B14F-4D97-AF65-F5344CB8AC3E}">
        <p14:creationId xmlns:p14="http://schemas.microsoft.com/office/powerpoint/2010/main" val="3378204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32656"/>
            <a:ext cx="8229600" cy="720080"/>
          </a:xfrm>
        </p:spPr>
        <p:txBody>
          <a:bodyPr/>
          <a:lstStyle/>
          <a:p>
            <a:pPr>
              <a:lnSpc>
                <a:spcPct val="100000"/>
              </a:lnSpc>
            </a:pPr>
            <a:r>
              <a:rPr lang="ru-RU" sz="2800" dirty="0"/>
              <a:t>Россия </a:t>
            </a:r>
            <a:r>
              <a:rPr lang="en-US" sz="2800" dirty="0"/>
              <a:t>XVI </a:t>
            </a:r>
            <a:r>
              <a:rPr lang="ru-RU" sz="2800" dirty="0"/>
              <a:t>века – «государство государств»</a:t>
            </a:r>
          </a:p>
        </p:txBody>
      </p:sp>
      <p:sp>
        <p:nvSpPr>
          <p:cNvPr id="3" name="Объект 2"/>
          <p:cNvSpPr>
            <a:spLocks noGrp="1"/>
          </p:cNvSpPr>
          <p:nvPr>
            <p:ph idx="1"/>
          </p:nvPr>
        </p:nvSpPr>
        <p:spPr>
          <a:xfrm>
            <a:off x="457200" y="1600201"/>
            <a:ext cx="8229600" cy="3701008"/>
          </a:xfrm>
        </p:spPr>
        <p:txBody>
          <a:bodyPr/>
          <a:lstStyle/>
          <a:p>
            <a:r>
              <a:rPr lang="ru-RU" dirty="0"/>
              <a:t>1547 – 1552 гг.: включение в состав России Казанского ханства.</a:t>
            </a:r>
          </a:p>
          <a:p>
            <a:r>
              <a:rPr lang="ru-RU" dirty="0"/>
              <a:t>1554 – 1562 : включение в состав России Астраханского ханства.</a:t>
            </a:r>
          </a:p>
          <a:p>
            <a:r>
              <a:rPr lang="ru-RU" dirty="0"/>
              <a:t>1557 – 1577: включение в состав России Ногайской Орды («степного Заволжья»).</a:t>
            </a:r>
          </a:p>
          <a:p>
            <a:r>
              <a:rPr lang="ru-RU" dirty="0"/>
              <a:t>1581 – 1598: включение в состав России Сибирского ханства.</a:t>
            </a:r>
          </a:p>
        </p:txBody>
      </p:sp>
      <p:sp>
        <p:nvSpPr>
          <p:cNvPr id="4" name="Скругленный прямоугольник 3"/>
          <p:cNvSpPr/>
          <p:nvPr/>
        </p:nvSpPr>
        <p:spPr>
          <a:xfrm>
            <a:off x="971600" y="5373216"/>
            <a:ext cx="7488832" cy="93610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dirty="0"/>
              <a:t>Политика экспансии (расширения территории) придает смысл существованию государственности</a:t>
            </a:r>
          </a:p>
        </p:txBody>
      </p:sp>
    </p:spTree>
    <p:extLst>
      <p:ext uri="{BB962C8B-B14F-4D97-AF65-F5344CB8AC3E}">
        <p14:creationId xmlns:p14="http://schemas.microsoft.com/office/powerpoint/2010/main" val="3849057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32656"/>
            <a:ext cx="8229600" cy="792088"/>
          </a:xfrm>
        </p:spPr>
        <p:txBody>
          <a:bodyPr/>
          <a:lstStyle/>
          <a:p>
            <a:pPr>
              <a:lnSpc>
                <a:spcPct val="100000"/>
              </a:lnSpc>
            </a:pPr>
            <a:r>
              <a:rPr lang="ru-RU" sz="3200" dirty="0"/>
              <a:t>Этнические представления средневековья (до </a:t>
            </a:r>
            <a:r>
              <a:rPr lang="en-US" sz="3200" dirty="0"/>
              <a:t>XVII </a:t>
            </a:r>
            <a:r>
              <a:rPr lang="ru-RU" sz="3200" dirty="0"/>
              <a:t>века)</a:t>
            </a:r>
          </a:p>
        </p:txBody>
      </p:sp>
      <p:sp>
        <p:nvSpPr>
          <p:cNvPr id="3" name="Объект 2"/>
          <p:cNvSpPr>
            <a:spLocks noGrp="1"/>
          </p:cNvSpPr>
          <p:nvPr>
            <p:ph idx="1"/>
          </p:nvPr>
        </p:nvSpPr>
        <p:spPr>
          <a:xfrm>
            <a:off x="457200" y="1412776"/>
            <a:ext cx="8229600" cy="4713387"/>
          </a:xfrm>
        </p:spPr>
        <p:txBody>
          <a:bodyPr>
            <a:normAutofit fontScale="85000" lnSpcReduction="10000"/>
          </a:bodyPr>
          <a:lstStyle/>
          <a:p>
            <a:r>
              <a:rPr lang="ru-RU" dirty="0"/>
              <a:t>Понятия «нация» не существует. Основы национальных различий (язык, общие экономические интересы и поведенческие стереотипы) еще не сформировались.</a:t>
            </a:r>
          </a:p>
          <a:p>
            <a:r>
              <a:rPr lang="ru-RU" dirty="0"/>
              <a:t>Расовые различия играют роль в системе распознавания «свой-чужой», но понятия «расовое превосходство» не существует.</a:t>
            </a:r>
          </a:p>
          <a:p>
            <a:r>
              <a:rPr lang="ru-RU" dirty="0"/>
              <a:t>Самоопределение происходит в системе «вера + территориальная общность».</a:t>
            </a:r>
          </a:p>
          <a:p>
            <a:r>
              <a:rPr lang="ru-RU" dirty="0"/>
              <a:t>Вера – универсальный критерий в системе распознавания «свой-чужой».</a:t>
            </a:r>
          </a:p>
          <a:p>
            <a:r>
              <a:rPr lang="ru-RU" dirty="0"/>
              <a:t>Территориальная общность является основой для выработки культурной идентичности (основа не язык, а диалект, важны не интересы народа, а интересы «земли»).</a:t>
            </a:r>
          </a:p>
          <a:p>
            <a:r>
              <a:rPr lang="ru-RU" dirty="0"/>
              <a:t>Сословные различия важнее этнических. Крестившийся татарский мурза становится русским боярином.</a:t>
            </a:r>
          </a:p>
        </p:txBody>
      </p:sp>
    </p:spTree>
    <p:extLst>
      <p:ext uri="{BB962C8B-B14F-4D97-AF65-F5344CB8AC3E}">
        <p14:creationId xmlns:p14="http://schemas.microsoft.com/office/powerpoint/2010/main" val="1585460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720080"/>
          </a:xfrm>
        </p:spPr>
        <p:txBody>
          <a:bodyPr/>
          <a:lstStyle/>
          <a:p>
            <a:r>
              <a:rPr lang="ru-RU" sz="2800" dirty="0"/>
              <a:t>Территориальная экспансия </a:t>
            </a:r>
            <a:r>
              <a:rPr lang="en-US" sz="2800" dirty="0"/>
              <a:t>XVII </a:t>
            </a:r>
            <a:r>
              <a:rPr lang="ru-RU" sz="2800" dirty="0"/>
              <a:t>века</a:t>
            </a:r>
            <a:r>
              <a:rPr lang="ru-RU" dirty="0"/>
              <a:t> </a:t>
            </a:r>
          </a:p>
        </p:txBody>
      </p:sp>
      <p:sp>
        <p:nvSpPr>
          <p:cNvPr id="3" name="Объект 2"/>
          <p:cNvSpPr>
            <a:spLocks noGrp="1"/>
          </p:cNvSpPr>
          <p:nvPr>
            <p:ph idx="1"/>
          </p:nvPr>
        </p:nvSpPr>
        <p:spPr>
          <a:xfrm>
            <a:off x="457200" y="1340768"/>
            <a:ext cx="8229600" cy="4785395"/>
          </a:xfrm>
        </p:spPr>
        <p:txBody>
          <a:bodyPr/>
          <a:lstStyle/>
          <a:p>
            <a:r>
              <a:rPr lang="ru-RU" dirty="0"/>
              <a:t>1601 – 1697 – присоединение западносибирских и дальневосточных земель от Мангазеи до Камчатки.</a:t>
            </a:r>
          </a:p>
          <a:p>
            <a:r>
              <a:rPr lang="ru-RU" dirty="0"/>
              <a:t>1648 – 1654 – присоединение восточной Украины.</a:t>
            </a:r>
          </a:p>
          <a:p>
            <a:r>
              <a:rPr lang="ru-RU" dirty="0"/>
              <a:t>1654 – 1656 – присоединение восточных белорусских  земель.</a:t>
            </a:r>
          </a:p>
          <a:p>
            <a:r>
              <a:rPr lang="ru-RU" dirty="0"/>
              <a:t>1630-е – 1670-е гг. – освоение южных территорий между Окой и Доном (Тульская и Белгородская «засечные черты» и южнее до станицы Изюмской).</a:t>
            </a:r>
          </a:p>
        </p:txBody>
      </p:sp>
    </p:spTree>
    <p:extLst>
      <p:ext uri="{BB962C8B-B14F-4D97-AF65-F5344CB8AC3E}">
        <p14:creationId xmlns:p14="http://schemas.microsoft.com/office/powerpoint/2010/main" val="2173545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88640"/>
            <a:ext cx="8229600" cy="792088"/>
          </a:xfrm>
        </p:spPr>
        <p:txBody>
          <a:bodyPr/>
          <a:lstStyle/>
          <a:p>
            <a:r>
              <a:rPr lang="ru-RU" sz="3200" dirty="0"/>
              <a:t>Первый конфессиональный конфликт </a:t>
            </a:r>
          </a:p>
        </p:txBody>
      </p:sp>
      <p:sp>
        <p:nvSpPr>
          <p:cNvPr id="3" name="Объект 2"/>
          <p:cNvSpPr>
            <a:spLocks noGrp="1"/>
          </p:cNvSpPr>
          <p:nvPr>
            <p:ph idx="1"/>
          </p:nvPr>
        </p:nvSpPr>
        <p:spPr>
          <a:xfrm>
            <a:off x="457200" y="1268760"/>
            <a:ext cx="6491064" cy="4857403"/>
          </a:xfrm>
        </p:spPr>
        <p:txBody>
          <a:bodyPr>
            <a:normAutofit fontScale="62500" lnSpcReduction="20000"/>
          </a:bodyPr>
          <a:lstStyle/>
          <a:p>
            <a:r>
              <a:rPr lang="ru-RU" dirty="0"/>
              <a:t>1649 – 1653 гг. – реформа патриарха Никона.</a:t>
            </a:r>
          </a:p>
          <a:p>
            <a:r>
              <a:rPr lang="ru-RU" dirty="0"/>
              <a:t>1653 г. – отказ части священников и мирян креститься тремя перстами. И начало гонений на «старообрядцев».</a:t>
            </a:r>
          </a:p>
          <a:p>
            <a:r>
              <a:rPr lang="ru-RU" dirty="0"/>
              <a:t>1654 г. – церковный собор, утвердивший нововведения Никона.</a:t>
            </a:r>
          </a:p>
          <a:p>
            <a:r>
              <a:rPr lang="ru-RU" dirty="0"/>
              <a:t>1656 г. – поместный собор с участием четырех «восточных» патриархов. Анафема отдельным «раскольникам».</a:t>
            </a:r>
          </a:p>
          <a:p>
            <a:r>
              <a:rPr lang="ru-RU" dirty="0"/>
              <a:t>1666 г. «Большой собор» - объявление всех старообрядцев еретиками.</a:t>
            </a:r>
          </a:p>
          <a:p>
            <a:r>
              <a:rPr lang="ru-RU" dirty="0"/>
              <a:t>1668 – 1676 гг. – осада царскими войсками Соловецкого монастыря.</a:t>
            </a:r>
          </a:p>
          <a:p>
            <a:r>
              <a:rPr lang="ru-RU" dirty="0"/>
              <a:t>1674 – 1675 – ссылка и смерть Ф. Морозовой и Е. Урусовой (сестер жены царя).</a:t>
            </a:r>
          </a:p>
          <a:p>
            <a:r>
              <a:rPr lang="ru-RU" dirty="0"/>
              <a:t>1682 г. – сожжение Аввакума и других идеологов старообрядцев в Пустозерске.</a:t>
            </a:r>
          </a:p>
          <a:p>
            <a:r>
              <a:rPr lang="ru-RU" dirty="0"/>
              <a:t>1682 г. – диспут о вере в Грановитой палате и казнь Никиты Пустосвята.</a:t>
            </a:r>
          </a:p>
          <a:p>
            <a:r>
              <a:rPr lang="ru-RU"/>
              <a:t>1685 </a:t>
            </a:r>
            <a:r>
              <a:rPr lang="ru-RU" dirty="0"/>
              <a:t>г. – «Двенадцать статей» царевны Софьи – наказания для «раскольников» и их «пособников»: жечь, казнить, бить кнутом, бить батогами, пытать, брать штраф 50 рублей, ссылать в Сибирь и «украинные города» (в зависимости от «тяжести» вины). </a:t>
            </a:r>
          </a:p>
        </p:txBody>
      </p:sp>
      <p:sp>
        <p:nvSpPr>
          <p:cNvPr id="4" name="Скругленный прямоугольник 3"/>
          <p:cNvSpPr/>
          <p:nvPr/>
        </p:nvSpPr>
        <p:spPr>
          <a:xfrm>
            <a:off x="7092280" y="1196752"/>
            <a:ext cx="1872208" cy="439609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sz="1200" b="1" dirty="0"/>
              <a:t>Статья 12</a:t>
            </a:r>
          </a:p>
          <a:p>
            <a:pPr algn="ctr"/>
            <a:r>
              <a:rPr lang="ru-RU" sz="1200" dirty="0"/>
              <a:t>У расколщиков, у кого объявятся дворы, и поместья, и вотчины, и лавки, и иные промыслы и заводы, также и по расколщиках у порутчиков, которые ручались ведая и сосланы будут в ссылки: и те их поместья, и вотчины, и дворы, и лавки, и промыслы, и заводы отписывать на себя Великих Государей и продавать по оценке с большою наддачею…</a:t>
            </a:r>
          </a:p>
        </p:txBody>
      </p:sp>
      <p:sp>
        <p:nvSpPr>
          <p:cNvPr id="5" name="Выгнутая вниз стрелка 4"/>
          <p:cNvSpPr/>
          <p:nvPr/>
        </p:nvSpPr>
        <p:spPr>
          <a:xfrm>
            <a:off x="5162292" y="5729537"/>
            <a:ext cx="2448272" cy="575496"/>
          </a:xfrm>
          <a:prstGeom prst="curvedUp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dirty="0">
              <a:solidFill>
                <a:schemeClr val="tx1"/>
              </a:solidFill>
            </a:endParaRPr>
          </a:p>
        </p:txBody>
      </p:sp>
    </p:spTree>
    <p:extLst>
      <p:ext uri="{BB962C8B-B14F-4D97-AF65-F5344CB8AC3E}">
        <p14:creationId xmlns:p14="http://schemas.microsoft.com/office/powerpoint/2010/main" val="718789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32656"/>
            <a:ext cx="8229600" cy="1080120"/>
          </a:xfrm>
        </p:spPr>
        <p:txBody>
          <a:bodyPr/>
          <a:lstStyle/>
          <a:p>
            <a:pPr>
              <a:lnSpc>
                <a:spcPct val="100000"/>
              </a:lnSpc>
            </a:pPr>
            <a:r>
              <a:rPr lang="ru-RU" sz="2800" dirty="0"/>
              <a:t>Перемены в </a:t>
            </a:r>
            <a:r>
              <a:rPr lang="ru-RU" sz="2800" dirty="0" err="1"/>
              <a:t>этноконфессиональном</a:t>
            </a:r>
            <a:r>
              <a:rPr lang="ru-RU" sz="2800" dirty="0"/>
              <a:t> составе российского дворянства в </a:t>
            </a:r>
            <a:r>
              <a:rPr lang="en-US" sz="2800" dirty="0"/>
              <a:t>XVIII </a:t>
            </a:r>
            <a:r>
              <a:rPr lang="ru-RU" sz="2800" dirty="0"/>
              <a:t>веке </a:t>
            </a:r>
          </a:p>
        </p:txBody>
      </p:sp>
      <p:sp>
        <p:nvSpPr>
          <p:cNvPr id="3" name="Объект 2"/>
          <p:cNvSpPr>
            <a:spLocks noGrp="1"/>
          </p:cNvSpPr>
          <p:nvPr>
            <p:ph idx="1"/>
          </p:nvPr>
        </p:nvSpPr>
        <p:spPr/>
        <p:txBody>
          <a:bodyPr>
            <a:normAutofit fontScale="92500" lnSpcReduction="20000"/>
          </a:bodyPr>
          <a:lstStyle/>
          <a:p>
            <a:r>
              <a:rPr lang="ru-RU" b="1" dirty="0"/>
              <a:t>Первая четверть </a:t>
            </a:r>
            <a:r>
              <a:rPr lang="ru-RU" dirty="0"/>
              <a:t>: вхождение в состав российской элиты  иностранцев - офицеров, моряков, чиновников, инженеров и врачей, приглашенных на службу  императором.</a:t>
            </a:r>
          </a:p>
          <a:p>
            <a:r>
              <a:rPr lang="ru-RU" b="1" dirty="0"/>
              <a:t>Вторая четверть: </a:t>
            </a:r>
            <a:r>
              <a:rPr lang="ru-RU" dirty="0"/>
              <a:t>интеграция в российскую элиту </a:t>
            </a:r>
          </a:p>
          <a:p>
            <a:pPr marL="0" indent="0">
              <a:buNone/>
            </a:pPr>
            <a:r>
              <a:rPr lang="ru-RU" dirty="0"/>
              <a:t>а) прибалтийского дворянства, как обрусевших семей (принявших православие), так и лютеран;</a:t>
            </a:r>
          </a:p>
          <a:p>
            <a:pPr marL="0" indent="0">
              <a:buNone/>
            </a:pPr>
            <a:r>
              <a:rPr lang="ru-RU" dirty="0"/>
              <a:t>б) «малороссийской старшины» - атаманов и командиров казацких полков.</a:t>
            </a:r>
          </a:p>
          <a:p>
            <a:r>
              <a:rPr lang="ru-RU" b="1" dirty="0"/>
              <a:t>Третья четверть</a:t>
            </a:r>
            <a:r>
              <a:rPr lang="ru-RU" dirty="0"/>
              <a:t>: вхождение в состав российской элиты польских и литовских дворян (католиков)</a:t>
            </a:r>
          </a:p>
          <a:p>
            <a:r>
              <a:rPr lang="ru-RU" b="1" dirty="0"/>
              <a:t>Четвертая четверть: </a:t>
            </a:r>
            <a:r>
              <a:rPr lang="ru-RU" dirty="0"/>
              <a:t>начало вхождения в состав российского дворянства грузинских землевладельцев. </a:t>
            </a:r>
          </a:p>
        </p:txBody>
      </p:sp>
    </p:spTree>
    <p:extLst>
      <p:ext uri="{BB962C8B-B14F-4D97-AF65-F5344CB8AC3E}">
        <p14:creationId xmlns:p14="http://schemas.microsoft.com/office/powerpoint/2010/main" val="401046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1008112"/>
          </a:xfrm>
        </p:spPr>
        <p:txBody>
          <a:bodyPr/>
          <a:lstStyle/>
          <a:p>
            <a:pPr>
              <a:lnSpc>
                <a:spcPct val="100000"/>
              </a:lnSpc>
            </a:pPr>
            <a:r>
              <a:rPr lang="ru-RU" sz="2800" dirty="0"/>
              <a:t>Цивилизационное разнообразие народов России в </a:t>
            </a:r>
            <a:r>
              <a:rPr lang="en-US" sz="2800" dirty="0"/>
              <a:t>XVIII </a:t>
            </a:r>
            <a:r>
              <a:rPr lang="ru-RU" sz="2800" dirty="0"/>
              <a:t>– </a:t>
            </a:r>
            <a:r>
              <a:rPr lang="en-US" sz="2800" dirty="0"/>
              <a:t>XIX </a:t>
            </a:r>
            <a:r>
              <a:rPr lang="ru-RU" sz="2800" dirty="0"/>
              <a:t>веках  </a:t>
            </a:r>
          </a:p>
        </p:txBody>
      </p:sp>
      <p:sp>
        <p:nvSpPr>
          <p:cNvPr id="3" name="Объект 2"/>
          <p:cNvSpPr>
            <a:spLocks noGrp="1"/>
          </p:cNvSpPr>
          <p:nvPr>
            <p:ph idx="1"/>
          </p:nvPr>
        </p:nvSpPr>
        <p:spPr/>
        <p:txBody>
          <a:bodyPr>
            <a:normAutofit fontScale="70000" lnSpcReduction="20000"/>
          </a:bodyPr>
          <a:lstStyle/>
          <a:p>
            <a:r>
              <a:rPr lang="ru-RU" dirty="0"/>
              <a:t>Европейски ориентированные анклавы: Прибалтика, Финляндия, Польша, районы поселений голландцев и немцев в Поволжье, крупные города (Москва, Харьков, Одесса, Екатеринбург).</a:t>
            </a:r>
          </a:p>
          <a:p>
            <a:r>
              <a:rPr lang="ru-RU" dirty="0"/>
              <a:t>Традиционные районы «русского мира» (натуральное хозяйство, крепостное право, государственное православие): европейская часть России.</a:t>
            </a:r>
          </a:p>
          <a:p>
            <a:r>
              <a:rPr lang="ru-RU" dirty="0"/>
              <a:t>Староверческие анклавы (Русский север, Москва, Верхнее и Среднее Поволжье, Сибирь).</a:t>
            </a:r>
          </a:p>
          <a:p>
            <a:r>
              <a:rPr lang="ru-RU" dirty="0"/>
              <a:t>Православные народы, считающиеся русскими, но таковыми не являющиеся (украинцы, белорусы, грузины).</a:t>
            </a:r>
          </a:p>
          <a:p>
            <a:r>
              <a:rPr lang="ru-RU" dirty="0"/>
              <a:t>Мусульманские анклавы с традиционным средневековым менталитетом: Поволжье и Северный Кавказ (процесс завоевания в </a:t>
            </a:r>
            <a:r>
              <a:rPr lang="en-US" dirty="0"/>
              <a:t>XIX </a:t>
            </a:r>
            <a:r>
              <a:rPr lang="ru-RU" dirty="0"/>
              <a:t>в.</a:t>
            </a:r>
            <a:r>
              <a:rPr lang="en-US" dirty="0"/>
              <a:t>)</a:t>
            </a:r>
            <a:r>
              <a:rPr lang="ru-RU" dirty="0"/>
              <a:t>, часть Закавказья, Средняя Азия (процесс присоединения в </a:t>
            </a:r>
            <a:r>
              <a:rPr lang="en-US" dirty="0"/>
              <a:t>XIX </a:t>
            </a:r>
            <a:r>
              <a:rPr lang="ru-RU" dirty="0"/>
              <a:t>в.).</a:t>
            </a:r>
          </a:p>
          <a:p>
            <a:r>
              <a:rPr lang="ru-RU" dirty="0"/>
              <a:t>Буддийский анклав (в составе казацких территорий Дона, Поволжья и Урала).</a:t>
            </a:r>
          </a:p>
          <a:p>
            <a:r>
              <a:rPr lang="ru-RU" dirty="0"/>
              <a:t>Анклавы родоплеменной жизни с «языческими формами» верований (Сибирь и Дальний восток).</a:t>
            </a:r>
          </a:p>
        </p:txBody>
      </p:sp>
    </p:spTree>
    <p:extLst>
      <p:ext uri="{BB962C8B-B14F-4D97-AF65-F5344CB8AC3E}">
        <p14:creationId xmlns:p14="http://schemas.microsoft.com/office/powerpoint/2010/main" val="3338962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576064"/>
          </a:xfrm>
        </p:spPr>
        <p:txBody>
          <a:bodyPr/>
          <a:lstStyle/>
          <a:p>
            <a:r>
              <a:rPr lang="ru-RU" sz="2400" dirty="0" err="1"/>
              <a:t>Этноконфессиональная</a:t>
            </a:r>
            <a:r>
              <a:rPr lang="ru-RU" sz="2400" dirty="0"/>
              <a:t> политика Екатерины </a:t>
            </a:r>
            <a:r>
              <a:rPr lang="en-US" sz="2400" dirty="0"/>
              <a:t>II</a:t>
            </a:r>
            <a:endParaRPr lang="ru-RU" sz="2400"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2842637082"/>
              </p:ext>
            </p:extLst>
          </p:nvPr>
        </p:nvGraphicFramePr>
        <p:xfrm>
          <a:off x="467544" y="980728"/>
          <a:ext cx="8229600" cy="5284524"/>
        </p:xfrm>
        <a:graphic>
          <a:graphicData uri="http://schemas.openxmlformats.org/drawingml/2006/table">
            <a:tbl>
              <a:tblPr firstRow="1" bandRow="1">
                <a:tableStyleId>{5C22544A-7EE6-4342-B048-85BDC9FD1C3A}</a:tableStyleId>
              </a:tblPr>
              <a:tblGrid>
                <a:gridCol w="2026568">
                  <a:extLst>
                    <a:ext uri="{9D8B030D-6E8A-4147-A177-3AD203B41FA5}">
                      <a16:colId xmlns:a16="http://schemas.microsoft.com/office/drawing/2014/main" val="20000"/>
                    </a:ext>
                  </a:extLst>
                </a:gridCol>
                <a:gridCol w="3230016">
                  <a:extLst>
                    <a:ext uri="{9D8B030D-6E8A-4147-A177-3AD203B41FA5}">
                      <a16:colId xmlns:a16="http://schemas.microsoft.com/office/drawing/2014/main" val="20001"/>
                    </a:ext>
                  </a:extLst>
                </a:gridCol>
                <a:gridCol w="2973016">
                  <a:extLst>
                    <a:ext uri="{9D8B030D-6E8A-4147-A177-3AD203B41FA5}">
                      <a16:colId xmlns:a16="http://schemas.microsoft.com/office/drawing/2014/main" val="20002"/>
                    </a:ext>
                  </a:extLst>
                </a:gridCol>
              </a:tblGrid>
              <a:tr h="592203">
                <a:tc>
                  <a:txBody>
                    <a:bodyPr/>
                    <a:lstStyle/>
                    <a:p>
                      <a:r>
                        <a:rPr lang="ru-RU" sz="1200" dirty="0"/>
                        <a:t>Проблема</a:t>
                      </a:r>
                    </a:p>
                  </a:txBody>
                  <a:tcPr/>
                </a:tc>
                <a:tc>
                  <a:txBody>
                    <a:bodyPr/>
                    <a:lstStyle/>
                    <a:p>
                      <a:r>
                        <a:rPr lang="ru-RU" sz="1200" dirty="0"/>
                        <a:t>Решение</a:t>
                      </a:r>
                    </a:p>
                  </a:txBody>
                  <a:tcPr/>
                </a:tc>
                <a:tc>
                  <a:txBody>
                    <a:bodyPr/>
                    <a:lstStyle/>
                    <a:p>
                      <a:r>
                        <a:rPr lang="ru-RU" sz="1200" dirty="0"/>
                        <a:t>Эффект</a:t>
                      </a:r>
                    </a:p>
                  </a:txBody>
                  <a:tcPr/>
                </a:tc>
                <a:extLst>
                  <a:ext uri="{0D108BD9-81ED-4DB2-BD59-A6C34878D82A}">
                    <a16:rowId xmlns:a16="http://schemas.microsoft.com/office/drawing/2014/main" val="10000"/>
                  </a:ext>
                </a:extLst>
              </a:tr>
              <a:tr h="1316827">
                <a:tc>
                  <a:txBody>
                    <a:bodyPr/>
                    <a:lstStyle/>
                    <a:p>
                      <a:r>
                        <a:rPr lang="ru-RU" sz="1100" dirty="0"/>
                        <a:t>Автономия Украины противоречит принципу</a:t>
                      </a:r>
                      <a:r>
                        <a:rPr lang="ru-RU" sz="1100" baseline="0" dirty="0"/>
                        <a:t> «равенства всех перед законом»</a:t>
                      </a:r>
                      <a:endParaRPr lang="ru-RU" sz="1100" dirty="0"/>
                    </a:p>
                  </a:txBody>
                  <a:tcPr/>
                </a:tc>
                <a:tc>
                  <a:txBody>
                    <a:bodyPr/>
                    <a:lstStyle/>
                    <a:p>
                      <a:r>
                        <a:rPr lang="ru-RU" sz="1100" dirty="0"/>
                        <a:t>1764 г. Ликвидация гетманского</a:t>
                      </a:r>
                      <a:r>
                        <a:rPr lang="ru-RU" sz="1100" baseline="0" dirty="0"/>
                        <a:t> управления, превращение Малороссии «в обычную российскую провинцию» Введение крепостного права.</a:t>
                      </a:r>
                      <a:endParaRPr lang="ru-RU" sz="1100" dirty="0"/>
                    </a:p>
                  </a:txBody>
                  <a:tcPr/>
                </a:tc>
                <a:tc>
                  <a:txBody>
                    <a:bodyPr/>
                    <a:lstStyle/>
                    <a:p>
                      <a:r>
                        <a:rPr lang="ru-RU" sz="1100" dirty="0"/>
                        <a:t>Политика «обрусения» Малороссии ускорила</a:t>
                      </a:r>
                      <a:r>
                        <a:rPr lang="ru-RU" sz="1100" baseline="0" dirty="0"/>
                        <a:t> процесс «вызревания» украинской нации. </a:t>
                      </a:r>
                      <a:endParaRPr lang="ru-RU" sz="1100" dirty="0"/>
                    </a:p>
                  </a:txBody>
                  <a:tcPr/>
                </a:tc>
                <a:extLst>
                  <a:ext uri="{0D108BD9-81ED-4DB2-BD59-A6C34878D82A}">
                    <a16:rowId xmlns:a16="http://schemas.microsoft.com/office/drawing/2014/main" val="10001"/>
                  </a:ext>
                </a:extLst>
              </a:tr>
              <a:tr h="907147">
                <a:tc>
                  <a:txBody>
                    <a:bodyPr/>
                    <a:lstStyle/>
                    <a:p>
                      <a:r>
                        <a:rPr lang="ru-RU" sz="1100" dirty="0"/>
                        <a:t>Казачество не вписывается в общую систему управления</a:t>
                      </a:r>
                    </a:p>
                  </a:txBody>
                  <a:tcPr/>
                </a:tc>
                <a:tc>
                  <a:txBody>
                    <a:bodyPr/>
                    <a:lstStyle/>
                    <a:p>
                      <a:r>
                        <a:rPr lang="ru-RU" sz="1100" dirty="0"/>
                        <a:t>1775 г. Ликвидация «Запорожской</a:t>
                      </a:r>
                      <a:r>
                        <a:rPr lang="ru-RU" sz="1100" baseline="0" dirty="0"/>
                        <a:t> сечи», переселение казаков в Крым, а затем- на Кавказ. Ограничение автономии Донского казачества.</a:t>
                      </a:r>
                      <a:endParaRPr lang="ru-RU" sz="1100" dirty="0"/>
                    </a:p>
                  </a:txBody>
                  <a:tcPr/>
                </a:tc>
                <a:tc>
                  <a:txBody>
                    <a:bodyPr/>
                    <a:lstStyle/>
                    <a:p>
                      <a:r>
                        <a:rPr lang="ru-RU" sz="1100" dirty="0"/>
                        <a:t>Ближний  - «пугачевщина».</a:t>
                      </a:r>
                    </a:p>
                    <a:p>
                      <a:r>
                        <a:rPr lang="ru-RU" sz="1100" dirty="0"/>
                        <a:t>Отдаленный – признание за казаками прав особого сословия превратило</a:t>
                      </a:r>
                      <a:r>
                        <a:rPr lang="ru-RU" sz="1100" baseline="0" dirty="0"/>
                        <a:t> его в одну из главных  «опор» власти.</a:t>
                      </a:r>
                      <a:endParaRPr lang="ru-RU" sz="1100" dirty="0"/>
                    </a:p>
                  </a:txBody>
                  <a:tcPr/>
                </a:tc>
                <a:extLst>
                  <a:ext uri="{0D108BD9-81ED-4DB2-BD59-A6C34878D82A}">
                    <a16:rowId xmlns:a16="http://schemas.microsoft.com/office/drawing/2014/main" val="10002"/>
                  </a:ext>
                </a:extLst>
              </a:tr>
              <a:tr h="1111987">
                <a:tc>
                  <a:txBody>
                    <a:bodyPr/>
                    <a:lstStyle/>
                    <a:p>
                      <a:r>
                        <a:rPr lang="ru-RU" sz="1100" dirty="0"/>
                        <a:t>Автономия Эстляндии и Лифляндии</a:t>
                      </a:r>
                      <a:r>
                        <a:rPr lang="ru-RU" sz="1100" baseline="0" dirty="0"/>
                        <a:t> нарушает общий порядок управления.</a:t>
                      </a:r>
                      <a:endParaRPr lang="ru-RU" sz="1100" dirty="0"/>
                    </a:p>
                  </a:txBody>
                  <a:tcPr/>
                </a:tc>
                <a:tc>
                  <a:txBody>
                    <a:bodyPr/>
                    <a:lstStyle/>
                    <a:p>
                      <a:r>
                        <a:rPr lang="ru-RU" sz="1100" dirty="0"/>
                        <a:t>1782 – 1783 гг. Создание двух  «обычных» губерний:</a:t>
                      </a:r>
                      <a:r>
                        <a:rPr lang="ru-RU" sz="1100" baseline="0" dirty="0"/>
                        <a:t> Рижской и Ревельской.</a:t>
                      </a:r>
                      <a:endParaRPr lang="ru-RU" sz="1100" dirty="0"/>
                    </a:p>
                  </a:txBody>
                  <a:tcPr/>
                </a:tc>
                <a:tc>
                  <a:txBody>
                    <a:bodyPr/>
                    <a:lstStyle/>
                    <a:p>
                      <a:r>
                        <a:rPr lang="ru-RU" sz="1100" dirty="0"/>
                        <a:t>«Отрыв» прибалтийского дворянства от местного населения. Усиление «буржуазных»  (и «проевропейских») настроений.</a:t>
                      </a:r>
                    </a:p>
                  </a:txBody>
                  <a:tcPr/>
                </a:tc>
                <a:extLst>
                  <a:ext uri="{0D108BD9-81ED-4DB2-BD59-A6C34878D82A}">
                    <a16:rowId xmlns:a16="http://schemas.microsoft.com/office/drawing/2014/main" val="10003"/>
                  </a:ext>
                </a:extLst>
              </a:tr>
              <a:tr h="592203">
                <a:tc>
                  <a:txBody>
                    <a:bodyPr/>
                    <a:lstStyle/>
                    <a:p>
                      <a:r>
                        <a:rPr lang="ru-RU" sz="1100" dirty="0"/>
                        <a:t>Земли в Поволжье и Новороссии не обрабатываются</a:t>
                      </a:r>
                    </a:p>
                  </a:txBody>
                  <a:tcPr/>
                </a:tc>
                <a:tc>
                  <a:txBody>
                    <a:bodyPr/>
                    <a:lstStyle/>
                    <a:p>
                      <a:r>
                        <a:rPr lang="ru-RU" sz="1100" dirty="0"/>
                        <a:t>1762 – 1763 гг. Указы о переселении иностранцев</a:t>
                      </a:r>
                      <a:r>
                        <a:rPr lang="ru-RU" sz="1100" baseline="0" dirty="0"/>
                        <a:t> в Россию с наделением их землей (более 100 колоний, более 30 тыс. чел.)</a:t>
                      </a:r>
                      <a:endParaRPr lang="ru-RU" sz="1100" dirty="0"/>
                    </a:p>
                  </a:txBody>
                  <a:tcPr/>
                </a:tc>
                <a:tc>
                  <a:txBody>
                    <a:bodyPr/>
                    <a:lstStyle/>
                    <a:p>
                      <a:r>
                        <a:rPr lang="ru-RU" sz="1100" dirty="0"/>
                        <a:t>«Окультуривание» земель Поволжья, формирование</a:t>
                      </a:r>
                      <a:r>
                        <a:rPr lang="ru-RU" sz="1100" baseline="0" dirty="0"/>
                        <a:t> новых «проевропейских» анклавов (Саратов)</a:t>
                      </a:r>
                      <a:endParaRPr lang="ru-RU" sz="1100" dirty="0"/>
                    </a:p>
                  </a:txBody>
                  <a:tcPr/>
                </a:tc>
                <a:extLst>
                  <a:ext uri="{0D108BD9-81ED-4DB2-BD59-A6C34878D82A}">
                    <a16:rowId xmlns:a16="http://schemas.microsoft.com/office/drawing/2014/main" val="10004"/>
                  </a:ext>
                </a:extLst>
              </a:tr>
              <a:tr h="592203">
                <a:tc>
                  <a:txBody>
                    <a:bodyPr/>
                    <a:lstStyle/>
                    <a:p>
                      <a:r>
                        <a:rPr lang="ru-RU" sz="1100" dirty="0"/>
                        <a:t>Иудеи не вписываются в «традиционную» систему конфессий</a:t>
                      </a:r>
                    </a:p>
                  </a:txBody>
                  <a:tcPr/>
                </a:tc>
                <a:tc>
                  <a:txBody>
                    <a:bodyPr/>
                    <a:lstStyle/>
                    <a:p>
                      <a:r>
                        <a:rPr lang="ru-RU" sz="1100" dirty="0"/>
                        <a:t>1791 г. Указ Екатерины </a:t>
                      </a:r>
                      <a:r>
                        <a:rPr lang="en-US" sz="1100" dirty="0"/>
                        <a:t>II</a:t>
                      </a:r>
                      <a:r>
                        <a:rPr lang="ru-RU" sz="1100" dirty="0"/>
                        <a:t>,</a:t>
                      </a:r>
                      <a:r>
                        <a:rPr lang="en-US" sz="1100" baseline="0" dirty="0"/>
                        <a:t> </a:t>
                      </a:r>
                      <a:r>
                        <a:rPr lang="ru-RU" sz="1100" baseline="0" dirty="0"/>
                        <a:t>ограничивавший право на расселение евреев Белорусской, Екатеринославской и Таврической губерниями, а также Курляндией.</a:t>
                      </a:r>
                      <a:endParaRPr lang="ru-RU" sz="1100" dirty="0"/>
                    </a:p>
                  </a:txBody>
                  <a:tcPr/>
                </a:tc>
                <a:tc>
                  <a:txBody>
                    <a:bodyPr/>
                    <a:lstStyle/>
                    <a:p>
                      <a:r>
                        <a:rPr lang="ru-RU" sz="1100" dirty="0"/>
                        <a:t>Формирование условия для появления</a:t>
                      </a:r>
                      <a:r>
                        <a:rPr lang="ru-RU" sz="1100" baseline="0" dirty="0"/>
                        <a:t> «народного» и «государственного» антисемитизма.</a:t>
                      </a:r>
                      <a:endParaRPr lang="ru-RU" sz="11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04667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332656"/>
            <a:ext cx="8229600" cy="648072"/>
          </a:xfrm>
        </p:spPr>
        <p:txBody>
          <a:bodyPr/>
          <a:lstStyle/>
          <a:p>
            <a:r>
              <a:rPr lang="ru-RU" sz="3200" dirty="0"/>
              <a:t>Финляндия в </a:t>
            </a:r>
            <a:r>
              <a:rPr lang="en-US" sz="3200" dirty="0"/>
              <a:t>I </a:t>
            </a:r>
            <a:r>
              <a:rPr lang="ru-RU" sz="3200" dirty="0"/>
              <a:t>пол. </a:t>
            </a:r>
            <a:r>
              <a:rPr lang="en-US" sz="3200" dirty="0"/>
              <a:t>XIX </a:t>
            </a:r>
            <a:r>
              <a:rPr lang="ru-RU" sz="3200" dirty="0"/>
              <a:t>в.</a:t>
            </a:r>
          </a:p>
        </p:txBody>
      </p:sp>
      <p:sp>
        <p:nvSpPr>
          <p:cNvPr id="3" name="Объект 2"/>
          <p:cNvSpPr>
            <a:spLocks noGrp="1"/>
          </p:cNvSpPr>
          <p:nvPr>
            <p:ph idx="1"/>
          </p:nvPr>
        </p:nvSpPr>
        <p:spPr>
          <a:xfrm>
            <a:off x="457200" y="1196752"/>
            <a:ext cx="8229600" cy="4929411"/>
          </a:xfrm>
        </p:spPr>
        <p:txBody>
          <a:bodyPr/>
          <a:lstStyle/>
          <a:p>
            <a:r>
              <a:rPr lang="ru-RU" dirty="0"/>
              <a:t>Присоединение: отвоевана у Швеции в 1808 г.</a:t>
            </a:r>
          </a:p>
          <a:p>
            <a:r>
              <a:rPr lang="ru-RU" dirty="0"/>
              <a:t>Статус:  Великое княжество с правами автономии:</a:t>
            </a:r>
          </a:p>
          <a:p>
            <a:pPr>
              <a:buFont typeface="Wingdings" panose="05000000000000000000" pitchFamily="2" charset="2"/>
              <a:buChar char="ü"/>
            </a:pPr>
            <a:r>
              <a:rPr lang="ru-RU" dirty="0"/>
              <a:t>законодательная власть – сейм (до 186</a:t>
            </a:r>
            <a:r>
              <a:rPr lang="en-US" dirty="0"/>
              <a:t>3</a:t>
            </a:r>
            <a:r>
              <a:rPr lang="ru-RU" dirty="0"/>
              <a:t> г. не созывался),</a:t>
            </a:r>
          </a:p>
          <a:p>
            <a:pPr>
              <a:buFont typeface="Wingdings" panose="05000000000000000000" pitchFamily="2" charset="2"/>
              <a:buChar char="ü"/>
            </a:pPr>
            <a:r>
              <a:rPr lang="ru-RU" dirty="0"/>
              <a:t>правительство – сенат,</a:t>
            </a:r>
          </a:p>
          <a:p>
            <a:pPr>
              <a:buFont typeface="Wingdings" panose="05000000000000000000" pitchFamily="2" charset="2"/>
              <a:buChar char="ü"/>
            </a:pPr>
            <a:r>
              <a:rPr lang="ru-RU" dirty="0"/>
              <a:t>финское гражданство,</a:t>
            </a:r>
          </a:p>
          <a:p>
            <a:pPr>
              <a:buFont typeface="Wingdings" panose="05000000000000000000" pitchFamily="2" charset="2"/>
              <a:buChar char="ü"/>
            </a:pPr>
            <a:r>
              <a:rPr lang="ru-RU" dirty="0"/>
              <a:t>собственная судебная система;</a:t>
            </a:r>
          </a:p>
          <a:p>
            <a:pPr>
              <a:buFont typeface="Wingdings" panose="05000000000000000000" pitchFamily="2" charset="2"/>
              <a:buChar char="ü"/>
            </a:pPr>
            <a:r>
              <a:rPr lang="ru-RU" dirty="0"/>
              <a:t>государственная церковь – лютеранская.</a:t>
            </a:r>
          </a:p>
          <a:p>
            <a:r>
              <a:rPr lang="ru-RU" dirty="0"/>
              <a:t>Автономия в экономике: финляндский банк и свои таможенные правила.</a:t>
            </a:r>
          </a:p>
          <a:p>
            <a:pPr marL="0" indent="0">
              <a:buNone/>
            </a:pPr>
            <a:endParaRPr lang="ru-RU" dirty="0"/>
          </a:p>
          <a:p>
            <a:endParaRPr lang="ru-RU" dirty="0"/>
          </a:p>
          <a:p>
            <a:endParaRPr lang="ru-RU" dirty="0"/>
          </a:p>
        </p:txBody>
      </p:sp>
    </p:spTree>
    <p:extLst>
      <p:ext uri="{BB962C8B-B14F-4D97-AF65-F5344CB8AC3E}">
        <p14:creationId xmlns:p14="http://schemas.microsoft.com/office/powerpoint/2010/main" val="681283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32656"/>
            <a:ext cx="8229600" cy="864096"/>
          </a:xfrm>
        </p:spPr>
        <p:txBody>
          <a:bodyPr/>
          <a:lstStyle/>
          <a:p>
            <a:r>
              <a:rPr lang="ru-RU" sz="3200" dirty="0">
                <a:solidFill>
                  <a:srgbClr val="2F5897"/>
                </a:solidFill>
              </a:rPr>
              <a:t>Финляндия во </a:t>
            </a:r>
            <a:r>
              <a:rPr lang="en-US" sz="3200" dirty="0">
                <a:solidFill>
                  <a:srgbClr val="2F5897"/>
                </a:solidFill>
              </a:rPr>
              <a:t>II </a:t>
            </a:r>
            <a:r>
              <a:rPr lang="ru-RU" sz="3200" dirty="0">
                <a:solidFill>
                  <a:srgbClr val="2F5897"/>
                </a:solidFill>
              </a:rPr>
              <a:t>пол. </a:t>
            </a:r>
            <a:r>
              <a:rPr lang="en-US" sz="3200" dirty="0">
                <a:solidFill>
                  <a:srgbClr val="2F5897"/>
                </a:solidFill>
              </a:rPr>
              <a:t>XIX </a:t>
            </a:r>
            <a:r>
              <a:rPr lang="ru-RU" sz="3200" dirty="0">
                <a:solidFill>
                  <a:srgbClr val="2F5897"/>
                </a:solidFill>
              </a:rPr>
              <a:t>в.</a:t>
            </a:r>
            <a:endParaRPr lang="ru-RU" dirty="0"/>
          </a:p>
        </p:txBody>
      </p:sp>
      <p:sp>
        <p:nvSpPr>
          <p:cNvPr id="3" name="Объект 2"/>
          <p:cNvSpPr>
            <a:spLocks noGrp="1"/>
          </p:cNvSpPr>
          <p:nvPr>
            <p:ph idx="1"/>
          </p:nvPr>
        </p:nvSpPr>
        <p:spPr>
          <a:xfrm>
            <a:off x="457200" y="1600200"/>
            <a:ext cx="4978896" cy="4349079"/>
          </a:xfrm>
        </p:spPr>
        <p:txBody>
          <a:bodyPr>
            <a:normAutofit lnSpcReduction="10000"/>
          </a:bodyPr>
          <a:lstStyle/>
          <a:p>
            <a:r>
              <a:rPr lang="ru-RU" dirty="0"/>
              <a:t>Сеймовый устав (1869 г.) и регулярные (раз в 5 лет) созывы сейма.</a:t>
            </a:r>
          </a:p>
          <a:p>
            <a:r>
              <a:rPr lang="ru-RU" dirty="0"/>
              <a:t>Введение финского языка в делопроизводство (1863 г.)</a:t>
            </a:r>
          </a:p>
          <a:p>
            <a:r>
              <a:rPr lang="ru-RU" dirty="0"/>
              <a:t>Создание финляндских вооруженных сил (1877 г.).</a:t>
            </a:r>
          </a:p>
          <a:p>
            <a:r>
              <a:rPr lang="ru-RU" dirty="0"/>
              <a:t>Финляндский банк получил права государственного, финская марка – права самостоятельной валюты (1860).</a:t>
            </a:r>
          </a:p>
        </p:txBody>
      </p:sp>
      <p:pic>
        <p:nvPicPr>
          <p:cNvPr id="1026" name="Picture 2" descr="https://img-fotki.yandex.ru/get/54/14576209.31/0_a3d37_1e9b9ce6_ori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4269" y="1659812"/>
            <a:ext cx="2868829" cy="3154035"/>
          </a:xfrm>
          <a:prstGeom prst="rect">
            <a:avLst/>
          </a:prstGeom>
          <a:noFill/>
          <a:extLst>
            <a:ext uri="{909E8E84-426E-40DD-AFC4-6F175D3DCCD1}">
              <a14:hiddenFill xmlns:a14="http://schemas.microsoft.com/office/drawing/2010/main">
                <a:solidFill>
                  <a:srgbClr val="FFFFFF"/>
                </a:solidFill>
              </a14:hiddenFill>
            </a:ext>
          </a:extLst>
        </p:spPr>
      </p:pic>
      <p:sp>
        <p:nvSpPr>
          <p:cNvPr id="5" name="Скругленный прямоугольник 4"/>
          <p:cNvSpPr/>
          <p:nvPr/>
        </p:nvSpPr>
        <p:spPr>
          <a:xfrm>
            <a:off x="5940152" y="5085184"/>
            <a:ext cx="2520280" cy="8640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dirty="0"/>
              <a:t>Марка равна французскому франку.</a:t>
            </a:r>
          </a:p>
        </p:txBody>
      </p:sp>
    </p:spTree>
    <p:extLst>
      <p:ext uri="{BB962C8B-B14F-4D97-AF65-F5344CB8AC3E}">
        <p14:creationId xmlns:p14="http://schemas.microsoft.com/office/powerpoint/2010/main" val="3894902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792088"/>
          </a:xfrm>
        </p:spPr>
        <p:txBody>
          <a:bodyPr/>
          <a:lstStyle/>
          <a:p>
            <a:r>
              <a:rPr lang="ru-RU" sz="3600" dirty="0"/>
              <a:t>Царство Польское</a:t>
            </a:r>
          </a:p>
        </p:txBody>
      </p:sp>
      <p:sp>
        <p:nvSpPr>
          <p:cNvPr id="3" name="Объект 2"/>
          <p:cNvSpPr>
            <a:spLocks noGrp="1"/>
          </p:cNvSpPr>
          <p:nvPr>
            <p:ph idx="1"/>
          </p:nvPr>
        </p:nvSpPr>
        <p:spPr>
          <a:xfrm>
            <a:off x="457200" y="1484784"/>
            <a:ext cx="5915000" cy="4641379"/>
          </a:xfrm>
        </p:spPr>
        <p:txBody>
          <a:bodyPr>
            <a:normAutofit fontScale="85000" lnSpcReduction="10000"/>
          </a:bodyPr>
          <a:lstStyle/>
          <a:p>
            <a:r>
              <a:rPr lang="ru-RU" dirty="0"/>
              <a:t>Образование в составе Российской империи: на Венском конгрессе (1815 г.) из территории герцогства Варшавского.</a:t>
            </a:r>
          </a:p>
          <a:p>
            <a:r>
              <a:rPr lang="ru-RU" dirty="0"/>
              <a:t>Права автономии:</a:t>
            </a:r>
          </a:p>
          <a:p>
            <a:r>
              <a:rPr lang="ru-RU" dirty="0"/>
              <a:t>Конституция (Учредительная хартия),</a:t>
            </a:r>
          </a:p>
          <a:p>
            <a:r>
              <a:rPr lang="ru-RU" dirty="0"/>
              <a:t>двухпалатный законосовещательный сейм (1818, 1820 и 1825 гг.),</a:t>
            </a:r>
          </a:p>
          <a:p>
            <a:r>
              <a:rPr lang="ru-RU" dirty="0"/>
              <a:t>исполнительная власть: наместник, Государственный  и административный советы;</a:t>
            </a:r>
          </a:p>
          <a:p>
            <a:r>
              <a:rPr lang="ru-RU" dirty="0"/>
              <a:t>самостоятельная судебная система;</a:t>
            </a:r>
          </a:p>
          <a:p>
            <a:r>
              <a:rPr lang="ru-RU" dirty="0"/>
              <a:t>отдельная армия;</a:t>
            </a:r>
          </a:p>
          <a:p>
            <a:r>
              <a:rPr lang="ru-RU" dirty="0"/>
              <a:t>государственный язык – польский;</a:t>
            </a:r>
          </a:p>
          <a:p>
            <a:r>
              <a:rPr lang="ru-RU" dirty="0"/>
              <a:t>городское самоуправление.</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628799"/>
            <a:ext cx="2080794" cy="2826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Скругленный прямоугольник 3"/>
          <p:cNvSpPr/>
          <p:nvPr/>
        </p:nvSpPr>
        <p:spPr>
          <a:xfrm>
            <a:off x="6588224" y="4725144"/>
            <a:ext cx="1944216" cy="108012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sz="1600" dirty="0"/>
              <a:t>Первый наместник</a:t>
            </a:r>
            <a:r>
              <a:rPr lang="en-US" sz="1600" dirty="0"/>
              <a:t> -</a:t>
            </a:r>
            <a:r>
              <a:rPr lang="ru-RU" sz="1600" dirty="0"/>
              <a:t> Иосиф Зайончик</a:t>
            </a:r>
          </a:p>
        </p:txBody>
      </p:sp>
    </p:spTree>
    <p:extLst>
      <p:ext uri="{BB962C8B-B14F-4D97-AF65-F5344CB8AC3E}">
        <p14:creationId xmlns:p14="http://schemas.microsoft.com/office/powerpoint/2010/main" val="2643771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936104"/>
          </a:xfrm>
        </p:spPr>
        <p:txBody>
          <a:bodyPr/>
          <a:lstStyle/>
          <a:p>
            <a:r>
              <a:rPr lang="ru-RU" sz="3200" dirty="0"/>
              <a:t>Польша после восстания 1830-1831 гг.:</a:t>
            </a:r>
          </a:p>
        </p:txBody>
      </p:sp>
      <p:sp>
        <p:nvSpPr>
          <p:cNvPr id="3" name="Объект 2"/>
          <p:cNvSpPr>
            <a:spLocks noGrp="1"/>
          </p:cNvSpPr>
          <p:nvPr>
            <p:ph idx="1"/>
          </p:nvPr>
        </p:nvSpPr>
        <p:spPr>
          <a:xfrm>
            <a:off x="467544" y="1340768"/>
            <a:ext cx="6059016" cy="4525963"/>
          </a:xfrm>
        </p:spPr>
        <p:txBody>
          <a:bodyPr>
            <a:normAutofit fontScale="85000" lnSpcReduction="10000"/>
          </a:bodyPr>
          <a:lstStyle/>
          <a:p>
            <a:r>
              <a:rPr lang="ru-RU" dirty="0"/>
              <a:t>Отмена Конституции.</a:t>
            </a:r>
          </a:p>
          <a:p>
            <a:r>
              <a:rPr lang="ru-RU" dirty="0"/>
              <a:t>Передача административных полномочий наместнику, ликвидация государственного совета и наделение наместника диктаторскими полномочиями.</a:t>
            </a:r>
          </a:p>
          <a:p>
            <a:r>
              <a:rPr lang="ru-RU" dirty="0"/>
              <a:t>Преобразование воеводств в губернии.</a:t>
            </a:r>
          </a:p>
          <a:p>
            <a:r>
              <a:rPr lang="ru-RU" dirty="0"/>
              <a:t> Перевод делопроизводства на русский язык.</a:t>
            </a:r>
          </a:p>
          <a:p>
            <a:r>
              <a:rPr lang="ru-RU" dirty="0"/>
              <a:t>Размещение гарнизонов русской армии.</a:t>
            </a:r>
          </a:p>
          <a:p>
            <a:r>
              <a:rPr lang="ru-RU" dirty="0"/>
              <a:t>Закрытие Виленского и Варшавского университетов</a:t>
            </a:r>
          </a:p>
          <a:p>
            <a:r>
              <a:rPr lang="ru-RU" dirty="0"/>
              <a:t>Перевод системы образования на русский язык.</a:t>
            </a:r>
          </a:p>
        </p:txBody>
      </p:sp>
      <p:pic>
        <p:nvPicPr>
          <p:cNvPr id="3074" name="Picture 2" descr="http://art-grafika.ru/_ph/1/2/902998555.jpg?1500544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1340768"/>
            <a:ext cx="1919175" cy="2579536"/>
          </a:xfrm>
          <a:prstGeom prst="rect">
            <a:avLst/>
          </a:prstGeom>
          <a:noFill/>
          <a:extLst>
            <a:ext uri="{909E8E84-426E-40DD-AFC4-6F175D3DCCD1}">
              <a14:hiddenFill xmlns:a14="http://schemas.microsoft.com/office/drawing/2010/main">
                <a:solidFill>
                  <a:srgbClr val="FFFFFF"/>
                </a:solidFill>
              </a14:hiddenFill>
            </a:ext>
          </a:extLst>
        </p:spPr>
      </p:pic>
      <p:sp>
        <p:nvSpPr>
          <p:cNvPr id="4" name="Скругленный прямоугольник 3"/>
          <p:cNvSpPr/>
          <p:nvPr/>
        </p:nvSpPr>
        <p:spPr>
          <a:xfrm>
            <a:off x="6732240" y="4293096"/>
            <a:ext cx="1919175" cy="11521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sz="1600" dirty="0"/>
              <a:t>Князь Паскевич – наместник Польши в 1832 – 1856 гг.</a:t>
            </a:r>
          </a:p>
        </p:txBody>
      </p:sp>
    </p:spTree>
    <p:extLst>
      <p:ext uri="{BB962C8B-B14F-4D97-AF65-F5344CB8AC3E}">
        <p14:creationId xmlns:p14="http://schemas.microsoft.com/office/powerpoint/2010/main" val="201040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864096"/>
          </a:xfrm>
        </p:spPr>
        <p:txBody>
          <a:bodyPr/>
          <a:lstStyle/>
          <a:p>
            <a:r>
              <a:rPr lang="ru-RU" sz="3200" dirty="0"/>
              <a:t>Польша после восстания 1863-1864 гг.:</a:t>
            </a:r>
          </a:p>
        </p:txBody>
      </p:sp>
      <p:sp>
        <p:nvSpPr>
          <p:cNvPr id="3" name="Объект 2"/>
          <p:cNvSpPr>
            <a:spLocks noGrp="1"/>
          </p:cNvSpPr>
          <p:nvPr>
            <p:ph idx="1"/>
          </p:nvPr>
        </p:nvSpPr>
        <p:spPr>
          <a:xfrm>
            <a:off x="457200" y="1268760"/>
            <a:ext cx="8229600" cy="4857403"/>
          </a:xfrm>
        </p:spPr>
        <p:txBody>
          <a:bodyPr>
            <a:normAutofit fontScale="92500" lnSpcReduction="20000"/>
          </a:bodyPr>
          <a:lstStyle/>
          <a:p>
            <a:r>
              <a:rPr lang="ru-RU" dirty="0"/>
              <a:t>Создание Комитета по делам Царства польского.</a:t>
            </a:r>
          </a:p>
          <a:p>
            <a:r>
              <a:rPr lang="ru-RU" dirty="0"/>
              <a:t>Проведение крестьянской реформы с передачей крестьянам земли, которую они обрабатывали.</a:t>
            </a:r>
          </a:p>
          <a:p>
            <a:r>
              <a:rPr lang="ru-RU" dirty="0"/>
              <a:t>Ликвидация церковного землевладения и закрытие католических монастырей.</a:t>
            </a:r>
          </a:p>
          <a:p>
            <a:r>
              <a:rPr lang="ru-RU" dirty="0"/>
              <a:t>Создание Холмской православной епархии и упразднение униатской церкви.</a:t>
            </a:r>
          </a:p>
          <a:p>
            <a:r>
              <a:rPr lang="ru-RU" dirty="0"/>
              <a:t>Распространение на Польшу российских судебных уставов, но без суда присяжных.</a:t>
            </a:r>
          </a:p>
          <a:p>
            <a:r>
              <a:rPr lang="ru-RU" dirty="0"/>
              <a:t>В Польше не проводились земская и городская реформы.</a:t>
            </a:r>
          </a:p>
          <a:p>
            <a:r>
              <a:rPr lang="ru-RU" dirty="0"/>
              <a:t>Введение обязательности русского языка в делопроизводстве, судопроизводстве и образовании.</a:t>
            </a:r>
          </a:p>
          <a:p>
            <a:r>
              <a:rPr lang="ru-RU" dirty="0"/>
              <a:t>Замена наместничества на Варшавское генерал-губернаторство, а именования «Царство польское» на именование «</a:t>
            </a:r>
            <a:r>
              <a:rPr lang="ru-RU" dirty="0" err="1"/>
              <a:t>Привислинский</a:t>
            </a:r>
            <a:r>
              <a:rPr lang="ru-RU" dirty="0"/>
              <a:t> край» (1875 г.).</a:t>
            </a:r>
          </a:p>
        </p:txBody>
      </p:sp>
    </p:spTree>
    <p:extLst>
      <p:ext uri="{BB962C8B-B14F-4D97-AF65-F5344CB8AC3E}">
        <p14:creationId xmlns:p14="http://schemas.microsoft.com/office/powerpoint/2010/main" val="3493399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358540"/>
            <a:ext cx="5266928" cy="1008112"/>
          </a:xfrm>
        </p:spPr>
        <p:txBody>
          <a:bodyPr/>
          <a:lstStyle/>
          <a:p>
            <a:pPr>
              <a:lnSpc>
                <a:spcPct val="100000"/>
              </a:lnSpc>
            </a:pPr>
            <a:r>
              <a:rPr lang="ru-RU" sz="2400" dirty="0"/>
              <a:t>Кавказская война 1817 – 1864 гг.</a:t>
            </a:r>
            <a:br>
              <a:rPr lang="ru-RU" sz="2400" dirty="0"/>
            </a:br>
            <a:r>
              <a:rPr lang="ru-RU" sz="2400" dirty="0"/>
              <a:t>Цели:</a:t>
            </a:r>
          </a:p>
        </p:txBody>
      </p:sp>
      <p:sp>
        <p:nvSpPr>
          <p:cNvPr id="3" name="Объект 2"/>
          <p:cNvSpPr>
            <a:spLocks noGrp="1"/>
          </p:cNvSpPr>
          <p:nvPr>
            <p:ph idx="1"/>
          </p:nvPr>
        </p:nvSpPr>
        <p:spPr>
          <a:xfrm>
            <a:off x="457200" y="1600200"/>
            <a:ext cx="5482952" cy="4525963"/>
          </a:xfrm>
        </p:spPr>
        <p:txBody>
          <a:bodyPr>
            <a:normAutofit fontScale="92500" lnSpcReduction="10000"/>
          </a:bodyPr>
          <a:lstStyle/>
          <a:p>
            <a:r>
              <a:rPr lang="ru-RU" dirty="0"/>
              <a:t>распространение государственной территории до Закавказья: Грузии (присоединение в 1801-1810) и Азербайджана (присоединение в 1805 – 1813 гг.);</a:t>
            </a:r>
          </a:p>
          <a:p>
            <a:r>
              <a:rPr lang="ru-RU" dirty="0"/>
              <a:t>устранение «набегов» - формы экономической жизни народов, проживающих состояние «вождества»;</a:t>
            </a:r>
          </a:p>
          <a:p>
            <a:r>
              <a:rPr lang="ru-RU" dirty="0"/>
              <a:t>ликвидация условий для возможной агрессии Турции, с опорой на мусульманские анклавы Кавказа </a:t>
            </a:r>
          </a:p>
          <a:p>
            <a:endParaRPr lang="ru-RU"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3041" y="1340768"/>
            <a:ext cx="1255215" cy="1905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5" name="Picture 5" descr="http://vneshnii-oblik.ru/assets/images/8/img87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1281" y="1301127"/>
            <a:ext cx="1362017" cy="1945039"/>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descr="http://vneshnii-oblik.ru/assets/images/8/img86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042" y="3637700"/>
            <a:ext cx="1362456" cy="188685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3985" y="3590402"/>
            <a:ext cx="1396610" cy="1934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947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Documents\ДЛЯ_УЧЕБЫ\ХИМИЧЕСКИЙ\Презентации\Первый семестр\фото\karty-kavkaza-posle-38762-larg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8758558" cy="649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72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792088"/>
          </a:xfrm>
        </p:spPr>
        <p:txBody>
          <a:bodyPr/>
          <a:lstStyle/>
          <a:p>
            <a:r>
              <a:rPr lang="ru-RU" sz="3200" dirty="0"/>
              <a:t>Методы ведения войны:</a:t>
            </a:r>
          </a:p>
        </p:txBody>
      </p:sp>
      <p:sp>
        <p:nvSpPr>
          <p:cNvPr id="3" name="Объект 2"/>
          <p:cNvSpPr>
            <a:spLocks noGrp="1"/>
          </p:cNvSpPr>
          <p:nvPr>
            <p:ph idx="1"/>
          </p:nvPr>
        </p:nvSpPr>
        <p:spPr>
          <a:xfrm>
            <a:off x="457200" y="1340768"/>
            <a:ext cx="5770984" cy="4785395"/>
          </a:xfrm>
        </p:spPr>
        <p:txBody>
          <a:bodyPr>
            <a:normAutofit fontScale="92500" lnSpcReduction="20000"/>
          </a:bodyPr>
          <a:lstStyle/>
          <a:p>
            <a:r>
              <a:rPr lang="ru-RU" dirty="0"/>
              <a:t>Создание Кавказской укрепленной линии.</a:t>
            </a:r>
          </a:p>
          <a:p>
            <a:r>
              <a:rPr lang="ru-RU" dirty="0"/>
              <a:t>Прорубка просек, строительство дорог и крепостей на территории, населенной кавказскими народами.</a:t>
            </a:r>
          </a:p>
          <a:p>
            <a:r>
              <a:rPr lang="ru-RU" dirty="0"/>
              <a:t>«Замирение» - заключение договора о вхождении в состав России под угрозой выселения.</a:t>
            </a:r>
          </a:p>
          <a:p>
            <a:r>
              <a:rPr lang="ru-RU" dirty="0"/>
              <a:t>Карательные экспедиции с полным уничтожением «враждебных» поселений.</a:t>
            </a:r>
          </a:p>
          <a:p>
            <a:r>
              <a:rPr lang="ru-RU" dirty="0"/>
              <a:t>Расселение казаков на местах, из которых были изгнаны жители Кавказа.</a:t>
            </a:r>
          </a:p>
        </p:txBody>
      </p:sp>
      <p:pic>
        <p:nvPicPr>
          <p:cNvPr id="4" name="Picture 2" descr="http://www.rulex.ru/rpg/WebPict/fullpic/0098-05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1700808"/>
            <a:ext cx="1997895" cy="2520280"/>
          </a:xfrm>
          <a:prstGeom prst="rect">
            <a:avLst/>
          </a:prstGeom>
          <a:noFill/>
          <a:extLst>
            <a:ext uri="{909E8E84-426E-40DD-AFC4-6F175D3DCCD1}">
              <a14:hiddenFill xmlns:a14="http://schemas.microsoft.com/office/drawing/2010/main">
                <a:solidFill>
                  <a:srgbClr val="FFFFFF"/>
                </a:solidFill>
              </a14:hiddenFill>
            </a:ext>
          </a:extLst>
        </p:spPr>
      </p:pic>
      <p:sp>
        <p:nvSpPr>
          <p:cNvPr id="5" name="Скругленный прямоугольник 4"/>
          <p:cNvSpPr/>
          <p:nvPr/>
        </p:nvSpPr>
        <p:spPr>
          <a:xfrm>
            <a:off x="6300192" y="4581128"/>
            <a:ext cx="2592288" cy="136815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sz="1600" dirty="0"/>
              <a:t>А.П. Ермолов – главнокомандующий армией на Кавказе в 1816 – 1827 гг.</a:t>
            </a:r>
          </a:p>
        </p:txBody>
      </p:sp>
    </p:spTree>
    <p:extLst>
      <p:ext uri="{BB962C8B-B14F-4D97-AF65-F5344CB8AC3E}">
        <p14:creationId xmlns:p14="http://schemas.microsoft.com/office/powerpoint/2010/main" val="736181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915" y="476672"/>
            <a:ext cx="8710605" cy="5514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197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32656"/>
            <a:ext cx="8229600" cy="864096"/>
          </a:xfrm>
        </p:spPr>
        <p:txBody>
          <a:bodyPr/>
          <a:lstStyle/>
          <a:p>
            <a:r>
              <a:rPr lang="ru-RU" sz="3200" dirty="0"/>
              <a:t>Ответ Кавказа: мюридизм и имамат</a:t>
            </a:r>
          </a:p>
        </p:txBody>
      </p:sp>
      <p:sp>
        <p:nvSpPr>
          <p:cNvPr id="3" name="Объект 2"/>
          <p:cNvSpPr>
            <a:spLocks noGrp="1"/>
          </p:cNvSpPr>
          <p:nvPr>
            <p:ph sz="quarter" idx="13"/>
          </p:nvPr>
        </p:nvSpPr>
        <p:spPr>
          <a:xfrm>
            <a:off x="467544" y="1700808"/>
            <a:ext cx="3168352" cy="4536504"/>
          </a:xfrm>
        </p:spPr>
        <p:txBody>
          <a:bodyPr>
            <a:normAutofit fontScale="70000" lnSpcReduction="20000"/>
          </a:bodyPr>
          <a:lstStyle/>
          <a:p>
            <a:r>
              <a:rPr lang="ru-RU" b="1" dirty="0"/>
              <a:t>Мюридизм </a:t>
            </a:r>
            <a:r>
              <a:rPr lang="ru-RU" dirty="0"/>
              <a:t>– учение в суфизме, обоснование полного и беспрекословного подчинение ученика (мюрида) учителю (суфию). </a:t>
            </a:r>
          </a:p>
          <a:p>
            <a:r>
              <a:rPr lang="ru-RU" dirty="0"/>
              <a:t>На Кавказе мюридизм стал военно-политическим обоснованием «священной войны» (газават)мусульман против «неверных».</a:t>
            </a:r>
          </a:p>
          <a:p>
            <a:r>
              <a:rPr lang="ru-RU" dirty="0"/>
              <a:t>Газават был объявлен в 1829 г. имамом Гази-Мухаммадом.</a:t>
            </a:r>
          </a:p>
          <a:p>
            <a:endParaRPr lang="ru-RU" dirty="0"/>
          </a:p>
        </p:txBody>
      </p:sp>
      <p:sp>
        <p:nvSpPr>
          <p:cNvPr id="6" name="Объект 5"/>
          <p:cNvSpPr>
            <a:spLocks noGrp="1"/>
          </p:cNvSpPr>
          <p:nvPr>
            <p:ph sz="quarter" idx="14"/>
          </p:nvPr>
        </p:nvSpPr>
        <p:spPr>
          <a:xfrm>
            <a:off x="3779912" y="1628800"/>
            <a:ext cx="2880320" cy="4425227"/>
          </a:xfrm>
        </p:spPr>
        <p:txBody>
          <a:bodyPr>
            <a:normAutofit fontScale="70000" lnSpcReduction="20000"/>
          </a:bodyPr>
          <a:lstStyle/>
          <a:p>
            <a:r>
              <a:rPr lang="ru-RU" b="1" dirty="0"/>
              <a:t>Имамат</a:t>
            </a:r>
            <a:r>
              <a:rPr lang="ru-RU" dirty="0"/>
              <a:t> – государственно-политическая форма объединения «правоверных», в которой светская (в том числе военная) и духовная власть полностью соединены.</a:t>
            </a:r>
          </a:p>
          <a:p>
            <a:r>
              <a:rPr lang="ru-RU" dirty="0"/>
              <a:t>Первый имамат Северного Кавказа – Гази-Мухаммада, 1829 – 1831 гг.</a:t>
            </a:r>
          </a:p>
          <a:p>
            <a:r>
              <a:rPr lang="ru-RU" dirty="0"/>
              <a:t>Второй имамат – Гамзат-Бека, 1832-1834.</a:t>
            </a:r>
          </a:p>
          <a:p>
            <a:r>
              <a:rPr lang="ru-RU" dirty="0"/>
              <a:t>Третий имамат – Шамиля, 1834-1866 гг.</a:t>
            </a:r>
          </a:p>
        </p:txBody>
      </p:sp>
      <p:pic>
        <p:nvPicPr>
          <p:cNvPr id="7172" name="Picture 4" descr="http://www.bratstvokazakov.ru/images/stories/shami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1484784"/>
            <a:ext cx="1813619" cy="3220989"/>
          </a:xfrm>
          <a:prstGeom prst="rect">
            <a:avLst/>
          </a:prstGeom>
          <a:noFill/>
          <a:extLst>
            <a:ext uri="{909E8E84-426E-40DD-AFC4-6F175D3DCCD1}">
              <a14:hiddenFill xmlns:a14="http://schemas.microsoft.com/office/drawing/2010/main">
                <a:solidFill>
                  <a:srgbClr val="FFFFFF"/>
                </a:solidFill>
              </a14:hiddenFill>
            </a:ext>
          </a:extLst>
        </p:spPr>
      </p:pic>
      <p:sp>
        <p:nvSpPr>
          <p:cNvPr id="9" name="Скругленный прямоугольник 8"/>
          <p:cNvSpPr/>
          <p:nvPr/>
        </p:nvSpPr>
        <p:spPr>
          <a:xfrm>
            <a:off x="6804248" y="4941168"/>
            <a:ext cx="1813619" cy="57606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ru-RU" dirty="0"/>
              <a:t>Шамиль</a:t>
            </a:r>
          </a:p>
        </p:txBody>
      </p:sp>
    </p:spTree>
    <p:extLst>
      <p:ext uri="{BB962C8B-B14F-4D97-AF65-F5344CB8AC3E}">
        <p14:creationId xmlns:p14="http://schemas.microsoft.com/office/powerpoint/2010/main" val="4210401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a:xfrm>
            <a:off x="457200" y="260648"/>
            <a:ext cx="8229600" cy="648072"/>
          </a:xfrm>
        </p:spPr>
        <p:txBody>
          <a:bodyPr/>
          <a:lstStyle/>
          <a:p>
            <a:r>
              <a:rPr lang="ru-RU" sz="3200" dirty="0"/>
              <a:t>Кавказ после присоединения</a:t>
            </a:r>
          </a:p>
        </p:txBody>
      </p:sp>
      <p:sp>
        <p:nvSpPr>
          <p:cNvPr id="8" name="Объект 7"/>
          <p:cNvSpPr>
            <a:spLocks noGrp="1"/>
          </p:cNvSpPr>
          <p:nvPr>
            <p:ph idx="1"/>
          </p:nvPr>
        </p:nvSpPr>
        <p:spPr>
          <a:xfrm>
            <a:off x="457200" y="1340768"/>
            <a:ext cx="8229600" cy="4785395"/>
          </a:xfrm>
        </p:spPr>
        <p:txBody>
          <a:bodyPr>
            <a:normAutofit fontScale="92500" lnSpcReduction="10000"/>
          </a:bodyPr>
          <a:lstStyle/>
          <a:p>
            <a:r>
              <a:rPr lang="ru-RU" dirty="0"/>
              <a:t>Введение общего для Российской империи административного производства (на русском языке) и судебных уставов.</a:t>
            </a:r>
          </a:p>
          <a:p>
            <a:r>
              <a:rPr lang="ru-RU" dirty="0"/>
              <a:t>Сохранение за местным населением прав на мусульманское вероисповедание.</a:t>
            </a:r>
          </a:p>
          <a:p>
            <a:r>
              <a:rPr lang="ru-RU" dirty="0"/>
              <a:t>Колонизация кавказских территорий казаками и выходцами из Закавказья.</a:t>
            </a:r>
          </a:p>
          <a:p>
            <a:r>
              <a:rPr lang="ru-RU" dirty="0"/>
              <a:t>«Межевание земель» с утверждением прав на пахотные земли для местного населения (1868).</a:t>
            </a:r>
          </a:p>
          <a:p>
            <a:r>
              <a:rPr lang="ru-RU" dirty="0"/>
              <a:t>Преобразование военных крепостей в города, с переселением в них русского населения (до 1/3 населения городов).</a:t>
            </a:r>
          </a:p>
          <a:p>
            <a:r>
              <a:rPr lang="ru-RU" dirty="0"/>
              <a:t>Формирование кавказских военных частей в составе вооруженных сил России. </a:t>
            </a:r>
          </a:p>
        </p:txBody>
      </p:sp>
    </p:spTree>
    <p:extLst>
      <p:ext uri="{BB962C8B-B14F-4D97-AF65-F5344CB8AC3E}">
        <p14:creationId xmlns:p14="http://schemas.microsoft.com/office/powerpoint/2010/main" val="1603299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1" y="188640"/>
            <a:ext cx="6016667"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3209594"/>
            <a:ext cx="4816813" cy="355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3728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32656"/>
            <a:ext cx="8229600" cy="792088"/>
          </a:xfrm>
        </p:spPr>
        <p:txBody>
          <a:bodyPr/>
          <a:lstStyle/>
          <a:p>
            <a:r>
              <a:rPr lang="ru-RU" sz="2800" dirty="0"/>
              <a:t>Политика в Заволжье, Предуралье и Сибири</a:t>
            </a:r>
          </a:p>
        </p:txBody>
      </p:sp>
      <p:sp>
        <p:nvSpPr>
          <p:cNvPr id="3" name="Объект 2"/>
          <p:cNvSpPr>
            <a:spLocks noGrp="1"/>
          </p:cNvSpPr>
          <p:nvPr>
            <p:ph idx="1"/>
          </p:nvPr>
        </p:nvSpPr>
        <p:spPr>
          <a:xfrm>
            <a:off x="457200" y="1268760"/>
            <a:ext cx="8229600" cy="4857403"/>
          </a:xfrm>
        </p:spPr>
        <p:txBody>
          <a:bodyPr>
            <a:normAutofit lnSpcReduction="10000"/>
          </a:bodyPr>
          <a:lstStyle/>
          <a:p>
            <a:pPr marL="0" indent="0" algn="ctr">
              <a:buNone/>
            </a:pPr>
            <a:r>
              <a:rPr lang="ru-RU" sz="1600" dirty="0"/>
              <a:t>«УСТАВ ОБ УПРАВЛЕНИИ ИНОРОДЦЕВ» от 22 июля 1822 г. </a:t>
            </a:r>
          </a:p>
          <a:p>
            <a:pPr marL="0" indent="0" algn="ctr">
              <a:buNone/>
            </a:pPr>
            <a:r>
              <a:rPr lang="ru-RU" sz="1600" dirty="0"/>
              <a:t>автор – М.М. Сперанский)</a:t>
            </a:r>
          </a:p>
          <a:p>
            <a:r>
              <a:rPr lang="ru-RU" sz="1600" dirty="0"/>
              <a:t>«Оседлые инородцы» приравнены в правах к русскому населению в зависимости от того сословия, к которому приписаны.</a:t>
            </a:r>
          </a:p>
          <a:p>
            <a:r>
              <a:rPr lang="ru-RU" sz="1600" dirty="0"/>
              <a:t>«Кочевые инородцы» приравнены в их правах к российским крестьянам.</a:t>
            </a:r>
          </a:p>
          <a:p>
            <a:r>
              <a:rPr lang="ru-RU" sz="1600" dirty="0"/>
              <a:t>За инородцами закреплены пахотные земли и земли кочевий.</a:t>
            </a:r>
          </a:p>
          <a:p>
            <a:r>
              <a:rPr lang="ru-RU" sz="1600" dirty="0"/>
              <a:t>Россиянам запрещен селиться на землях инородцев.</a:t>
            </a:r>
          </a:p>
          <a:p>
            <a:r>
              <a:rPr lang="ru-RU" sz="1600" dirty="0"/>
              <a:t>За ним сохраняется права на самоуправление («Степное управление») и традиционные формы жизни.</a:t>
            </a:r>
          </a:p>
          <a:p>
            <a:r>
              <a:rPr lang="ru-RU" sz="1600" dirty="0"/>
              <a:t>Вводится свобода вероисповедания. Запрещается насильственное крещение инородцев.</a:t>
            </a:r>
          </a:p>
          <a:p>
            <a:r>
              <a:rPr lang="ru-RU" sz="1600" dirty="0"/>
              <a:t>Уголовные преступления судятся по российским законам и российским судом.</a:t>
            </a:r>
          </a:p>
          <a:p>
            <a:r>
              <a:rPr lang="ru-RU" sz="1600" dirty="0"/>
              <a:t>Инородцам позволяется отдавать детей в российские учебные заведения и открывать собственные школы</a:t>
            </a:r>
          </a:p>
          <a:p>
            <a:r>
              <a:rPr lang="ru-RU" sz="1600" dirty="0"/>
              <a:t>Чиновникам запрещено заниматься торговыми операциями с инородцами.</a:t>
            </a:r>
          </a:p>
          <a:p>
            <a:r>
              <a:rPr lang="ru-RU" sz="1600" dirty="0"/>
              <a:t>«Сборы с инородцев»: 1) казенные подати, 2) земские повинности, 3) повинности на содержание степного управления</a:t>
            </a:r>
          </a:p>
        </p:txBody>
      </p:sp>
    </p:spTree>
    <p:extLst>
      <p:ext uri="{BB962C8B-B14F-4D97-AF65-F5344CB8AC3E}">
        <p14:creationId xmlns:p14="http://schemas.microsoft.com/office/powerpoint/2010/main" val="2212483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936104"/>
          </a:xfrm>
        </p:spPr>
        <p:txBody>
          <a:bodyPr/>
          <a:lstStyle/>
          <a:p>
            <a:r>
              <a:rPr lang="ru-RU" sz="3200" dirty="0"/>
              <a:t>Политика в Средней Азии.</a:t>
            </a:r>
          </a:p>
        </p:txBody>
      </p:sp>
      <p:sp>
        <p:nvSpPr>
          <p:cNvPr id="3" name="Объект 2"/>
          <p:cNvSpPr>
            <a:spLocks noGrp="1"/>
          </p:cNvSpPr>
          <p:nvPr>
            <p:ph idx="1"/>
          </p:nvPr>
        </p:nvSpPr>
        <p:spPr>
          <a:xfrm>
            <a:off x="457200" y="1412776"/>
            <a:ext cx="8229600" cy="4713387"/>
          </a:xfrm>
        </p:spPr>
        <p:txBody>
          <a:bodyPr>
            <a:normAutofit fontScale="92500" lnSpcReduction="10000"/>
          </a:bodyPr>
          <a:lstStyle/>
          <a:p>
            <a:r>
              <a:rPr lang="ru-RU" dirty="0"/>
              <a:t>Хивинское, Кокандское ханства и бухарский эмират были объявлены протекторатами России. После восстания в Кокандском ханстве 1875 г. оно было ликвидировано и преобразовано в Ферганскую область.</a:t>
            </a:r>
          </a:p>
          <a:p>
            <a:r>
              <a:rPr lang="ru-RU" dirty="0"/>
              <a:t>В Средней Азии была запрещена работорговля.</a:t>
            </a:r>
          </a:p>
          <a:p>
            <a:r>
              <a:rPr lang="ru-RU" dirty="0"/>
              <a:t>Земельная собственность местных феодалов была подтверждена.</a:t>
            </a:r>
          </a:p>
          <a:p>
            <a:r>
              <a:rPr lang="ru-RU" dirty="0"/>
              <a:t>Сохранились в полном масштабе религиозные и традиционные формы жизни.</a:t>
            </a:r>
          </a:p>
          <a:p>
            <a:r>
              <a:rPr lang="ru-RU" dirty="0"/>
              <a:t>Резко выросла торговля со Средней Азией через Оренбург.</a:t>
            </a:r>
          </a:p>
          <a:p>
            <a:r>
              <a:rPr lang="ru-RU" dirty="0"/>
              <a:t>Усилилась специализация местного с/х: производство хлопка.</a:t>
            </a:r>
          </a:p>
        </p:txBody>
      </p:sp>
    </p:spTree>
    <p:extLst>
      <p:ext uri="{BB962C8B-B14F-4D97-AF65-F5344CB8AC3E}">
        <p14:creationId xmlns:p14="http://schemas.microsoft.com/office/powerpoint/2010/main" val="2086419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3" y="163897"/>
            <a:ext cx="7920880" cy="641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1101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1368152"/>
          </a:xfrm>
        </p:spPr>
        <p:txBody>
          <a:bodyPr/>
          <a:lstStyle/>
          <a:p>
            <a:pPr>
              <a:lnSpc>
                <a:spcPct val="100000"/>
              </a:lnSpc>
            </a:pPr>
            <a:r>
              <a:rPr lang="ru-RU" sz="3000" dirty="0"/>
              <a:t>Как выглядит главная проблема в </a:t>
            </a:r>
            <a:r>
              <a:rPr lang="ru-RU" sz="3000" dirty="0" err="1"/>
              <a:t>этноконфессиональной</a:t>
            </a:r>
            <a:r>
              <a:rPr lang="ru-RU" sz="3000" dirty="0"/>
              <a:t> политике России</a:t>
            </a:r>
            <a:br>
              <a:rPr lang="ru-RU" sz="3000" dirty="0"/>
            </a:br>
            <a:r>
              <a:rPr lang="en-US" sz="3000" dirty="0"/>
              <a:t>XVIII – XIX </a:t>
            </a:r>
            <a:r>
              <a:rPr lang="ru-RU" sz="3000" dirty="0"/>
              <a:t>веков </a:t>
            </a:r>
          </a:p>
        </p:txBody>
      </p:sp>
      <p:graphicFrame>
        <p:nvGraphicFramePr>
          <p:cNvPr id="4" name="Объект 3"/>
          <p:cNvGraphicFramePr>
            <a:graphicFrameLocks noGrp="1"/>
          </p:cNvGraphicFramePr>
          <p:nvPr>
            <p:ph idx="1"/>
            <p:extLst>
              <p:ext uri="{D42A27DB-BD31-4B8C-83A1-F6EECF244321}">
                <p14:modId xmlns:p14="http://schemas.microsoft.com/office/powerpoint/2010/main" val="2871227769"/>
              </p:ext>
            </p:extLst>
          </p:nvPr>
        </p:nvGraphicFramePr>
        <p:xfrm>
          <a:off x="457200" y="1916113"/>
          <a:ext cx="8229600" cy="4210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2508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сполнительная">
  <a:themeElements>
    <a:clrScheme name="Исполнительная">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Исполнительная">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Исполнитель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665</TotalTime>
  <Words>2472</Words>
  <Application>Microsoft Office PowerPoint</Application>
  <PresentationFormat>Экран (4:3)</PresentationFormat>
  <Paragraphs>188</Paragraphs>
  <Slides>28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28</vt:i4>
      </vt:variant>
    </vt:vector>
  </HeadingPairs>
  <TitlesOfParts>
    <vt:vector size="34" baseType="lpstr">
      <vt:lpstr>Arial</vt:lpstr>
      <vt:lpstr>Century Gothic</vt:lpstr>
      <vt:lpstr>Courier New</vt:lpstr>
      <vt:lpstr>Palatino Linotype</vt:lpstr>
      <vt:lpstr>Wingdings</vt:lpstr>
      <vt:lpstr>Исполнительная</vt:lpstr>
      <vt:lpstr>История России</vt:lpstr>
      <vt:lpstr>Империя как тип государственности</vt:lpstr>
      <vt:lpstr>Начало преобразования Московского княжества в «государство государств»</vt:lpstr>
      <vt:lpstr>Идеологическое обоснование имперской политики («translatio imperii»)</vt:lpstr>
      <vt:lpstr>Официальное утверждение России империей:</vt:lpstr>
      <vt:lpstr>Россия XVI века – «государство государств»</vt:lpstr>
      <vt:lpstr>Этнические представления средневековья (до XVII века)</vt:lpstr>
      <vt:lpstr>Территориальная экспансия XVII века </vt:lpstr>
      <vt:lpstr>Первый конфессиональный конфликт </vt:lpstr>
      <vt:lpstr>Перемены в этноконфессиональном составе российского дворянства в XVIII веке </vt:lpstr>
      <vt:lpstr>Цивилизационное разнообразие народов России в XVIII – XIX веках  </vt:lpstr>
      <vt:lpstr>Этноконфессиональная политика Екатерины II</vt:lpstr>
      <vt:lpstr>Финляндия в I пол. XIX в.</vt:lpstr>
      <vt:lpstr>Финляндия во II пол. XIX в.</vt:lpstr>
      <vt:lpstr>Царство Польское</vt:lpstr>
      <vt:lpstr>Польша после восстания 1830-1831 гг.:</vt:lpstr>
      <vt:lpstr>Польша после восстания 1863-1864 гг.:</vt:lpstr>
      <vt:lpstr>Кавказская война 1817 – 1864 гг. Цели:</vt:lpstr>
      <vt:lpstr>Презентация PowerPoint</vt:lpstr>
      <vt:lpstr>Методы ведения войны:</vt:lpstr>
      <vt:lpstr>Презентация PowerPoint</vt:lpstr>
      <vt:lpstr>Ответ Кавказа: мюридизм и имамат</vt:lpstr>
      <vt:lpstr>Кавказ после присоединения</vt:lpstr>
      <vt:lpstr>Презентация PowerPoint</vt:lpstr>
      <vt:lpstr>Политика в Заволжье, Предуралье и Сибири</vt:lpstr>
      <vt:lpstr>Политика в Средней Азии.</vt:lpstr>
      <vt:lpstr>Презентация PowerPoint</vt:lpstr>
      <vt:lpstr>Как выглядит главная проблема в этноконфессиональной политике России XVIII – XIX веков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История России</dc:title>
  <dc:creator>User</dc:creator>
  <cp:lastModifiedBy>Константин Соловьев</cp:lastModifiedBy>
  <cp:revision>63</cp:revision>
  <dcterms:created xsi:type="dcterms:W3CDTF">2017-08-09T07:08:28Z</dcterms:created>
  <dcterms:modified xsi:type="dcterms:W3CDTF">2023-08-24T12:40:21Z</dcterms:modified>
</cp:coreProperties>
</file>