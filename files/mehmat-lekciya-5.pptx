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86" r:id="rId4"/>
    <p:sldId id="287" r:id="rId5"/>
    <p:sldId id="259" r:id="rId6"/>
    <p:sldId id="285" r:id="rId7"/>
    <p:sldId id="260" r:id="rId8"/>
    <p:sldId id="265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73" r:id="rId17"/>
    <p:sldId id="274" r:id="rId18"/>
    <p:sldId id="278" r:id="rId19"/>
    <p:sldId id="269" r:id="rId20"/>
    <p:sldId id="275" r:id="rId21"/>
    <p:sldId id="280" r:id="rId22"/>
    <p:sldId id="283" r:id="rId23"/>
    <p:sldId id="276" r:id="rId24"/>
    <p:sldId id="282" r:id="rId25"/>
    <p:sldId id="284" r:id="rId26"/>
    <p:sldId id="277" r:id="rId27"/>
    <p:sldId id="281" r:id="rId28"/>
    <p:sldId id="279" r:id="rId29"/>
    <p:sldId id="270" r:id="rId30"/>
    <p:sldId id="271" r:id="rId31"/>
    <p:sldId id="272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4D7E232-6DD9-43FC-ABF5-D0A9974D945D}" type="datetimeFigureOut">
              <a:rPr lang="ru-RU" smtClean="0"/>
              <a:t>18.11.2021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85BA91D-23D0-4F39-9CFF-E2C372D520D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3035423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Политика</a:t>
            </a:r>
            <a:br>
              <a:rPr lang="ru-RU" sz="4000" dirty="0" smtClean="0"/>
            </a:br>
            <a:r>
              <a:rPr lang="ru-RU" sz="4000" dirty="0" smtClean="0"/>
              <a:t>1920-х – 1930-х гг.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«</a:t>
            </a:r>
            <a:r>
              <a:rPr lang="ru-RU" dirty="0" err="1" smtClean="0"/>
              <a:t>Полутермидор</a:t>
            </a:r>
            <a:r>
              <a:rPr lang="ru-RU" dirty="0" smtClean="0"/>
              <a:t>» и вторая «диктатура уравнителей».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602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Стадии протекания революционного </a:t>
            </a:r>
            <a:r>
              <a:rPr lang="ru-RU" dirty="0" smtClean="0"/>
              <a:t>процесса: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010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Свержение действующей власти.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Перехват власти все более радикальной частью элиты.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Диктатура уравнителей.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«Термидор» (отказ от диктатуры уравнителей).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Постреволюционное общество классового расслоения.</a:t>
            </a:r>
          </a:p>
        </p:txBody>
      </p:sp>
    </p:spTree>
    <p:extLst>
      <p:ext uri="{BB962C8B-B14F-4D97-AF65-F5344CB8AC3E}">
        <p14:creationId xmlns:p14="http://schemas.microsoft.com/office/powerpoint/2010/main" val="162451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Первая в Новой истории «диктатура уравнителей» - якобинская</a:t>
            </a:r>
            <a:endParaRPr lang="ru-RU" sz="32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В провинции Конвент </a:t>
            </a:r>
            <a:r>
              <a:rPr lang="ru-RU" dirty="0"/>
              <a:t>отправлял комиссаров, обладавших огромными </a:t>
            </a:r>
            <a:r>
              <a:rPr lang="ru-RU" dirty="0" smtClean="0"/>
              <a:t>полномочиями.</a:t>
            </a:r>
          </a:p>
          <a:p>
            <a:r>
              <a:rPr lang="ru-RU" dirty="0" smtClean="0"/>
              <a:t>Монтаньяры объявляли </a:t>
            </a:r>
            <a:r>
              <a:rPr lang="ru-RU" dirty="0"/>
              <a:t>своих противников врагами народа и приговаривали к </a:t>
            </a:r>
            <a:r>
              <a:rPr lang="ru-RU" dirty="0" smtClean="0"/>
              <a:t>гильотинированию.</a:t>
            </a:r>
          </a:p>
          <a:p>
            <a:r>
              <a:rPr lang="ru-RU" dirty="0" smtClean="0"/>
              <a:t>Монтаньяры </a:t>
            </a:r>
            <a:r>
              <a:rPr lang="ru-RU" dirty="0"/>
              <a:t>отменили все сеньориальные повинности и стали распродавать крестьянам земли эмигрантов. </a:t>
            </a:r>
            <a:r>
              <a:rPr lang="ru-RU" dirty="0" smtClean="0"/>
              <a:t>Они </a:t>
            </a:r>
            <a:r>
              <a:rPr lang="ru-RU" dirty="0"/>
              <a:t>ввели максимум, до которого могли подниматься цены на самые необходимые товары, в том числе на </a:t>
            </a:r>
            <a:r>
              <a:rPr lang="ru-RU" dirty="0" smtClean="0"/>
              <a:t>хлеб.</a:t>
            </a:r>
          </a:p>
          <a:p>
            <a:r>
              <a:rPr lang="ru-RU" dirty="0" smtClean="0"/>
              <a:t>Для </a:t>
            </a:r>
            <a:r>
              <a:rPr lang="ru-RU" dirty="0"/>
              <a:t>того чтобы избежать дефицита, им пришлось силой отнимать у крестьян </a:t>
            </a:r>
            <a:r>
              <a:rPr lang="ru-RU" dirty="0" smtClean="0"/>
              <a:t>зерно (первые «продовольственные отряды».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01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3"/>
            <a:ext cx="4675017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570" y="132659"/>
            <a:ext cx="4526216" cy="3168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73016"/>
            <a:ext cx="8424936" cy="3054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915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93610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2400" dirty="0" smtClean="0"/>
              <a:t>«Военный </a:t>
            </a:r>
            <a:r>
              <a:rPr lang="ru-RU" sz="2400" dirty="0"/>
              <a:t>коммунизм</a:t>
            </a:r>
            <a:r>
              <a:rPr lang="ru-RU" sz="2400" dirty="0" smtClean="0"/>
              <a:t>» (1918-1920) </a:t>
            </a:r>
            <a:br>
              <a:rPr lang="ru-RU" sz="2400" dirty="0" smtClean="0"/>
            </a:br>
            <a:r>
              <a:rPr lang="ru-RU" sz="2400" dirty="0" smtClean="0"/>
              <a:t> 1-я диктатура уравнителей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248472"/>
          </a:xfrm>
        </p:spPr>
        <p:txBody>
          <a:bodyPr>
            <a:normAutofit fontScale="70000" lnSpcReduction="20000"/>
          </a:bodyPr>
          <a:lstStyle/>
          <a:p>
            <a:r>
              <a:rPr lang="ru-RU" sz="2900" dirty="0" smtClean="0"/>
              <a:t>«Продразверстка» – насильственное изъятие продовольствия у крестьян.</a:t>
            </a:r>
          </a:p>
          <a:p>
            <a:r>
              <a:rPr lang="ru-RU" sz="2900" dirty="0" smtClean="0"/>
              <a:t>Продовольственная диктатура: «комитеты бедноты» в деревне отстраняют от власти советы. </a:t>
            </a:r>
            <a:r>
              <a:rPr lang="ru-RU" sz="2900" dirty="0"/>
              <a:t>Организация в деревне коммун</a:t>
            </a:r>
            <a:r>
              <a:rPr lang="ru-RU" sz="2900" dirty="0" smtClean="0"/>
              <a:t>.</a:t>
            </a:r>
          </a:p>
          <a:p>
            <a:r>
              <a:rPr lang="ru-RU" sz="2900" dirty="0" smtClean="0"/>
              <a:t>Запрет на торговлю продовольствием, а затем и товарами бытового назначения. </a:t>
            </a:r>
          </a:p>
          <a:p>
            <a:r>
              <a:rPr lang="ru-RU" sz="2900" dirty="0" smtClean="0"/>
              <a:t>Национализация производства, начиная с крупного (1918) и до самого мелкого (1920).</a:t>
            </a:r>
          </a:p>
          <a:p>
            <a:r>
              <a:rPr lang="ru-RU" sz="2900" dirty="0" smtClean="0"/>
              <a:t>Создание «трудовых армий» с запретом покидать рабочее место.</a:t>
            </a:r>
          </a:p>
          <a:p>
            <a:r>
              <a:rPr lang="ru-RU" sz="2900" dirty="0" smtClean="0"/>
              <a:t>Переход от рынка к распределению благ по «карточкам».</a:t>
            </a:r>
          </a:p>
          <a:p>
            <a:r>
              <a:rPr lang="ru-RU" sz="2900" dirty="0" smtClean="0"/>
              <a:t>Массовый террор по отношению к несогласным: расстрелы, «черные списки», «взятие заложников».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109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40564" y="274638"/>
            <a:ext cx="8246236" cy="490066"/>
          </a:xfrm>
        </p:spPr>
        <p:txBody>
          <a:bodyPr/>
          <a:lstStyle/>
          <a:p>
            <a:r>
              <a:rPr lang="ru-RU" sz="3200" dirty="0" smtClean="0"/>
              <a:t>Продотряды – символ диктатуры </a:t>
            </a:r>
            <a:endParaRPr lang="ru-RU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933056"/>
            <a:ext cx="4086589" cy="257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4" y="4005064"/>
            <a:ext cx="4320480" cy="2572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05" y="980728"/>
            <a:ext cx="4116999" cy="2806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095" y="969411"/>
            <a:ext cx="4416518" cy="28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840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4000" dirty="0"/>
              <a:t>Результаты </a:t>
            </a:r>
            <a:r>
              <a:rPr lang="en-US" sz="4000" dirty="0" smtClean="0"/>
              <a:t>I</a:t>
            </a:r>
            <a:r>
              <a:rPr lang="ru-RU" sz="4000" dirty="0" smtClean="0"/>
              <a:t> </a:t>
            </a:r>
            <a:r>
              <a:rPr lang="ru-RU" sz="4000" dirty="0"/>
              <a:t>диктатуры уравнителей.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457200" y="1673352"/>
            <a:ext cx="2602632" cy="3699864"/>
          </a:xfrm>
        </p:spPr>
        <p:txBody>
          <a:bodyPr>
            <a:normAutofit/>
          </a:bodyPr>
          <a:lstStyle/>
          <a:p>
            <a:r>
              <a:rPr lang="ru-RU" dirty="0" smtClean="0"/>
              <a:t>Победа большевиков в Гражданской войне.</a:t>
            </a:r>
          </a:p>
          <a:p>
            <a:r>
              <a:rPr lang="ru-RU" dirty="0" smtClean="0"/>
              <a:t>Изгнание из страны войск стран-интервентов.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3131840" y="1673352"/>
            <a:ext cx="5554960" cy="398789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Остановка 2/3 предприятий.</a:t>
            </a:r>
          </a:p>
          <a:p>
            <a:r>
              <a:rPr lang="ru-RU" dirty="0"/>
              <a:t>Резкое </a:t>
            </a:r>
            <a:r>
              <a:rPr lang="ru-RU" dirty="0" smtClean="0"/>
              <a:t>сокращение посевных площадей (25-40% по разным регионам).</a:t>
            </a:r>
          </a:p>
          <a:p>
            <a:r>
              <a:rPr lang="ru-RU" dirty="0" smtClean="0"/>
              <a:t>«Перебои» в работе транспорта (введено военное положение).</a:t>
            </a:r>
          </a:p>
          <a:p>
            <a:r>
              <a:rPr lang="ru-RU" dirty="0" smtClean="0"/>
              <a:t>«Разруха» в коммунальной сфере (жилье, городской транспорт, снабжение теплом и электричеством).</a:t>
            </a:r>
          </a:p>
          <a:p>
            <a:r>
              <a:rPr lang="ru-RU" dirty="0" smtClean="0"/>
              <a:t>Полное разрушение денежной системы.</a:t>
            </a:r>
          </a:p>
          <a:p>
            <a:r>
              <a:rPr lang="ru-RU" dirty="0" smtClean="0"/>
              <a:t>«Голод 1921 г.» - 35 губерний. Гибель около 5 млн чел.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0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sz="2400" dirty="0" smtClean="0"/>
              <a:t>Народный ответ на политику «военного коммунизма»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39248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Более 2 млн эмигрантов – несогласных с политикой большевиков</a:t>
            </a:r>
            <a:r>
              <a:rPr lang="en-US" dirty="0" smtClean="0"/>
              <a:t> </a:t>
            </a:r>
            <a:r>
              <a:rPr lang="ru-RU" dirty="0" smtClean="0"/>
              <a:t>и «чуждых элементов».</a:t>
            </a:r>
          </a:p>
          <a:p>
            <a:r>
              <a:rPr lang="ru-RU" dirty="0" smtClean="0"/>
              <a:t>«Размывание» рабочего класса – переезд рабочих из городов в деревню.</a:t>
            </a:r>
          </a:p>
          <a:p>
            <a:r>
              <a:rPr lang="ru-RU" dirty="0" smtClean="0"/>
              <a:t>«Мешочничество» и «спекуляция»: создание «серого» и «черного» рынка по торговле всем, что запрещено.</a:t>
            </a:r>
          </a:p>
          <a:p>
            <a:r>
              <a:rPr lang="ru-RU" dirty="0" smtClean="0"/>
              <a:t>Тамбовское восстание 1920-1921 гг. («</a:t>
            </a:r>
            <a:r>
              <a:rPr lang="ru-RU" dirty="0" err="1" smtClean="0"/>
              <a:t>Антоновщина</a:t>
            </a:r>
            <a:r>
              <a:rPr lang="ru-RU" dirty="0" smtClean="0"/>
              <a:t>») – партизанское антибольшевистское движение в Тамбовской и соседних губерниях с числом участников до 50 тыс. чел.</a:t>
            </a:r>
          </a:p>
          <a:p>
            <a:r>
              <a:rPr lang="ru-RU" dirty="0" smtClean="0"/>
              <a:t>Восстания в Красной Армии лета–осени 1920 г.</a:t>
            </a:r>
          </a:p>
          <a:p>
            <a:r>
              <a:rPr lang="ru-RU" dirty="0" smtClean="0"/>
              <a:t>Восстания казаков Дона и Кубани – осень 1920 г.</a:t>
            </a:r>
          </a:p>
          <a:p>
            <a:r>
              <a:rPr lang="ru-RU" dirty="0" smtClean="0"/>
              <a:t>Восстание в Западной Сибири – февраль 1921 г.</a:t>
            </a:r>
          </a:p>
          <a:p>
            <a:r>
              <a:rPr lang="ru-RU" dirty="0" smtClean="0"/>
              <a:t>Восстание в Кронштадте (1-18 марта 1918 г.) под лозунгами: «Долой продразверстку» и «Советы без коммунистов».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997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339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Революционный процесс. «Модельный Термидор».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3322712" cy="36290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27 июля 1794 года (9 термидора II года по республиканскому календарю) </a:t>
            </a:r>
            <a:r>
              <a:rPr lang="ru-RU" dirty="0" smtClean="0"/>
              <a:t>заговорщики из числа революционеров арестовали Робеспьера, Сен-Жюста и Кутона, положив конец якобинской диктатуре.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132856"/>
            <a:ext cx="4391883" cy="3260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27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ctr"/>
            <a:r>
              <a:rPr lang="ru-RU" dirty="0" smtClean="0"/>
              <a:t>Что после?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Прекращен революционный террор.</a:t>
            </a:r>
          </a:p>
          <a:p>
            <a:r>
              <a:rPr lang="ru-RU" dirty="0" smtClean="0"/>
              <a:t>Ликвидированы фиксированные цены на продовольствие. Восстановлен свободный рынок.</a:t>
            </a:r>
          </a:p>
          <a:p>
            <a:r>
              <a:rPr lang="ru-RU" dirty="0" smtClean="0"/>
              <a:t>Восстановлена частная собственность в полном объеме (В городах! Земли дворянам не вернули).</a:t>
            </a:r>
          </a:p>
          <a:p>
            <a:r>
              <a:rPr lang="ru-RU" dirty="0" smtClean="0"/>
              <a:t>Происходит приватизация частной собственности Появляются «</a:t>
            </a:r>
            <a:r>
              <a:rPr lang="en-US" dirty="0"/>
              <a:t>nouveau </a:t>
            </a:r>
            <a:r>
              <a:rPr lang="en-US" dirty="0" smtClean="0"/>
              <a:t>riche</a:t>
            </a:r>
            <a:r>
              <a:rPr lang="ru-RU" dirty="0" smtClean="0"/>
              <a:t>» – «новые богачи» – бывшие революционеры.</a:t>
            </a:r>
          </a:p>
          <a:p>
            <a:r>
              <a:rPr lang="ru-RU" dirty="0" smtClean="0"/>
              <a:t>Принята </a:t>
            </a:r>
            <a:r>
              <a:rPr lang="ru-RU" dirty="0"/>
              <a:t>новая «</a:t>
            </a:r>
            <a:r>
              <a:rPr lang="ru-RU" dirty="0" smtClean="0"/>
              <a:t>Конституция </a:t>
            </a:r>
            <a:r>
              <a:rPr lang="en-US" dirty="0"/>
              <a:t>III </a:t>
            </a:r>
            <a:r>
              <a:rPr lang="ru-RU" dirty="0" smtClean="0"/>
              <a:t>года» закрепляющая </a:t>
            </a:r>
            <a:r>
              <a:rPr lang="ru-RU" dirty="0"/>
              <a:t>передел собственности: избирателями могли стать только налогоплательщики; был введен имущественный ценз для кандидатов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77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/>
          <a:lstStyle/>
          <a:p>
            <a:r>
              <a:rPr lang="ru-RU" dirty="0" smtClean="0"/>
              <a:t>«</a:t>
            </a:r>
            <a:r>
              <a:rPr lang="ru-RU" sz="3600" dirty="0" smtClean="0"/>
              <a:t>Термидор»: китайский вариант</a:t>
            </a:r>
            <a:endParaRPr lang="ru-RU" sz="36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600200"/>
            <a:ext cx="5050904" cy="4277072"/>
          </a:xfrm>
        </p:spPr>
        <p:txBody>
          <a:bodyPr>
            <a:normAutofit/>
          </a:bodyPr>
          <a:lstStyle/>
          <a:p>
            <a:r>
              <a:rPr lang="ru-RU" dirty="0" smtClean="0"/>
              <a:t>Ден Сяопин: революционер с 1928 г., один из руководителей «Великого похода» в гражданскую войну, с 1957 г. – 1966 (до начала «культурной революции») генеральный секретарь КПК, с 1975 – 1980 вице-премьер.</a:t>
            </a:r>
          </a:p>
          <a:p>
            <a:r>
              <a:rPr lang="ru-RU" dirty="0" smtClean="0"/>
              <a:t>С 1980 – неформальный лидер руководства Китая.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484784"/>
            <a:ext cx="3204102" cy="427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24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«Термидор»: китайский вариант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908720"/>
            <a:ext cx="8157592" cy="5472608"/>
          </a:xfrm>
        </p:spPr>
        <p:txBody>
          <a:bodyPr>
            <a:noAutofit/>
          </a:bodyPr>
          <a:lstStyle/>
          <a:p>
            <a:r>
              <a:rPr lang="ru-RU" sz="1800" dirty="0" smtClean="0"/>
              <a:t>Ликвидация политики «Культурной революции» (идеологического террора, проводимого силами молодежи) с заменой на «Пекинскую весну» – политику терпимости к несогласным.</a:t>
            </a:r>
          </a:p>
          <a:p>
            <a:r>
              <a:rPr lang="ru-RU" sz="1800" dirty="0" smtClean="0"/>
              <a:t>Резкое улучшение отношений со странами Запада и Японией. Привлечение иностранных инвестиций и технологий в экономику Китая.</a:t>
            </a:r>
          </a:p>
          <a:p>
            <a:r>
              <a:rPr lang="ru-RU" sz="1800" dirty="0" smtClean="0"/>
              <a:t>Возвращение колоний западных стран с сохранением частной собственности. </a:t>
            </a:r>
            <a:r>
              <a:rPr lang="ru-RU" sz="1800" b="1" dirty="0" smtClean="0"/>
              <a:t>Принцип: «одна страна – две системы».</a:t>
            </a:r>
          </a:p>
          <a:p>
            <a:r>
              <a:rPr lang="ru-RU" sz="1800" dirty="0" smtClean="0"/>
              <a:t>Политика обучения молодых специалистов в западных вузах.</a:t>
            </a:r>
          </a:p>
          <a:p>
            <a:r>
              <a:rPr lang="ru-RU" sz="1800" dirty="0" smtClean="0"/>
              <a:t>Экономическая политика «четырех модернизаций», с опорой на передовые технологии: оборона, с/х, промышленность и наука.</a:t>
            </a:r>
          </a:p>
          <a:p>
            <a:r>
              <a:rPr lang="ru-RU" sz="1800" dirty="0" smtClean="0"/>
              <a:t>Создание </a:t>
            </a:r>
            <a:r>
              <a:rPr lang="ru-RU" sz="1800" b="1" dirty="0" smtClean="0"/>
              <a:t>зон «свободной торговли» </a:t>
            </a:r>
            <a:r>
              <a:rPr lang="ru-RU" sz="1800" dirty="0" smtClean="0"/>
              <a:t>и предоставление провинциальному руководству права на экономические эксперименты.</a:t>
            </a:r>
          </a:p>
          <a:p>
            <a:r>
              <a:rPr lang="ru-RU" sz="1800" dirty="0" smtClean="0"/>
              <a:t>Введение принципа ротации управленческих кадров не реже чем раз в 10 лет.</a:t>
            </a:r>
          </a:p>
          <a:p>
            <a:r>
              <a:rPr lang="ru-RU" sz="1800" dirty="0" smtClean="0"/>
              <a:t>Введение в практику </a:t>
            </a:r>
            <a:r>
              <a:rPr lang="ru-RU" sz="1800" b="1" dirty="0" smtClean="0"/>
              <a:t>конкуренции различных идеологических «платформ»</a:t>
            </a:r>
            <a:r>
              <a:rPr lang="ru-RU" sz="1800" dirty="0" smtClean="0"/>
              <a:t> внутри КПК.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5233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92088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ru-RU" sz="2800" dirty="0" smtClean="0"/>
              <a:t>«Новая экономическая политика» (НЭП) – мягкий вариант «термидорианской» политики (1921-1928).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268760"/>
            <a:ext cx="8463280" cy="4536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 smtClean="0"/>
              <a:t>Март 1921 г. Х съезд: замена продразверстки - продналогом. </a:t>
            </a:r>
            <a:r>
              <a:rPr lang="ru-RU" sz="1800" b="1" dirty="0" smtClean="0"/>
              <a:t>Затем</a:t>
            </a:r>
            <a:r>
              <a:rPr lang="ru-RU" sz="1800" dirty="0" smtClean="0"/>
              <a:t>:</a:t>
            </a:r>
          </a:p>
          <a:p>
            <a:r>
              <a:rPr lang="ru-RU" sz="1800" dirty="0" smtClean="0"/>
              <a:t>Роспуск коммун и части совхозов. Разрешена аренда земли.</a:t>
            </a:r>
          </a:p>
          <a:p>
            <a:r>
              <a:rPr lang="ru-RU" sz="1800" dirty="0" smtClean="0"/>
              <a:t>Восстановление права на торговлю.</a:t>
            </a:r>
          </a:p>
          <a:p>
            <a:r>
              <a:rPr lang="ru-RU" sz="1800" dirty="0" smtClean="0"/>
              <a:t>Отмена трудовой повинности.</a:t>
            </a:r>
          </a:p>
          <a:p>
            <a:r>
              <a:rPr lang="ru-RU" sz="1800" dirty="0" smtClean="0"/>
              <a:t>Восстановление прав частной собственности в торговле, сфере услуг и мелком производстве. Появление «нэпманов» (новых </a:t>
            </a:r>
            <a:r>
              <a:rPr lang="ru-RU" sz="1800" dirty="0"/>
              <a:t>б</a:t>
            </a:r>
            <a:r>
              <a:rPr lang="ru-RU" sz="1800" dirty="0" smtClean="0"/>
              <a:t>огачей).</a:t>
            </a:r>
          </a:p>
          <a:p>
            <a:r>
              <a:rPr lang="ru-RU" sz="1800" dirty="0" smtClean="0"/>
              <a:t>Введение «червонца». Восстановление денежной и банковской систем.</a:t>
            </a:r>
          </a:p>
          <a:p>
            <a:r>
              <a:rPr lang="ru-RU" sz="1800" dirty="0" smtClean="0"/>
              <a:t>Создание системы «хозрасчета» (рыночных отношений) для объединений государственных предприятий – трестов.</a:t>
            </a:r>
          </a:p>
          <a:p>
            <a:r>
              <a:rPr lang="ru-RU" sz="1800" dirty="0" smtClean="0"/>
              <a:t>Разрешение концессий на добычу полезных ископаемых для зарубежных инвесторов</a:t>
            </a:r>
          </a:p>
          <a:p>
            <a:r>
              <a:rPr lang="ru-RU" sz="1800" dirty="0" smtClean="0"/>
              <a:t>Разрешение на работу частных типографий.</a:t>
            </a:r>
            <a:endParaRPr lang="ru-RU" sz="18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99592" y="5805264"/>
            <a:ext cx="7632848" cy="7200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Первый вариант «термидора» никак не затрагивает политическую сферу и систему управления.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724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47328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Российские «термидорианцы» и их противники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052736"/>
            <a:ext cx="3931920" cy="504056"/>
          </a:xfrm>
        </p:spPr>
        <p:txBody>
          <a:bodyPr/>
          <a:lstStyle/>
          <a:p>
            <a:r>
              <a:rPr lang="ru-RU" dirty="0" smtClean="0"/>
              <a:t>«термидорианцы»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052736"/>
            <a:ext cx="3931920" cy="504056"/>
          </a:xfrm>
        </p:spPr>
        <p:txBody>
          <a:bodyPr/>
          <a:lstStyle/>
          <a:p>
            <a:r>
              <a:rPr lang="ru-RU" dirty="0"/>
              <a:t>и</a:t>
            </a:r>
            <a:r>
              <a:rPr lang="ru-RU" dirty="0" smtClean="0"/>
              <a:t>х противники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700808"/>
            <a:ext cx="3250704" cy="4248472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В.И. Ленин: идеолог НЭПа, автор концепции «использования преимуществ буржуазного строя» для построения социализма.</a:t>
            </a:r>
          </a:p>
          <a:p>
            <a:r>
              <a:rPr lang="ru-RU" dirty="0" smtClean="0"/>
              <a:t> Ф.Н. Дзержинский (на посту председателя ВСНХ) – отстаивал приоритеты экономики по отношению к политике, доказывал необходимость поддержки мелкого предпринимательства.</a:t>
            </a:r>
          </a:p>
          <a:p>
            <a:r>
              <a:rPr lang="ru-RU" dirty="0" smtClean="0"/>
              <a:t>Н.И. Бухарин – автор лозунга «обогащайтесь» по отношению к крестьянам.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830304" y="1628800"/>
            <a:ext cx="3054063" cy="4104456"/>
          </a:xfrm>
        </p:spPr>
        <p:txBody>
          <a:bodyPr>
            <a:noAutofit/>
          </a:bodyPr>
          <a:lstStyle/>
          <a:p>
            <a:r>
              <a:rPr lang="ru-RU" sz="1500" dirty="0" smtClean="0"/>
              <a:t>Л.Д. Троцкий. Автор теории «перманентной революции», предусматривающий преобразование страны в «военный лагерь» в ожидании новой «революционной войны».</a:t>
            </a:r>
          </a:p>
          <a:p>
            <a:r>
              <a:rPr lang="ru-RU" sz="1500" dirty="0" smtClean="0"/>
              <a:t>Г.Е. Зиновьев (председатель Коминтерна) </a:t>
            </a:r>
            <a:endParaRPr lang="ru-RU" sz="1500" dirty="0"/>
          </a:p>
          <a:p>
            <a:r>
              <a:rPr lang="ru-RU" sz="1500" dirty="0" smtClean="0"/>
              <a:t>Л.Б. Каменев (зам Председателя СНК до 1924 г. и председатель СТО) – обвиняли сторонников развития идей НЭПа в измене делу пролетариата и повороту к «мелко-буржуазности».</a:t>
            </a:r>
            <a:endParaRPr lang="ru-RU" sz="1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988840"/>
            <a:ext cx="978385" cy="82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778" y="3429000"/>
            <a:ext cx="662757" cy="865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51" y="4509120"/>
            <a:ext cx="827610" cy="1103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055" y="1625038"/>
            <a:ext cx="820491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3019514"/>
            <a:ext cx="875170" cy="974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497" y="4368318"/>
            <a:ext cx="945654" cy="1244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042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63352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Достижения НЭПа между 1923 и 1927 гг.: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24847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Восстановление рынка продовольствия и ликвидация голода.</a:t>
            </a:r>
          </a:p>
          <a:p>
            <a:r>
              <a:rPr lang="ru-RU" dirty="0" smtClean="0"/>
              <a:t>Начало продаж зерна за границу.</a:t>
            </a:r>
          </a:p>
          <a:p>
            <a:r>
              <a:rPr lang="ru-RU" dirty="0" smtClean="0"/>
              <a:t>Восстановление основных показателей развитии промышленности и транспорта на уровне 1913 г.</a:t>
            </a:r>
          </a:p>
          <a:p>
            <a:r>
              <a:rPr lang="ru-RU" dirty="0" smtClean="0"/>
              <a:t>Превышение уровня 1913 г. в производстве электричества (план ГОЭЛРо).</a:t>
            </a:r>
          </a:p>
          <a:p>
            <a:r>
              <a:rPr lang="ru-RU" dirty="0" smtClean="0"/>
              <a:t>Создание стабильной кредитной системы и международно-признанной валюты.</a:t>
            </a:r>
          </a:p>
          <a:p>
            <a:r>
              <a:rPr lang="ru-RU" dirty="0" smtClean="0"/>
              <a:t>Достижение уровня жизни рабочих, равного 1913 г.</a:t>
            </a:r>
          </a:p>
          <a:p>
            <a:r>
              <a:rPr lang="ru-RU" dirty="0" smtClean="0"/>
              <a:t>Формирование крупной (до 30%) прослойки «середняцких» хозяйств в деревне (при 4-5% «зажиточных» хозяйств).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20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23528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Два варианта развития страны</a:t>
            </a:r>
            <a:endParaRPr lang="ru-RU" sz="36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Бухарин - Рыков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Троцкий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smtClean="0"/>
              <a:t>Идеологическая основа</a:t>
            </a:r>
            <a:r>
              <a:rPr lang="ru-RU" dirty="0" smtClean="0"/>
              <a:t>: «противостояние мировому капиталу в экономике».</a:t>
            </a:r>
          </a:p>
          <a:p>
            <a:r>
              <a:rPr lang="ru-RU" b="1" dirty="0" smtClean="0"/>
              <a:t>Социальная база</a:t>
            </a:r>
            <a:r>
              <a:rPr lang="ru-RU" dirty="0" smtClean="0"/>
              <a:t>: «союз рабочего класса и крестьянства».</a:t>
            </a:r>
          </a:p>
          <a:p>
            <a:r>
              <a:rPr lang="ru-RU" b="1" dirty="0" smtClean="0"/>
              <a:t>Лозунг</a:t>
            </a:r>
            <a:r>
              <a:rPr lang="ru-RU" dirty="0" smtClean="0"/>
              <a:t>: «обогащайтесь».</a:t>
            </a:r>
          </a:p>
          <a:p>
            <a:r>
              <a:rPr lang="ru-RU" b="1" dirty="0" smtClean="0"/>
              <a:t>Направление развития</a:t>
            </a:r>
            <a:r>
              <a:rPr lang="ru-RU" dirty="0" smtClean="0"/>
              <a:t>: от С\Х к промышленности.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/>
              <a:t>Идеологическая основа</a:t>
            </a:r>
            <a:r>
              <a:rPr lang="ru-RU" dirty="0"/>
              <a:t>: </a:t>
            </a:r>
            <a:r>
              <a:rPr lang="ru-RU" dirty="0" smtClean="0"/>
              <a:t>«перманентная революция».</a:t>
            </a:r>
            <a:endParaRPr lang="ru-RU" dirty="0"/>
          </a:p>
          <a:p>
            <a:r>
              <a:rPr lang="ru-RU" b="1" dirty="0"/>
              <a:t>Социальная база: </a:t>
            </a:r>
            <a:r>
              <a:rPr lang="ru-RU" dirty="0" smtClean="0"/>
              <a:t>«пролетарский интернационал».</a:t>
            </a:r>
            <a:endParaRPr lang="ru-RU" dirty="0"/>
          </a:p>
          <a:p>
            <a:r>
              <a:rPr lang="ru-RU" b="1" dirty="0"/>
              <a:t>Лозунг</a:t>
            </a:r>
            <a:r>
              <a:rPr lang="ru-RU" dirty="0"/>
              <a:t>: </a:t>
            </a:r>
            <a:r>
              <a:rPr lang="ru-RU" dirty="0" smtClean="0"/>
              <a:t>«даешь сверхиндустриализацию».</a:t>
            </a:r>
            <a:endParaRPr lang="ru-RU" dirty="0"/>
          </a:p>
          <a:p>
            <a:r>
              <a:rPr lang="ru-RU" b="1" dirty="0"/>
              <a:t>Направление развития</a:t>
            </a:r>
            <a:r>
              <a:rPr lang="ru-RU" dirty="0"/>
              <a:t>: </a:t>
            </a:r>
            <a:r>
              <a:rPr lang="ru-RU" dirty="0" smtClean="0"/>
              <a:t>военизация промышленности для подготовки к новым битвам с капиталом.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60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2400" dirty="0" smtClean="0"/>
              <a:t>Концепция Сталина (с 1930 г.):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3"/>
            <a:ext cx="8229600" cy="4464496"/>
          </a:xfrm>
        </p:spPr>
        <p:txBody>
          <a:bodyPr>
            <a:normAutofit/>
          </a:bodyPr>
          <a:lstStyle/>
          <a:p>
            <a:r>
              <a:rPr lang="ru-RU" b="1" dirty="0"/>
              <a:t>Идеологическая основа</a:t>
            </a:r>
            <a:r>
              <a:rPr lang="ru-RU" dirty="0"/>
              <a:t>: </a:t>
            </a:r>
            <a:r>
              <a:rPr lang="ru-RU" dirty="0" smtClean="0"/>
              <a:t>«построение социализма в одной, отдельно взятой стране».</a:t>
            </a:r>
            <a:endParaRPr lang="ru-RU" dirty="0"/>
          </a:p>
          <a:p>
            <a:r>
              <a:rPr lang="ru-RU" b="1" dirty="0"/>
              <a:t>Социальная база</a:t>
            </a:r>
            <a:r>
              <a:rPr lang="ru-RU" dirty="0"/>
              <a:t>: </a:t>
            </a:r>
            <a:r>
              <a:rPr lang="ru-RU" dirty="0" smtClean="0"/>
              <a:t>передовая часть пролетариата (фактически – партийно-государственный аппарат + «органы правопорядка»).</a:t>
            </a:r>
            <a:endParaRPr lang="ru-RU" dirty="0"/>
          </a:p>
          <a:p>
            <a:r>
              <a:rPr lang="ru-RU" b="1" dirty="0"/>
              <a:t>Лозунг</a:t>
            </a:r>
            <a:r>
              <a:rPr lang="ru-RU" dirty="0"/>
              <a:t>: </a:t>
            </a:r>
            <a:r>
              <a:rPr lang="ru-RU" dirty="0" smtClean="0"/>
              <a:t>менялся в зависимости от тактических задач.</a:t>
            </a:r>
            <a:endParaRPr lang="ru-RU" dirty="0"/>
          </a:p>
          <a:p>
            <a:r>
              <a:rPr lang="ru-RU" b="1" dirty="0"/>
              <a:t>Направление развития</a:t>
            </a:r>
            <a:r>
              <a:rPr lang="ru-RU" dirty="0"/>
              <a:t>: </a:t>
            </a:r>
            <a:r>
              <a:rPr lang="ru-RU" dirty="0" smtClean="0"/>
              <a:t>использование ресурсов сельского хозяйства для создания крупной промышленности и пролетаризации населения.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11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r>
              <a:rPr lang="ru-RU" sz="2800" dirty="0" smtClean="0"/>
              <a:t>«Кризисы НЭПа» («ножницы цен»):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232248"/>
          </a:xfrm>
        </p:spPr>
        <p:txBody>
          <a:bodyPr/>
          <a:lstStyle/>
          <a:p>
            <a:r>
              <a:rPr lang="ru-RU" dirty="0" smtClean="0"/>
              <a:t>Осень 1923 г. – кризис сбыта промышленных товаров.</a:t>
            </a:r>
          </a:p>
          <a:p>
            <a:r>
              <a:rPr lang="ru-RU" dirty="0" smtClean="0"/>
              <a:t>1925 – дефицит промышленных товаров.</a:t>
            </a:r>
          </a:p>
          <a:p>
            <a:r>
              <a:rPr lang="ru-RU" dirty="0" smtClean="0"/>
              <a:t>Зима 1927-1928 – кризис хлебозаготовок.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27584" y="4005064"/>
            <a:ext cx="7632848" cy="194421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200" dirty="0" smtClean="0"/>
              <a:t>Январь 1928 г.</a:t>
            </a:r>
          </a:p>
          <a:p>
            <a:pPr algn="ctr"/>
            <a:r>
              <a:rPr lang="ru-RU" sz="2200" dirty="0" smtClean="0"/>
              <a:t>Аресты крестьян по статье 107 УК (спекуляция), поддержанные Сталиным и изъятие хлеба у «спекулянтов» – начало  </a:t>
            </a:r>
            <a:r>
              <a:rPr lang="ru-RU" sz="2200" b="1" dirty="0" smtClean="0"/>
              <a:t>второй диктатуры  уравнителей </a:t>
            </a:r>
            <a:endParaRPr lang="ru-RU" sz="2200" b="1" dirty="0"/>
          </a:p>
        </p:txBody>
      </p:sp>
    </p:spTree>
    <p:extLst>
      <p:ext uri="{BB962C8B-B14F-4D97-AF65-F5344CB8AC3E}">
        <p14:creationId xmlns:p14="http://schemas.microsoft.com/office/powerpoint/2010/main" val="220349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275040" cy="1143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1" dirty="0" smtClean="0"/>
              <a:t>Диктатура уравнителей № 2 (1928-1941 гг.).</a:t>
            </a:r>
            <a:br>
              <a:rPr lang="ru-RU" sz="1800" b="1" dirty="0" smtClean="0"/>
            </a:br>
            <a:r>
              <a:rPr lang="ru-RU" sz="1800" dirty="0" smtClean="0"/>
              <a:t>Официальное название: политика построения социализма (индустриализация и коллективизация).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853136"/>
          </a:xfrm>
        </p:spPr>
        <p:txBody>
          <a:bodyPr>
            <a:noAutofit/>
          </a:bodyPr>
          <a:lstStyle/>
          <a:p>
            <a:r>
              <a:rPr lang="ru-RU" sz="1800" dirty="0" smtClean="0"/>
              <a:t>Ликвидирован свободный рынок товаров и услуг.</a:t>
            </a:r>
          </a:p>
          <a:p>
            <a:r>
              <a:rPr lang="ru-RU" sz="1800" dirty="0" smtClean="0"/>
              <a:t>Произведено изъятие золото-валютных запасов населения.</a:t>
            </a:r>
          </a:p>
          <a:p>
            <a:r>
              <a:rPr lang="ru-RU" sz="1800" dirty="0" smtClean="0"/>
              <a:t>Рубль перестал быть конвертируемой валютой и стал только средством расчета государства с населением.</a:t>
            </a:r>
          </a:p>
          <a:p>
            <a:r>
              <a:rPr lang="ru-RU" sz="1800" dirty="0" smtClean="0"/>
              <a:t>Ликвидированы все остававшиеся элементы частной собственности в производстве товаров и услуг, в торговле и транспорте.</a:t>
            </a:r>
          </a:p>
          <a:p>
            <a:r>
              <a:rPr lang="ru-RU" sz="1800" dirty="0" smtClean="0"/>
              <a:t>Произведено обобществление крестьянских хозяйств в форме их объединения в колхозы (коллективизация и раскулачивание).</a:t>
            </a:r>
          </a:p>
          <a:p>
            <a:r>
              <a:rPr lang="ru-RU" sz="1800" dirty="0" smtClean="0"/>
              <a:t>Проведена мобилизация населения для нужд экономики («оргнабор» + труд заключенных + жесткая дисциплина на производстве).</a:t>
            </a:r>
          </a:p>
          <a:p>
            <a:r>
              <a:rPr lang="ru-RU" sz="1800" dirty="0" smtClean="0"/>
              <a:t>Экономическая политика ускоренного создания крупных предприятий и транспортных систем за счет перераспределения средств из сельского хозяйства в промышленность и снижения уровня жизни большинства населения.</a:t>
            </a:r>
            <a:endParaRPr lang="ru-RU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906" y="188640"/>
            <a:ext cx="1458665" cy="165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43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sz="2800" dirty="0" smtClean="0"/>
              <a:t>Первая пятилетка. 1928 – 1932 гг. 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lnSpcReduction="10000"/>
          </a:bodyPr>
          <a:lstStyle/>
          <a:p>
            <a:r>
              <a:rPr lang="ru-RU" b="1" dirty="0" smtClean="0"/>
              <a:t>Цель</a:t>
            </a:r>
            <a:r>
              <a:rPr lang="ru-RU" dirty="0" smtClean="0"/>
              <a:t>: заложить основы индустриального развития страны.</a:t>
            </a:r>
          </a:p>
          <a:p>
            <a:r>
              <a:rPr lang="ru-RU" b="1" dirty="0" smtClean="0"/>
              <a:t>Лозунг</a:t>
            </a:r>
            <a:r>
              <a:rPr lang="ru-RU" dirty="0" smtClean="0"/>
              <a:t>: «темпы решают все».</a:t>
            </a:r>
          </a:p>
          <a:p>
            <a:r>
              <a:rPr lang="ru-RU" dirty="0" smtClean="0"/>
              <a:t>Главное </a:t>
            </a:r>
            <a:r>
              <a:rPr lang="ru-RU" b="1" dirty="0" smtClean="0"/>
              <a:t>средство финансирования</a:t>
            </a:r>
            <a:r>
              <a:rPr lang="ru-RU" dirty="0" smtClean="0"/>
              <a:t>: продажа зерна за границу.</a:t>
            </a:r>
          </a:p>
          <a:p>
            <a:r>
              <a:rPr lang="ru-RU" b="1" dirty="0" smtClean="0"/>
              <a:t>Кадровый потенциал</a:t>
            </a:r>
            <a:r>
              <a:rPr lang="ru-RU" dirty="0" smtClean="0"/>
              <a:t>: «оргнабор» + труд заключенных + «ударники пятилетки».</a:t>
            </a:r>
          </a:p>
          <a:p>
            <a:r>
              <a:rPr lang="ru-RU" b="1" dirty="0" smtClean="0"/>
              <a:t>Мотивация</a:t>
            </a:r>
            <a:r>
              <a:rPr lang="ru-RU" dirty="0" smtClean="0"/>
              <a:t> – государственное насилие + энтузиазм молодежи.</a:t>
            </a:r>
          </a:p>
          <a:p>
            <a:r>
              <a:rPr lang="ru-RU" b="1" dirty="0" smtClean="0"/>
              <a:t>Плановое задание</a:t>
            </a:r>
            <a:r>
              <a:rPr lang="ru-RU" dirty="0" smtClean="0"/>
              <a:t>: 1500 объектов промышленности и транспорта (50 – главных).</a:t>
            </a:r>
          </a:p>
          <a:p>
            <a:r>
              <a:rPr lang="ru-RU" b="1" dirty="0" smtClean="0"/>
              <a:t>Технологии и инженерные кадры </a:t>
            </a:r>
            <a:r>
              <a:rPr lang="ru-RU" dirty="0" smtClean="0"/>
              <a:t>– главным образом из Германии и США.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96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interlog.kz/wp-content/uploads/2015/04/turksi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43" y="431840"/>
            <a:ext cx="2618473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26459" y="2388287"/>
            <a:ext cx="2160240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Турксиб</a:t>
            </a:r>
            <a:endParaRPr lang="ru-RU" dirty="0"/>
          </a:p>
        </p:txBody>
      </p:sp>
      <p:pic>
        <p:nvPicPr>
          <p:cNvPr id="2052" name="Picture 4" descr="http://content.izvestia.ru/media/3/news/2012/08/533865/Rotation_of_foto017_2!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52414"/>
            <a:ext cx="2962252" cy="166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3712866" y="2321257"/>
            <a:ext cx="2232248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Магнитка</a:t>
            </a:r>
            <a:endParaRPr lang="ru-R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93565"/>
            <a:ext cx="2343223" cy="1623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6516216" y="2321257"/>
            <a:ext cx="2016224" cy="42707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Днепрогэс</a:t>
            </a:r>
            <a:endParaRPr lang="ru-RU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72" y="3356992"/>
            <a:ext cx="2572944" cy="151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526459" y="5206970"/>
            <a:ext cx="2245341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Сталинградский тракторный</a:t>
            </a:r>
            <a:endParaRPr lang="ru-RU" dirty="0"/>
          </a:p>
        </p:txBody>
      </p:sp>
      <p:pic>
        <p:nvPicPr>
          <p:cNvPr id="2056" name="Picture 8" descr="http://www.1723.ru/read/il/uralmash-1958/1958-1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464" y="3356992"/>
            <a:ext cx="2203004" cy="156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3664968" y="5206970"/>
            <a:ext cx="2016224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Уралмаш</a:t>
            </a:r>
            <a:endParaRPr lang="ru-RU" dirty="0"/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529" y="3379371"/>
            <a:ext cx="2436547" cy="1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6516216" y="5301208"/>
            <a:ext cx="2016224" cy="40981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АМО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943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29600" cy="63894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Коллективизация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57200" y="1268761"/>
            <a:ext cx="4040188" cy="576064"/>
          </a:xfrm>
        </p:spPr>
        <p:txBody>
          <a:bodyPr>
            <a:normAutofit/>
          </a:bodyPr>
          <a:lstStyle/>
          <a:p>
            <a:r>
              <a:rPr lang="ru-RU" dirty="0" smtClean="0"/>
              <a:t>Заявленная цель: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644008" y="1340768"/>
            <a:ext cx="4041775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Сопутствующие цели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67544" y="1988840"/>
            <a:ext cx="4040188" cy="39512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Создание предпосылок для построения социализма в деревне посредством:</a:t>
            </a:r>
          </a:p>
          <a:p>
            <a:r>
              <a:rPr lang="ru-RU" dirty="0" smtClean="0"/>
              <a:t>преобразования индивидуальных бедняцких и середняцких хозяйств в коллективные;</a:t>
            </a:r>
          </a:p>
          <a:p>
            <a:r>
              <a:rPr lang="ru-RU" dirty="0"/>
              <a:t>л</a:t>
            </a:r>
            <a:r>
              <a:rPr lang="ru-RU" dirty="0" smtClean="0"/>
              <a:t>иквидации хозяйственной базы индивидуальных хозяйств «кулаков». 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644008" y="1988840"/>
            <a:ext cx="4041775" cy="395128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Уничтожение условий для формирования политической альтернативы партии ВКП (б).</a:t>
            </a:r>
          </a:p>
          <a:p>
            <a:r>
              <a:rPr lang="ru-RU" dirty="0" smtClean="0"/>
              <a:t>Изъятия продукции с\х для продажи за границу и финансирования индустриализации.</a:t>
            </a:r>
          </a:p>
          <a:p>
            <a:r>
              <a:rPr lang="ru-RU" dirty="0" smtClean="0"/>
              <a:t>«Перекачка» трудовых ресурсов  из с/х в промышленность.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54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11381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Коллективизация: управленческие решения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857403"/>
          </a:xfrm>
        </p:spPr>
        <p:txBody>
          <a:bodyPr/>
          <a:lstStyle/>
          <a:p>
            <a:r>
              <a:rPr lang="ru-RU" sz="2800" dirty="0" smtClean="0"/>
              <a:t>Решение: 1927 г.</a:t>
            </a:r>
          </a:p>
          <a:p>
            <a:r>
              <a:rPr lang="ru-RU" sz="2800" dirty="0" smtClean="0"/>
              <a:t>Лозунги: «коренной перелом в деревне» и «ликвидация кулачества как класс».</a:t>
            </a:r>
          </a:p>
          <a:p>
            <a:r>
              <a:rPr lang="ru-RU" sz="2800" dirty="0" smtClean="0"/>
              <a:t>Форма обобществления производства: колхоз.</a:t>
            </a:r>
          </a:p>
          <a:p>
            <a:r>
              <a:rPr lang="ru-RU" sz="2800" dirty="0" smtClean="0"/>
              <a:t>Орган управления: </a:t>
            </a:r>
            <a:r>
              <a:rPr lang="ru-RU" sz="2800" dirty="0" err="1" smtClean="0"/>
              <a:t>Наркомзем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Первоначальная цель: провести коллективизацию к концу </a:t>
            </a:r>
            <a:r>
              <a:rPr lang="en-US" sz="2800" dirty="0" smtClean="0"/>
              <a:t>I </a:t>
            </a:r>
            <a:r>
              <a:rPr lang="ru-RU" sz="2800" dirty="0" smtClean="0"/>
              <a:t>пятилетки.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56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Коллективизация: ход.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ru-RU" sz="2800" dirty="0"/>
              <a:t>I этап: осень 1929 – март 1930. Итог: «бумажные колхозы</a:t>
            </a:r>
            <a:r>
              <a:rPr lang="ru-RU" sz="2800" dirty="0" smtClean="0"/>
              <a:t>» + массовое сопротивление крестьян</a:t>
            </a:r>
            <a:endParaRPr lang="ru-RU" sz="2800" dirty="0"/>
          </a:p>
          <a:p>
            <a:r>
              <a:rPr lang="ru-RU" sz="2800" dirty="0" smtClean="0"/>
              <a:t>Приостановка: весна-осень 1930 г. («Головокружение от успехов»)  Итог: удалось сохранить темпы производства с/х продукции.</a:t>
            </a:r>
          </a:p>
          <a:p>
            <a:r>
              <a:rPr lang="en-US" sz="2800" dirty="0" smtClean="0"/>
              <a:t>II </a:t>
            </a:r>
            <a:r>
              <a:rPr lang="ru-RU" sz="2800" dirty="0" smtClean="0"/>
              <a:t>этап: 1931 – 1934. Итог: перевод в коллективную форму хозяйства в 90%, при раскулачивании около 15% хозяйств.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9516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Коллективизация: итоги и цена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40769"/>
            <a:ext cx="4040188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Итоги: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268761"/>
            <a:ext cx="4041775" cy="504056"/>
          </a:xfrm>
        </p:spPr>
        <p:txBody>
          <a:bodyPr/>
          <a:lstStyle/>
          <a:p>
            <a:r>
              <a:rPr lang="ru-RU" dirty="0" smtClean="0"/>
              <a:t>Цена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916832"/>
            <a:ext cx="4040188" cy="4209331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Колхозы и совхозы стали базовой формой организации производства с\х продукции.</a:t>
            </a:r>
          </a:p>
          <a:p>
            <a:r>
              <a:rPr lang="ru-RU" dirty="0" smtClean="0"/>
              <a:t>«Кулачество» ликвидировано «как класс».</a:t>
            </a:r>
          </a:p>
          <a:p>
            <a:r>
              <a:rPr lang="ru-RU" dirty="0" smtClean="0"/>
              <a:t>В 1926-1933 гг. от экспорта с\х </a:t>
            </a:r>
            <a:r>
              <a:rPr lang="ru-RU" dirty="0"/>
              <a:t>продукции получено  672,8 млн р.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1916832"/>
            <a:ext cx="4041775" cy="4209331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Голод 1932 – 1933 г. Смерть около 6 млн. чел.</a:t>
            </a:r>
          </a:p>
          <a:p>
            <a:r>
              <a:rPr lang="ru-RU" dirty="0" smtClean="0"/>
              <a:t>Депортация ок. 2 млн человек из числа самых успешных производителей с\х продукции.</a:t>
            </a:r>
          </a:p>
          <a:p>
            <a:r>
              <a:rPr lang="ru-RU" dirty="0" smtClean="0"/>
              <a:t>Сокращение поголовья скота на 60%  (уровень 1929 г. достигнут в сер. 1950-х).</a:t>
            </a:r>
          </a:p>
          <a:p>
            <a:r>
              <a:rPr lang="ru-RU" dirty="0" smtClean="0"/>
              <a:t>Крестьянство лишено гражданских прав и социальных благ.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16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dirty="0" smtClean="0"/>
              <a:t>Вторая пятилетка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536504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Цель: </a:t>
            </a:r>
            <a:r>
              <a:rPr lang="ru-RU" dirty="0" smtClean="0"/>
              <a:t>заложить экономические основы социализма – создать крупное индустриальное производство и заменить ручной труд машинным.</a:t>
            </a:r>
            <a:endParaRPr lang="ru-RU" dirty="0"/>
          </a:p>
          <a:p>
            <a:r>
              <a:rPr lang="ru-RU" b="1" dirty="0"/>
              <a:t>Лозунг: </a:t>
            </a:r>
            <a:r>
              <a:rPr lang="ru-RU" dirty="0" smtClean="0"/>
              <a:t>«кадры решают все».</a:t>
            </a:r>
            <a:endParaRPr lang="ru-RU" dirty="0"/>
          </a:p>
          <a:p>
            <a:r>
              <a:rPr lang="ru-RU" dirty="0"/>
              <a:t>Главное </a:t>
            </a:r>
            <a:r>
              <a:rPr lang="ru-RU" b="1" dirty="0"/>
              <a:t>средство финансирования</a:t>
            </a:r>
            <a:r>
              <a:rPr lang="ru-RU" dirty="0"/>
              <a:t>: </a:t>
            </a:r>
            <a:r>
              <a:rPr lang="ru-RU" dirty="0" smtClean="0"/>
              <a:t>искусственное снижение уровня жизни большинства населения.</a:t>
            </a:r>
            <a:endParaRPr lang="ru-RU" dirty="0"/>
          </a:p>
          <a:p>
            <a:r>
              <a:rPr lang="ru-RU" b="1" dirty="0"/>
              <a:t>Кадровый потенциал</a:t>
            </a:r>
            <a:r>
              <a:rPr lang="ru-RU" dirty="0"/>
              <a:t>: </a:t>
            </a:r>
            <a:r>
              <a:rPr lang="ru-RU" dirty="0" smtClean="0"/>
              <a:t>ускоренная урбанизация+ </a:t>
            </a:r>
            <a:r>
              <a:rPr lang="ru-RU" dirty="0"/>
              <a:t>труд </a:t>
            </a:r>
            <a:r>
              <a:rPr lang="ru-RU" dirty="0" smtClean="0"/>
              <a:t>заключенных + «стахановцы».</a:t>
            </a:r>
            <a:endParaRPr lang="ru-RU" dirty="0"/>
          </a:p>
          <a:p>
            <a:r>
              <a:rPr lang="ru-RU" b="1" dirty="0"/>
              <a:t>Плановое задание</a:t>
            </a:r>
            <a:r>
              <a:rPr lang="ru-RU" dirty="0"/>
              <a:t>: </a:t>
            </a:r>
            <a:r>
              <a:rPr lang="ru-RU" dirty="0" smtClean="0"/>
              <a:t>4500 объектов, в том числе в восточных и южных регионах страны.</a:t>
            </a:r>
            <a:endParaRPr lang="ru-RU" dirty="0"/>
          </a:p>
          <a:p>
            <a:r>
              <a:rPr lang="ru-RU" b="1" dirty="0"/>
              <a:t>Технологии</a:t>
            </a:r>
            <a:r>
              <a:rPr lang="ru-RU" dirty="0"/>
              <a:t> и инженерные кадры – главным образом из </a:t>
            </a:r>
            <a:r>
              <a:rPr lang="ru-RU" dirty="0" smtClean="0"/>
              <a:t>США.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32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Стахановцы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1124744"/>
            <a:ext cx="2016224" cy="196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395536" y="3212976"/>
            <a:ext cx="230425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Алексей Стаханов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1144734"/>
            <a:ext cx="2952328" cy="1929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3199461" y="3212976"/>
            <a:ext cx="2376264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Паша Ангелина</a:t>
            </a:r>
            <a:endParaRPr lang="ru-R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978" y="1124743"/>
            <a:ext cx="2576785" cy="1949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6444208" y="3212976"/>
            <a:ext cx="230425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Александр Бусыгин</a:t>
            </a:r>
            <a:endParaRPr lang="ru-RU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15" y="4077072"/>
            <a:ext cx="1484897" cy="181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395536" y="6093296"/>
            <a:ext cx="2304256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Петр Кривонос</a:t>
            </a:r>
            <a:endParaRPr lang="ru-RU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255" y="4077071"/>
            <a:ext cx="2760898" cy="173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3419872" y="6093296"/>
            <a:ext cx="2376264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Сестры Виноградовы</a:t>
            </a:r>
            <a:endParaRPr lang="ru-RU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740" y="4077072"/>
            <a:ext cx="2491024" cy="181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6533592" y="6165304"/>
            <a:ext cx="2314171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Макар Мазай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292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Результаты политики индустриализации:</a:t>
            </a:r>
            <a:endParaRPr lang="ru-RU" sz="3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41955"/>
              </p:ext>
            </p:extLst>
          </p:nvPr>
        </p:nvGraphicFramePr>
        <p:xfrm>
          <a:off x="827584" y="980728"/>
          <a:ext cx="7460028" cy="5099091"/>
        </p:xfrm>
        <a:graphic>
          <a:graphicData uri="http://schemas.openxmlformats.org/drawingml/2006/table">
            <a:tbl>
              <a:tblPr/>
              <a:tblGrid>
                <a:gridCol w="2808312"/>
                <a:gridCol w="1437910"/>
                <a:gridCol w="1348799"/>
                <a:gridCol w="1865007"/>
              </a:tblGrid>
              <a:tr h="69469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Продукция</a:t>
                      </a:r>
                    </a:p>
                  </a:txBody>
                  <a:tcPr marL="47642" marR="83373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1932 г.</a:t>
                      </a:r>
                    </a:p>
                  </a:txBody>
                  <a:tcPr marL="47642" marR="83373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1937</a:t>
                      </a:r>
                    </a:p>
                  </a:txBody>
                  <a:tcPr marL="47642" marR="83373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1937 к 1928 (%)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1 и 2-я пятилетки</a:t>
                      </a:r>
                    </a:p>
                  </a:txBody>
                  <a:tcPr marL="47642" marR="83373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</a:tr>
              <a:tr h="374064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Электроэнергия, млрд </a:t>
                      </a:r>
                      <a:r>
                        <a:rPr lang="ru-RU" sz="1400" dirty="0" smtClean="0">
                          <a:effectLst/>
                        </a:rPr>
                        <a:t>квтч</a:t>
                      </a:r>
                      <a:endParaRPr lang="ru-RU" sz="1400" dirty="0">
                        <a:effectLst/>
                      </a:endParaRP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13,5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36,2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724 %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137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Чугун, млн.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6,2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14,5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439 %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74064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Цемент, млн.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3,5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5,5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306 %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137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Уголь, млн.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64,4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128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361 %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Станки металлорежущие, тыс. шт.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19,7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48,5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2425 %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137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Сталь, млн.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5,9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17,7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412 %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74064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Сахарный песок, тыс.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1828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2421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189 %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Прокат чёрных металлов, млн.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4,4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13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382 %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4378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Обувь кожаная, млн. пар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86,9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183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316%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137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Нефть, млн.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21,4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28,5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246%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13752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Бумага, тыс. 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471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832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293 %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74064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Автомобили, тыс. шт.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23,9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200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25000%</a:t>
                      </a:r>
                    </a:p>
                  </a:txBody>
                  <a:tcPr marL="47642" marR="47642" marT="23821" marB="23821" anchor="ctr">
                    <a:lnL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3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Autofit/>
          </a:bodyPr>
          <a:lstStyle/>
          <a:p>
            <a:r>
              <a:rPr lang="ru-RU" sz="2800" dirty="0" smtClean="0"/>
              <a:t>Результаты 2-й диктатуры: успехи</a:t>
            </a:r>
            <a:endParaRPr lang="ru-RU" sz="28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67544" y="1412776"/>
            <a:ext cx="7704856" cy="4502280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Создана мобилизационная экономика с «вертикальной» структурой управления.</a:t>
            </a:r>
          </a:p>
          <a:p>
            <a:r>
              <a:rPr lang="ru-RU" dirty="0" smtClean="0"/>
              <a:t>Проведена ускоренная модернизация добывающих отраслей, машиностроения и транспорта.</a:t>
            </a:r>
          </a:p>
          <a:p>
            <a:r>
              <a:rPr lang="ru-RU" dirty="0" smtClean="0"/>
              <a:t>Созданы новые современные отрасли производства и транспорта: химическая, авиационная, автомобильная</a:t>
            </a:r>
            <a:r>
              <a:rPr lang="ru-RU" dirty="0"/>
              <a:t>,</a:t>
            </a:r>
            <a:r>
              <a:rPr lang="ru-RU" dirty="0" smtClean="0"/>
              <a:t> электроэнергетика, и др.</a:t>
            </a:r>
          </a:p>
          <a:p>
            <a:r>
              <a:rPr lang="ru-RU" dirty="0" smtClean="0"/>
              <a:t>Резкий скачок в сфере образования и науки.</a:t>
            </a:r>
          </a:p>
          <a:p>
            <a:r>
              <a:rPr lang="ru-RU" dirty="0" smtClean="0"/>
              <a:t>Вырос оборонный потенциал страны (реализован с 1943 года).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91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66335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Успехи </a:t>
            </a:r>
            <a:r>
              <a:rPr lang="en-US" dirty="0" smtClean="0"/>
              <a:t>II </a:t>
            </a:r>
            <a:r>
              <a:rPr lang="ru-RU" dirty="0" smtClean="0"/>
              <a:t>диктатуры: цена.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68552"/>
          </a:xfrm>
        </p:spPr>
        <p:txBody>
          <a:bodyPr>
            <a:normAutofit/>
          </a:bodyPr>
          <a:lstStyle/>
          <a:p>
            <a:r>
              <a:rPr lang="ru-RU" dirty="0" smtClean="0"/>
              <a:t>Уровень </a:t>
            </a:r>
            <a:r>
              <a:rPr lang="ru-RU" dirty="0"/>
              <a:t>жизни в стране не рос до сер. 1950-х гг. (кроме крупных </a:t>
            </a:r>
            <a:r>
              <a:rPr lang="ru-RU" dirty="0" smtClean="0"/>
              <a:t>городов </a:t>
            </a:r>
            <a:r>
              <a:rPr lang="ru-RU" dirty="0"/>
              <a:t>во второй пол. 1930-х).</a:t>
            </a:r>
          </a:p>
          <a:p>
            <a:r>
              <a:rPr lang="ru-RU" dirty="0"/>
              <a:t>Успехи модернизации достигнуты за счет экстенсивного развития (вширь). Все планы роста производительности труда – не выполнены</a:t>
            </a:r>
            <a:r>
              <a:rPr lang="ru-RU" dirty="0" smtClean="0"/>
              <a:t>. </a:t>
            </a:r>
            <a:endParaRPr lang="ru-RU" dirty="0"/>
          </a:p>
          <a:p>
            <a:r>
              <a:rPr lang="ru-RU" dirty="0"/>
              <a:t>Создана экономика, ориентированная на обслуживание военно-промышленного комплекса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Главная проблема экономики: отсутствие «положительной» мотивации к труду.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586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Autofit/>
          </a:bodyPr>
          <a:lstStyle/>
          <a:p>
            <a:r>
              <a:rPr lang="ru-RU" sz="2800" dirty="0" smtClean="0"/>
              <a:t>Народный ответ на </a:t>
            </a:r>
            <a:r>
              <a:rPr lang="en-US" sz="2800" dirty="0" smtClean="0"/>
              <a:t>II </a:t>
            </a:r>
            <a:r>
              <a:rPr lang="ru-RU" sz="2800" dirty="0" smtClean="0"/>
              <a:t>диктатуру 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39248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«Патернализация сознания» достигла максимальных </a:t>
            </a:r>
            <a:r>
              <a:rPr lang="ru-RU" dirty="0" smtClean="0"/>
              <a:t>значений. Осознание полной зависимости от государства вытеснило все другие формы общественного сознания.</a:t>
            </a:r>
          </a:p>
          <a:p>
            <a:r>
              <a:rPr lang="ru-RU" dirty="0" smtClean="0"/>
              <a:t>Усилилась коллективная составляющая жизни, вплоть до самоотречения в трудовом энтузиазме и </a:t>
            </a:r>
            <a:r>
              <a:rPr lang="ru-RU" smtClean="0"/>
              <a:t>героического поведения </a:t>
            </a:r>
            <a:r>
              <a:rPr lang="ru-RU" dirty="0" smtClean="0"/>
              <a:t>на войне.</a:t>
            </a:r>
          </a:p>
          <a:p>
            <a:r>
              <a:rPr lang="ru-RU" dirty="0" smtClean="0"/>
              <a:t>Доносительство </a:t>
            </a:r>
            <a:r>
              <a:rPr lang="ru-RU" dirty="0"/>
              <a:t>стало одной из форм выживания и обеспечение жизни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Сформировалось «двоемыслие» как форма приспособления к условиям жизни.</a:t>
            </a:r>
          </a:p>
          <a:p>
            <a:r>
              <a:rPr lang="ru-RU" dirty="0" smtClean="0"/>
              <a:t>В молодежной среде возникло тяготение к «подлинному марксизму» и «настоящему ленинизму» как идеологии, признающей свободу индивидуальности.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476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281</TotalTime>
  <Words>2174</Words>
  <Application>Microsoft Office PowerPoint</Application>
  <PresentationFormat>Экран (4:3)</PresentationFormat>
  <Paragraphs>245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Исполнительная</vt:lpstr>
      <vt:lpstr>Политика 1920-х – 1930-х гг.</vt:lpstr>
      <vt:lpstr>Стадии протекания революционного процесса:</vt:lpstr>
      <vt:lpstr>Первая в Новой истории «диктатура уравнителей» - якобинская</vt:lpstr>
      <vt:lpstr>Презентация PowerPoint</vt:lpstr>
      <vt:lpstr>«Военный коммунизм» (1918-1920)   1-я диктатура уравнителей</vt:lpstr>
      <vt:lpstr>Продотряды – символ диктатуры </vt:lpstr>
      <vt:lpstr>Результаты I диктатуры уравнителей.</vt:lpstr>
      <vt:lpstr>Народный ответ на политику «военного коммунизма»</vt:lpstr>
      <vt:lpstr>Революционный процесс. «Модельный Термидор».</vt:lpstr>
      <vt:lpstr>Что после?</vt:lpstr>
      <vt:lpstr>«Термидор»: китайский вариант</vt:lpstr>
      <vt:lpstr>«Термидор»: китайский вариант</vt:lpstr>
      <vt:lpstr>«Новая экономическая политика» (НЭП) – мягкий вариант «термидорианской» политики (1921-1928).</vt:lpstr>
      <vt:lpstr>Российские «термидорианцы» и их противники</vt:lpstr>
      <vt:lpstr>Достижения НЭПа между 1923 и 1927 гг.:</vt:lpstr>
      <vt:lpstr>Два варианта развития страны</vt:lpstr>
      <vt:lpstr>Концепция Сталина (с 1930 г.):</vt:lpstr>
      <vt:lpstr>«Кризисы НЭПа» («ножницы цен»):</vt:lpstr>
      <vt:lpstr>Диктатура уравнителей № 2 (1928-1941 гг.). Официальное название: политика построения социализма (индустриализация и коллективизация).</vt:lpstr>
      <vt:lpstr>Первая пятилетка. 1928 – 1932 гг. </vt:lpstr>
      <vt:lpstr>Презентация PowerPoint</vt:lpstr>
      <vt:lpstr>Коллективизация</vt:lpstr>
      <vt:lpstr>Коллективизация: управленческие решения</vt:lpstr>
      <vt:lpstr>Коллективизация: ход.</vt:lpstr>
      <vt:lpstr>Коллективизация: итоги и цена</vt:lpstr>
      <vt:lpstr>Вторая пятилетка</vt:lpstr>
      <vt:lpstr>Стахановцы</vt:lpstr>
      <vt:lpstr>Результаты политики индустриализации:</vt:lpstr>
      <vt:lpstr>Результаты 2-й диктатуры: успехи</vt:lpstr>
      <vt:lpstr>Успехи II диктатуры: цена.</vt:lpstr>
      <vt:lpstr>Народный ответ на II диктатуру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Экономическая политика 1930-х гг.</dc:title>
  <dc:creator>User</dc:creator>
  <cp:lastModifiedBy>User</cp:lastModifiedBy>
  <cp:revision>26</cp:revision>
  <dcterms:created xsi:type="dcterms:W3CDTF">2017-03-03T07:54:31Z</dcterms:created>
  <dcterms:modified xsi:type="dcterms:W3CDTF">2021-11-18T07:18:12Z</dcterms:modified>
</cp:coreProperties>
</file>