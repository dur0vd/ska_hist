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6" r:id="rId2"/>
  </p:sldMasterIdLst>
  <p:sldIdLst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2" r:id="rId13"/>
    <p:sldId id="267" r:id="rId14"/>
    <p:sldId id="268" r:id="rId15"/>
    <p:sldId id="269" r:id="rId16"/>
    <p:sldId id="270" r:id="rId17"/>
    <p:sldId id="272" r:id="rId18"/>
    <p:sldId id="271" r:id="rId19"/>
    <p:sldId id="281" r:id="rId20"/>
    <p:sldId id="273" r:id="rId21"/>
    <p:sldId id="274" r:id="rId22"/>
    <p:sldId id="275" r:id="rId23"/>
    <p:sldId id="276" r:id="rId24"/>
    <p:sldId id="283" r:id="rId25"/>
    <p:sldId id="277" r:id="rId26"/>
    <p:sldId id="278" r:id="rId27"/>
    <p:sldId id="279" r:id="rId28"/>
    <p:sldId id="280" r:id="rId2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-2370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jp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D3EFE8-8209-4973-922F-20C512F93272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6F9344FF-4B18-4B2D-B561-B919BE16D448}">
      <dgm:prSet phldrT="[Текст]"/>
      <dgm:spPr/>
      <dgm:t>
        <a:bodyPr/>
        <a:lstStyle/>
        <a:p>
          <a:r>
            <a:rPr lang="ru-RU" dirty="0" smtClean="0"/>
            <a:t>Архетип выражает одну ценность или их набор</a:t>
          </a:r>
          <a:endParaRPr lang="ru-RU" dirty="0"/>
        </a:p>
      </dgm:t>
    </dgm:pt>
    <dgm:pt modelId="{B939449B-BF33-4666-9249-8BD7AC128BE3}" type="parTrans" cxnId="{E64FEFF0-4CF5-460F-A430-27DA0CD1C930}">
      <dgm:prSet/>
      <dgm:spPr/>
      <dgm:t>
        <a:bodyPr/>
        <a:lstStyle/>
        <a:p>
          <a:endParaRPr lang="ru-RU"/>
        </a:p>
      </dgm:t>
    </dgm:pt>
    <dgm:pt modelId="{44E93B1B-FE36-4A0A-8846-99C607A7A9A5}" type="sibTrans" cxnId="{E64FEFF0-4CF5-460F-A430-27DA0CD1C930}">
      <dgm:prSet/>
      <dgm:spPr/>
      <dgm:t>
        <a:bodyPr/>
        <a:lstStyle/>
        <a:p>
          <a:endParaRPr lang="ru-RU"/>
        </a:p>
      </dgm:t>
    </dgm:pt>
    <dgm:pt modelId="{99DB68F1-79B9-46F4-998C-9ED0D7F80A98}">
      <dgm:prSet phldrT="[Текст]"/>
      <dgm:spPr/>
      <dgm:t>
        <a:bodyPr/>
        <a:lstStyle/>
        <a:p>
          <a:r>
            <a:rPr lang="ru-RU" dirty="0" smtClean="0"/>
            <a:t>Речевые архетипы</a:t>
          </a:r>
          <a:endParaRPr lang="ru-RU" dirty="0"/>
        </a:p>
      </dgm:t>
    </dgm:pt>
    <dgm:pt modelId="{F0EB0F3F-9E67-4FB4-8A10-4664D83055BC}" type="parTrans" cxnId="{D20EC150-0B26-4814-9481-CAC9FDEC20E0}">
      <dgm:prSet/>
      <dgm:spPr/>
      <dgm:t>
        <a:bodyPr/>
        <a:lstStyle/>
        <a:p>
          <a:endParaRPr lang="ru-RU"/>
        </a:p>
      </dgm:t>
    </dgm:pt>
    <dgm:pt modelId="{E3A0A4AA-EA22-42DF-BE16-ECFF6DB65DBE}" type="sibTrans" cxnId="{D20EC150-0B26-4814-9481-CAC9FDEC20E0}">
      <dgm:prSet/>
      <dgm:spPr/>
      <dgm:t>
        <a:bodyPr/>
        <a:lstStyle/>
        <a:p>
          <a:endParaRPr lang="ru-RU"/>
        </a:p>
      </dgm:t>
    </dgm:pt>
    <dgm:pt modelId="{6DE9F286-7B5C-40F9-88CC-196EF94A582C}">
      <dgm:prSet phldrT="[Текст]"/>
      <dgm:spPr/>
      <dgm:t>
        <a:bodyPr/>
        <a:lstStyle/>
        <a:p>
          <a:r>
            <a:rPr lang="ru-RU" dirty="0" smtClean="0"/>
            <a:t>Мимика, позы</a:t>
          </a:r>
          <a:r>
            <a:rPr lang="en-US" dirty="0" smtClean="0"/>
            <a:t> </a:t>
          </a:r>
          <a:r>
            <a:rPr lang="ru-RU" dirty="0" smtClean="0"/>
            <a:t>и жесты</a:t>
          </a:r>
        </a:p>
      </dgm:t>
    </dgm:pt>
    <dgm:pt modelId="{E600D853-CED0-4B91-8371-894B4E219FBD}" type="parTrans" cxnId="{EF259FAA-20AC-495E-9106-8F85290E769E}">
      <dgm:prSet/>
      <dgm:spPr/>
      <dgm:t>
        <a:bodyPr/>
        <a:lstStyle/>
        <a:p>
          <a:endParaRPr lang="ru-RU"/>
        </a:p>
      </dgm:t>
    </dgm:pt>
    <dgm:pt modelId="{F10BA582-3933-422C-BED0-2A7F8AE5F250}" type="sibTrans" cxnId="{EF259FAA-20AC-495E-9106-8F85290E769E}">
      <dgm:prSet/>
      <dgm:spPr/>
      <dgm:t>
        <a:bodyPr/>
        <a:lstStyle/>
        <a:p>
          <a:endParaRPr lang="ru-RU"/>
        </a:p>
      </dgm:t>
    </dgm:pt>
    <dgm:pt modelId="{6B896525-19E6-4392-8514-AB4DDE3CA770}">
      <dgm:prSet phldrT="[Текст]"/>
      <dgm:spPr/>
      <dgm:t>
        <a:bodyPr/>
        <a:lstStyle/>
        <a:p>
          <a:r>
            <a:rPr lang="ru-RU" dirty="0" smtClean="0"/>
            <a:t>Архетипы поведенческие</a:t>
          </a:r>
          <a:endParaRPr lang="ru-RU" dirty="0"/>
        </a:p>
      </dgm:t>
    </dgm:pt>
    <dgm:pt modelId="{828D1334-C8C2-4DB6-96C5-63EA8C364677}" type="parTrans" cxnId="{1193420A-C686-4BA2-B80D-870B2FE97E8F}">
      <dgm:prSet/>
      <dgm:spPr/>
      <dgm:t>
        <a:bodyPr/>
        <a:lstStyle/>
        <a:p>
          <a:endParaRPr lang="ru-RU"/>
        </a:p>
      </dgm:t>
    </dgm:pt>
    <dgm:pt modelId="{B48822E1-81D5-47F6-B8E0-E1D2B770139E}" type="sibTrans" cxnId="{1193420A-C686-4BA2-B80D-870B2FE97E8F}">
      <dgm:prSet/>
      <dgm:spPr/>
      <dgm:t>
        <a:bodyPr/>
        <a:lstStyle/>
        <a:p>
          <a:endParaRPr lang="ru-RU"/>
        </a:p>
      </dgm:t>
    </dgm:pt>
    <dgm:pt modelId="{C94D9A94-AA50-4B35-AC8F-A54764A8B5BF}" type="pres">
      <dgm:prSet presAssocID="{7FD3EFE8-8209-4973-922F-20C512F93272}" presName="Name0" presStyleCnt="0">
        <dgm:presLayoutVars>
          <dgm:chMax val="1"/>
          <dgm:chPref val="1"/>
          <dgm:dir/>
          <dgm:resizeHandles/>
        </dgm:presLayoutVars>
      </dgm:prSet>
      <dgm:spPr/>
      <dgm:t>
        <a:bodyPr/>
        <a:lstStyle/>
        <a:p>
          <a:endParaRPr lang="ru-RU"/>
        </a:p>
      </dgm:t>
    </dgm:pt>
    <dgm:pt modelId="{B7490E6E-8C1E-4093-84DE-C5BB3A8E8E44}" type="pres">
      <dgm:prSet presAssocID="{6F9344FF-4B18-4B2D-B561-B919BE16D448}" presName="Parent" presStyleLbl="node1" presStyleIdx="0" presStyleCnt="2" custScaleX="125020" custScaleY="114936" custLinFactNeighborX="-19662" custLinFactNeighborY="9437">
        <dgm:presLayoutVars>
          <dgm:chMax val="4"/>
          <dgm:chPref val="3"/>
        </dgm:presLayoutVars>
      </dgm:prSet>
      <dgm:spPr/>
      <dgm:t>
        <a:bodyPr/>
        <a:lstStyle/>
        <a:p>
          <a:endParaRPr lang="ru-RU"/>
        </a:p>
      </dgm:t>
    </dgm:pt>
    <dgm:pt modelId="{B1C47790-B843-49A1-9370-7EAC360EE293}" type="pres">
      <dgm:prSet presAssocID="{99DB68F1-79B9-46F4-998C-9ED0D7F80A98}" presName="Accent" presStyleLbl="node1" presStyleIdx="1" presStyleCnt="2"/>
      <dgm:spPr/>
    </dgm:pt>
    <dgm:pt modelId="{73B70936-D27C-4896-9A83-3153E490765E}" type="pres">
      <dgm:prSet presAssocID="{99DB68F1-79B9-46F4-998C-9ED0D7F80A98}" presName="Image1" presStyleLbl="fgImgPlace1" presStyleIdx="0" presStyleCnt="3" custScaleX="159536" custScaleY="132504" custLinFactNeighborX="-55270" custLinFactNeighborY="-22179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5000" b="-5000"/>
          </a:stretch>
        </a:blipFill>
      </dgm:spPr>
      <dgm:t>
        <a:bodyPr/>
        <a:lstStyle/>
        <a:p>
          <a:endParaRPr lang="ru-RU"/>
        </a:p>
      </dgm:t>
    </dgm:pt>
    <dgm:pt modelId="{D4CF258A-377C-4C53-8E9C-E250F07A6B82}" type="pres">
      <dgm:prSet presAssocID="{99DB68F1-79B9-46F4-998C-9ED0D7F80A98}" presName="Child1" presStyleLbl="revTx" presStyleIdx="0" presStyleCnt="3" custScaleX="73877" custScaleY="59898" custLinFactNeighborX="-24490" custLinFactNeighborY="-2256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55035AE-C0A4-49AA-BC3B-7D27951EDCA2}" type="pres">
      <dgm:prSet presAssocID="{6DE9F286-7B5C-40F9-88CC-196EF94A582C}" presName="Image2" presStyleCnt="0"/>
      <dgm:spPr/>
    </dgm:pt>
    <dgm:pt modelId="{B0B70268-0CEB-4398-AA91-5A8747DBF2F8}" type="pres">
      <dgm:prSet presAssocID="{6DE9F286-7B5C-40F9-88CC-196EF94A582C}" presName="Image" presStyleLbl="fgImgPlace1" presStyleIdx="1" presStyleCnt="3" custScaleX="166664" custScaleY="124739" custLinFactNeighborX="17114" custLinFactNeighborY="-154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6000" b="-6000"/>
          </a:stretch>
        </a:blipFill>
      </dgm:spPr>
      <dgm:t>
        <a:bodyPr/>
        <a:lstStyle/>
        <a:p>
          <a:endParaRPr lang="ru-RU"/>
        </a:p>
      </dgm:t>
    </dgm:pt>
    <dgm:pt modelId="{BD809AD9-90D6-4EE6-81EB-4482589767FF}" type="pres">
      <dgm:prSet presAssocID="{6DE9F286-7B5C-40F9-88CC-196EF94A582C}" presName="Child2" presStyleLbl="revTx" presStyleIdx="1" presStyleCnt="3" custFlipHor="1" custScaleX="89440" custScaleY="93748" custLinFactNeighborX="30275" custLinFactNeighborY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9363311-5BCA-4E4F-9A8B-AD380469ABBC}" type="pres">
      <dgm:prSet presAssocID="{6B896525-19E6-4392-8514-AB4DDE3CA770}" presName="Image3" presStyleCnt="0"/>
      <dgm:spPr/>
    </dgm:pt>
    <dgm:pt modelId="{8E87F201-12D0-4E46-9614-0F916BCF2F8B}" type="pres">
      <dgm:prSet presAssocID="{6B896525-19E6-4392-8514-AB4DDE3CA770}" presName="Image" presStyleLbl="fgImgPlace1" presStyleIdx="2" presStyleCnt="3" custScaleX="151860" custScaleY="108679" custLinFactNeighborX="0" custLinFactNeighborY="16116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" r="-1000"/>
          </a:stretch>
        </a:blipFill>
      </dgm:spPr>
      <dgm:t>
        <a:bodyPr/>
        <a:lstStyle/>
        <a:p>
          <a:endParaRPr lang="ru-RU"/>
        </a:p>
      </dgm:t>
    </dgm:pt>
    <dgm:pt modelId="{EDB2EF4E-0CE3-4E49-8AFD-FA1627AF10C4}" type="pres">
      <dgm:prSet presAssocID="{6B896525-19E6-4392-8514-AB4DDE3CA770}" presName="Child3" presStyleLbl="revTx" presStyleIdx="2" presStyleCnt="3" custLinFactNeighborX="16673" custLinFactNeighborY="1561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64FEFF0-4CF5-460F-A430-27DA0CD1C930}" srcId="{7FD3EFE8-8209-4973-922F-20C512F93272}" destId="{6F9344FF-4B18-4B2D-B561-B919BE16D448}" srcOrd="0" destOrd="0" parTransId="{B939449B-BF33-4666-9249-8BD7AC128BE3}" sibTransId="{44E93B1B-FE36-4A0A-8846-99C607A7A9A5}"/>
    <dgm:cxn modelId="{D20EC150-0B26-4814-9481-CAC9FDEC20E0}" srcId="{6F9344FF-4B18-4B2D-B561-B919BE16D448}" destId="{99DB68F1-79B9-46F4-998C-9ED0D7F80A98}" srcOrd="0" destOrd="0" parTransId="{F0EB0F3F-9E67-4FB4-8A10-4664D83055BC}" sibTransId="{E3A0A4AA-EA22-42DF-BE16-ECFF6DB65DBE}"/>
    <dgm:cxn modelId="{224D3526-7759-4D09-936D-A1C9CC938A2D}" type="presOf" srcId="{6B896525-19E6-4392-8514-AB4DDE3CA770}" destId="{EDB2EF4E-0CE3-4E49-8AFD-FA1627AF10C4}" srcOrd="0" destOrd="0" presId="urn:microsoft.com/office/officeart/2011/layout/RadialPictureList"/>
    <dgm:cxn modelId="{68D560EA-F220-4183-9DBF-D8EE79ABE96E}" type="presOf" srcId="{99DB68F1-79B9-46F4-998C-9ED0D7F80A98}" destId="{D4CF258A-377C-4C53-8E9C-E250F07A6B82}" srcOrd="0" destOrd="0" presId="urn:microsoft.com/office/officeart/2011/layout/RadialPictureList"/>
    <dgm:cxn modelId="{EF259FAA-20AC-495E-9106-8F85290E769E}" srcId="{6F9344FF-4B18-4B2D-B561-B919BE16D448}" destId="{6DE9F286-7B5C-40F9-88CC-196EF94A582C}" srcOrd="1" destOrd="0" parTransId="{E600D853-CED0-4B91-8371-894B4E219FBD}" sibTransId="{F10BA582-3933-422C-BED0-2A7F8AE5F250}"/>
    <dgm:cxn modelId="{E07F1007-23AE-410C-BF46-88C8379AEF70}" type="presOf" srcId="{7FD3EFE8-8209-4973-922F-20C512F93272}" destId="{C94D9A94-AA50-4B35-AC8F-A54764A8B5BF}" srcOrd="0" destOrd="0" presId="urn:microsoft.com/office/officeart/2011/layout/RadialPictureList"/>
    <dgm:cxn modelId="{369C27A8-0E5C-447A-BFDE-F102CE1C1833}" type="presOf" srcId="{6F9344FF-4B18-4B2D-B561-B919BE16D448}" destId="{B7490E6E-8C1E-4093-84DE-C5BB3A8E8E44}" srcOrd="0" destOrd="0" presId="urn:microsoft.com/office/officeart/2011/layout/RadialPictureList"/>
    <dgm:cxn modelId="{1193420A-C686-4BA2-B80D-870B2FE97E8F}" srcId="{6F9344FF-4B18-4B2D-B561-B919BE16D448}" destId="{6B896525-19E6-4392-8514-AB4DDE3CA770}" srcOrd="2" destOrd="0" parTransId="{828D1334-C8C2-4DB6-96C5-63EA8C364677}" sibTransId="{B48822E1-81D5-47F6-B8E0-E1D2B770139E}"/>
    <dgm:cxn modelId="{47BF8F29-8C66-404E-88AD-06973F08676C}" type="presOf" srcId="{6DE9F286-7B5C-40F9-88CC-196EF94A582C}" destId="{BD809AD9-90D6-4EE6-81EB-4482589767FF}" srcOrd="0" destOrd="0" presId="urn:microsoft.com/office/officeart/2011/layout/RadialPictureList"/>
    <dgm:cxn modelId="{95700DD3-4226-449E-A4AD-3B337F07E8F4}" type="presParOf" srcId="{C94D9A94-AA50-4B35-AC8F-A54764A8B5BF}" destId="{B7490E6E-8C1E-4093-84DE-C5BB3A8E8E44}" srcOrd="0" destOrd="0" presId="urn:microsoft.com/office/officeart/2011/layout/RadialPictureList"/>
    <dgm:cxn modelId="{121933E5-BB02-40CE-83E8-2D9EE1FB5E8C}" type="presParOf" srcId="{C94D9A94-AA50-4B35-AC8F-A54764A8B5BF}" destId="{B1C47790-B843-49A1-9370-7EAC360EE293}" srcOrd="1" destOrd="0" presId="urn:microsoft.com/office/officeart/2011/layout/RadialPictureList"/>
    <dgm:cxn modelId="{5C0BE01B-2A8E-49AE-A1D4-46DC9D8BC9E0}" type="presParOf" srcId="{C94D9A94-AA50-4B35-AC8F-A54764A8B5BF}" destId="{73B70936-D27C-4896-9A83-3153E490765E}" srcOrd="2" destOrd="0" presId="urn:microsoft.com/office/officeart/2011/layout/RadialPictureList"/>
    <dgm:cxn modelId="{3E70C830-F37A-4DCC-A7DA-09C4854B4D02}" type="presParOf" srcId="{C94D9A94-AA50-4B35-AC8F-A54764A8B5BF}" destId="{D4CF258A-377C-4C53-8E9C-E250F07A6B82}" srcOrd="3" destOrd="0" presId="urn:microsoft.com/office/officeart/2011/layout/RadialPictureList"/>
    <dgm:cxn modelId="{9D2CAC21-8E93-4D34-ADE3-26B0D4B2CA25}" type="presParOf" srcId="{C94D9A94-AA50-4B35-AC8F-A54764A8B5BF}" destId="{D55035AE-C0A4-49AA-BC3B-7D27951EDCA2}" srcOrd="4" destOrd="0" presId="urn:microsoft.com/office/officeart/2011/layout/RadialPictureList"/>
    <dgm:cxn modelId="{E71F53BB-74FC-4063-9ED3-44E5679A06F6}" type="presParOf" srcId="{D55035AE-C0A4-49AA-BC3B-7D27951EDCA2}" destId="{B0B70268-0CEB-4398-AA91-5A8747DBF2F8}" srcOrd="0" destOrd="0" presId="urn:microsoft.com/office/officeart/2011/layout/RadialPictureList"/>
    <dgm:cxn modelId="{982F7497-2BFC-4309-A160-3DFCB56D79EA}" type="presParOf" srcId="{C94D9A94-AA50-4B35-AC8F-A54764A8B5BF}" destId="{BD809AD9-90D6-4EE6-81EB-4482589767FF}" srcOrd="5" destOrd="0" presId="urn:microsoft.com/office/officeart/2011/layout/RadialPictureList"/>
    <dgm:cxn modelId="{7458F308-4E46-4A60-A41E-A0BDD2BD7E16}" type="presParOf" srcId="{C94D9A94-AA50-4B35-AC8F-A54764A8B5BF}" destId="{79363311-5BCA-4E4F-9A8B-AD380469ABBC}" srcOrd="6" destOrd="0" presId="urn:microsoft.com/office/officeart/2011/layout/RadialPictureList"/>
    <dgm:cxn modelId="{E0042B4F-1AB2-4A58-A17D-7674AF0AFCDA}" type="presParOf" srcId="{79363311-5BCA-4E4F-9A8B-AD380469ABBC}" destId="{8E87F201-12D0-4E46-9614-0F916BCF2F8B}" srcOrd="0" destOrd="0" presId="urn:microsoft.com/office/officeart/2011/layout/RadialPictureList"/>
    <dgm:cxn modelId="{56BFD941-CEA1-4E6E-9D73-2A576A8C3595}" type="presParOf" srcId="{C94D9A94-AA50-4B35-AC8F-A54764A8B5BF}" destId="{EDB2EF4E-0CE3-4E49-8AFD-FA1627AF10C4}" srcOrd="7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AD63D34-89CB-44A0-82F6-B46574CC8AAD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9D7E1ED7-7835-4B57-96E3-BA12928736FF}">
      <dgm:prSet phldrT="[Текст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 smtClean="0"/>
            <a:t>Ценности</a:t>
          </a:r>
          <a:endParaRPr lang="ru-RU" dirty="0"/>
        </a:p>
      </dgm:t>
    </dgm:pt>
    <dgm:pt modelId="{ACC5EF98-8CD0-4DA5-B291-DBE52FE12CB0}" type="parTrans" cxnId="{4E8BD1CE-9C51-49DB-891B-71C107E26C13}">
      <dgm:prSet/>
      <dgm:spPr/>
      <dgm:t>
        <a:bodyPr/>
        <a:lstStyle/>
        <a:p>
          <a:endParaRPr lang="ru-RU"/>
        </a:p>
      </dgm:t>
    </dgm:pt>
    <dgm:pt modelId="{EE70906F-6B41-4B63-8E10-166E4C596E16}" type="sibTrans" cxnId="{4E8BD1CE-9C51-49DB-891B-71C107E26C13}">
      <dgm:prSet/>
      <dgm:spPr/>
      <dgm:t>
        <a:bodyPr/>
        <a:lstStyle/>
        <a:p>
          <a:endParaRPr lang="ru-RU"/>
        </a:p>
      </dgm:t>
    </dgm:pt>
    <dgm:pt modelId="{8134E670-0C55-4965-948F-FB903C7A6809}">
      <dgm:prSet phldrT="[Текст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 smtClean="0"/>
            <a:t>Религия</a:t>
          </a:r>
          <a:endParaRPr lang="ru-RU" dirty="0"/>
        </a:p>
      </dgm:t>
    </dgm:pt>
    <dgm:pt modelId="{AEF51B7C-9708-48C9-92BF-18C598A93A0A}" type="parTrans" cxnId="{00F082FE-C9BE-47E8-9238-1C1B94A3D9EE}">
      <dgm:prSet/>
      <dgm:spPr/>
      <dgm:t>
        <a:bodyPr/>
        <a:lstStyle/>
        <a:p>
          <a:endParaRPr lang="ru-RU"/>
        </a:p>
      </dgm:t>
    </dgm:pt>
    <dgm:pt modelId="{B0E5DBF7-CEF4-4BD5-82EA-AA5B82DD29B1}" type="sibTrans" cxnId="{00F082FE-C9BE-47E8-9238-1C1B94A3D9EE}">
      <dgm:prSet/>
      <dgm:spPr/>
      <dgm:t>
        <a:bodyPr/>
        <a:lstStyle/>
        <a:p>
          <a:endParaRPr lang="ru-RU"/>
        </a:p>
      </dgm:t>
    </dgm:pt>
    <dgm:pt modelId="{B78A3A98-FF34-4E78-BDA5-D1B799E02C7A}">
      <dgm:prSet phldrT="[Текст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 smtClean="0"/>
            <a:t>Воспитание/</a:t>
          </a:r>
        </a:p>
        <a:p>
          <a:r>
            <a:rPr lang="ru-RU" dirty="0" smtClean="0"/>
            <a:t>Образование</a:t>
          </a:r>
          <a:endParaRPr lang="ru-RU" dirty="0"/>
        </a:p>
      </dgm:t>
    </dgm:pt>
    <dgm:pt modelId="{85938649-494A-4DC2-B0D7-20DE08411B35}" type="parTrans" cxnId="{BACC0E70-8454-4CDB-ABC8-704949A545BD}">
      <dgm:prSet/>
      <dgm:spPr/>
      <dgm:t>
        <a:bodyPr/>
        <a:lstStyle/>
        <a:p>
          <a:endParaRPr lang="ru-RU"/>
        </a:p>
      </dgm:t>
    </dgm:pt>
    <dgm:pt modelId="{0690C2CD-7E48-4970-8020-F4B8701DA2CB}" type="sibTrans" cxnId="{BACC0E70-8454-4CDB-ABC8-704949A545BD}">
      <dgm:prSet/>
      <dgm:spPr/>
      <dgm:t>
        <a:bodyPr/>
        <a:lstStyle/>
        <a:p>
          <a:endParaRPr lang="ru-RU"/>
        </a:p>
      </dgm:t>
    </dgm:pt>
    <dgm:pt modelId="{2578D1C7-6A9A-439A-8D5D-C82C3C3FEBA3}">
      <dgm:prSet phldrT="[Текст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 smtClean="0"/>
            <a:t>Искусство</a:t>
          </a:r>
          <a:endParaRPr lang="ru-RU" dirty="0"/>
        </a:p>
      </dgm:t>
    </dgm:pt>
    <dgm:pt modelId="{200F48DF-BFC7-428F-9979-E72D9D692C63}" type="parTrans" cxnId="{5EBB2293-7F5F-489F-9A6B-F3ACD9416349}">
      <dgm:prSet/>
      <dgm:spPr/>
      <dgm:t>
        <a:bodyPr/>
        <a:lstStyle/>
        <a:p>
          <a:endParaRPr lang="ru-RU"/>
        </a:p>
      </dgm:t>
    </dgm:pt>
    <dgm:pt modelId="{D7759C74-9C92-439C-8BDA-7A84B624F32C}" type="sibTrans" cxnId="{5EBB2293-7F5F-489F-9A6B-F3ACD9416349}">
      <dgm:prSet/>
      <dgm:spPr/>
      <dgm:t>
        <a:bodyPr/>
        <a:lstStyle/>
        <a:p>
          <a:endParaRPr lang="ru-RU"/>
        </a:p>
      </dgm:t>
    </dgm:pt>
    <dgm:pt modelId="{B57AF6A6-56BC-4B07-A5D1-CC972E057C6A}">
      <dgm:prSet phldrT="[Текст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 smtClean="0"/>
            <a:t>Мораль</a:t>
          </a:r>
          <a:endParaRPr lang="ru-RU" dirty="0"/>
        </a:p>
      </dgm:t>
    </dgm:pt>
    <dgm:pt modelId="{9F5C67C3-8CE1-41A9-8872-63BC67175291}" type="parTrans" cxnId="{41494D1F-142D-446C-AF2E-36D9CA8F3D6A}">
      <dgm:prSet/>
      <dgm:spPr/>
      <dgm:t>
        <a:bodyPr/>
        <a:lstStyle/>
        <a:p>
          <a:endParaRPr lang="ru-RU"/>
        </a:p>
      </dgm:t>
    </dgm:pt>
    <dgm:pt modelId="{604B3DFE-E2CD-4FD6-86B5-13DD7759CF77}" type="sibTrans" cxnId="{41494D1F-142D-446C-AF2E-36D9CA8F3D6A}">
      <dgm:prSet/>
      <dgm:spPr/>
      <dgm:t>
        <a:bodyPr/>
        <a:lstStyle/>
        <a:p>
          <a:endParaRPr lang="ru-RU"/>
        </a:p>
      </dgm:t>
    </dgm:pt>
    <dgm:pt modelId="{6C405C76-B259-4C3C-B02D-D33CF467A0F6}" type="pres">
      <dgm:prSet presAssocID="{6AD63D34-89CB-44A0-82F6-B46574CC8AAD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B094C20-B154-4210-BFBC-14D4677CE6B3}" type="pres">
      <dgm:prSet presAssocID="{9D7E1ED7-7835-4B57-96E3-BA12928736FF}" presName="centerShape" presStyleLbl="node0" presStyleIdx="0" presStyleCnt="1"/>
      <dgm:spPr/>
      <dgm:t>
        <a:bodyPr/>
        <a:lstStyle/>
        <a:p>
          <a:endParaRPr lang="ru-RU"/>
        </a:p>
      </dgm:t>
    </dgm:pt>
    <dgm:pt modelId="{49759E01-306E-44F0-A4C8-BFB9015B5451}" type="pres">
      <dgm:prSet presAssocID="{8134E670-0C55-4965-948F-FB903C7A6809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5068C71-114B-4277-A1CD-DD537E299673}" type="pres">
      <dgm:prSet presAssocID="{8134E670-0C55-4965-948F-FB903C7A6809}" presName="dummy" presStyleCnt="0"/>
      <dgm:spPr/>
    </dgm:pt>
    <dgm:pt modelId="{B36B33B8-6EA3-4D8F-B0DC-1B16B73AAFB3}" type="pres">
      <dgm:prSet presAssocID="{B0E5DBF7-CEF4-4BD5-82EA-AA5B82DD29B1}" presName="sibTrans" presStyleLbl="sibTrans2D1" presStyleIdx="0" presStyleCnt="4"/>
      <dgm:spPr/>
      <dgm:t>
        <a:bodyPr/>
        <a:lstStyle/>
        <a:p>
          <a:endParaRPr lang="ru-RU"/>
        </a:p>
      </dgm:t>
    </dgm:pt>
    <dgm:pt modelId="{66F4269B-F3C3-476A-8FC6-CCA462DB4924}" type="pres">
      <dgm:prSet presAssocID="{B78A3A98-FF34-4E78-BDA5-D1B799E02C7A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3C66F9D-FF55-4F17-B94B-1D0CAC0DEFF2}" type="pres">
      <dgm:prSet presAssocID="{B78A3A98-FF34-4E78-BDA5-D1B799E02C7A}" presName="dummy" presStyleCnt="0"/>
      <dgm:spPr/>
    </dgm:pt>
    <dgm:pt modelId="{87F345D5-7247-489E-9097-47FF526484D3}" type="pres">
      <dgm:prSet presAssocID="{0690C2CD-7E48-4970-8020-F4B8701DA2CB}" presName="sibTrans" presStyleLbl="sibTrans2D1" presStyleIdx="1" presStyleCnt="4"/>
      <dgm:spPr/>
      <dgm:t>
        <a:bodyPr/>
        <a:lstStyle/>
        <a:p>
          <a:endParaRPr lang="ru-RU"/>
        </a:p>
      </dgm:t>
    </dgm:pt>
    <dgm:pt modelId="{01C65180-631E-479E-927A-57503FD32348}" type="pres">
      <dgm:prSet presAssocID="{2578D1C7-6A9A-439A-8D5D-C82C3C3FEBA3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1BA064F-CC1D-491D-B998-0C835B2EBDF4}" type="pres">
      <dgm:prSet presAssocID="{2578D1C7-6A9A-439A-8D5D-C82C3C3FEBA3}" presName="dummy" presStyleCnt="0"/>
      <dgm:spPr/>
    </dgm:pt>
    <dgm:pt modelId="{3C3FA7B0-AACE-4BF0-BF2B-3BA371C3F9C7}" type="pres">
      <dgm:prSet presAssocID="{D7759C74-9C92-439C-8BDA-7A84B624F32C}" presName="sibTrans" presStyleLbl="sibTrans2D1" presStyleIdx="2" presStyleCnt="4"/>
      <dgm:spPr/>
      <dgm:t>
        <a:bodyPr/>
        <a:lstStyle/>
        <a:p>
          <a:endParaRPr lang="ru-RU"/>
        </a:p>
      </dgm:t>
    </dgm:pt>
    <dgm:pt modelId="{357EE217-D88C-4DD1-95F1-6088CC96C090}" type="pres">
      <dgm:prSet presAssocID="{B57AF6A6-56BC-4B07-A5D1-CC972E057C6A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B2302C1-6C4A-4E34-94E9-2F315572A736}" type="pres">
      <dgm:prSet presAssocID="{B57AF6A6-56BC-4B07-A5D1-CC972E057C6A}" presName="dummy" presStyleCnt="0"/>
      <dgm:spPr/>
    </dgm:pt>
    <dgm:pt modelId="{CFE433DE-62C9-439F-8355-B0ABB3609A9B}" type="pres">
      <dgm:prSet presAssocID="{604B3DFE-E2CD-4FD6-86B5-13DD7759CF77}" presName="sibTrans" presStyleLbl="sibTrans2D1" presStyleIdx="3" presStyleCnt="4"/>
      <dgm:spPr/>
      <dgm:t>
        <a:bodyPr/>
        <a:lstStyle/>
        <a:p>
          <a:endParaRPr lang="ru-RU"/>
        </a:p>
      </dgm:t>
    </dgm:pt>
  </dgm:ptLst>
  <dgm:cxnLst>
    <dgm:cxn modelId="{BBE26E7C-2C69-4118-9489-A75BA8161888}" type="presOf" srcId="{8134E670-0C55-4965-948F-FB903C7A6809}" destId="{49759E01-306E-44F0-A4C8-BFB9015B5451}" srcOrd="0" destOrd="0" presId="urn:microsoft.com/office/officeart/2005/8/layout/radial6"/>
    <dgm:cxn modelId="{412FD927-4A42-4067-A803-826E54DE57F8}" type="presOf" srcId="{604B3DFE-E2CD-4FD6-86B5-13DD7759CF77}" destId="{CFE433DE-62C9-439F-8355-B0ABB3609A9B}" srcOrd="0" destOrd="0" presId="urn:microsoft.com/office/officeart/2005/8/layout/radial6"/>
    <dgm:cxn modelId="{892C0D85-FBD3-42D3-BAD4-B82CE650E628}" type="presOf" srcId="{B57AF6A6-56BC-4B07-A5D1-CC972E057C6A}" destId="{357EE217-D88C-4DD1-95F1-6088CC96C090}" srcOrd="0" destOrd="0" presId="urn:microsoft.com/office/officeart/2005/8/layout/radial6"/>
    <dgm:cxn modelId="{6EA18DE1-8D08-49B4-B905-4CBD94D2869A}" type="presOf" srcId="{D7759C74-9C92-439C-8BDA-7A84B624F32C}" destId="{3C3FA7B0-AACE-4BF0-BF2B-3BA371C3F9C7}" srcOrd="0" destOrd="0" presId="urn:microsoft.com/office/officeart/2005/8/layout/radial6"/>
    <dgm:cxn modelId="{00F082FE-C9BE-47E8-9238-1C1B94A3D9EE}" srcId="{9D7E1ED7-7835-4B57-96E3-BA12928736FF}" destId="{8134E670-0C55-4965-948F-FB903C7A6809}" srcOrd="0" destOrd="0" parTransId="{AEF51B7C-9708-48C9-92BF-18C598A93A0A}" sibTransId="{B0E5DBF7-CEF4-4BD5-82EA-AA5B82DD29B1}"/>
    <dgm:cxn modelId="{5F4F8B81-DCC9-40CF-ADEA-CA3918898A9B}" type="presOf" srcId="{2578D1C7-6A9A-439A-8D5D-C82C3C3FEBA3}" destId="{01C65180-631E-479E-927A-57503FD32348}" srcOrd="0" destOrd="0" presId="urn:microsoft.com/office/officeart/2005/8/layout/radial6"/>
    <dgm:cxn modelId="{DAFE1F47-1C50-41FD-881E-5FE82D53F023}" type="presOf" srcId="{B78A3A98-FF34-4E78-BDA5-D1B799E02C7A}" destId="{66F4269B-F3C3-476A-8FC6-CCA462DB4924}" srcOrd="0" destOrd="0" presId="urn:microsoft.com/office/officeart/2005/8/layout/radial6"/>
    <dgm:cxn modelId="{BACC0E70-8454-4CDB-ABC8-704949A545BD}" srcId="{9D7E1ED7-7835-4B57-96E3-BA12928736FF}" destId="{B78A3A98-FF34-4E78-BDA5-D1B799E02C7A}" srcOrd="1" destOrd="0" parTransId="{85938649-494A-4DC2-B0D7-20DE08411B35}" sibTransId="{0690C2CD-7E48-4970-8020-F4B8701DA2CB}"/>
    <dgm:cxn modelId="{327B4640-B9D8-4D1E-BB04-874020E4EA93}" type="presOf" srcId="{6AD63D34-89CB-44A0-82F6-B46574CC8AAD}" destId="{6C405C76-B259-4C3C-B02D-D33CF467A0F6}" srcOrd="0" destOrd="0" presId="urn:microsoft.com/office/officeart/2005/8/layout/radial6"/>
    <dgm:cxn modelId="{6A088269-B175-40AB-B5AE-D37841A13990}" type="presOf" srcId="{0690C2CD-7E48-4970-8020-F4B8701DA2CB}" destId="{87F345D5-7247-489E-9097-47FF526484D3}" srcOrd="0" destOrd="0" presId="urn:microsoft.com/office/officeart/2005/8/layout/radial6"/>
    <dgm:cxn modelId="{101DB6DF-4A8A-4B55-8F36-5ED63001A77E}" type="presOf" srcId="{B0E5DBF7-CEF4-4BD5-82EA-AA5B82DD29B1}" destId="{B36B33B8-6EA3-4D8F-B0DC-1B16B73AAFB3}" srcOrd="0" destOrd="0" presId="urn:microsoft.com/office/officeart/2005/8/layout/radial6"/>
    <dgm:cxn modelId="{4E8BD1CE-9C51-49DB-891B-71C107E26C13}" srcId="{6AD63D34-89CB-44A0-82F6-B46574CC8AAD}" destId="{9D7E1ED7-7835-4B57-96E3-BA12928736FF}" srcOrd="0" destOrd="0" parTransId="{ACC5EF98-8CD0-4DA5-B291-DBE52FE12CB0}" sibTransId="{EE70906F-6B41-4B63-8E10-166E4C596E16}"/>
    <dgm:cxn modelId="{5EBB2293-7F5F-489F-9A6B-F3ACD9416349}" srcId="{9D7E1ED7-7835-4B57-96E3-BA12928736FF}" destId="{2578D1C7-6A9A-439A-8D5D-C82C3C3FEBA3}" srcOrd="2" destOrd="0" parTransId="{200F48DF-BFC7-428F-9979-E72D9D692C63}" sibTransId="{D7759C74-9C92-439C-8BDA-7A84B624F32C}"/>
    <dgm:cxn modelId="{41494D1F-142D-446C-AF2E-36D9CA8F3D6A}" srcId="{9D7E1ED7-7835-4B57-96E3-BA12928736FF}" destId="{B57AF6A6-56BC-4B07-A5D1-CC972E057C6A}" srcOrd="3" destOrd="0" parTransId="{9F5C67C3-8CE1-41A9-8872-63BC67175291}" sibTransId="{604B3DFE-E2CD-4FD6-86B5-13DD7759CF77}"/>
    <dgm:cxn modelId="{107EC336-1F6E-43FB-9D8F-7AEA8CF66711}" type="presOf" srcId="{9D7E1ED7-7835-4B57-96E3-BA12928736FF}" destId="{6B094C20-B154-4210-BFBC-14D4677CE6B3}" srcOrd="0" destOrd="0" presId="urn:microsoft.com/office/officeart/2005/8/layout/radial6"/>
    <dgm:cxn modelId="{1C56546B-534D-4ED9-93DF-6843A031EDD5}" type="presParOf" srcId="{6C405C76-B259-4C3C-B02D-D33CF467A0F6}" destId="{6B094C20-B154-4210-BFBC-14D4677CE6B3}" srcOrd="0" destOrd="0" presId="urn:microsoft.com/office/officeart/2005/8/layout/radial6"/>
    <dgm:cxn modelId="{83D5EF76-422D-4348-8472-85A49EE8DEDB}" type="presParOf" srcId="{6C405C76-B259-4C3C-B02D-D33CF467A0F6}" destId="{49759E01-306E-44F0-A4C8-BFB9015B5451}" srcOrd="1" destOrd="0" presId="urn:microsoft.com/office/officeart/2005/8/layout/radial6"/>
    <dgm:cxn modelId="{F137C8EC-94A3-4E93-8357-673998D10063}" type="presParOf" srcId="{6C405C76-B259-4C3C-B02D-D33CF467A0F6}" destId="{45068C71-114B-4277-A1CD-DD537E299673}" srcOrd="2" destOrd="0" presId="urn:microsoft.com/office/officeart/2005/8/layout/radial6"/>
    <dgm:cxn modelId="{2CD311FC-8307-44FD-8E72-9A45920308AD}" type="presParOf" srcId="{6C405C76-B259-4C3C-B02D-D33CF467A0F6}" destId="{B36B33B8-6EA3-4D8F-B0DC-1B16B73AAFB3}" srcOrd="3" destOrd="0" presId="urn:microsoft.com/office/officeart/2005/8/layout/radial6"/>
    <dgm:cxn modelId="{533404C1-0201-493F-969A-948575F79215}" type="presParOf" srcId="{6C405C76-B259-4C3C-B02D-D33CF467A0F6}" destId="{66F4269B-F3C3-476A-8FC6-CCA462DB4924}" srcOrd="4" destOrd="0" presId="urn:microsoft.com/office/officeart/2005/8/layout/radial6"/>
    <dgm:cxn modelId="{F40E083F-5569-43C7-B68E-0A4E64D5C4DF}" type="presParOf" srcId="{6C405C76-B259-4C3C-B02D-D33CF467A0F6}" destId="{03C66F9D-FF55-4F17-B94B-1D0CAC0DEFF2}" srcOrd="5" destOrd="0" presId="urn:microsoft.com/office/officeart/2005/8/layout/radial6"/>
    <dgm:cxn modelId="{892E3BC6-50C6-4859-83D6-25746FE5E1D2}" type="presParOf" srcId="{6C405C76-B259-4C3C-B02D-D33CF467A0F6}" destId="{87F345D5-7247-489E-9097-47FF526484D3}" srcOrd="6" destOrd="0" presId="urn:microsoft.com/office/officeart/2005/8/layout/radial6"/>
    <dgm:cxn modelId="{77E461A6-C270-4FA7-AE15-F4B16865B718}" type="presParOf" srcId="{6C405C76-B259-4C3C-B02D-D33CF467A0F6}" destId="{01C65180-631E-479E-927A-57503FD32348}" srcOrd="7" destOrd="0" presId="urn:microsoft.com/office/officeart/2005/8/layout/radial6"/>
    <dgm:cxn modelId="{DD74E799-AE94-468D-A23D-F3FD8DDA3C38}" type="presParOf" srcId="{6C405C76-B259-4C3C-B02D-D33CF467A0F6}" destId="{C1BA064F-CC1D-491D-B998-0C835B2EBDF4}" srcOrd="8" destOrd="0" presId="urn:microsoft.com/office/officeart/2005/8/layout/radial6"/>
    <dgm:cxn modelId="{E13F91E4-B09E-49EE-A825-D09C8789528E}" type="presParOf" srcId="{6C405C76-B259-4C3C-B02D-D33CF467A0F6}" destId="{3C3FA7B0-AACE-4BF0-BF2B-3BA371C3F9C7}" srcOrd="9" destOrd="0" presId="urn:microsoft.com/office/officeart/2005/8/layout/radial6"/>
    <dgm:cxn modelId="{1F4F3273-EBFF-4F42-BA8D-240BEE89B942}" type="presParOf" srcId="{6C405C76-B259-4C3C-B02D-D33CF467A0F6}" destId="{357EE217-D88C-4DD1-95F1-6088CC96C090}" srcOrd="10" destOrd="0" presId="urn:microsoft.com/office/officeart/2005/8/layout/radial6"/>
    <dgm:cxn modelId="{6248B6B9-B922-40D5-85CE-6FA3C038DCEE}" type="presParOf" srcId="{6C405C76-B259-4C3C-B02D-D33CF467A0F6}" destId="{BB2302C1-6C4A-4E34-94E9-2F315572A736}" srcOrd="11" destOrd="0" presId="urn:microsoft.com/office/officeart/2005/8/layout/radial6"/>
    <dgm:cxn modelId="{C840D249-F83C-4B9E-AB6B-C69DDB375984}" type="presParOf" srcId="{6C405C76-B259-4C3C-B02D-D33CF467A0F6}" destId="{CFE433DE-62C9-439F-8355-B0ABB3609A9B}" srcOrd="12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490E6E-8C1E-4093-84DE-C5BB3A8E8E44}">
      <dsp:nvSpPr>
        <dsp:cNvPr id="0" name=""/>
        <dsp:cNvSpPr/>
      </dsp:nvSpPr>
      <dsp:spPr>
        <a:xfrm>
          <a:off x="1008118" y="1440148"/>
          <a:ext cx="3127356" cy="28752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 dirty="0" smtClean="0"/>
            <a:t>Архетип выражает одну ценность или их набор</a:t>
          </a:r>
          <a:endParaRPr lang="ru-RU" sz="2500" kern="1200" dirty="0"/>
        </a:p>
      </dsp:txBody>
      <dsp:txXfrm>
        <a:off x="1466109" y="1861218"/>
        <a:ext cx="2211374" cy="2033108"/>
      </dsp:txXfrm>
    </dsp:sp>
    <dsp:sp modelId="{B1C47790-B843-49A1-9370-7EAC360EE293}">
      <dsp:nvSpPr>
        <dsp:cNvPr id="0" name=""/>
        <dsp:cNvSpPr/>
      </dsp:nvSpPr>
      <dsp:spPr>
        <a:xfrm>
          <a:off x="522916" y="0"/>
          <a:ext cx="5042580" cy="5256583"/>
        </a:xfrm>
        <a:prstGeom prst="blockArc">
          <a:avLst>
            <a:gd name="adj1" fmla="val 17527788"/>
            <a:gd name="adj2" fmla="val 4119114"/>
            <a:gd name="adj3" fmla="val 575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B70936-D27C-4896-9A83-3153E490765E}">
      <dsp:nvSpPr>
        <dsp:cNvPr id="0" name=""/>
        <dsp:cNvSpPr/>
      </dsp:nvSpPr>
      <dsp:spPr>
        <a:xfrm>
          <a:off x="3096350" y="0"/>
          <a:ext cx="2137869" cy="1776121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5000" b="-5000"/>
          </a:stretch>
        </a:blipFill>
        <a:ln w="285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CF258A-377C-4C53-8E9C-E250F07A6B82}">
      <dsp:nvSpPr>
        <dsp:cNvPr id="0" name=""/>
        <dsp:cNvSpPr/>
      </dsp:nvSpPr>
      <dsp:spPr>
        <a:xfrm>
          <a:off x="5472609" y="432054"/>
          <a:ext cx="1325142" cy="777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10000"/>
            </a:spcAft>
          </a:pPr>
          <a:r>
            <a:rPr lang="ru-RU" sz="2000" kern="1200" dirty="0" smtClean="0"/>
            <a:t>Речевые архетипы</a:t>
          </a:r>
          <a:endParaRPr lang="ru-RU" sz="2000" kern="1200" dirty="0"/>
        </a:p>
      </dsp:txBody>
      <dsp:txXfrm>
        <a:off x="5472609" y="432054"/>
        <a:ext cx="1325142" cy="777071"/>
      </dsp:txXfrm>
    </dsp:sp>
    <dsp:sp modelId="{B0B70268-0CEB-4398-AA91-5A8747DBF2F8}">
      <dsp:nvSpPr>
        <dsp:cNvPr id="0" name=""/>
        <dsp:cNvSpPr/>
      </dsp:nvSpPr>
      <dsp:spPr>
        <a:xfrm>
          <a:off x="4536510" y="1800196"/>
          <a:ext cx="2233388" cy="1672037"/>
        </a:xfrm>
        <a:prstGeom prst="ellipse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6000" b="-6000"/>
          </a:stretch>
        </a:blipFill>
        <a:ln w="285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809AD9-90D6-4EE6-81EB-4482589767FF}">
      <dsp:nvSpPr>
        <dsp:cNvPr id="0" name=""/>
        <dsp:cNvSpPr/>
      </dsp:nvSpPr>
      <dsp:spPr>
        <a:xfrm flipH="1">
          <a:off x="6820637" y="2027543"/>
          <a:ext cx="1604298" cy="12162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10000"/>
            </a:spcAft>
          </a:pPr>
          <a:r>
            <a:rPr lang="ru-RU" sz="2000" kern="1200" dirty="0" smtClean="0"/>
            <a:t>Мимика, позы</a:t>
          </a:r>
          <a:r>
            <a:rPr lang="en-US" sz="2000" kern="1200" dirty="0" smtClean="0"/>
            <a:t> </a:t>
          </a:r>
          <a:r>
            <a:rPr lang="ru-RU" sz="2000" kern="1200" dirty="0" smtClean="0"/>
            <a:t>и жесты</a:t>
          </a:r>
        </a:p>
      </dsp:txBody>
      <dsp:txXfrm>
        <a:off x="6820637" y="2027543"/>
        <a:ext cx="1604298" cy="1216216"/>
      </dsp:txXfrm>
    </dsp:sp>
    <dsp:sp modelId="{8E87F201-12D0-4E46-9614-0F916BCF2F8B}">
      <dsp:nvSpPr>
        <dsp:cNvPr id="0" name=""/>
        <dsp:cNvSpPr/>
      </dsp:nvSpPr>
      <dsp:spPr>
        <a:xfrm>
          <a:off x="3888429" y="3672407"/>
          <a:ext cx="2035006" cy="1456764"/>
        </a:xfrm>
        <a:prstGeom prst="ellipse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" r="-1000"/>
          </a:stretch>
        </a:blipFill>
        <a:ln w="285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B2EF4E-0CE3-4E49-8AFD-FA1627AF10C4}">
      <dsp:nvSpPr>
        <dsp:cNvPr id="0" name=""/>
        <dsp:cNvSpPr/>
      </dsp:nvSpPr>
      <dsp:spPr>
        <a:xfrm>
          <a:off x="5976670" y="3744411"/>
          <a:ext cx="1793714" cy="12973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10000"/>
            </a:spcAft>
          </a:pPr>
          <a:r>
            <a:rPr lang="ru-RU" sz="2000" kern="1200" dirty="0" smtClean="0"/>
            <a:t>Архетипы поведенческие</a:t>
          </a:r>
          <a:endParaRPr lang="ru-RU" sz="2000" kern="1200" dirty="0"/>
        </a:p>
      </dsp:txBody>
      <dsp:txXfrm>
        <a:off x="5976670" y="3744411"/>
        <a:ext cx="1793714" cy="12973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E433DE-62C9-439F-8355-B0ABB3609A9B}">
      <dsp:nvSpPr>
        <dsp:cNvPr id="0" name=""/>
        <dsp:cNvSpPr/>
      </dsp:nvSpPr>
      <dsp:spPr>
        <a:xfrm>
          <a:off x="2373658" y="521839"/>
          <a:ext cx="3482283" cy="3482283"/>
        </a:xfrm>
        <a:prstGeom prst="blockArc">
          <a:avLst>
            <a:gd name="adj1" fmla="val 10800000"/>
            <a:gd name="adj2" fmla="val 16200000"/>
            <a:gd name="adj3" fmla="val 464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3FA7B0-AACE-4BF0-BF2B-3BA371C3F9C7}">
      <dsp:nvSpPr>
        <dsp:cNvPr id="0" name=""/>
        <dsp:cNvSpPr/>
      </dsp:nvSpPr>
      <dsp:spPr>
        <a:xfrm>
          <a:off x="2373658" y="521839"/>
          <a:ext cx="3482283" cy="3482283"/>
        </a:xfrm>
        <a:prstGeom prst="blockArc">
          <a:avLst>
            <a:gd name="adj1" fmla="val 5400000"/>
            <a:gd name="adj2" fmla="val 10800000"/>
            <a:gd name="adj3" fmla="val 464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F345D5-7247-489E-9097-47FF526484D3}">
      <dsp:nvSpPr>
        <dsp:cNvPr id="0" name=""/>
        <dsp:cNvSpPr/>
      </dsp:nvSpPr>
      <dsp:spPr>
        <a:xfrm>
          <a:off x="2373658" y="521839"/>
          <a:ext cx="3482283" cy="3482283"/>
        </a:xfrm>
        <a:prstGeom prst="blockArc">
          <a:avLst>
            <a:gd name="adj1" fmla="val 0"/>
            <a:gd name="adj2" fmla="val 5400000"/>
            <a:gd name="adj3" fmla="val 464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6B33B8-6EA3-4D8F-B0DC-1B16B73AAFB3}">
      <dsp:nvSpPr>
        <dsp:cNvPr id="0" name=""/>
        <dsp:cNvSpPr/>
      </dsp:nvSpPr>
      <dsp:spPr>
        <a:xfrm>
          <a:off x="2373658" y="521839"/>
          <a:ext cx="3482283" cy="3482283"/>
        </a:xfrm>
        <a:prstGeom prst="blockArc">
          <a:avLst>
            <a:gd name="adj1" fmla="val 16200000"/>
            <a:gd name="adj2" fmla="val 0"/>
            <a:gd name="adj3" fmla="val 464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094C20-B154-4210-BFBC-14D4677CE6B3}">
      <dsp:nvSpPr>
        <dsp:cNvPr id="0" name=""/>
        <dsp:cNvSpPr/>
      </dsp:nvSpPr>
      <dsp:spPr>
        <a:xfrm>
          <a:off x="3313137" y="1461318"/>
          <a:ext cx="1603325" cy="1603325"/>
        </a:xfrm>
        <a:prstGeom prst="ellipse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/>
            <a:t>Ценности</a:t>
          </a:r>
          <a:endParaRPr lang="ru-RU" sz="1800" kern="1200" dirty="0"/>
        </a:p>
      </dsp:txBody>
      <dsp:txXfrm>
        <a:off x="3547939" y="1696120"/>
        <a:ext cx="1133721" cy="1133721"/>
      </dsp:txXfrm>
    </dsp:sp>
    <dsp:sp modelId="{49759E01-306E-44F0-A4C8-BFB9015B5451}">
      <dsp:nvSpPr>
        <dsp:cNvPr id="0" name=""/>
        <dsp:cNvSpPr/>
      </dsp:nvSpPr>
      <dsp:spPr>
        <a:xfrm>
          <a:off x="3553636" y="1079"/>
          <a:ext cx="1122327" cy="1122327"/>
        </a:xfrm>
        <a:prstGeom prst="ellipse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900" kern="1200" dirty="0" smtClean="0"/>
            <a:t>Религия</a:t>
          </a:r>
          <a:endParaRPr lang="ru-RU" sz="900" kern="1200" dirty="0"/>
        </a:p>
      </dsp:txBody>
      <dsp:txXfrm>
        <a:off x="3717997" y="165440"/>
        <a:ext cx="793605" cy="793605"/>
      </dsp:txXfrm>
    </dsp:sp>
    <dsp:sp modelId="{66F4269B-F3C3-476A-8FC6-CCA462DB4924}">
      <dsp:nvSpPr>
        <dsp:cNvPr id="0" name=""/>
        <dsp:cNvSpPr/>
      </dsp:nvSpPr>
      <dsp:spPr>
        <a:xfrm>
          <a:off x="5254373" y="1701817"/>
          <a:ext cx="1122327" cy="1122327"/>
        </a:xfrm>
        <a:prstGeom prst="ellipse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900" kern="1200" dirty="0" smtClean="0"/>
            <a:t>Воспитание/</a:t>
          </a:r>
        </a:p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900" kern="1200" dirty="0" smtClean="0"/>
            <a:t>Образование</a:t>
          </a:r>
          <a:endParaRPr lang="ru-RU" sz="900" kern="1200" dirty="0"/>
        </a:p>
      </dsp:txBody>
      <dsp:txXfrm>
        <a:off x="5418734" y="1866178"/>
        <a:ext cx="793605" cy="793605"/>
      </dsp:txXfrm>
    </dsp:sp>
    <dsp:sp modelId="{01C65180-631E-479E-927A-57503FD32348}">
      <dsp:nvSpPr>
        <dsp:cNvPr id="0" name=""/>
        <dsp:cNvSpPr/>
      </dsp:nvSpPr>
      <dsp:spPr>
        <a:xfrm>
          <a:off x="3553636" y="3402555"/>
          <a:ext cx="1122327" cy="1122327"/>
        </a:xfrm>
        <a:prstGeom prst="ellipse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900" kern="1200" dirty="0" smtClean="0"/>
            <a:t>Искусство</a:t>
          </a:r>
          <a:endParaRPr lang="ru-RU" sz="900" kern="1200" dirty="0"/>
        </a:p>
      </dsp:txBody>
      <dsp:txXfrm>
        <a:off x="3717997" y="3566916"/>
        <a:ext cx="793605" cy="793605"/>
      </dsp:txXfrm>
    </dsp:sp>
    <dsp:sp modelId="{357EE217-D88C-4DD1-95F1-6088CC96C090}">
      <dsp:nvSpPr>
        <dsp:cNvPr id="0" name=""/>
        <dsp:cNvSpPr/>
      </dsp:nvSpPr>
      <dsp:spPr>
        <a:xfrm>
          <a:off x="1852898" y="1701817"/>
          <a:ext cx="1122327" cy="1122327"/>
        </a:xfrm>
        <a:prstGeom prst="ellipse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900" kern="1200" dirty="0" smtClean="0"/>
            <a:t>Мораль</a:t>
          </a:r>
          <a:endParaRPr lang="ru-RU" sz="900" kern="1200" dirty="0"/>
        </a:p>
      </dsp:txBody>
      <dsp:txXfrm>
        <a:off x="2017259" y="1866178"/>
        <a:ext cx="793605" cy="7936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Радиальный список рисунков"/>
  <dgm:desc val="Служит для отображения связей с центральной идеей. Фигура уровня 1 содержит текст, а все фигуры уровня 2 содержат рисунок с соответствующим текстом. Ограничен четырьмя рисунками уровня 2.  Неиспользуемые рисунки не отображаются, но остаются доступными при смене макета. Рекомендуется использовать текст уровня 2 небольшого объема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47E73-EE05-452E-8F5F-E8C33382837F}" type="datetimeFigureOut">
              <a:rPr lang="ru-RU" smtClean="0"/>
              <a:t>08.12.2021</a:t>
            </a:fld>
            <a:endParaRPr lang="ru-RU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D3EADF-B3C9-45AB-A4C0-C1817B15806C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47E73-EE05-452E-8F5F-E8C33382837F}" type="datetimeFigureOut">
              <a:rPr lang="ru-RU" smtClean="0"/>
              <a:t>08.12.2021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3EADF-B3C9-45AB-A4C0-C1817B15806C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47E73-EE05-452E-8F5F-E8C33382837F}" type="datetimeFigureOut">
              <a:rPr lang="ru-RU" smtClean="0"/>
              <a:t>08.12.2021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3EADF-B3C9-45AB-A4C0-C1817B15806C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47E73-EE05-452E-8F5F-E8C33382837F}" type="datetimeFigureOut">
              <a:rPr lang="ru-RU" smtClean="0"/>
              <a:t>08.12.2021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3EADF-B3C9-45AB-A4C0-C1817B15806C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47E73-EE05-452E-8F5F-E8C33382837F}" type="datetimeFigureOut">
              <a:rPr lang="ru-RU" smtClean="0"/>
              <a:t>08.12.2021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3EADF-B3C9-45AB-A4C0-C1817B15806C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47E73-EE05-452E-8F5F-E8C33382837F}" type="datetimeFigureOut">
              <a:rPr lang="ru-RU" smtClean="0"/>
              <a:t>08.12.2021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3EADF-B3C9-45AB-A4C0-C1817B15806C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47E73-EE05-452E-8F5F-E8C33382837F}" type="datetimeFigureOut">
              <a:rPr lang="ru-RU" smtClean="0"/>
              <a:t>08.12.2021</a:t>
            </a:fld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3EADF-B3C9-45AB-A4C0-C1817B15806C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47E73-EE05-452E-8F5F-E8C33382837F}" type="datetimeFigureOut">
              <a:rPr lang="ru-RU" smtClean="0"/>
              <a:t>08.12.2021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3EADF-B3C9-45AB-A4C0-C1817B15806C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47E73-EE05-452E-8F5F-E8C33382837F}" type="datetimeFigureOut">
              <a:rPr lang="ru-RU" smtClean="0"/>
              <a:t>08.12.2021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3EADF-B3C9-45AB-A4C0-C1817B15806C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47E73-EE05-452E-8F5F-E8C33382837F}" type="datetimeFigureOut">
              <a:rPr lang="ru-RU" smtClean="0"/>
              <a:t>08.12.2021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3EADF-B3C9-45AB-A4C0-C1817B15806C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47E73-EE05-452E-8F5F-E8C33382837F}" type="datetimeFigureOut">
              <a:rPr lang="ru-RU" smtClean="0"/>
              <a:t>08.12.2021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3EADF-B3C9-45AB-A4C0-C1817B15806C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 dirty="0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171D8B-A73D-42F1-9644-7B8821688FB1}" type="slidenum">
              <a:rPr lang="ru-RU" smtClean="0">
                <a:solidFill>
                  <a:srgbClr val="7E97AD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ru-RU" dirty="0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ru-RU" dirty="0">
              <a:solidFill>
                <a:srgbClr val="7E97AD">
                  <a:shade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 dirty="0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 dirty="0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7817C0-1366-4BE9-917F-EA8A0230F172}" type="slidenum">
              <a:rPr lang="ru-RU" smtClean="0">
                <a:solidFill>
                  <a:srgbClr val="7E97AD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ru-RU" dirty="0">
              <a:solidFill>
                <a:srgbClr val="7E97AD">
                  <a:shade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 dirty="0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 dirty="0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EA6E99-3855-4A3A-9A08-956F59C7E465}" type="slidenum">
              <a:rPr lang="ru-RU" smtClean="0">
                <a:solidFill>
                  <a:srgbClr val="7E97AD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ru-RU" dirty="0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 dirty="0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 dirty="0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F1308-365A-46E2-9127-6B544A17241E}" type="slidenum">
              <a:rPr lang="ru-RU" smtClean="0">
                <a:solidFill>
                  <a:srgbClr val="7E97AD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ru-RU" dirty="0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 dirty="0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 dirty="0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7CB85D8-2560-400E-A5E8-3F8C57AFDD12}" type="slidenum">
              <a:rPr lang="ru-RU" smtClean="0">
                <a:solidFill>
                  <a:srgbClr val="7E97AD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ru-RU" dirty="0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 dirty="0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 dirty="0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D1D950-5479-4A6E-A4D3-693DBC2C0F26}" type="slidenum">
              <a:rPr lang="ru-RU" smtClean="0">
                <a:solidFill>
                  <a:srgbClr val="7E97AD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ru-RU" dirty="0">
              <a:solidFill>
                <a:srgbClr val="7E97AD">
                  <a:shade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 dirty="0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 dirty="0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D894CEC-73AA-4400-94D8-B9DF48061E6B}" type="slidenum">
              <a:rPr lang="ru-RU" smtClean="0">
                <a:solidFill>
                  <a:srgbClr val="7E97AD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ru-RU" dirty="0">
              <a:solidFill>
                <a:srgbClr val="7E97AD">
                  <a:shade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 dirty="0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 dirty="0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BD526B-5789-4D04-84B1-3645AA530A40}" type="slidenum">
              <a:rPr lang="ru-RU" smtClean="0">
                <a:solidFill>
                  <a:srgbClr val="7E97AD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ru-RU" dirty="0">
              <a:solidFill>
                <a:srgbClr val="7E97AD">
                  <a:shade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 dirty="0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 dirty="0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CCD7C8-B77A-4F22-97DB-7E4AE6037A08}" type="slidenum">
              <a:rPr lang="ru-RU" smtClean="0">
                <a:solidFill>
                  <a:srgbClr val="7E97AD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ru-RU" dirty="0">
              <a:solidFill>
                <a:srgbClr val="7E97AD">
                  <a:shade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 dirty="0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 dirty="0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03F67E-AB55-4BED-B758-6D2C771B2DED}" type="slidenum">
              <a:rPr lang="ru-RU" smtClean="0">
                <a:solidFill>
                  <a:srgbClr val="7E97AD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ru-RU" dirty="0">
              <a:solidFill>
                <a:srgbClr val="7E97AD">
                  <a:shade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 dirty="0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 dirty="0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B70EB0-0533-43A6-B72F-32FAB3F7FBA0}" type="slidenum">
              <a:rPr lang="ru-RU" smtClean="0">
                <a:solidFill>
                  <a:srgbClr val="7E97AD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ru-RU" dirty="0">
              <a:solidFill>
                <a:srgbClr val="7E97AD">
                  <a:shade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DEC47E73-EE05-452E-8F5F-E8C33382837F}" type="datetimeFigureOut">
              <a:rPr lang="ru-RU" smtClean="0"/>
              <a:t>08.12.2021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18D3EADF-B3C9-45AB-A4C0-C1817B15806C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DEC47E73-EE05-452E-8F5F-E8C33382837F}" type="datetimeFigureOut">
              <a:rPr lang="ru-RU" smtClean="0"/>
              <a:t>08.12.2021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18D3EADF-B3C9-45AB-A4C0-C1817B15806C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pentextnn.ru/data/2.lotman.jp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1512168"/>
          </a:xfrm>
        </p:spPr>
        <p:txBody>
          <a:bodyPr/>
          <a:lstStyle/>
          <a:p>
            <a:r>
              <a:rPr lang="ru-RU" sz="5400" dirty="0" smtClean="0"/>
              <a:t>История России</a:t>
            </a:r>
            <a:endParaRPr lang="ru-RU" sz="54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03648" y="4005064"/>
            <a:ext cx="6400800" cy="1219200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>
                <a:solidFill>
                  <a:schemeClr val="tx1"/>
                </a:solidFill>
              </a:rPr>
              <a:t>Лекция 5. </a:t>
            </a:r>
          </a:p>
          <a:p>
            <a:r>
              <a:rPr lang="ru-RU" dirty="0" smtClean="0">
                <a:solidFill>
                  <a:schemeClr val="tx1"/>
                </a:solidFill>
              </a:rPr>
              <a:t>Культура Руси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IX – XIII </a:t>
            </a:r>
            <a:r>
              <a:rPr lang="ru-RU" dirty="0" smtClean="0">
                <a:solidFill>
                  <a:schemeClr val="tx1"/>
                </a:solidFill>
              </a:rPr>
              <a:t>вв.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973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ru-RU" sz="2800" dirty="0" smtClean="0"/>
              <a:t>Расширительные трактовки понятия «культура».</a:t>
            </a:r>
            <a:endParaRPr lang="ru-RU" sz="2800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916832"/>
            <a:ext cx="4038600" cy="4209331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Семиотический подход: </a:t>
            </a:r>
            <a:r>
              <a:rPr lang="ru-RU" dirty="0" smtClean="0"/>
              <a:t>культура </a:t>
            </a:r>
            <a:r>
              <a:rPr lang="ru-RU" dirty="0"/>
              <a:t>– набор знаковых систем (условных форм взаимодействия людей), действующих в данном </a:t>
            </a:r>
            <a:r>
              <a:rPr lang="ru-RU" dirty="0" smtClean="0"/>
              <a:t>хронотопе. 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quarter" idx="13"/>
          </p:nvPr>
        </p:nvSpPr>
        <p:spPr>
          <a:xfrm>
            <a:off x="365760" y="1988840"/>
            <a:ext cx="4041648" cy="4137640"/>
          </a:xfrm>
        </p:spPr>
        <p:txBody>
          <a:bodyPr/>
          <a:lstStyle/>
          <a:p>
            <a:pPr marL="0" indent="0">
              <a:buNone/>
            </a:pPr>
            <a:r>
              <a:rPr lang="ru-RU" b="1" dirty="0" smtClean="0"/>
              <a:t>Аксиологический подход: </a:t>
            </a:r>
            <a:r>
              <a:rPr lang="ru-RU" dirty="0" smtClean="0"/>
              <a:t>культура – это набор ценностей, принятых в обществе данного хронотопа и проявляющихся во всех сферах жизни.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0456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158417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3200" dirty="0"/>
              <a:t>Ценности – критерии в системе оценки поведения человека,  принятой </a:t>
            </a:r>
            <a:r>
              <a:rPr lang="ru-RU" sz="3200" dirty="0" smtClean="0"/>
              <a:t>в данном </a:t>
            </a:r>
            <a:r>
              <a:rPr lang="ru-RU" sz="3200" dirty="0"/>
              <a:t>хронотопе</a:t>
            </a:r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395536" y="2204865"/>
            <a:ext cx="8291264" cy="295232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 smtClean="0"/>
              <a:t>Ценности:</a:t>
            </a:r>
          </a:p>
          <a:p>
            <a:r>
              <a:rPr lang="ru-RU" dirty="0" smtClean="0"/>
              <a:t>бинарны (правильно-неправильно, хорошо-плохо, красиво-уродливо);</a:t>
            </a:r>
          </a:p>
          <a:p>
            <a:r>
              <a:rPr lang="ru-RU" dirty="0" smtClean="0"/>
              <a:t>однозначны (или стремятся к однозначности);</a:t>
            </a:r>
          </a:p>
          <a:p>
            <a:r>
              <a:rPr lang="ru-RU" dirty="0" smtClean="0"/>
              <a:t>иерархичны;</a:t>
            </a:r>
          </a:p>
          <a:p>
            <a:r>
              <a:rPr lang="ru-RU" dirty="0" smtClean="0"/>
              <a:t>готовы группироваться в системы;</a:t>
            </a:r>
          </a:p>
          <a:p>
            <a:r>
              <a:rPr lang="ru-RU" dirty="0" smtClean="0"/>
              <a:t>претендуют на вечность и неизменность </a:t>
            </a:r>
            <a:endParaRPr lang="ru-RU" dirty="0"/>
          </a:p>
        </p:txBody>
      </p:sp>
      <p:sp>
        <p:nvSpPr>
          <p:cNvPr id="2" name="Скругленный прямоугольник 1"/>
          <p:cNvSpPr/>
          <p:nvPr/>
        </p:nvSpPr>
        <p:spPr>
          <a:xfrm>
            <a:off x="899592" y="5445224"/>
            <a:ext cx="7704856" cy="72008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В концепции постмодернизма последней четверти ХХ века асе эти положения подвергнуты критике и пересмотру.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5979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6870700" cy="973138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lnSpc>
                <a:spcPct val="100000"/>
              </a:lnSpc>
              <a:spcAft>
                <a:spcPts val="0"/>
              </a:spcAft>
              <a:defRPr/>
            </a:pPr>
            <a:r>
              <a:rPr lang="ru-RU" sz="3200" dirty="0" smtClean="0"/>
              <a:t>Знак – соединение информации и способа ее передачи</a:t>
            </a:r>
          </a:p>
        </p:txBody>
      </p:sp>
      <p:sp>
        <p:nvSpPr>
          <p:cNvPr id="40963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323850" y="1330325"/>
            <a:ext cx="7344494" cy="1162571"/>
          </a:xfrm>
        </p:spPr>
        <p:txBody>
          <a:bodyPr/>
          <a:lstStyle/>
          <a:p>
            <a:pPr eaLnBrk="1" hangingPunct="1"/>
            <a:r>
              <a:rPr lang="ru-RU" altLang="ru-RU" sz="1800" b="1" dirty="0" smtClean="0"/>
              <a:t>«Знак — это материально выраженная замена предметов, явлений, понятий в процессе обмена информацией в коллективе». – Ю.М. Лотман.</a:t>
            </a:r>
          </a:p>
        </p:txBody>
      </p:sp>
      <p:sp>
        <p:nvSpPr>
          <p:cNvPr id="40964" name="Rectangle 5"/>
          <p:cNvSpPr>
            <a:spLocks noGrp="1" noChangeArrowheads="1"/>
          </p:cNvSpPr>
          <p:nvPr>
            <p:ph sz="quarter" idx="13"/>
          </p:nvPr>
        </p:nvSpPr>
        <p:spPr>
          <a:xfrm>
            <a:off x="3851920" y="2780928"/>
            <a:ext cx="4833736" cy="504056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ru-RU" altLang="ru-RU" b="1" dirty="0" smtClean="0"/>
              <a:t>Семантический треугольник:</a:t>
            </a:r>
          </a:p>
        </p:txBody>
      </p:sp>
      <p:pic>
        <p:nvPicPr>
          <p:cNvPr id="40965" name="Picture 7" descr="%D0%A1%D0%B5%D0%BC%D0%B0%D0%BD%D1%82%D0%B8%D1%87%D0%B5%D1%81%D0%BA%D0%B8%D0%B9_%D1%82%D1%80%D0%B5%D1%83%D0%B3%D0%BE%D0%BB%D1%8C%D0%BD%D0%B8%D0%B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898" y="3361926"/>
            <a:ext cx="2952750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6" name="Picture 11" descr="Картинка 25 из 753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2636912"/>
            <a:ext cx="2168525" cy="331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Скругленный прямоугольник 1"/>
          <p:cNvSpPr/>
          <p:nvPr/>
        </p:nvSpPr>
        <p:spPr>
          <a:xfrm>
            <a:off x="733781" y="6124459"/>
            <a:ext cx="5400600" cy="5040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 smtClean="0"/>
              <a:t>Соединение всех знаковых систем в «</a:t>
            </a:r>
            <a:r>
              <a:rPr lang="ru-RU" sz="1600" dirty="0" err="1" smtClean="0"/>
              <a:t>метасистему</a:t>
            </a:r>
            <a:r>
              <a:rPr lang="ru-RU" sz="1600" dirty="0" smtClean="0"/>
              <a:t>» – это и есть культура той или иной цивилизации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692562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08012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3200" dirty="0" smtClean="0"/>
              <a:t>Архетип – соединение ценностного и знакового подхода</a:t>
            </a:r>
            <a:endParaRPr lang="ru-RU" sz="3200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1994373"/>
              </p:ext>
            </p:extLst>
          </p:nvPr>
        </p:nvGraphicFramePr>
        <p:xfrm>
          <a:off x="323528" y="1340768"/>
          <a:ext cx="8424936" cy="52565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17212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72008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4000" dirty="0" smtClean="0"/>
              <a:t>Пример различий в архетипах</a:t>
            </a:r>
            <a:endParaRPr lang="ru-RU" sz="4000" dirty="0"/>
          </a:p>
        </p:txBody>
      </p:sp>
      <p:pic>
        <p:nvPicPr>
          <p:cNvPr id="1027" name="Picture 3" descr="D:\Pictures\Культурология\Красная шапка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700808"/>
            <a:ext cx="2991793" cy="4147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Скругленный прямоугольник 2"/>
          <p:cNvSpPr/>
          <p:nvPr/>
        </p:nvSpPr>
        <p:spPr>
          <a:xfrm>
            <a:off x="1619672" y="1196752"/>
            <a:ext cx="6192688" cy="36004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Сюжет: «путешествие еды через лес».</a:t>
            </a:r>
            <a:endParaRPr lang="ru-RU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971600" y="6093296"/>
            <a:ext cx="2991793" cy="28803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Германо-романский</a:t>
            </a:r>
            <a:endParaRPr lang="ru-RU" dirty="0"/>
          </a:p>
        </p:txBody>
      </p:sp>
      <p:pic>
        <p:nvPicPr>
          <p:cNvPr id="1028" name="Picture 4" descr="D:\Pictures\Культурология\колобок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1700808"/>
            <a:ext cx="2679674" cy="4065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Скругленный прямоугольник 4"/>
          <p:cNvSpPr/>
          <p:nvPr/>
        </p:nvSpPr>
        <p:spPr>
          <a:xfrm>
            <a:off x="6444208" y="6021288"/>
            <a:ext cx="2088232" cy="36004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Славянский  </a:t>
            </a:r>
            <a:endParaRPr lang="ru-RU" dirty="0"/>
          </a:p>
        </p:txBody>
      </p:sp>
      <p:sp>
        <p:nvSpPr>
          <p:cNvPr id="6" name="Овал 5"/>
          <p:cNvSpPr/>
          <p:nvPr/>
        </p:nvSpPr>
        <p:spPr>
          <a:xfrm>
            <a:off x="4499992" y="2276872"/>
            <a:ext cx="1152128" cy="338437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А</a:t>
            </a:r>
          </a:p>
          <a:p>
            <a:pPr algn="ctr"/>
            <a:r>
              <a:rPr lang="ru-RU" dirty="0" smtClean="0"/>
              <a:t>Р</a:t>
            </a:r>
          </a:p>
          <a:p>
            <a:pPr algn="ctr"/>
            <a:r>
              <a:rPr lang="ru-RU" dirty="0" smtClean="0"/>
              <a:t>Х</a:t>
            </a:r>
          </a:p>
          <a:p>
            <a:pPr algn="ctr"/>
            <a:r>
              <a:rPr lang="ru-RU" dirty="0" smtClean="0"/>
              <a:t>Е</a:t>
            </a:r>
          </a:p>
          <a:p>
            <a:pPr algn="ctr"/>
            <a:r>
              <a:rPr lang="ru-RU" dirty="0" smtClean="0"/>
              <a:t>Т</a:t>
            </a:r>
          </a:p>
          <a:p>
            <a:pPr algn="ctr"/>
            <a:r>
              <a:rPr lang="ru-RU" dirty="0" smtClean="0"/>
              <a:t>И</a:t>
            </a:r>
          </a:p>
          <a:p>
            <a:pPr algn="ctr"/>
            <a:r>
              <a:rPr lang="ru-RU" dirty="0" smtClean="0"/>
              <a:t>П</a:t>
            </a:r>
          </a:p>
          <a:p>
            <a:pPr algn="ctr"/>
            <a:r>
              <a:rPr lang="ru-RU" dirty="0" smtClean="0"/>
              <a:t>Ы</a:t>
            </a:r>
          </a:p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5544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936104"/>
          </a:xfrm>
        </p:spPr>
        <p:txBody>
          <a:bodyPr/>
          <a:lstStyle/>
          <a:p>
            <a:r>
              <a:rPr lang="ru-RU" dirty="0" smtClean="0"/>
              <a:t>Культура как биг-мак</a:t>
            </a:r>
            <a:endParaRPr lang="ru-RU" dirty="0"/>
          </a:p>
        </p:txBody>
      </p:sp>
      <p:pic>
        <p:nvPicPr>
          <p:cNvPr id="2050" name="Picture 2" descr="D:\Pictures\Культурология\бигмак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340768"/>
            <a:ext cx="6361708" cy="5221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Скругленный прямоугольник 2"/>
          <p:cNvSpPr/>
          <p:nvPr/>
        </p:nvSpPr>
        <p:spPr>
          <a:xfrm>
            <a:off x="6372200" y="5229200"/>
            <a:ext cx="2592288" cy="64807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Архетипы эпохи формирования народа</a:t>
            </a:r>
            <a:endParaRPr lang="ru-RU" sz="1400" dirty="0"/>
          </a:p>
        </p:txBody>
      </p:sp>
      <p:sp>
        <p:nvSpPr>
          <p:cNvPr id="4" name="Выгнутая вверх стрелка 3"/>
          <p:cNvSpPr/>
          <p:nvPr/>
        </p:nvSpPr>
        <p:spPr>
          <a:xfrm rot="10800000">
            <a:off x="4644009" y="5854255"/>
            <a:ext cx="2296272" cy="731520"/>
          </a:xfrm>
          <a:prstGeom prst="curved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6189271" y="1196752"/>
            <a:ext cx="2448272" cy="79208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 smtClean="0"/>
              <a:t>Формирующиеся архетипы современности</a:t>
            </a:r>
            <a:endParaRPr lang="ru-RU" sz="1600" dirty="0"/>
          </a:p>
        </p:txBody>
      </p:sp>
      <p:cxnSp>
        <p:nvCxnSpPr>
          <p:cNvPr id="7" name="Прямая со стрелкой 6"/>
          <p:cNvCxnSpPr/>
          <p:nvPr/>
        </p:nvCxnSpPr>
        <p:spPr>
          <a:xfrm flipH="1">
            <a:off x="3995936" y="1592796"/>
            <a:ext cx="2160240" cy="2520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 flipH="1">
            <a:off x="4067944" y="1700808"/>
            <a:ext cx="2088232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flipH="1">
            <a:off x="5076056" y="1844824"/>
            <a:ext cx="1080120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Скругленный прямоугольник 12"/>
          <p:cNvSpPr/>
          <p:nvPr/>
        </p:nvSpPr>
        <p:spPr>
          <a:xfrm>
            <a:off x="6940282" y="2564904"/>
            <a:ext cx="1952199" cy="194421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 smtClean="0"/>
              <a:t>Архетипы разных эпох, в том числе и заимствованные у других народов</a:t>
            </a:r>
            <a:endParaRPr lang="ru-RU" sz="1600" dirty="0"/>
          </a:p>
        </p:txBody>
      </p:sp>
      <p:sp>
        <p:nvSpPr>
          <p:cNvPr id="14" name="Стрелка вниз 13"/>
          <p:cNvSpPr/>
          <p:nvPr/>
        </p:nvSpPr>
        <p:spPr>
          <a:xfrm rot="4156564">
            <a:off x="6415659" y="2775479"/>
            <a:ext cx="178052" cy="8640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Стрелка вниз 15"/>
          <p:cNvSpPr/>
          <p:nvPr/>
        </p:nvSpPr>
        <p:spPr>
          <a:xfrm rot="4228918">
            <a:off x="6256362" y="3212631"/>
            <a:ext cx="160754" cy="12018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Стрелка вниз 18"/>
          <p:cNvSpPr/>
          <p:nvPr/>
        </p:nvSpPr>
        <p:spPr>
          <a:xfrm rot="3923331">
            <a:off x="6375471" y="3821480"/>
            <a:ext cx="156946" cy="11053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7635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93610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800" dirty="0" smtClean="0"/>
              <a:t>Сферы систематизации ценностей, создания архетипов и иерархических знаковых систем</a:t>
            </a:r>
            <a:endParaRPr lang="ru-RU" sz="2800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4703249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Скругленный прямоугольник 4"/>
          <p:cNvSpPr/>
          <p:nvPr/>
        </p:nvSpPr>
        <p:spPr>
          <a:xfrm>
            <a:off x="5364088" y="1772816"/>
            <a:ext cx="1440160" cy="36004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добро-зло</a:t>
            </a:r>
            <a:endParaRPr lang="ru-RU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6372200" y="4581128"/>
            <a:ext cx="2304256" cy="43204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правильно-неправильно</a:t>
            </a:r>
            <a:endParaRPr lang="ru-RU" sz="1400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5364088" y="5589240"/>
            <a:ext cx="2376264" cy="28803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красиво-некрасиво</a:t>
            </a:r>
            <a:endParaRPr lang="ru-RU" dirty="0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611560" y="4555301"/>
            <a:ext cx="2059754" cy="43204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хорошо-плохо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73510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720080"/>
          </a:xfrm>
        </p:spPr>
        <p:txBody>
          <a:bodyPr/>
          <a:lstStyle/>
          <a:p>
            <a:r>
              <a:rPr lang="ru-RU" sz="3600" dirty="0" smtClean="0"/>
              <a:t>Дохристианская культура</a:t>
            </a:r>
            <a:endParaRPr lang="ru-RU" sz="3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135536"/>
            <a:ext cx="3024336" cy="4447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4028" y="1181642"/>
            <a:ext cx="3175838" cy="4382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Скругленный прямоугольник 3"/>
          <p:cNvSpPr/>
          <p:nvPr/>
        </p:nvSpPr>
        <p:spPr>
          <a:xfrm>
            <a:off x="2123728" y="5805264"/>
            <a:ext cx="5400600" cy="57606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Збурчанский идол. Предположительно Х век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5086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1008112"/>
          </a:xfrm>
        </p:spPr>
        <p:txBody>
          <a:bodyPr/>
          <a:lstStyle/>
          <a:p>
            <a:r>
              <a:rPr lang="ru-RU" sz="4000" dirty="0" smtClean="0"/>
              <a:t>Дохристианская культура</a:t>
            </a:r>
            <a:endParaRPr lang="ru-RU" sz="4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770" y="1628800"/>
            <a:ext cx="3998218" cy="310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1710522"/>
            <a:ext cx="3546240" cy="303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Скругленный прямоугольник 2"/>
          <p:cNvSpPr/>
          <p:nvPr/>
        </p:nvSpPr>
        <p:spPr>
          <a:xfrm>
            <a:off x="5220072" y="5062325"/>
            <a:ext cx="3024336" cy="93610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Гнездово (Смоленская земля) ок. Х в.</a:t>
            </a:r>
            <a:endParaRPr lang="ru-RU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827584" y="5049179"/>
            <a:ext cx="3168352" cy="94924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Доброполье (Донецк)</a:t>
            </a:r>
          </a:p>
          <a:p>
            <a:pPr algn="ctr"/>
            <a:r>
              <a:rPr lang="ru-RU" dirty="0" smtClean="0"/>
              <a:t>ок. </a:t>
            </a:r>
            <a:r>
              <a:rPr lang="en-US" dirty="0" smtClean="0"/>
              <a:t>XV </a:t>
            </a:r>
            <a:r>
              <a:rPr lang="ru-RU" dirty="0" smtClean="0"/>
              <a:t>в до н.э.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1614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88640"/>
            <a:ext cx="3917082" cy="34841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2618" y="3672781"/>
            <a:ext cx="4622221" cy="2819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357923"/>
            <a:ext cx="4269751" cy="2825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5774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5212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3600" dirty="0" smtClean="0"/>
              <a:t>Начало христианской культуры. Грамотность</a:t>
            </a:r>
            <a:endParaRPr lang="ru-RU" sz="3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628800"/>
            <a:ext cx="3491488" cy="418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Скругленный прямоугольник 2"/>
          <p:cNvSpPr/>
          <p:nvPr/>
        </p:nvSpPr>
        <p:spPr>
          <a:xfrm>
            <a:off x="683568" y="5877272"/>
            <a:ext cx="4032448" cy="72008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Цера – «тетрадь» средневековья </a:t>
            </a:r>
          </a:p>
          <a:p>
            <a:pPr algn="ctr"/>
            <a:r>
              <a:rPr lang="ru-RU" sz="1400" dirty="0" smtClean="0"/>
              <a:t>1015 г.(+/- 35 лет) </a:t>
            </a:r>
          </a:p>
          <a:p>
            <a:pPr algn="ctr"/>
            <a:r>
              <a:rPr lang="ru-RU" sz="1400" dirty="0" smtClean="0"/>
              <a:t>Текст на 3-х церах: Псалмы 75, 76 часть 67-го</a:t>
            </a:r>
            <a:endParaRPr lang="ru-RU" sz="14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1628799"/>
            <a:ext cx="2799184" cy="3732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Скругленный прямоугольник 3"/>
          <p:cNvSpPr/>
          <p:nvPr/>
        </p:nvSpPr>
        <p:spPr>
          <a:xfrm>
            <a:off x="5148064" y="5877272"/>
            <a:ext cx="3240360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Граффито из Полоцка: «Третьего </a:t>
            </a:r>
            <a:r>
              <a:rPr lang="ru-RU" sz="1400" dirty="0"/>
              <a:t>августа преставилась Кузьминная, писца иконного».</a:t>
            </a:r>
          </a:p>
        </p:txBody>
      </p:sp>
    </p:spTree>
    <p:extLst>
      <p:ext uri="{BB962C8B-B14F-4D97-AF65-F5344CB8AC3E}">
        <p14:creationId xmlns:p14="http://schemas.microsoft.com/office/powerpoint/2010/main" val="1440437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3608" y="548680"/>
            <a:ext cx="7128792" cy="648072"/>
          </a:xfrm>
        </p:spPr>
        <p:txBody>
          <a:bodyPr/>
          <a:lstStyle/>
          <a:p>
            <a:r>
              <a:rPr lang="ru-RU" sz="4000" dirty="0" smtClean="0"/>
              <a:t>Народная грамотность:</a:t>
            </a:r>
            <a:endParaRPr lang="ru-RU" sz="40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484784"/>
            <a:ext cx="5715000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539552" y="4077072"/>
            <a:ext cx="626469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От Гостяты к Василю. Что мне дал отец и родичи дали впридачу, то за ним. А теперь, женясь на новой жене, мне он не дает ничего. Ударив по рукам (в знак новой помолвки), он меня прогнал, а другую взял в жены. Приезжай, сделай милость</a:t>
            </a: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6925444" y="1700809"/>
            <a:ext cx="1823020" cy="172819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Берестяная грамота середины </a:t>
            </a:r>
            <a:r>
              <a:rPr lang="en-US" dirty="0" smtClean="0"/>
              <a:t>XII </a:t>
            </a:r>
            <a:r>
              <a:rPr lang="ru-RU" dirty="0" smtClean="0"/>
              <a:t>века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5288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48680"/>
            <a:ext cx="8229600" cy="720080"/>
          </a:xfrm>
        </p:spPr>
        <p:txBody>
          <a:bodyPr/>
          <a:lstStyle/>
          <a:p>
            <a:r>
              <a:rPr lang="ru-RU" dirty="0" smtClean="0"/>
              <a:t>Архитектура. Юг</a:t>
            </a:r>
            <a:endParaRPr lang="ru-R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556792"/>
            <a:ext cx="4104456" cy="2549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Скругленный прямоугольник 2"/>
          <p:cNvSpPr/>
          <p:nvPr/>
        </p:nvSpPr>
        <p:spPr>
          <a:xfrm>
            <a:off x="683568" y="4437112"/>
            <a:ext cx="3312368" cy="6480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Святая София киевская (реконструкция)</a:t>
            </a:r>
            <a:endParaRPr lang="ru-RU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1586126"/>
            <a:ext cx="3284099" cy="2465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Скругленный прямоугольник 3"/>
          <p:cNvSpPr/>
          <p:nvPr/>
        </p:nvSpPr>
        <p:spPr>
          <a:xfrm>
            <a:off x="5076056" y="4437112"/>
            <a:ext cx="3024336" cy="7920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Строительный материал - плинфа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04326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48680"/>
            <a:ext cx="8229600" cy="1051520"/>
          </a:xfrm>
        </p:spPr>
        <p:txBody>
          <a:bodyPr/>
          <a:lstStyle/>
          <a:p>
            <a:r>
              <a:rPr lang="ru-RU" dirty="0" smtClean="0"/>
              <a:t>Архитектура. Север</a:t>
            </a:r>
            <a:endParaRPr lang="ru-RU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3" y="1844824"/>
            <a:ext cx="5915582" cy="380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Скругленный прямоугольник 2"/>
          <p:cNvSpPr/>
          <p:nvPr/>
        </p:nvSpPr>
        <p:spPr>
          <a:xfrm>
            <a:off x="1835696" y="5877272"/>
            <a:ext cx="5544616" cy="6480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Собор Святой Софии в Новгороде.</a:t>
            </a:r>
          </a:p>
          <a:p>
            <a:pPr algn="ctr"/>
            <a:r>
              <a:rPr lang="ru-RU" dirty="0" smtClean="0"/>
              <a:t>Материал – известняк (белый камень).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4155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332656"/>
            <a:ext cx="8229600" cy="792088"/>
          </a:xfrm>
        </p:spPr>
        <p:txBody>
          <a:bodyPr/>
          <a:lstStyle/>
          <a:p>
            <a:r>
              <a:rPr lang="ru-RU" sz="3600" dirty="0" smtClean="0"/>
              <a:t>Крестово-купольный стиль</a:t>
            </a:r>
            <a:endParaRPr lang="ru-RU" sz="3600" dirty="0"/>
          </a:p>
        </p:txBody>
      </p:sp>
      <p:pic>
        <p:nvPicPr>
          <p:cNvPr id="8194" name="Picture 2" descr="http://www.akra-city.ru/images/istoriya-rpssii-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412776"/>
            <a:ext cx="5348883" cy="4470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7278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576064"/>
          </a:xfrm>
        </p:spPr>
        <p:txBody>
          <a:bodyPr/>
          <a:lstStyle/>
          <a:p>
            <a:r>
              <a:rPr lang="ru-RU" sz="3600" dirty="0" smtClean="0"/>
              <a:t>Основные элементы конструкции</a:t>
            </a:r>
            <a:endParaRPr lang="ru-RU" sz="36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672" y="1589903"/>
            <a:ext cx="8294782" cy="3559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9110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720080"/>
          </a:xfrm>
        </p:spPr>
        <p:txBody>
          <a:bodyPr/>
          <a:lstStyle/>
          <a:p>
            <a:r>
              <a:rPr lang="ru-RU" sz="4000" dirty="0" smtClean="0"/>
              <a:t>Звериный стиль на Руси</a:t>
            </a:r>
            <a:endParaRPr lang="ru-RU" sz="4000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1333547"/>
            <a:ext cx="4816849" cy="3225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333547"/>
            <a:ext cx="2675583" cy="3778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Скругленный прямоугольник 2"/>
          <p:cNvSpPr/>
          <p:nvPr/>
        </p:nvSpPr>
        <p:spPr>
          <a:xfrm>
            <a:off x="4067945" y="4941168"/>
            <a:ext cx="4320480" cy="79208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Дмитровский собор во Владимире конец </a:t>
            </a:r>
            <a:r>
              <a:rPr lang="en-US" dirty="0" smtClean="0"/>
              <a:t>XII </a:t>
            </a:r>
            <a:r>
              <a:rPr lang="ru-RU" dirty="0" smtClean="0"/>
              <a:t>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2722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122413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3600" dirty="0" smtClean="0"/>
              <a:t>Раннехристианская (византийская) эстетика. Основы</a:t>
            </a:r>
            <a:endParaRPr lang="ru-RU" sz="3600" dirty="0"/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>
          <a:xfrm>
            <a:off x="323528" y="2060848"/>
            <a:ext cx="8686800" cy="39630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000" b="1" dirty="0" smtClean="0"/>
              <a:t>Понятия:</a:t>
            </a:r>
          </a:p>
          <a:p>
            <a:r>
              <a:rPr lang="ru-RU" b="1" dirty="0" smtClean="0"/>
              <a:t>«Абсолютная красота» </a:t>
            </a:r>
            <a:r>
              <a:rPr lang="ru-RU" dirty="0" smtClean="0"/>
              <a:t>– естественное состояние Бога.</a:t>
            </a:r>
          </a:p>
          <a:p>
            <a:r>
              <a:rPr lang="ru-RU" b="1" dirty="0" smtClean="0"/>
              <a:t>«Мимесис» </a:t>
            </a:r>
            <a:r>
              <a:rPr lang="ru-RU" dirty="0"/>
              <a:t>– подобие, воспроизведение, </a:t>
            </a:r>
            <a:r>
              <a:rPr lang="ru-RU" dirty="0" smtClean="0"/>
              <a:t>подражание. Уподобление земной красоты – красоте небесной («абсолютной»).</a:t>
            </a:r>
          </a:p>
          <a:p>
            <a:r>
              <a:rPr lang="ru-RU" b="1" dirty="0" smtClean="0"/>
              <a:t>«Любовь» </a:t>
            </a:r>
            <a:r>
              <a:rPr lang="ru-RU" dirty="0" smtClean="0"/>
              <a:t>– единственно верный путь познания абсолютной красоты.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07270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720080"/>
          </a:xfrm>
        </p:spPr>
        <p:txBody>
          <a:bodyPr/>
          <a:lstStyle/>
          <a:p>
            <a:r>
              <a:rPr lang="ru-RU" dirty="0" smtClean="0"/>
              <a:t>Земная красота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23528" y="1340768"/>
            <a:ext cx="4191000" cy="4724400"/>
          </a:xfrm>
        </p:spPr>
        <p:txBody>
          <a:bodyPr/>
          <a:lstStyle/>
          <a:p>
            <a:r>
              <a:rPr lang="ru-RU" dirty="0" smtClean="0"/>
              <a:t>Слабый</a:t>
            </a:r>
            <a:r>
              <a:rPr lang="ru-RU" dirty="0"/>
              <a:t>, но видимый и познаваемый отпечаток «абсолютной красоты».</a:t>
            </a:r>
          </a:p>
          <a:p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quarter" idx="13"/>
          </p:nvPr>
        </p:nvSpPr>
        <p:spPr>
          <a:xfrm>
            <a:off x="4644008" y="1268760"/>
            <a:ext cx="2503336" cy="2147581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Возбудитель </a:t>
            </a:r>
            <a:r>
              <a:rPr lang="ru-RU" sz="2400" dirty="0"/>
              <a:t>греховных помыслов и животного вожделения</a:t>
            </a:r>
            <a:r>
              <a:rPr lang="ru-RU" sz="2400" dirty="0" smtClean="0"/>
              <a:t>.</a:t>
            </a:r>
            <a:endParaRPr lang="ru-RU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416341"/>
            <a:ext cx="2592288" cy="25780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7344" y="2204864"/>
            <a:ext cx="1656184" cy="3496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79680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5576" y="457200"/>
            <a:ext cx="7632848" cy="88356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dirty="0" smtClean="0"/>
              <a:t>Представления об искусстве в раннем христианстве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28800"/>
            <a:ext cx="8686800" cy="4165923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/>
              <a:t>Цель:</a:t>
            </a:r>
            <a:r>
              <a:rPr lang="ru-RU" dirty="0"/>
              <a:t> возвышение души человека до степени познания Бога (Григорий Нисский: «Познание осуществляется любовью, ибо познаваемое прекрасно по </a:t>
            </a:r>
            <a:r>
              <a:rPr lang="ru-RU" dirty="0" smtClean="0"/>
              <a:t>природе»).</a:t>
            </a:r>
          </a:p>
          <a:p>
            <a:r>
              <a:rPr lang="ru-RU" b="1" dirty="0"/>
              <a:t>Назначение: </a:t>
            </a:r>
            <a:r>
              <a:rPr lang="ru-RU" dirty="0"/>
              <a:t>поиск и открытие подобного в неподобном, </a:t>
            </a:r>
            <a:r>
              <a:rPr lang="ru-RU" dirty="0" smtClean="0"/>
              <a:t>Абсолюта </a:t>
            </a:r>
            <a:r>
              <a:rPr lang="ru-RU" dirty="0"/>
              <a:t>в преходящем, Бога – в себе (Василий Великий: «Истинно прекрасное – есть соразмерность в душе, доблестно </a:t>
            </a:r>
            <a:r>
              <a:rPr lang="ru-RU" dirty="0" smtClean="0"/>
              <a:t>настроенной»).</a:t>
            </a:r>
          </a:p>
          <a:p>
            <a:r>
              <a:rPr lang="ru-RU" b="1" dirty="0"/>
              <a:t>Главная задача: </a:t>
            </a:r>
            <a:r>
              <a:rPr lang="ru-RU" dirty="0"/>
              <a:t>служить  возвышению души (Иоанн </a:t>
            </a:r>
            <a:r>
              <a:rPr lang="ru-RU" dirty="0" err="1" smtClean="0"/>
              <a:t>Дамаскин</a:t>
            </a:r>
            <a:r>
              <a:rPr lang="ru-RU" dirty="0"/>
              <a:t>: «Человек не в состоянии подняться до созерцания духовного без посредства … иконы суть видимое невидимого и не имеющего фигуры, но телесно изображаемого</a:t>
            </a:r>
            <a:r>
              <a:rPr lang="ru-RU" dirty="0" smtClean="0"/>
              <a:t>»).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4550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936104"/>
          </a:xfrm>
        </p:spPr>
        <p:txBody>
          <a:bodyPr>
            <a:normAutofit/>
          </a:bodyPr>
          <a:lstStyle/>
          <a:p>
            <a:pPr>
              <a:lnSpc>
                <a:spcPts val="2700"/>
              </a:lnSpc>
            </a:pPr>
            <a:r>
              <a:rPr lang="ru-RU" sz="2700" dirty="0" smtClean="0"/>
              <a:t>Икона, как отражение христианской эстетики. Авторство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4800" y="1554163"/>
            <a:ext cx="4699248" cy="4323110"/>
          </a:xfrm>
        </p:spPr>
        <p:txBody>
          <a:bodyPr>
            <a:normAutofit/>
          </a:bodyPr>
          <a:lstStyle/>
          <a:p>
            <a:r>
              <a:rPr lang="ru-RU" dirty="0" smtClean="0"/>
              <a:t>Икона пишется по канону, поскольку, чем больше авторское начало в иконе, тем меньше в ней абсолютно прекрасного. Идеальная икона – «Спас Нерукотворный».</a:t>
            </a:r>
          </a:p>
          <a:p>
            <a:r>
              <a:rPr lang="ru-RU" dirty="0" smtClean="0"/>
              <a:t>Икона не подписывается, поскольку автор – лишь стилус в руке Господа.</a:t>
            </a:r>
            <a:endParaRPr lang="ru-RU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5292080" y="5517232"/>
            <a:ext cx="3528392" cy="720080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prstClr val="black"/>
                </a:solidFill>
              </a:rPr>
              <a:t>Дмитрий Солунский </a:t>
            </a:r>
            <a:r>
              <a:rPr lang="en-US" dirty="0" smtClean="0">
                <a:solidFill>
                  <a:prstClr val="black"/>
                </a:solidFill>
              </a:rPr>
              <a:t>XII </a:t>
            </a:r>
            <a:r>
              <a:rPr lang="ru-RU" dirty="0" smtClean="0">
                <a:solidFill>
                  <a:prstClr val="black"/>
                </a:solidFill>
              </a:rPr>
              <a:t>век.</a:t>
            </a:r>
            <a:endParaRPr lang="ru-RU" dirty="0">
              <a:solidFill>
                <a:prstClr val="black"/>
              </a:solidFill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4749" y="1340768"/>
            <a:ext cx="2381250" cy="340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1730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19256" cy="432048"/>
          </a:xfrm>
        </p:spPr>
        <p:txBody>
          <a:bodyPr/>
          <a:lstStyle/>
          <a:p>
            <a:r>
              <a:rPr lang="ru-RU" sz="3200" dirty="0" err="1" smtClean="0"/>
              <a:t>Фаюмский</a:t>
            </a:r>
            <a:r>
              <a:rPr lang="ru-RU" sz="3200" dirty="0" smtClean="0"/>
              <a:t> портрет</a:t>
            </a:r>
            <a:endParaRPr lang="ru-RU" sz="3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385" y="908721"/>
            <a:ext cx="1978715" cy="28259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759928"/>
            <a:ext cx="1981921" cy="29747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908721"/>
            <a:ext cx="2421311" cy="2924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758656"/>
            <a:ext cx="1951698" cy="2924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9216" y="3734668"/>
            <a:ext cx="1734912" cy="2972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3833514"/>
            <a:ext cx="1869712" cy="287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68515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864096"/>
          </a:xfrm>
        </p:spPr>
        <p:txBody>
          <a:bodyPr>
            <a:normAutofit/>
          </a:bodyPr>
          <a:lstStyle/>
          <a:p>
            <a:pPr>
              <a:lnSpc>
                <a:spcPts val="3000"/>
              </a:lnSpc>
            </a:pPr>
            <a:r>
              <a:rPr lang="ru-RU" sz="3200" dirty="0" smtClean="0"/>
              <a:t>Икона </a:t>
            </a:r>
            <a:r>
              <a:rPr lang="ru-RU" sz="3200" dirty="0"/>
              <a:t>как отражение византийской эстетики: </a:t>
            </a:r>
            <a:r>
              <a:rPr lang="ru-RU" sz="3200" dirty="0" smtClean="0"/>
              <a:t>перспектива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4800" y="1554162"/>
            <a:ext cx="4555232" cy="4525963"/>
          </a:xfrm>
        </p:spPr>
        <p:txBody>
          <a:bodyPr>
            <a:normAutofit/>
          </a:bodyPr>
          <a:lstStyle/>
          <a:p>
            <a:r>
              <a:rPr lang="ru-RU" dirty="0" smtClean="0"/>
              <a:t>Икона не «окно» в другой мир, а грань между мирами. В иконе не может быть «глубины». Поэтому применяется «обратная» перспектива, «выталкивающая» все изображаемое на первый план.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1340768"/>
            <a:ext cx="3251422" cy="410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Скругленный прямоугольник 3"/>
          <p:cNvSpPr/>
          <p:nvPr/>
        </p:nvSpPr>
        <p:spPr>
          <a:xfrm>
            <a:off x="5220072" y="5805264"/>
            <a:ext cx="3600400" cy="5760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Вход господень в Иерусалим </a:t>
            </a:r>
          </a:p>
          <a:p>
            <a:pPr algn="ctr"/>
            <a:r>
              <a:rPr lang="ru-RU" dirty="0" smtClean="0"/>
              <a:t>Новгород </a:t>
            </a:r>
            <a:r>
              <a:rPr lang="en-US" dirty="0" smtClean="0"/>
              <a:t>XIV </a:t>
            </a:r>
            <a:r>
              <a:rPr lang="ru-RU" dirty="0" smtClean="0"/>
              <a:t>век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1726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108012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2800" dirty="0" smtClean="0"/>
              <a:t>Икона </a:t>
            </a:r>
            <a:r>
              <a:rPr lang="ru-RU" sz="2800" dirty="0"/>
              <a:t>как отражение византийской эстетики: </a:t>
            </a:r>
            <a:r>
              <a:rPr lang="ru-RU" sz="2800" dirty="0" smtClean="0"/>
              <a:t>композиция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4800" y="1554162"/>
            <a:ext cx="4339208" cy="4525963"/>
          </a:xfrm>
        </p:spPr>
        <p:txBody>
          <a:bodyPr>
            <a:normAutofit/>
          </a:bodyPr>
          <a:lstStyle/>
          <a:p>
            <a:r>
              <a:rPr lang="ru-RU" dirty="0"/>
              <a:t>Вертикальная (</a:t>
            </a:r>
            <a:r>
              <a:rPr lang="ru-RU" dirty="0" smtClean="0"/>
              <a:t>плоскостная</a:t>
            </a:r>
            <a:r>
              <a:rPr lang="ru-RU" dirty="0"/>
              <a:t>) </a:t>
            </a:r>
            <a:r>
              <a:rPr lang="ru-RU" dirty="0" smtClean="0"/>
              <a:t>композиция </a:t>
            </a:r>
            <a:r>
              <a:rPr lang="ru-RU" dirty="0"/>
              <a:t>означает, что пространство иконы разделено на три уровня: ад – земля – небеса. Все три уровня находятся на  одном плане:</a:t>
            </a:r>
          </a:p>
          <a:p>
            <a:endParaRPr lang="ru-RU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6012159" y="5517232"/>
            <a:ext cx="2669097" cy="720080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prstClr val="black"/>
                </a:solidFill>
              </a:rPr>
              <a:t>Чудо о Флоре и Лавре </a:t>
            </a:r>
            <a:r>
              <a:rPr lang="en-US" dirty="0" smtClean="0">
                <a:solidFill>
                  <a:prstClr val="black"/>
                </a:solidFill>
              </a:rPr>
              <a:t>XV </a:t>
            </a:r>
            <a:r>
              <a:rPr lang="ru-RU" dirty="0" smtClean="0">
                <a:solidFill>
                  <a:prstClr val="black"/>
                </a:solidFill>
              </a:rPr>
              <a:t>в.</a:t>
            </a:r>
            <a:endParaRPr lang="ru-RU" dirty="0">
              <a:solidFill>
                <a:prstClr val="black"/>
              </a:solidFill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1628800"/>
            <a:ext cx="2534196" cy="3480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0399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133955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3200" dirty="0" smtClean="0"/>
              <a:t>Икона </a:t>
            </a:r>
            <a:r>
              <a:rPr lang="ru-RU" sz="3200" dirty="0"/>
              <a:t>как отражение византийской эстетики: </a:t>
            </a:r>
            <a:r>
              <a:rPr lang="ru-RU" sz="3200" dirty="0" smtClean="0"/>
              <a:t>«явление»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772817"/>
            <a:ext cx="4896544" cy="4140460"/>
          </a:xfrm>
        </p:spPr>
        <p:txBody>
          <a:bodyPr>
            <a:normAutofit/>
          </a:bodyPr>
          <a:lstStyle/>
          <a:p>
            <a:r>
              <a:rPr lang="ru-RU" dirty="0" smtClean="0"/>
              <a:t>Изображение «явлено» людям и им не подчинено. Лик на иконе всегда изображен «</a:t>
            </a:r>
            <a:r>
              <a:rPr lang="en-US" dirty="0" smtClean="0"/>
              <a:t>en Face</a:t>
            </a:r>
            <a:r>
              <a:rPr lang="ru-RU" dirty="0" smtClean="0"/>
              <a:t>» или «в ¾». Взгляд направлен на зрителя. Фон однотонный, в идеале – золотой или серебряный, выражающий «небесный свет»</a:t>
            </a:r>
            <a:endParaRPr lang="ru-RU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5940152" y="5373216"/>
            <a:ext cx="2300641" cy="1080120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prstClr val="black"/>
                </a:solidFill>
              </a:rPr>
              <a:t>Святой Георгий </a:t>
            </a:r>
            <a:r>
              <a:rPr lang="en-US" dirty="0" smtClean="0">
                <a:solidFill>
                  <a:prstClr val="black"/>
                </a:solidFill>
              </a:rPr>
              <a:t>XII </a:t>
            </a:r>
            <a:r>
              <a:rPr lang="ru-RU" dirty="0" smtClean="0">
                <a:solidFill>
                  <a:prstClr val="black"/>
                </a:solidFill>
              </a:rPr>
              <a:t>век.</a:t>
            </a:r>
            <a:endParaRPr lang="ru-RU" dirty="0">
              <a:solidFill>
                <a:prstClr val="black"/>
              </a:solidFill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1628800"/>
            <a:ext cx="2300641" cy="33422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7236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116632"/>
            <a:ext cx="8686800" cy="576064"/>
          </a:xfrm>
        </p:spPr>
        <p:txBody>
          <a:bodyPr>
            <a:normAutofit fontScale="90000"/>
          </a:bodyPr>
          <a:lstStyle/>
          <a:p>
            <a:r>
              <a:rPr lang="ru-RU" sz="2000" dirty="0" smtClean="0"/>
              <a:t>Икона </a:t>
            </a:r>
            <a:r>
              <a:rPr lang="ru-RU" sz="2000" dirty="0"/>
              <a:t>как отражение византийской эстетики: </a:t>
            </a:r>
            <a:r>
              <a:rPr lang="ru-RU" sz="2000" dirty="0" smtClean="0"/>
              <a:t>символика цвета</a:t>
            </a:r>
            <a:endParaRPr lang="ru-RU" sz="2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764704"/>
            <a:ext cx="5400600" cy="5616624"/>
          </a:xfrm>
        </p:spPr>
        <p:txBody>
          <a:bodyPr>
            <a:normAutofit fontScale="92500" lnSpcReduction="20000"/>
          </a:bodyPr>
          <a:lstStyle/>
          <a:p>
            <a:r>
              <a:rPr lang="ru-RU" sz="1600" b="1" dirty="0"/>
              <a:t>Золотой </a:t>
            </a:r>
            <a:r>
              <a:rPr lang="ru-RU" sz="1600" dirty="0" smtClean="0"/>
              <a:t>– радость, </a:t>
            </a:r>
            <a:r>
              <a:rPr lang="ru-RU" sz="1600" dirty="0"/>
              <a:t>Божественная благодать.</a:t>
            </a:r>
          </a:p>
          <a:p>
            <a:r>
              <a:rPr lang="ru-RU" sz="1600" b="1" dirty="0"/>
              <a:t>Желтый, охра </a:t>
            </a:r>
            <a:r>
              <a:rPr lang="ru-RU" sz="1600" dirty="0"/>
              <a:t>– цвет высшей власти ангелов.</a:t>
            </a:r>
          </a:p>
          <a:p>
            <a:r>
              <a:rPr lang="ru-RU" sz="1600" b="1" dirty="0"/>
              <a:t>Пурпурный, или багряный </a:t>
            </a:r>
            <a:r>
              <a:rPr lang="ru-RU" sz="1600" dirty="0"/>
              <a:t>-  цвет царя, владыки – Бога на небе, императора на земле. Этот цвет присутствовал в иконах на одеждах Богоматери – царицы Небесной.</a:t>
            </a:r>
          </a:p>
          <a:p>
            <a:r>
              <a:rPr lang="ru-RU" sz="1600" b="1" dirty="0"/>
              <a:t>Красный</a:t>
            </a:r>
            <a:r>
              <a:rPr lang="ru-RU" sz="1600" dirty="0"/>
              <a:t> – цвет тепла, любви, жизни, животворной </a:t>
            </a:r>
            <a:r>
              <a:rPr lang="ru-RU" sz="1600" dirty="0" smtClean="0"/>
              <a:t>энергии, символ </a:t>
            </a:r>
            <a:r>
              <a:rPr lang="ru-RU" sz="1600" dirty="0"/>
              <a:t>Воскресения – победы жизни над смертью. Но в то же </a:t>
            </a:r>
            <a:r>
              <a:rPr lang="ru-RU" sz="1600" dirty="0" smtClean="0"/>
              <a:t>время </a:t>
            </a:r>
            <a:r>
              <a:rPr lang="ru-RU" sz="1600" dirty="0"/>
              <a:t>это цвет крови и мучений, цвет жертвы Христа. Знак торжества вечной жизни.</a:t>
            </a:r>
          </a:p>
          <a:p>
            <a:r>
              <a:rPr lang="ru-RU" sz="1600" b="1" dirty="0"/>
              <a:t>Белый</a:t>
            </a:r>
            <a:r>
              <a:rPr lang="ru-RU" sz="1600" dirty="0"/>
              <a:t> </a:t>
            </a:r>
            <a:r>
              <a:rPr lang="ru-RU" sz="1600" dirty="0" smtClean="0"/>
              <a:t> </a:t>
            </a:r>
            <a:r>
              <a:rPr lang="ru-RU" sz="1600" dirty="0"/>
              <a:t>– символ Божественного света. Цвет чистоты, святости и простоты. Но белым цветом изображали только праведные души.</a:t>
            </a:r>
          </a:p>
          <a:p>
            <a:r>
              <a:rPr lang="ru-RU" sz="1600" b="1" dirty="0"/>
              <a:t>Синий и голубой </a:t>
            </a:r>
            <a:r>
              <a:rPr lang="ru-RU" sz="1600" dirty="0"/>
              <a:t>–  бесконечность неба, символ иного, вечного мира. Синий цвет считался цветом Богоматери, соединившей в себе </a:t>
            </a:r>
            <a:r>
              <a:rPr lang="ru-RU" sz="1600"/>
              <a:t>и </a:t>
            </a:r>
            <a:r>
              <a:rPr lang="ru-RU" sz="1600" smtClean="0"/>
              <a:t>земное, </a:t>
            </a:r>
            <a:r>
              <a:rPr lang="ru-RU" sz="1600" dirty="0"/>
              <a:t>и небесное. </a:t>
            </a:r>
          </a:p>
          <a:p>
            <a:r>
              <a:rPr lang="ru-RU" sz="1600" b="1" dirty="0"/>
              <a:t>Зеленый</a:t>
            </a:r>
            <a:r>
              <a:rPr lang="ru-RU" sz="1600" dirty="0"/>
              <a:t> </a:t>
            </a:r>
            <a:r>
              <a:rPr lang="ru-RU" sz="1600" dirty="0" smtClean="0"/>
              <a:t> </a:t>
            </a:r>
            <a:r>
              <a:rPr lang="ru-RU" sz="1600" dirty="0"/>
              <a:t>– природный, живой. вечного обновления. Зеленым цветом писали землю, </a:t>
            </a:r>
          </a:p>
          <a:p>
            <a:r>
              <a:rPr lang="ru-RU" sz="1600" b="1" dirty="0"/>
              <a:t>Коричневый</a:t>
            </a:r>
            <a:r>
              <a:rPr lang="ru-RU" sz="1600" dirty="0"/>
              <a:t> – цвет голой земли, праха, всего временного и тленного. Смешиваясь с царским пурпуром в одеждах Богоматери, этот цвет напоминал о человеческой природе, подвластной смерти.</a:t>
            </a:r>
          </a:p>
          <a:p>
            <a:r>
              <a:rPr lang="ru-RU" sz="1600" b="1" dirty="0"/>
              <a:t>Черный</a:t>
            </a:r>
            <a:r>
              <a:rPr lang="ru-RU" sz="1600" dirty="0"/>
              <a:t> – цвет зла и смерти</a:t>
            </a:r>
            <a:r>
              <a:rPr lang="ru-RU" sz="1600" dirty="0" smtClean="0"/>
              <a:t>.</a:t>
            </a:r>
            <a:endParaRPr lang="ru-RU" sz="1600" dirty="0"/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908720"/>
            <a:ext cx="2049066" cy="3395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Скругленный прямоугольник 3"/>
          <p:cNvSpPr/>
          <p:nvPr/>
        </p:nvSpPr>
        <p:spPr>
          <a:xfrm>
            <a:off x="6084168" y="4473116"/>
            <a:ext cx="2232248" cy="64807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Архангел Михаил </a:t>
            </a:r>
            <a:r>
              <a:rPr lang="en-US" dirty="0" smtClean="0"/>
              <a:t>XIII </a:t>
            </a:r>
            <a:r>
              <a:rPr lang="ru-RU" dirty="0" smtClean="0"/>
              <a:t>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2661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сполнительная">
  <a:themeElements>
    <a:clrScheme name="Исполнительная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Исполнительная">
  <a:themeElements>
    <a:clrScheme name="Исполнительная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425</TotalTime>
  <Words>1011</Words>
  <Application>Microsoft Office PowerPoint</Application>
  <PresentationFormat>Экран (4:3)</PresentationFormat>
  <Paragraphs>116</Paragraphs>
  <Slides>27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27</vt:i4>
      </vt:variant>
    </vt:vector>
  </HeadingPairs>
  <TitlesOfParts>
    <vt:vector size="29" baseType="lpstr">
      <vt:lpstr>Исполнительная</vt:lpstr>
      <vt:lpstr>1_Исполнительная</vt:lpstr>
      <vt:lpstr>История России</vt:lpstr>
      <vt:lpstr>Расширительные трактовки понятия «культура».</vt:lpstr>
      <vt:lpstr>Ценности – критерии в системе оценки поведения человека,  принятой в данном хронотопе</vt:lpstr>
      <vt:lpstr>Знак – соединение информации и способа ее передачи</vt:lpstr>
      <vt:lpstr>Архетип – соединение ценностного и знакового подхода</vt:lpstr>
      <vt:lpstr>Пример различий в архетипах</vt:lpstr>
      <vt:lpstr>Культура как биг-мак</vt:lpstr>
      <vt:lpstr>Сферы систематизации ценностей, создания архетипов и иерархических знаковых систем</vt:lpstr>
      <vt:lpstr>Дохристианская культура</vt:lpstr>
      <vt:lpstr>Дохристианская культура</vt:lpstr>
      <vt:lpstr>Презентация PowerPoint</vt:lpstr>
      <vt:lpstr>Начало христианской культуры. Грамотность</vt:lpstr>
      <vt:lpstr>Народная грамотность:</vt:lpstr>
      <vt:lpstr>Архитектура. Юг</vt:lpstr>
      <vt:lpstr>Архитектура. Север</vt:lpstr>
      <vt:lpstr>Крестово-купольный стиль</vt:lpstr>
      <vt:lpstr>Основные элементы конструкции</vt:lpstr>
      <vt:lpstr>Звериный стиль на Руси</vt:lpstr>
      <vt:lpstr>Раннехристианская (византийская) эстетика. Основы</vt:lpstr>
      <vt:lpstr>Земная красота</vt:lpstr>
      <vt:lpstr>Представления об искусстве в раннем христианстве</vt:lpstr>
      <vt:lpstr>Икона, как отражение христианской эстетики. Авторство</vt:lpstr>
      <vt:lpstr>Фаюмский портрет</vt:lpstr>
      <vt:lpstr>Икона как отражение византийской эстетики: перспектива</vt:lpstr>
      <vt:lpstr>Икона как отражение византийской эстетики: композиция</vt:lpstr>
      <vt:lpstr>Икона как отражение византийской эстетики: «явление»</vt:lpstr>
      <vt:lpstr>Икона как отражение византийской эстетики: символика цвета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История России</dc:title>
  <dc:creator>User</dc:creator>
  <cp:lastModifiedBy>User</cp:lastModifiedBy>
  <cp:revision>33</cp:revision>
  <dcterms:created xsi:type="dcterms:W3CDTF">2017-07-01T13:08:35Z</dcterms:created>
  <dcterms:modified xsi:type="dcterms:W3CDTF">2021-12-08T11:56:42Z</dcterms:modified>
</cp:coreProperties>
</file>