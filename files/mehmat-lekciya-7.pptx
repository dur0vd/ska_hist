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71" r:id="rId2"/>
    <p:sldId id="282" r:id="rId3"/>
    <p:sldId id="277" r:id="rId4"/>
    <p:sldId id="278" r:id="rId5"/>
    <p:sldId id="296" r:id="rId6"/>
    <p:sldId id="297" r:id="rId7"/>
    <p:sldId id="279" r:id="rId8"/>
    <p:sldId id="280" r:id="rId9"/>
    <p:sldId id="261" r:id="rId10"/>
    <p:sldId id="295" r:id="rId11"/>
    <p:sldId id="262" r:id="rId12"/>
    <p:sldId id="263" r:id="rId13"/>
    <p:sldId id="264" r:id="rId14"/>
    <p:sldId id="265" r:id="rId15"/>
    <p:sldId id="294" r:id="rId16"/>
    <p:sldId id="266" r:id="rId17"/>
    <p:sldId id="267" r:id="rId18"/>
    <p:sldId id="293" r:id="rId19"/>
    <p:sldId id="269" r:id="rId20"/>
    <p:sldId id="270" r:id="rId2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1650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E234F91-DDFE-4ABB-9E21-43E1808D0917}" type="doc">
      <dgm:prSet loTypeId="urn:microsoft.com/office/officeart/2005/8/layout/radial4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888F03E0-F8C0-4FEA-A5F7-D5B0684049B6}">
      <dgm:prSet phldrT="[Текст]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>
        <a:scene3d>
          <a:camera prst="orthographicFront"/>
          <a:lightRig rig="threePt" dir="t"/>
        </a:scene3d>
        <a:sp3d>
          <a:bevelT prst="convex"/>
        </a:sp3d>
      </dgm:spPr>
      <dgm:t>
        <a:bodyPr/>
        <a:lstStyle/>
        <a:p>
          <a:r>
            <a:rPr lang="ru-RU" dirty="0" smtClean="0"/>
            <a:t>Горбачев</a:t>
          </a:r>
          <a:endParaRPr lang="ru-RU" dirty="0"/>
        </a:p>
      </dgm:t>
    </dgm:pt>
    <dgm:pt modelId="{5AE9091F-11F8-4BFC-8BB3-8A7D4DADA738}" type="parTrans" cxnId="{6D2D2EC9-A8CB-4984-B6BC-F363AB661985}">
      <dgm:prSet/>
      <dgm:spPr/>
      <dgm:t>
        <a:bodyPr/>
        <a:lstStyle/>
        <a:p>
          <a:endParaRPr lang="ru-RU"/>
        </a:p>
      </dgm:t>
    </dgm:pt>
    <dgm:pt modelId="{1219E245-152B-4FC2-B7EA-9E90DE54A433}" type="sibTrans" cxnId="{6D2D2EC9-A8CB-4984-B6BC-F363AB661985}">
      <dgm:prSet/>
      <dgm:spPr/>
      <dgm:t>
        <a:bodyPr/>
        <a:lstStyle/>
        <a:p>
          <a:endParaRPr lang="ru-RU"/>
        </a:p>
      </dgm:t>
    </dgm:pt>
    <dgm:pt modelId="{54AB3221-4B58-4F4E-BE28-1F4685D72EB2}">
      <dgm:prSet phldrT="[Текст]"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ru-RU" dirty="0" smtClean="0"/>
            <a:t>Демократические фронты в национальных республиках</a:t>
          </a:r>
          <a:endParaRPr lang="ru-RU" dirty="0"/>
        </a:p>
      </dgm:t>
    </dgm:pt>
    <dgm:pt modelId="{BBA75A10-C81F-4B85-9152-A0E80B3966C3}" type="parTrans" cxnId="{7A8197E2-3A90-41F8-829D-85903C48C30B}">
      <dgm:prSet>
        <dgm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dgm:style>
      </dgm:prSet>
      <dgm:spPr>
        <a:effectLst>
          <a:softEdge rad="31750"/>
        </a:effectLst>
      </dgm:spPr>
      <dgm:t>
        <a:bodyPr/>
        <a:lstStyle/>
        <a:p>
          <a:endParaRPr lang="ru-RU"/>
        </a:p>
      </dgm:t>
    </dgm:pt>
    <dgm:pt modelId="{EE221504-5459-4D87-B64F-1B2CA196967C}" type="sibTrans" cxnId="{7A8197E2-3A90-41F8-829D-85903C48C30B}">
      <dgm:prSet/>
      <dgm:spPr/>
      <dgm:t>
        <a:bodyPr/>
        <a:lstStyle/>
        <a:p>
          <a:endParaRPr lang="ru-RU"/>
        </a:p>
      </dgm:t>
    </dgm:pt>
    <dgm:pt modelId="{6E319AF9-0058-469A-A0A5-432EFA52C697}">
      <dgm:prSet phldrT="[Текст]"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ru-RU" dirty="0" smtClean="0"/>
            <a:t>Консервативное крыло в КПСС структурирующийся в рамках КПРФ (</a:t>
          </a:r>
          <a:r>
            <a:rPr lang="ru-RU" dirty="0" err="1" smtClean="0"/>
            <a:t>Полосков</a:t>
          </a:r>
          <a:r>
            <a:rPr lang="ru-RU" dirty="0" smtClean="0"/>
            <a:t>, Зюганов)</a:t>
          </a:r>
          <a:endParaRPr lang="ru-RU" dirty="0"/>
        </a:p>
      </dgm:t>
    </dgm:pt>
    <dgm:pt modelId="{DC4BED0B-69ED-434E-BFAF-647967DAD2E7}" type="parTrans" cxnId="{DD671264-F971-4D9D-9B3F-E99F96C4E361}">
      <dgm:prSet>
        <dgm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dgm:style>
      </dgm:prSet>
      <dgm:spPr>
        <a:effectLst>
          <a:softEdge rad="31750"/>
        </a:effectLst>
      </dgm:spPr>
      <dgm:t>
        <a:bodyPr/>
        <a:lstStyle/>
        <a:p>
          <a:endParaRPr lang="ru-RU"/>
        </a:p>
      </dgm:t>
    </dgm:pt>
    <dgm:pt modelId="{BC853424-B270-4854-8D04-617AB3FF8167}" type="sibTrans" cxnId="{DD671264-F971-4D9D-9B3F-E99F96C4E361}">
      <dgm:prSet/>
      <dgm:spPr/>
      <dgm:t>
        <a:bodyPr/>
        <a:lstStyle/>
        <a:p>
          <a:endParaRPr lang="ru-RU"/>
        </a:p>
      </dgm:t>
    </dgm:pt>
    <dgm:pt modelId="{4302C60B-D82D-4192-A06B-BAF6527F085B}">
      <dgm:prSet phldrT="[Текст]">
        <dgm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dgm:style>
      </dgm:prSet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ru-RU" dirty="0" smtClean="0"/>
            <a:t>«Демократическая платформа» в КПСС (Ельцин, Попов, Собчак)</a:t>
          </a:r>
          <a:endParaRPr lang="ru-RU" dirty="0"/>
        </a:p>
      </dgm:t>
    </dgm:pt>
    <dgm:pt modelId="{A9B1362B-FD4A-47DC-8A72-1B27FB5E39C0}" type="parTrans" cxnId="{0BAEF146-1E04-4DFD-8AB8-9780F99F093F}">
      <dgm:prSet>
        <dgm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dgm:style>
      </dgm:prSet>
      <dgm:spPr>
        <a:effectLst>
          <a:softEdge rad="31750"/>
        </a:effectLst>
      </dgm:spPr>
      <dgm:t>
        <a:bodyPr/>
        <a:lstStyle/>
        <a:p>
          <a:endParaRPr lang="ru-RU"/>
        </a:p>
      </dgm:t>
    </dgm:pt>
    <dgm:pt modelId="{A9C20B50-D97D-46AA-A9CD-60AC46D19943}" type="sibTrans" cxnId="{0BAEF146-1E04-4DFD-8AB8-9780F99F093F}">
      <dgm:prSet/>
      <dgm:spPr/>
      <dgm:t>
        <a:bodyPr/>
        <a:lstStyle/>
        <a:p>
          <a:endParaRPr lang="ru-RU"/>
        </a:p>
      </dgm:t>
    </dgm:pt>
    <dgm:pt modelId="{63744D06-220D-4D07-B84E-9AD1EC4B1627}">
      <dgm:prSet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ru-RU" dirty="0" smtClean="0"/>
            <a:t>А.Д. Сахаров, как олицетворение «инакомыслия»</a:t>
          </a:r>
          <a:endParaRPr lang="ru-RU" dirty="0"/>
        </a:p>
      </dgm:t>
    </dgm:pt>
    <dgm:pt modelId="{C93E60D2-D3A5-482E-9CBC-ADF662A0FE7A}" type="parTrans" cxnId="{ACB617E0-C699-44CC-A952-5EF2E1F81804}">
      <dgm:prSet>
        <dgm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dgm:style>
      </dgm:prSet>
      <dgm:spPr>
        <a:effectLst>
          <a:softEdge rad="31750"/>
        </a:effectLst>
      </dgm:spPr>
      <dgm:t>
        <a:bodyPr/>
        <a:lstStyle/>
        <a:p>
          <a:endParaRPr lang="ru-RU"/>
        </a:p>
      </dgm:t>
    </dgm:pt>
    <dgm:pt modelId="{AAA44093-717D-4D9A-940D-38FCFAF7A593}" type="sibTrans" cxnId="{ACB617E0-C699-44CC-A952-5EF2E1F81804}">
      <dgm:prSet/>
      <dgm:spPr/>
      <dgm:t>
        <a:bodyPr/>
        <a:lstStyle/>
        <a:p>
          <a:endParaRPr lang="ru-RU"/>
        </a:p>
      </dgm:t>
    </dgm:pt>
    <dgm:pt modelId="{39E3F519-5F47-4332-BEA4-015263CC75D8}" type="pres">
      <dgm:prSet presAssocID="{0E234F91-DDFE-4ABB-9E21-43E1808D0917}" presName="cycle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9DA810A3-8950-43B6-BA3A-810BF5AAA698}" type="pres">
      <dgm:prSet presAssocID="{888F03E0-F8C0-4FEA-A5F7-D5B0684049B6}" presName="centerShape" presStyleLbl="node0" presStyleIdx="0" presStyleCnt="1"/>
      <dgm:spPr/>
      <dgm:t>
        <a:bodyPr/>
        <a:lstStyle/>
        <a:p>
          <a:endParaRPr lang="ru-RU"/>
        </a:p>
      </dgm:t>
    </dgm:pt>
    <dgm:pt modelId="{497BE197-9F34-4E9C-BE12-FEC19702D207}" type="pres">
      <dgm:prSet presAssocID="{BBA75A10-C81F-4B85-9152-A0E80B3966C3}" presName="parTrans" presStyleLbl="bgSibTrans2D1" presStyleIdx="0" presStyleCnt="4" custLinFactNeighborX="5952" custLinFactNeighborY="1014"/>
      <dgm:spPr/>
      <dgm:t>
        <a:bodyPr/>
        <a:lstStyle/>
        <a:p>
          <a:endParaRPr lang="ru-RU"/>
        </a:p>
      </dgm:t>
    </dgm:pt>
    <dgm:pt modelId="{82F97A2D-A31F-4239-B0E0-CFA2D7C6D8ED}" type="pres">
      <dgm:prSet presAssocID="{54AB3221-4B58-4F4E-BE28-1F4685D72EB2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AE4DD1B-F52A-468D-A68D-9FA6D88AA00A}" type="pres">
      <dgm:prSet presAssocID="{DC4BED0B-69ED-434E-BFAF-647967DAD2E7}" presName="parTrans" presStyleLbl="bgSibTrans2D1" presStyleIdx="1" presStyleCnt="4" custLinFactNeighborX="2098" custLinFactNeighborY="13271"/>
      <dgm:spPr/>
      <dgm:t>
        <a:bodyPr/>
        <a:lstStyle/>
        <a:p>
          <a:endParaRPr lang="ru-RU"/>
        </a:p>
      </dgm:t>
    </dgm:pt>
    <dgm:pt modelId="{F645AF26-FDD6-4814-B545-3470FAAD832B}" type="pres">
      <dgm:prSet presAssocID="{6E319AF9-0058-469A-A0A5-432EFA52C697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4D228BF-E2AD-46E0-AD56-939C9C3FE99A}" type="pres">
      <dgm:prSet presAssocID="{A9B1362B-FD4A-47DC-8A72-1B27FB5E39C0}" presName="parTrans" presStyleLbl="bgSibTrans2D1" presStyleIdx="2" presStyleCnt="4" custLinFactNeighborX="-736" custLinFactNeighborY="24642"/>
      <dgm:spPr/>
      <dgm:t>
        <a:bodyPr/>
        <a:lstStyle/>
        <a:p>
          <a:endParaRPr lang="ru-RU"/>
        </a:p>
      </dgm:t>
    </dgm:pt>
    <dgm:pt modelId="{81659EDF-096C-4878-8DFC-2D13C979B355}" type="pres">
      <dgm:prSet presAssocID="{4302C60B-D82D-4192-A06B-BAF6527F085B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2F9E8D3-0E7A-4422-B506-4C44E938EF3E}" type="pres">
      <dgm:prSet presAssocID="{C93E60D2-D3A5-482E-9CBC-ADF662A0FE7A}" presName="parTrans" presStyleLbl="bgSibTrans2D1" presStyleIdx="3" presStyleCnt="4" custLinFactNeighborX="-4750" custLinFactNeighborY="1014"/>
      <dgm:spPr/>
      <dgm:t>
        <a:bodyPr/>
        <a:lstStyle/>
        <a:p>
          <a:endParaRPr lang="ru-RU"/>
        </a:p>
      </dgm:t>
    </dgm:pt>
    <dgm:pt modelId="{FECAD70A-74D8-4239-8400-8561A31FC109}" type="pres">
      <dgm:prSet presAssocID="{63744D06-220D-4D07-B84E-9AD1EC4B1627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ACB617E0-C699-44CC-A952-5EF2E1F81804}" srcId="{888F03E0-F8C0-4FEA-A5F7-D5B0684049B6}" destId="{63744D06-220D-4D07-B84E-9AD1EC4B1627}" srcOrd="3" destOrd="0" parTransId="{C93E60D2-D3A5-482E-9CBC-ADF662A0FE7A}" sibTransId="{AAA44093-717D-4D9A-940D-38FCFAF7A593}"/>
    <dgm:cxn modelId="{EDE09C9C-74DE-4B28-8F2A-AE3F60D625A2}" type="presOf" srcId="{A9B1362B-FD4A-47DC-8A72-1B27FB5E39C0}" destId="{34D228BF-E2AD-46E0-AD56-939C9C3FE99A}" srcOrd="0" destOrd="0" presId="urn:microsoft.com/office/officeart/2005/8/layout/radial4"/>
    <dgm:cxn modelId="{C735F8A1-2D2D-495B-8FE9-81957F2AEF48}" type="presOf" srcId="{0E234F91-DDFE-4ABB-9E21-43E1808D0917}" destId="{39E3F519-5F47-4332-BEA4-015263CC75D8}" srcOrd="0" destOrd="0" presId="urn:microsoft.com/office/officeart/2005/8/layout/radial4"/>
    <dgm:cxn modelId="{5C5C2BF5-C9C5-40CE-B271-CBE0960E351A}" type="presOf" srcId="{888F03E0-F8C0-4FEA-A5F7-D5B0684049B6}" destId="{9DA810A3-8950-43B6-BA3A-810BF5AAA698}" srcOrd="0" destOrd="0" presId="urn:microsoft.com/office/officeart/2005/8/layout/radial4"/>
    <dgm:cxn modelId="{158A74CD-110A-4E67-A6E5-23CCFA758DB1}" type="presOf" srcId="{63744D06-220D-4D07-B84E-9AD1EC4B1627}" destId="{FECAD70A-74D8-4239-8400-8561A31FC109}" srcOrd="0" destOrd="0" presId="urn:microsoft.com/office/officeart/2005/8/layout/radial4"/>
    <dgm:cxn modelId="{66FB2AAA-1BF0-45BD-A44D-C87FB8A9AA08}" type="presOf" srcId="{54AB3221-4B58-4F4E-BE28-1F4685D72EB2}" destId="{82F97A2D-A31F-4239-B0E0-CFA2D7C6D8ED}" srcOrd="0" destOrd="0" presId="urn:microsoft.com/office/officeart/2005/8/layout/radial4"/>
    <dgm:cxn modelId="{6D2D2EC9-A8CB-4984-B6BC-F363AB661985}" srcId="{0E234F91-DDFE-4ABB-9E21-43E1808D0917}" destId="{888F03E0-F8C0-4FEA-A5F7-D5B0684049B6}" srcOrd="0" destOrd="0" parTransId="{5AE9091F-11F8-4BFC-8BB3-8A7D4DADA738}" sibTransId="{1219E245-152B-4FC2-B7EA-9E90DE54A433}"/>
    <dgm:cxn modelId="{7A8197E2-3A90-41F8-829D-85903C48C30B}" srcId="{888F03E0-F8C0-4FEA-A5F7-D5B0684049B6}" destId="{54AB3221-4B58-4F4E-BE28-1F4685D72EB2}" srcOrd="0" destOrd="0" parTransId="{BBA75A10-C81F-4B85-9152-A0E80B3966C3}" sibTransId="{EE221504-5459-4D87-B64F-1B2CA196967C}"/>
    <dgm:cxn modelId="{E47FEC86-724B-4DAC-B1EF-6E047B084C59}" type="presOf" srcId="{C93E60D2-D3A5-482E-9CBC-ADF662A0FE7A}" destId="{E2F9E8D3-0E7A-4422-B506-4C44E938EF3E}" srcOrd="0" destOrd="0" presId="urn:microsoft.com/office/officeart/2005/8/layout/radial4"/>
    <dgm:cxn modelId="{0BAEF146-1E04-4DFD-8AB8-9780F99F093F}" srcId="{888F03E0-F8C0-4FEA-A5F7-D5B0684049B6}" destId="{4302C60B-D82D-4192-A06B-BAF6527F085B}" srcOrd="2" destOrd="0" parTransId="{A9B1362B-FD4A-47DC-8A72-1B27FB5E39C0}" sibTransId="{A9C20B50-D97D-46AA-A9CD-60AC46D19943}"/>
    <dgm:cxn modelId="{CC9F06B0-8073-4864-9270-8F35E31105B4}" type="presOf" srcId="{BBA75A10-C81F-4B85-9152-A0E80B3966C3}" destId="{497BE197-9F34-4E9C-BE12-FEC19702D207}" srcOrd="0" destOrd="0" presId="urn:microsoft.com/office/officeart/2005/8/layout/radial4"/>
    <dgm:cxn modelId="{5D881591-39B0-4118-BF5D-A1CC792C336E}" type="presOf" srcId="{DC4BED0B-69ED-434E-BFAF-647967DAD2E7}" destId="{5AE4DD1B-F52A-468D-A68D-9FA6D88AA00A}" srcOrd="0" destOrd="0" presId="urn:microsoft.com/office/officeart/2005/8/layout/radial4"/>
    <dgm:cxn modelId="{6C5F888F-2B85-4E7D-9EBA-5CD18FCE118A}" type="presOf" srcId="{6E319AF9-0058-469A-A0A5-432EFA52C697}" destId="{F645AF26-FDD6-4814-B545-3470FAAD832B}" srcOrd="0" destOrd="0" presId="urn:microsoft.com/office/officeart/2005/8/layout/radial4"/>
    <dgm:cxn modelId="{75EA4FEF-46F6-4480-9A2E-04CC8991F932}" type="presOf" srcId="{4302C60B-D82D-4192-A06B-BAF6527F085B}" destId="{81659EDF-096C-4878-8DFC-2D13C979B355}" srcOrd="0" destOrd="0" presId="urn:microsoft.com/office/officeart/2005/8/layout/radial4"/>
    <dgm:cxn modelId="{DD671264-F971-4D9D-9B3F-E99F96C4E361}" srcId="{888F03E0-F8C0-4FEA-A5F7-D5B0684049B6}" destId="{6E319AF9-0058-469A-A0A5-432EFA52C697}" srcOrd="1" destOrd="0" parTransId="{DC4BED0B-69ED-434E-BFAF-647967DAD2E7}" sibTransId="{BC853424-B270-4854-8D04-617AB3FF8167}"/>
    <dgm:cxn modelId="{32111961-6A50-45FC-BFE6-D990F454814A}" type="presParOf" srcId="{39E3F519-5F47-4332-BEA4-015263CC75D8}" destId="{9DA810A3-8950-43B6-BA3A-810BF5AAA698}" srcOrd="0" destOrd="0" presId="urn:microsoft.com/office/officeart/2005/8/layout/radial4"/>
    <dgm:cxn modelId="{695691FE-3A34-48AC-B0B1-4500745CEF33}" type="presParOf" srcId="{39E3F519-5F47-4332-BEA4-015263CC75D8}" destId="{497BE197-9F34-4E9C-BE12-FEC19702D207}" srcOrd="1" destOrd="0" presId="urn:microsoft.com/office/officeart/2005/8/layout/radial4"/>
    <dgm:cxn modelId="{9B9FB5EA-DC94-4E10-AF92-E1682A415B1B}" type="presParOf" srcId="{39E3F519-5F47-4332-BEA4-015263CC75D8}" destId="{82F97A2D-A31F-4239-B0E0-CFA2D7C6D8ED}" srcOrd="2" destOrd="0" presId="urn:microsoft.com/office/officeart/2005/8/layout/radial4"/>
    <dgm:cxn modelId="{8F58F986-B7CB-42C7-A476-1D52656DF502}" type="presParOf" srcId="{39E3F519-5F47-4332-BEA4-015263CC75D8}" destId="{5AE4DD1B-F52A-468D-A68D-9FA6D88AA00A}" srcOrd="3" destOrd="0" presId="urn:microsoft.com/office/officeart/2005/8/layout/radial4"/>
    <dgm:cxn modelId="{FD31C12F-3BF7-41BA-83EC-A1B77C0E1D43}" type="presParOf" srcId="{39E3F519-5F47-4332-BEA4-015263CC75D8}" destId="{F645AF26-FDD6-4814-B545-3470FAAD832B}" srcOrd="4" destOrd="0" presId="urn:microsoft.com/office/officeart/2005/8/layout/radial4"/>
    <dgm:cxn modelId="{284243D6-3557-40C4-84F6-21F4B17CC68B}" type="presParOf" srcId="{39E3F519-5F47-4332-BEA4-015263CC75D8}" destId="{34D228BF-E2AD-46E0-AD56-939C9C3FE99A}" srcOrd="5" destOrd="0" presId="urn:microsoft.com/office/officeart/2005/8/layout/radial4"/>
    <dgm:cxn modelId="{6247A92C-AD5B-44CC-8FA8-B9856B318816}" type="presParOf" srcId="{39E3F519-5F47-4332-BEA4-015263CC75D8}" destId="{81659EDF-096C-4878-8DFC-2D13C979B355}" srcOrd="6" destOrd="0" presId="urn:microsoft.com/office/officeart/2005/8/layout/radial4"/>
    <dgm:cxn modelId="{916F8213-D605-43B6-BDCC-720809EAE59A}" type="presParOf" srcId="{39E3F519-5F47-4332-BEA4-015263CC75D8}" destId="{E2F9E8D3-0E7A-4422-B506-4C44E938EF3E}" srcOrd="7" destOrd="0" presId="urn:microsoft.com/office/officeart/2005/8/layout/radial4"/>
    <dgm:cxn modelId="{F12540BD-3D97-4D42-81EF-C85E3FB7F78A}" type="presParOf" srcId="{39E3F519-5F47-4332-BEA4-015263CC75D8}" destId="{FECAD70A-74D8-4239-8400-8561A31FC109}" srcOrd="8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5D656BD-23D1-4B3A-B145-8160F12ABFE3}" type="doc">
      <dgm:prSet loTypeId="urn:microsoft.com/office/officeart/2005/8/layout/arrow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2F248DA4-01E4-4A87-8572-E608A7CAF0CE}">
      <dgm:prSet phldrT="[Текст]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>
        <a:scene3d>
          <a:camera prst="orthographicFront"/>
          <a:lightRig rig="threePt" dir="t"/>
        </a:scene3d>
        <a:sp3d>
          <a:bevelT prst="slope"/>
        </a:sp3d>
      </dgm:spPr>
      <dgm:t>
        <a:bodyPr/>
        <a:lstStyle/>
        <a:p>
          <a:r>
            <a:rPr lang="ru-RU" dirty="0" smtClean="0"/>
            <a:t>21 сентября 1993 года —указ № 1400 «О поэтапной конституционной реформе в Российской Федерации», предписывавший Съезду народных депутатов и Верховному Совету Российской Федерации прекратить свою деятельность</a:t>
          </a:r>
          <a:endParaRPr lang="ru-RU" dirty="0"/>
        </a:p>
      </dgm:t>
    </dgm:pt>
    <dgm:pt modelId="{E4C1D6F0-5D38-407E-8411-410B3576232F}" type="parTrans" cxnId="{FAC5F03E-2DD1-4F08-A677-ED46C62DE714}">
      <dgm:prSet/>
      <dgm:spPr/>
      <dgm:t>
        <a:bodyPr/>
        <a:lstStyle/>
        <a:p>
          <a:endParaRPr lang="ru-RU"/>
        </a:p>
      </dgm:t>
    </dgm:pt>
    <dgm:pt modelId="{9B0536FB-4815-43D4-93AE-3C6A0D2719C6}" type="sibTrans" cxnId="{FAC5F03E-2DD1-4F08-A677-ED46C62DE714}">
      <dgm:prSet/>
      <dgm:spPr/>
      <dgm:t>
        <a:bodyPr/>
        <a:lstStyle/>
        <a:p>
          <a:endParaRPr lang="ru-RU"/>
        </a:p>
      </dgm:t>
    </dgm:pt>
    <dgm:pt modelId="{E8591371-E911-4C9E-8773-215250D76851}">
      <dgm:prSet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>
        <a:scene3d>
          <a:camera prst="orthographicFront"/>
          <a:lightRig rig="threePt" dir="t"/>
        </a:scene3d>
        <a:sp3d>
          <a:bevelT prst="slope"/>
        </a:sp3d>
      </dgm:spPr>
      <dgm:t>
        <a:bodyPr/>
        <a:lstStyle/>
        <a:p>
          <a:r>
            <a:rPr lang="ru-RU" dirty="0" smtClean="0"/>
            <a:t>21—22 сентября 1993 года — Конституционный Суд Российской Федерации выносит заключение о </a:t>
          </a:r>
          <a:r>
            <a:rPr lang="ru-RU" dirty="0" err="1" smtClean="0"/>
            <a:t>неконституционности</a:t>
          </a:r>
          <a:r>
            <a:rPr lang="ru-RU" dirty="0" smtClean="0"/>
            <a:t> действий Президента, Верховный Совет на основании этого заключения принимает постановление о прекращении полномочий Президента Ельцина с момента издания указа №1400</a:t>
          </a:r>
          <a:endParaRPr lang="ru-RU" dirty="0"/>
        </a:p>
      </dgm:t>
    </dgm:pt>
    <dgm:pt modelId="{F146E777-3552-4211-9EF0-012C6E299B64}" type="parTrans" cxnId="{92F237F8-E34D-481D-9650-48630DD7E367}">
      <dgm:prSet/>
      <dgm:spPr/>
      <dgm:t>
        <a:bodyPr/>
        <a:lstStyle/>
        <a:p>
          <a:endParaRPr lang="ru-RU"/>
        </a:p>
      </dgm:t>
    </dgm:pt>
    <dgm:pt modelId="{8793BD1F-D1A8-45C9-BCB7-8304E59F5123}" type="sibTrans" cxnId="{92F237F8-E34D-481D-9650-48630DD7E367}">
      <dgm:prSet/>
      <dgm:spPr/>
      <dgm:t>
        <a:bodyPr/>
        <a:lstStyle/>
        <a:p>
          <a:endParaRPr lang="ru-RU"/>
        </a:p>
      </dgm:t>
    </dgm:pt>
    <dgm:pt modelId="{1FC0FCFC-1729-4AD2-85F6-4C4361D3FEC8}" type="pres">
      <dgm:prSet presAssocID="{35D656BD-23D1-4B3A-B145-8160F12ABFE3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15091A3E-7819-43B8-9A67-E0E1159E7520}" type="pres">
      <dgm:prSet presAssocID="{2F248DA4-01E4-4A87-8572-E608A7CAF0CE}" presName="arrow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6DC0984-063F-48F3-BC57-E9A412421883}" type="pres">
      <dgm:prSet presAssocID="{E8591371-E911-4C9E-8773-215250D76851}" presName="arrow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FAC5F03E-2DD1-4F08-A677-ED46C62DE714}" srcId="{35D656BD-23D1-4B3A-B145-8160F12ABFE3}" destId="{2F248DA4-01E4-4A87-8572-E608A7CAF0CE}" srcOrd="0" destOrd="0" parTransId="{E4C1D6F0-5D38-407E-8411-410B3576232F}" sibTransId="{9B0536FB-4815-43D4-93AE-3C6A0D2719C6}"/>
    <dgm:cxn modelId="{145726F3-39A0-4ADF-907E-A2548DA48895}" type="presOf" srcId="{35D656BD-23D1-4B3A-B145-8160F12ABFE3}" destId="{1FC0FCFC-1729-4AD2-85F6-4C4361D3FEC8}" srcOrd="0" destOrd="0" presId="urn:microsoft.com/office/officeart/2005/8/layout/arrow5"/>
    <dgm:cxn modelId="{33B3FB65-A5A4-4119-825C-AA46A9498DBC}" type="presOf" srcId="{2F248DA4-01E4-4A87-8572-E608A7CAF0CE}" destId="{15091A3E-7819-43B8-9A67-E0E1159E7520}" srcOrd="0" destOrd="0" presId="urn:microsoft.com/office/officeart/2005/8/layout/arrow5"/>
    <dgm:cxn modelId="{D1F776C7-165D-482D-96FB-25557D15B6D6}" type="presOf" srcId="{E8591371-E911-4C9E-8773-215250D76851}" destId="{D6DC0984-063F-48F3-BC57-E9A412421883}" srcOrd="0" destOrd="0" presId="urn:microsoft.com/office/officeart/2005/8/layout/arrow5"/>
    <dgm:cxn modelId="{92F237F8-E34D-481D-9650-48630DD7E367}" srcId="{35D656BD-23D1-4B3A-B145-8160F12ABFE3}" destId="{E8591371-E911-4C9E-8773-215250D76851}" srcOrd="1" destOrd="0" parTransId="{F146E777-3552-4211-9EF0-012C6E299B64}" sibTransId="{8793BD1F-D1A8-45C9-BCB7-8304E59F5123}"/>
    <dgm:cxn modelId="{95EEBEB3-75B2-48E9-BDCE-7ADE67896666}" type="presParOf" srcId="{1FC0FCFC-1729-4AD2-85F6-4C4361D3FEC8}" destId="{15091A3E-7819-43B8-9A67-E0E1159E7520}" srcOrd="0" destOrd="0" presId="urn:microsoft.com/office/officeart/2005/8/layout/arrow5"/>
    <dgm:cxn modelId="{148623C5-2B3C-423F-A98A-85D6887945DB}" type="presParOf" srcId="{1FC0FCFC-1729-4AD2-85F6-4C4361D3FEC8}" destId="{D6DC0984-063F-48F3-BC57-E9A412421883}" srcOrd="1" destOrd="0" presId="urn:microsoft.com/office/officeart/2005/8/layout/arrow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A810A3-8950-43B6-BA3A-810BF5AAA698}">
      <dsp:nvSpPr>
        <dsp:cNvPr id="0" name=""/>
        <dsp:cNvSpPr/>
      </dsp:nvSpPr>
      <dsp:spPr>
        <a:xfrm>
          <a:off x="3009228" y="2313678"/>
          <a:ext cx="2211142" cy="2211142"/>
        </a:xfrm>
        <a:prstGeom prst="ellipse">
          <a:avLst/>
        </a:prstGeom>
        <a:gradFill rotWithShape="1">
          <a:gsLst>
            <a:gs pos="0">
              <a:schemeClr val="accent6">
                <a:tint val="50000"/>
                <a:satMod val="300000"/>
              </a:schemeClr>
            </a:gs>
            <a:gs pos="35000">
              <a:schemeClr val="accent6">
                <a:tint val="37000"/>
                <a:satMod val="300000"/>
              </a:schemeClr>
            </a:gs>
            <a:gs pos="100000">
              <a:schemeClr val="accent6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6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threePt" dir="t"/>
        </a:scene3d>
        <a:sp3d>
          <a:bevelT prst="convex"/>
        </a:sp3d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800" kern="1200" dirty="0" smtClean="0"/>
            <a:t>Горбачев</a:t>
          </a:r>
          <a:endParaRPr lang="ru-RU" sz="2800" kern="1200" dirty="0"/>
        </a:p>
      </dsp:txBody>
      <dsp:txXfrm>
        <a:off x="3333042" y="2637492"/>
        <a:ext cx="1563514" cy="1563514"/>
      </dsp:txXfrm>
    </dsp:sp>
    <dsp:sp modelId="{497BE197-9F34-4E9C-BE12-FEC19702D207}">
      <dsp:nvSpPr>
        <dsp:cNvPr id="0" name=""/>
        <dsp:cNvSpPr/>
      </dsp:nvSpPr>
      <dsp:spPr>
        <a:xfrm rot="11700000">
          <a:off x="1437158" y="2587015"/>
          <a:ext cx="1643162" cy="630175"/>
        </a:xfrm>
        <a:prstGeom prst="leftArrow">
          <a:avLst>
            <a:gd name="adj1" fmla="val 60000"/>
            <a:gd name="adj2" fmla="val 50000"/>
          </a:avLst>
        </a:prstGeom>
        <a:gradFill rotWithShape="1">
          <a:gsLst>
            <a:gs pos="0">
              <a:schemeClr val="accent1">
                <a:shade val="51000"/>
                <a:satMod val="130000"/>
              </a:schemeClr>
            </a:gs>
            <a:gs pos="80000">
              <a:schemeClr val="accent1">
                <a:shade val="93000"/>
                <a:satMod val="130000"/>
              </a:schemeClr>
            </a:gs>
            <a:gs pos="100000">
              <a:schemeClr val="accent1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softEdge rad="31750"/>
        </a:effectLst>
      </dsp:spPr>
      <dsp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dsp:style>
    </dsp:sp>
    <dsp:sp modelId="{82F97A2D-A31F-4239-B0E0-CFA2D7C6D8ED}">
      <dsp:nvSpPr>
        <dsp:cNvPr id="0" name=""/>
        <dsp:cNvSpPr/>
      </dsp:nvSpPr>
      <dsp:spPr>
        <a:xfrm>
          <a:off x="317059" y="1842838"/>
          <a:ext cx="2100585" cy="1680468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5">
                <a:tint val="50000"/>
                <a:satMod val="300000"/>
              </a:schemeClr>
            </a:gs>
            <a:gs pos="35000">
              <a:schemeClr val="accent5">
                <a:tint val="37000"/>
                <a:satMod val="300000"/>
              </a:schemeClr>
            </a:gs>
            <a:gs pos="100000">
              <a:schemeClr val="accent5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5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threePt" dir="t"/>
        </a:scene3d>
        <a:sp3d>
          <a:bevelT/>
        </a:sp3d>
      </dsp:spPr>
      <dsp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dsp:style>
      <dsp:txBody>
        <a:bodyPr spcFirstLastPara="0" vert="horz" wrap="square" lIns="28575" tIns="28575" rIns="28575" bIns="2857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500" kern="1200" dirty="0" smtClean="0"/>
            <a:t>Демократические фронты в национальных республиках</a:t>
          </a:r>
          <a:endParaRPr lang="ru-RU" sz="1500" kern="1200" dirty="0"/>
        </a:p>
      </dsp:txBody>
      <dsp:txXfrm>
        <a:off x="366278" y="1892057"/>
        <a:ext cx="2002147" cy="1582030"/>
      </dsp:txXfrm>
    </dsp:sp>
    <dsp:sp modelId="{5AE4DD1B-F52A-468D-A68D-9FA6D88AA00A}">
      <dsp:nvSpPr>
        <dsp:cNvPr id="0" name=""/>
        <dsp:cNvSpPr/>
      </dsp:nvSpPr>
      <dsp:spPr>
        <a:xfrm rot="14700000">
          <a:off x="2472825" y="1354525"/>
          <a:ext cx="1643162" cy="630175"/>
        </a:xfrm>
        <a:prstGeom prst="leftArrow">
          <a:avLst>
            <a:gd name="adj1" fmla="val 60000"/>
            <a:gd name="adj2" fmla="val 50000"/>
          </a:avLst>
        </a:prstGeom>
        <a:gradFill rotWithShape="1">
          <a:gsLst>
            <a:gs pos="0">
              <a:schemeClr val="accent2">
                <a:shade val="51000"/>
                <a:satMod val="130000"/>
              </a:schemeClr>
            </a:gs>
            <a:gs pos="80000">
              <a:schemeClr val="accent2">
                <a:shade val="93000"/>
                <a:satMod val="130000"/>
              </a:schemeClr>
            </a:gs>
            <a:gs pos="100000">
              <a:schemeClr val="accent2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shade val="95000"/>
              <a:satMod val="105000"/>
            </a:schemeClr>
          </a:solidFill>
          <a:prstDash val="solid"/>
        </a:ln>
        <a:effectLst>
          <a:softEdge rad="31750"/>
        </a:effectLst>
      </dsp:spPr>
      <dsp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dsp:style>
    </dsp:sp>
    <dsp:sp modelId="{F645AF26-FDD6-4814-B545-3470FAAD832B}">
      <dsp:nvSpPr>
        <dsp:cNvPr id="0" name=""/>
        <dsp:cNvSpPr/>
      </dsp:nvSpPr>
      <dsp:spPr>
        <a:xfrm>
          <a:off x="1862425" y="1142"/>
          <a:ext cx="2100585" cy="1680468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4">
                <a:tint val="50000"/>
                <a:satMod val="300000"/>
              </a:schemeClr>
            </a:gs>
            <a:gs pos="35000">
              <a:schemeClr val="accent4">
                <a:tint val="37000"/>
                <a:satMod val="300000"/>
              </a:schemeClr>
            </a:gs>
            <a:gs pos="100000">
              <a:schemeClr val="accent4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4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threePt" dir="t"/>
        </a:scene3d>
        <a:sp3d>
          <a:bevelT/>
        </a:sp3d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28575" tIns="28575" rIns="28575" bIns="2857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500" kern="1200" dirty="0" smtClean="0"/>
            <a:t>Консервативное крыло в КПСС структурирующийся в рамках КПРФ (</a:t>
          </a:r>
          <a:r>
            <a:rPr lang="ru-RU" sz="1500" kern="1200" dirty="0" err="1" smtClean="0"/>
            <a:t>Полосков</a:t>
          </a:r>
          <a:r>
            <a:rPr lang="ru-RU" sz="1500" kern="1200" dirty="0" smtClean="0"/>
            <a:t>, Зюганов)</a:t>
          </a:r>
          <a:endParaRPr lang="ru-RU" sz="1500" kern="1200" dirty="0"/>
        </a:p>
      </dsp:txBody>
      <dsp:txXfrm>
        <a:off x="1911644" y="50361"/>
        <a:ext cx="2002147" cy="1582030"/>
      </dsp:txXfrm>
    </dsp:sp>
    <dsp:sp modelId="{34D228BF-E2AD-46E0-AD56-939C9C3FE99A}">
      <dsp:nvSpPr>
        <dsp:cNvPr id="0" name=""/>
        <dsp:cNvSpPr/>
      </dsp:nvSpPr>
      <dsp:spPr>
        <a:xfrm rot="17700000">
          <a:off x="4135991" y="1426182"/>
          <a:ext cx="1643162" cy="630175"/>
        </a:xfrm>
        <a:prstGeom prst="leftArrow">
          <a:avLst>
            <a:gd name="adj1" fmla="val 60000"/>
            <a:gd name="adj2" fmla="val 50000"/>
          </a:avLst>
        </a:prstGeom>
        <a:gradFill rotWithShape="1">
          <a:gsLst>
            <a:gs pos="0">
              <a:schemeClr val="accent4">
                <a:shade val="51000"/>
                <a:satMod val="130000"/>
              </a:schemeClr>
            </a:gs>
            <a:gs pos="80000">
              <a:schemeClr val="accent4">
                <a:shade val="93000"/>
                <a:satMod val="130000"/>
              </a:schemeClr>
            </a:gs>
            <a:gs pos="100000">
              <a:schemeClr val="accent4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4">
              <a:shade val="95000"/>
              <a:satMod val="105000"/>
            </a:schemeClr>
          </a:solidFill>
          <a:prstDash val="solid"/>
        </a:ln>
        <a:effectLst>
          <a:softEdge rad="31750"/>
        </a:effectLst>
      </dsp:spPr>
      <dsp:style>
        <a:lnRef idx="1">
          <a:schemeClr val="accent4"/>
        </a:lnRef>
        <a:fillRef idx="3">
          <a:schemeClr val="accent4"/>
        </a:fillRef>
        <a:effectRef idx="2">
          <a:schemeClr val="accent4"/>
        </a:effectRef>
        <a:fontRef idx="minor">
          <a:schemeClr val="lt1"/>
        </a:fontRef>
      </dsp:style>
    </dsp:sp>
    <dsp:sp modelId="{81659EDF-096C-4878-8DFC-2D13C979B355}">
      <dsp:nvSpPr>
        <dsp:cNvPr id="0" name=""/>
        <dsp:cNvSpPr/>
      </dsp:nvSpPr>
      <dsp:spPr>
        <a:xfrm>
          <a:off x="4266589" y="1142"/>
          <a:ext cx="2100585" cy="1680468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3">
                <a:tint val="50000"/>
                <a:satMod val="300000"/>
              </a:schemeClr>
            </a:gs>
            <a:gs pos="35000">
              <a:schemeClr val="accent3">
                <a:tint val="37000"/>
                <a:satMod val="300000"/>
              </a:schemeClr>
            </a:gs>
            <a:gs pos="100000">
              <a:schemeClr val="accent3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3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threePt" dir="t"/>
        </a:scene3d>
        <a:sp3d>
          <a:bevelT/>
        </a:sp3d>
      </dsp:spPr>
      <dsp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dsp:style>
      <dsp:txBody>
        <a:bodyPr spcFirstLastPara="0" vert="horz" wrap="square" lIns="28575" tIns="28575" rIns="28575" bIns="2857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500" kern="1200" dirty="0" smtClean="0"/>
            <a:t>«Демократическая платформа» в КПСС (Ельцин, Попов, Собчак)</a:t>
          </a:r>
          <a:endParaRPr lang="ru-RU" sz="1500" kern="1200" dirty="0"/>
        </a:p>
      </dsp:txBody>
      <dsp:txXfrm>
        <a:off x="4315808" y="50361"/>
        <a:ext cx="2002147" cy="1582030"/>
      </dsp:txXfrm>
    </dsp:sp>
    <dsp:sp modelId="{E2F9E8D3-0E7A-4422-B506-4C44E938EF3E}">
      <dsp:nvSpPr>
        <dsp:cNvPr id="0" name=""/>
        <dsp:cNvSpPr/>
      </dsp:nvSpPr>
      <dsp:spPr>
        <a:xfrm rot="20700000">
          <a:off x="5169030" y="2587015"/>
          <a:ext cx="1643162" cy="630175"/>
        </a:xfrm>
        <a:prstGeom prst="leftArrow">
          <a:avLst>
            <a:gd name="adj1" fmla="val 60000"/>
            <a:gd name="adj2" fmla="val 50000"/>
          </a:avLst>
        </a:prstGeom>
        <a:gradFill rotWithShape="1">
          <a:gsLst>
            <a:gs pos="0">
              <a:schemeClr val="accent6">
                <a:shade val="51000"/>
                <a:satMod val="130000"/>
              </a:schemeClr>
            </a:gs>
            <a:gs pos="80000">
              <a:schemeClr val="accent6">
                <a:shade val="93000"/>
                <a:satMod val="130000"/>
              </a:schemeClr>
            </a:gs>
            <a:gs pos="100000">
              <a:schemeClr val="accent6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6">
              <a:shade val="95000"/>
              <a:satMod val="105000"/>
            </a:schemeClr>
          </a:solidFill>
          <a:prstDash val="solid"/>
        </a:ln>
        <a:effectLst>
          <a:softEdge rad="31750"/>
        </a:effectLst>
      </dsp:spPr>
      <dsp:style>
        <a:lnRef idx="1">
          <a:schemeClr val="accent6"/>
        </a:lnRef>
        <a:fillRef idx="3">
          <a:schemeClr val="accent6"/>
        </a:fillRef>
        <a:effectRef idx="2">
          <a:schemeClr val="accent6"/>
        </a:effectRef>
        <a:fontRef idx="minor">
          <a:schemeClr val="lt1"/>
        </a:fontRef>
      </dsp:style>
    </dsp:sp>
    <dsp:sp modelId="{FECAD70A-74D8-4239-8400-8561A31FC109}">
      <dsp:nvSpPr>
        <dsp:cNvPr id="0" name=""/>
        <dsp:cNvSpPr/>
      </dsp:nvSpPr>
      <dsp:spPr>
        <a:xfrm>
          <a:off x="5811955" y="1842838"/>
          <a:ext cx="2100585" cy="1680468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2">
                <a:tint val="50000"/>
                <a:satMod val="300000"/>
              </a:schemeClr>
            </a:gs>
            <a:gs pos="35000">
              <a:schemeClr val="accent2">
                <a:tint val="37000"/>
                <a:satMod val="300000"/>
              </a:schemeClr>
            </a:gs>
            <a:gs pos="100000">
              <a:schemeClr val="accent2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2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threePt" dir="t"/>
        </a:scene3d>
        <a:sp3d>
          <a:bevelT/>
        </a:sp3d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28575" tIns="28575" rIns="28575" bIns="2857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500" kern="1200" dirty="0" smtClean="0"/>
            <a:t>А.Д. Сахаров, как олицетворение «инакомыслия»</a:t>
          </a:r>
          <a:endParaRPr lang="ru-RU" sz="1500" kern="1200" dirty="0"/>
        </a:p>
      </dsp:txBody>
      <dsp:txXfrm>
        <a:off x="5861174" y="1892057"/>
        <a:ext cx="2002147" cy="158203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091A3E-7819-43B8-9A67-E0E1159E7520}">
      <dsp:nvSpPr>
        <dsp:cNvPr id="0" name=""/>
        <dsp:cNvSpPr/>
      </dsp:nvSpPr>
      <dsp:spPr>
        <a:xfrm rot="16200000">
          <a:off x="702" y="261838"/>
          <a:ext cx="4002285" cy="4002285"/>
        </a:xfrm>
        <a:prstGeom prst="downArrow">
          <a:avLst>
            <a:gd name="adj1" fmla="val 50000"/>
            <a:gd name="adj2" fmla="val 35000"/>
          </a:avLst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threePt" dir="t"/>
        </a:scene3d>
        <a:sp3d>
          <a:bevelT prst="slope"/>
        </a:sp3d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kern="1200" dirty="0" smtClean="0"/>
            <a:t>21 сентября 1993 года —указ № 1400 «О поэтапной конституционной реформе в Российской Федерации», предписывавший Съезду народных депутатов и Верховному Совету Российской Федерации прекратить свою деятельность</a:t>
          </a:r>
          <a:endParaRPr lang="ru-RU" sz="1200" kern="1200" dirty="0"/>
        </a:p>
      </dsp:txBody>
      <dsp:txXfrm rot="5400000">
        <a:off x="702" y="1262409"/>
        <a:ext cx="3301885" cy="2001143"/>
      </dsp:txXfrm>
    </dsp:sp>
    <dsp:sp modelId="{D6DC0984-063F-48F3-BC57-E9A412421883}">
      <dsp:nvSpPr>
        <dsp:cNvPr id="0" name=""/>
        <dsp:cNvSpPr/>
      </dsp:nvSpPr>
      <dsp:spPr>
        <a:xfrm rot="5400000">
          <a:off x="4226611" y="261838"/>
          <a:ext cx="4002285" cy="4002285"/>
        </a:xfrm>
        <a:prstGeom prst="downArrow">
          <a:avLst>
            <a:gd name="adj1" fmla="val 50000"/>
            <a:gd name="adj2" fmla="val 35000"/>
          </a:avLst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threePt" dir="t"/>
        </a:scene3d>
        <a:sp3d>
          <a:bevelT prst="slope"/>
        </a:sp3d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kern="1200" dirty="0" smtClean="0"/>
            <a:t>21—22 сентября 1993 года — Конституционный Суд Российской Федерации выносит заключение о </a:t>
          </a:r>
          <a:r>
            <a:rPr lang="ru-RU" sz="1200" kern="1200" dirty="0" err="1" smtClean="0"/>
            <a:t>неконституционности</a:t>
          </a:r>
          <a:r>
            <a:rPr lang="ru-RU" sz="1200" kern="1200" dirty="0" smtClean="0"/>
            <a:t> действий Президента, Верховный Совет на основании этого заключения принимает постановление о прекращении полномочий Президента Ельцина с момента издания указа №1400</a:t>
          </a:r>
          <a:endParaRPr lang="ru-RU" sz="1200" kern="1200" dirty="0"/>
        </a:p>
      </dsp:txBody>
      <dsp:txXfrm rot="-5400000">
        <a:off x="4927011" y="1262409"/>
        <a:ext cx="3301885" cy="20011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arrow5">
  <dgm:title val=""/>
  <dgm:desc val=""/>
  <dgm:catLst>
    <dgm:cat type="relationship" pri="6000"/>
    <dgm:cat type="process" pri="3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lte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0.1"/>
          <dgm:constr type="sibSp" refType="h" op="lte" fact="0.1"/>
          <dgm:constr type="diam" refType="w" refFor="ch" refPtType="node" op="equ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2"/>
          <dgm:constr type="sibSp" refType="h" op="lte" fact="0.1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3" axis="ch" ptType="node" func="cnt" op="equ" val="7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4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/>
          <dgm:constr type="sibSp" refType="h" op="lte" fact="0.1"/>
        </dgm:constrLst>
      </dgm:if>
      <dgm:if name="Name15" axis="ch" ptType="node" func="cnt" op="gte" val="9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else name="Name1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35"/>
        </dgm:constrLst>
      </dgm:else>
    </dgm:choose>
    <dgm:ruleLst/>
    <dgm:forEach name="Name17" axis="ch" ptType="node">
      <dgm:layoutNode name="arrow">
        <dgm:varLst>
          <dgm:bulletEnabled val="1"/>
        </dgm:varLst>
        <dgm:alg type="tx"/>
        <dgm:shape xmlns:r="http://schemas.openxmlformats.org/officeDocument/2006/relationships" type="down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23457-7C5F-435E-95DB-37799F0C3DC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03.12.2020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EF4F789-2DFE-4AF7-AF75-6D5BBA3AAAA5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23457-7C5F-435E-95DB-37799F0C3DC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03.12.2020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4F789-2DFE-4AF7-AF75-6D5BBA3AAAA5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23457-7C5F-435E-95DB-37799F0C3DC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03.12.2020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4F789-2DFE-4AF7-AF75-6D5BBA3AAAA5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23457-7C5F-435E-95DB-37799F0C3DC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03.12.2020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4F789-2DFE-4AF7-AF75-6D5BBA3AAAA5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23457-7C5F-435E-95DB-37799F0C3DC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03.12.2020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4F789-2DFE-4AF7-AF75-6D5BBA3AAAA5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23457-7C5F-435E-95DB-37799F0C3DC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03.12.2020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4F789-2DFE-4AF7-AF75-6D5BBA3AAAA5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23457-7C5F-435E-95DB-37799F0C3DC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03.12.2020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4F789-2DFE-4AF7-AF75-6D5BBA3AAAA5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23457-7C5F-435E-95DB-37799F0C3DC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03.12.2020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4F789-2DFE-4AF7-AF75-6D5BBA3AAAA5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23457-7C5F-435E-95DB-37799F0C3DC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03.12.2020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4F789-2DFE-4AF7-AF75-6D5BBA3AAAA5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23457-7C5F-435E-95DB-37799F0C3DC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03.12.2020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4F789-2DFE-4AF7-AF75-6D5BBA3AAAA5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23457-7C5F-435E-95DB-37799F0C3DC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03.12.2020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4F789-2DFE-4AF7-AF75-6D5BBA3AAAA5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7CF23457-7C5F-435E-95DB-37799F0C3DC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03.12.2020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DEF4F789-2DFE-4AF7-AF75-6D5BBA3AAAA5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diagramLayout" Target="../diagrams/layout2.xml"/><Relationship Id="rId7" Type="http://schemas.openxmlformats.org/officeDocument/2006/relationships/image" Target="../media/image9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11" Type="http://schemas.openxmlformats.org/officeDocument/2006/relationships/image" Target="../media/image13.png"/><Relationship Id="rId5" Type="http://schemas.openxmlformats.org/officeDocument/2006/relationships/diagramColors" Target="../diagrams/colors2.xml"/><Relationship Id="rId10" Type="http://schemas.openxmlformats.org/officeDocument/2006/relationships/image" Target="../media/image12.png"/><Relationship Id="rId4" Type="http://schemas.openxmlformats.org/officeDocument/2006/relationships/diagramQuickStyle" Target="../diagrams/quickStyle2.xml"/><Relationship Id="rId9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827584" y="908720"/>
            <a:ext cx="7772400" cy="2899048"/>
          </a:xfrm>
        </p:spPr>
        <p:txBody>
          <a:bodyPr>
            <a:normAutofit/>
          </a:bodyPr>
          <a:lstStyle/>
          <a:p>
            <a:r>
              <a:rPr lang="ru-RU" sz="3600" dirty="0" smtClean="0"/>
              <a:t>Поздний советский период</a:t>
            </a:r>
            <a:br>
              <a:rPr lang="ru-RU" sz="3600" dirty="0" smtClean="0"/>
            </a:br>
            <a:r>
              <a:rPr lang="ru-RU" sz="3600" dirty="0" smtClean="0"/>
              <a:t>(1954 – 1991).</a:t>
            </a:r>
            <a:br>
              <a:rPr lang="ru-RU" sz="3600" dirty="0" smtClean="0"/>
            </a:br>
            <a:r>
              <a:rPr lang="ru-RU" sz="3600" dirty="0" smtClean="0"/>
              <a:t>Постсоветская Россия</a:t>
            </a:r>
            <a:endParaRPr lang="ru-RU" sz="36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Лекция 7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15167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Стадии протекания революционного </a:t>
            </a:r>
            <a:r>
              <a:rPr lang="ru-RU" dirty="0" smtClean="0"/>
              <a:t>процесса: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20506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ru-RU" dirty="0" smtClean="0"/>
              <a:t>Свержение действующей власти.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Перехват власти все более радикальной частью элиты.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Диктатура уравнителей.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«Термидор» (отказ от диктатуры уравнителей).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Постреволюционное общество классового расслоения.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Завершающая стадия развития революционного процесса – авторитарная диктатура («полицейское государство»).</a:t>
            </a:r>
          </a:p>
        </p:txBody>
      </p:sp>
    </p:spTree>
    <p:extLst>
      <p:ext uri="{BB962C8B-B14F-4D97-AF65-F5344CB8AC3E}">
        <p14:creationId xmlns:p14="http://schemas.microsoft.com/office/powerpoint/2010/main" val="1319382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648072"/>
          </a:xfrm>
        </p:spPr>
        <p:txBody>
          <a:bodyPr>
            <a:noAutofit/>
          </a:bodyPr>
          <a:lstStyle/>
          <a:p>
            <a:r>
              <a:rPr lang="ru-RU" sz="2400" dirty="0" smtClean="0"/>
              <a:t>Термидорианцы «после Сталина»:</a:t>
            </a:r>
            <a:endParaRPr lang="ru-RU" sz="24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1196752"/>
            <a:ext cx="7344816" cy="4320480"/>
          </a:xfrm>
        </p:spPr>
        <p:txBody>
          <a:bodyPr>
            <a:normAutofit fontScale="85000" lnSpcReduction="20000"/>
          </a:bodyPr>
          <a:lstStyle/>
          <a:p>
            <a:r>
              <a:rPr lang="ru-RU" dirty="0" smtClean="0"/>
              <a:t>Л.П. Берия (1953 г.) Прекратил производство «дела врачей» и других дел, ведущих к массовым репрессиям. Предложил снять «паспортные» и «режимные» ограничения в стране. Был сторонником самостоятельного развития стран «советского блока», с учетом их собственных особенностей. </a:t>
            </a:r>
          </a:p>
          <a:p>
            <a:r>
              <a:rPr lang="ru-RU" dirty="0" smtClean="0"/>
              <a:t>Г.М. Маленков (1953-1955). Первым начал критику «культа личности» Сталина; предложил переориентировать экономику на выпуск товаров «широкого потребления».</a:t>
            </a:r>
          </a:p>
          <a:p>
            <a:r>
              <a:rPr lang="ru-RU" dirty="0" smtClean="0"/>
              <a:t>Н.С. Хрущев (1955 – 1964). Проводил политику понижения уровня тоталитарного контроля и экономической мобилизации населения, получившую название «оттепель» </a:t>
            </a:r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836712"/>
            <a:ext cx="1152128" cy="1450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8432" y="2420888"/>
            <a:ext cx="1157780" cy="1619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1306" y="4221087"/>
            <a:ext cx="1167401" cy="16343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96162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591344"/>
          </a:xfrm>
        </p:spPr>
        <p:txBody>
          <a:bodyPr>
            <a:normAutofit fontScale="90000"/>
          </a:bodyPr>
          <a:lstStyle/>
          <a:p>
            <a:r>
              <a:rPr lang="en-US" sz="3200" dirty="0" smtClean="0"/>
              <a:t>II </a:t>
            </a:r>
            <a:r>
              <a:rPr lang="ru-RU" sz="3200" dirty="0" smtClean="0"/>
              <a:t>«термидор» (сер. 1950-х – сер. 1960-х гг.)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1268760"/>
            <a:ext cx="8229600" cy="4248472"/>
          </a:xfrm>
        </p:spPr>
        <p:txBody>
          <a:bodyPr>
            <a:normAutofit fontScale="77500" lnSpcReduction="20000"/>
          </a:bodyPr>
          <a:lstStyle/>
          <a:p>
            <a:r>
              <a:rPr lang="ru-RU" dirty="0" smtClean="0"/>
              <a:t>Предоставление крестьянам прав граждан и меры по их социальной защищенности (зарплаты, пенсии, больничные отпуска).</a:t>
            </a:r>
          </a:p>
          <a:p>
            <a:r>
              <a:rPr lang="ru-RU" dirty="0" smtClean="0"/>
              <a:t>Введение принципа материальной заинтересованности для колхозников.</a:t>
            </a:r>
          </a:p>
          <a:p>
            <a:r>
              <a:rPr lang="ru-RU" dirty="0" smtClean="0"/>
              <a:t>Введение «хозрасчёта» в сельском хозяйстве и разработка возможности его применения в промышленности.</a:t>
            </a:r>
          </a:p>
          <a:p>
            <a:r>
              <a:rPr lang="ru-RU" dirty="0" smtClean="0"/>
              <a:t>Создание территориальных органов управления экономикой (совнархозов).</a:t>
            </a:r>
          </a:p>
          <a:p>
            <a:r>
              <a:rPr lang="ru-RU" dirty="0" smtClean="0"/>
              <a:t>Разделение партийных органов на городские и сельские (</a:t>
            </a:r>
            <a:r>
              <a:rPr lang="ru-RU" dirty="0" err="1" smtClean="0"/>
              <a:t>квазимногопартийность</a:t>
            </a:r>
            <a:r>
              <a:rPr lang="ru-RU" dirty="0" smtClean="0"/>
              <a:t>).</a:t>
            </a:r>
          </a:p>
          <a:p>
            <a:r>
              <a:rPr lang="ru-RU" dirty="0" smtClean="0"/>
              <a:t>Критика «культа личности».</a:t>
            </a:r>
          </a:p>
          <a:p>
            <a:r>
              <a:rPr lang="ru-RU" dirty="0" smtClean="0"/>
              <a:t>Развитие общественного самоуправления.</a:t>
            </a:r>
          </a:p>
          <a:p>
            <a:r>
              <a:rPr lang="ru-RU" dirty="0" smtClean="0"/>
              <a:t>Предоставление большей свободы творчества.</a:t>
            </a:r>
          </a:p>
          <a:p>
            <a:r>
              <a:rPr lang="ru-RU" dirty="0" smtClean="0"/>
              <a:t>Политика «открытости» по отношению к зарубежным странам.</a:t>
            </a:r>
          </a:p>
          <a:p>
            <a:endParaRPr lang="ru-RU" dirty="0" smtClean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9255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533400"/>
            <a:ext cx="8640960" cy="663352"/>
          </a:xfrm>
        </p:spPr>
        <p:txBody>
          <a:bodyPr>
            <a:normAutofit fontScale="90000"/>
          </a:bodyPr>
          <a:lstStyle/>
          <a:p>
            <a:r>
              <a:rPr lang="ru-RU" sz="2800" dirty="0" smtClean="0"/>
              <a:t>Период прогрессивных изменений. Достижения:</a:t>
            </a:r>
            <a:endParaRPr lang="ru-RU" sz="28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268760"/>
            <a:ext cx="5554960" cy="5208240"/>
          </a:xfrm>
        </p:spPr>
        <p:txBody>
          <a:bodyPr>
            <a:normAutofit fontScale="92500" lnSpcReduction="20000"/>
          </a:bodyPr>
          <a:lstStyle/>
          <a:p>
            <a:r>
              <a:rPr lang="ru-RU" dirty="0" smtClean="0"/>
              <a:t>1954 – 1960 гг. – освоение целинных земель.</a:t>
            </a:r>
          </a:p>
          <a:p>
            <a:r>
              <a:rPr lang="ru-RU" dirty="0" smtClean="0"/>
              <a:t>1957 – запуск первого спутника. Начало освоения космоса.</a:t>
            </a:r>
          </a:p>
          <a:p>
            <a:r>
              <a:rPr lang="ru-RU" dirty="0" smtClean="0"/>
              <a:t>1957 постановление ЦК КПСС и Президиума ВС СССР: «О </a:t>
            </a:r>
            <a:r>
              <a:rPr lang="ru-RU" dirty="0"/>
              <a:t>развитии жилищного строительства в СССР», положивший начало новому жилищному </a:t>
            </a:r>
            <a:r>
              <a:rPr lang="ru-RU" dirty="0" smtClean="0"/>
              <a:t>строительству – начало массового строительства «</a:t>
            </a:r>
            <a:r>
              <a:rPr lang="ru-RU" dirty="0" err="1" smtClean="0"/>
              <a:t>хрущевок</a:t>
            </a:r>
            <a:r>
              <a:rPr lang="ru-RU" dirty="0" smtClean="0"/>
              <a:t>».</a:t>
            </a:r>
          </a:p>
          <a:p>
            <a:r>
              <a:rPr lang="ru-RU" dirty="0" smtClean="0"/>
              <a:t>1961 г. принятие </a:t>
            </a:r>
            <a:r>
              <a:rPr lang="en-US" dirty="0" smtClean="0"/>
              <a:t>XXII </a:t>
            </a:r>
            <a:r>
              <a:rPr lang="ru-RU" dirty="0" smtClean="0"/>
              <a:t>съездом КПСС </a:t>
            </a:r>
            <a:r>
              <a:rPr lang="en-US" dirty="0" smtClean="0"/>
              <a:t>III </a:t>
            </a:r>
            <a:r>
              <a:rPr lang="ru-RU" dirty="0" smtClean="0"/>
              <a:t>программы партии на период до 1980 г. – построения коммунизма в отдельно взятой стране.</a:t>
            </a:r>
          </a:p>
          <a:p>
            <a:r>
              <a:rPr lang="ru-RU" dirty="0" smtClean="0"/>
              <a:t>1954 – 1967 гг. – строительство Братской ГЭС.</a:t>
            </a:r>
            <a:endParaRPr lang="ru-RU" dirty="0"/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6300192" y="1340768"/>
            <a:ext cx="2592288" cy="5112568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prstClr val="black"/>
                </a:solidFill>
              </a:rPr>
              <a:t>«Я верю, друзья, </a:t>
            </a:r>
          </a:p>
          <a:p>
            <a:pPr algn="ctr"/>
            <a:r>
              <a:rPr lang="ru-RU" dirty="0" smtClean="0">
                <a:solidFill>
                  <a:prstClr val="black"/>
                </a:solidFill>
              </a:rPr>
              <a:t>Караваны ракет </a:t>
            </a:r>
          </a:p>
          <a:p>
            <a:pPr algn="ctr"/>
            <a:r>
              <a:rPr lang="ru-RU" dirty="0" smtClean="0">
                <a:solidFill>
                  <a:prstClr val="black"/>
                </a:solidFill>
              </a:rPr>
              <a:t>Помчат нас вперёд </a:t>
            </a:r>
          </a:p>
          <a:p>
            <a:pPr algn="ctr"/>
            <a:r>
              <a:rPr lang="ru-RU" dirty="0" smtClean="0">
                <a:solidFill>
                  <a:prstClr val="black"/>
                </a:solidFill>
              </a:rPr>
              <a:t>От звезды до </a:t>
            </a:r>
          </a:p>
          <a:p>
            <a:pPr algn="ctr"/>
            <a:r>
              <a:rPr lang="ru-RU" dirty="0" smtClean="0">
                <a:solidFill>
                  <a:prstClr val="black"/>
                </a:solidFill>
              </a:rPr>
              <a:t>звезды. </a:t>
            </a:r>
          </a:p>
          <a:p>
            <a:pPr algn="ctr"/>
            <a:r>
              <a:rPr lang="ru-RU" dirty="0" smtClean="0">
                <a:solidFill>
                  <a:prstClr val="black"/>
                </a:solidFill>
              </a:rPr>
              <a:t>На пыльных </a:t>
            </a:r>
          </a:p>
          <a:p>
            <a:pPr algn="ctr"/>
            <a:r>
              <a:rPr lang="ru-RU" dirty="0" smtClean="0">
                <a:solidFill>
                  <a:prstClr val="black"/>
                </a:solidFill>
              </a:rPr>
              <a:t>тропинках </a:t>
            </a:r>
          </a:p>
          <a:p>
            <a:pPr algn="ctr"/>
            <a:r>
              <a:rPr lang="ru-RU" dirty="0" smtClean="0">
                <a:solidFill>
                  <a:prstClr val="black"/>
                </a:solidFill>
              </a:rPr>
              <a:t>Далёких планет </a:t>
            </a:r>
          </a:p>
          <a:p>
            <a:pPr algn="ctr"/>
            <a:r>
              <a:rPr lang="ru-RU" dirty="0" smtClean="0">
                <a:solidFill>
                  <a:prstClr val="black"/>
                </a:solidFill>
              </a:rPr>
              <a:t>Останутся </a:t>
            </a:r>
          </a:p>
          <a:p>
            <a:pPr algn="ctr"/>
            <a:r>
              <a:rPr lang="ru-RU" dirty="0" smtClean="0">
                <a:solidFill>
                  <a:prstClr val="black"/>
                </a:solidFill>
              </a:rPr>
              <a:t>Наши следы». </a:t>
            </a:r>
          </a:p>
          <a:p>
            <a:pPr algn="ctr"/>
            <a:endParaRPr lang="ru-RU" dirty="0" smtClean="0">
              <a:solidFill>
                <a:prstClr val="black"/>
              </a:solidFill>
            </a:endParaRPr>
          </a:p>
          <a:p>
            <a:pPr algn="ctr"/>
            <a:r>
              <a:rPr lang="ru-RU" b="1" dirty="0" smtClean="0">
                <a:solidFill>
                  <a:prstClr val="black"/>
                </a:solidFill>
              </a:rPr>
              <a:t>Музыка: Оскар </a:t>
            </a:r>
            <a:r>
              <a:rPr lang="ru-RU" b="1" dirty="0" err="1" smtClean="0">
                <a:solidFill>
                  <a:prstClr val="black"/>
                </a:solidFill>
              </a:rPr>
              <a:t>Фельцман</a:t>
            </a:r>
            <a:r>
              <a:rPr lang="ru-RU" b="1" dirty="0" smtClean="0">
                <a:solidFill>
                  <a:prstClr val="black"/>
                </a:solidFill>
              </a:rPr>
              <a:t> </a:t>
            </a:r>
          </a:p>
          <a:p>
            <a:pPr algn="ctr"/>
            <a:r>
              <a:rPr lang="ru-RU" b="1" dirty="0" smtClean="0">
                <a:solidFill>
                  <a:prstClr val="black"/>
                </a:solidFill>
              </a:rPr>
              <a:t>Слова: </a:t>
            </a:r>
            <a:r>
              <a:rPr lang="ru-RU" b="1" dirty="0">
                <a:solidFill>
                  <a:prstClr val="black"/>
                </a:solidFill>
              </a:rPr>
              <a:t>Владимир </a:t>
            </a:r>
          </a:p>
          <a:p>
            <a:pPr algn="ctr"/>
            <a:r>
              <a:rPr lang="ru-RU" b="1" dirty="0" smtClean="0">
                <a:solidFill>
                  <a:prstClr val="black"/>
                </a:solidFill>
              </a:rPr>
              <a:t>Войнович</a:t>
            </a:r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861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229600" cy="792088"/>
          </a:xfrm>
        </p:spPr>
        <p:txBody>
          <a:bodyPr>
            <a:normAutofit fontScale="90000"/>
          </a:bodyPr>
          <a:lstStyle/>
          <a:p>
            <a:r>
              <a:rPr lang="en-US" sz="2800" dirty="0" smtClean="0"/>
              <a:t>III </a:t>
            </a:r>
            <a:r>
              <a:rPr lang="ru-RU" sz="2800" dirty="0" smtClean="0"/>
              <a:t>Программа КПСС:</a:t>
            </a:r>
            <a:endParaRPr lang="ru-RU" sz="28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340768"/>
            <a:ext cx="8363272" cy="5256584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Высшая цель партии — построить коммунистическое общество, на знамени которого начертано: «От каждого — по способностям, каждому — по потребностям». В полной мере воплотится лозунг партии: «Все во имя человека, для блага человека</a:t>
            </a:r>
            <a:r>
              <a:rPr lang="ru-RU" dirty="0" smtClean="0"/>
              <a:t>».</a:t>
            </a:r>
            <a:endParaRPr lang="ru-RU" dirty="0"/>
          </a:p>
          <a:p>
            <a:r>
              <a:rPr lang="ru-RU" dirty="0" smtClean="0"/>
              <a:t>Коммунизм </a:t>
            </a:r>
            <a:r>
              <a:rPr lang="ru-RU" dirty="0"/>
              <a:t>выполняет историческую миссию избавления всех людей от социального неравенства, от всех форм угнетения и эксплуатации, от ужасов войны и утверждает на земле Мир, Труд, Свободу, Равенство, Братство и Счастье всех народов</a:t>
            </a:r>
            <a:r>
              <a:rPr lang="ru-RU" dirty="0" smtClean="0"/>
              <a:t>.</a:t>
            </a:r>
          </a:p>
          <a:p>
            <a:r>
              <a:rPr lang="ru-RU" dirty="0"/>
              <a:t> Построение коммунизма в СССР будет величайшей победой человечества за всю его многовековую историю. Каждый новый шаг к сияющим вершинам коммунизма воодушевляет трудящиеся массы всех стран, служит огромной моральной поддержкой в борьбе за освобождение всех народов от социального и национального гнета, ускоряет торжество идей марксизма-ленинизма во </a:t>
            </a:r>
            <a:r>
              <a:rPr lang="ru-RU" dirty="0" smtClean="0"/>
              <a:t>всемирном </a:t>
            </a:r>
            <a:r>
              <a:rPr lang="ru-RU" dirty="0"/>
              <a:t>масштабе</a:t>
            </a:r>
            <a:r>
              <a:rPr lang="ru-RU" dirty="0" smtClean="0"/>
              <a:t>.</a:t>
            </a:r>
          </a:p>
          <a:p>
            <a:r>
              <a:rPr lang="ru-RU" dirty="0"/>
              <a:t>ПАРТИЯ ТОРЖЕСТВЕННО ПРОВОЗГЛАШАЕТ: НЫНЕШНЕЕ ПОКОЛЕНИЕ СОВЕТСКИХ ЛЮДЕЙ БУДЕТ ЖИТЬ ПРИ КОММУНИЗМЕ!</a:t>
            </a:r>
          </a:p>
        </p:txBody>
      </p:sp>
    </p:spTree>
    <p:extLst>
      <p:ext uri="{BB962C8B-B14F-4D97-AF65-F5344CB8AC3E}">
        <p14:creationId xmlns:p14="http://schemas.microsoft.com/office/powerpoint/2010/main" val="1327187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2800" dirty="0" smtClean="0"/>
              <a:t>Продолжение </a:t>
            </a:r>
            <a:r>
              <a:rPr lang="en-US" sz="2800" dirty="0" smtClean="0"/>
              <a:t>II </a:t>
            </a:r>
            <a:r>
              <a:rPr lang="ru-RU" sz="2800" dirty="0" smtClean="0"/>
              <a:t>«термидора» в 1965-1970 гг.</a:t>
            </a:r>
            <a:br>
              <a:rPr lang="ru-RU" sz="2800" dirty="0" smtClean="0"/>
            </a:br>
            <a:r>
              <a:rPr lang="ru-RU" sz="2800" dirty="0" smtClean="0"/>
              <a:t>(после отстранения Хрущева от власти)</a:t>
            </a:r>
            <a:endParaRPr lang="ru-RU" sz="28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5842992" cy="4565104"/>
          </a:xfrm>
        </p:spPr>
        <p:txBody>
          <a:bodyPr>
            <a:normAutofit fontScale="85000" lnSpcReduction="10000"/>
          </a:bodyPr>
          <a:lstStyle/>
          <a:p>
            <a:pPr marL="0" indent="0" algn="ctr">
              <a:buNone/>
            </a:pPr>
            <a:r>
              <a:rPr lang="ru-RU" dirty="0" smtClean="0"/>
              <a:t>Экономическая реформа А.Н. Косыгина</a:t>
            </a:r>
          </a:p>
          <a:p>
            <a:pPr marL="0" indent="0" algn="ctr">
              <a:buNone/>
            </a:pPr>
            <a:r>
              <a:rPr lang="ru-RU" dirty="0" smtClean="0"/>
              <a:t>(Председателя правительства в 1964-1980 гг.):</a:t>
            </a:r>
          </a:p>
          <a:p>
            <a:r>
              <a:rPr lang="ru-RU" dirty="0" smtClean="0"/>
              <a:t>Восстановление «отраслевого» управления.</a:t>
            </a:r>
          </a:p>
          <a:p>
            <a:r>
              <a:rPr lang="ru-RU" dirty="0" smtClean="0"/>
              <a:t>Предоставление предприятиям экономической самостоятельности (хозрасчет).</a:t>
            </a:r>
          </a:p>
          <a:p>
            <a:r>
              <a:rPr lang="ru-RU" dirty="0" smtClean="0"/>
              <a:t>Резкое сокращение плановых показателей для предприятий и переход к оценке их прибыли и рентабельности.</a:t>
            </a:r>
          </a:p>
          <a:p>
            <a:r>
              <a:rPr lang="ru-RU" dirty="0" smtClean="0"/>
              <a:t>Снижение норм поставок продукции для колхозов и введение повышенной оплаты сверхплановых поставок.</a:t>
            </a:r>
            <a:endParaRPr lang="ru-R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216" y="1772816"/>
            <a:ext cx="2298803" cy="33924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78716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591344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 smtClean="0"/>
              <a:t>Эффект </a:t>
            </a:r>
            <a:r>
              <a:rPr lang="en-US" dirty="0" smtClean="0"/>
              <a:t>II </a:t>
            </a:r>
            <a:r>
              <a:rPr lang="ru-RU" dirty="0" smtClean="0"/>
              <a:t>«термидора»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1340768"/>
            <a:ext cx="8219256" cy="4968552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ru-RU" sz="2100" b="1" dirty="0" smtClean="0"/>
              <a:t>«Золотая» пятилетка развития народного хозяйства (1965-1970):</a:t>
            </a:r>
          </a:p>
          <a:p>
            <a:r>
              <a:rPr lang="ru-RU" sz="2100" dirty="0" smtClean="0"/>
              <a:t>Самые большие темпы роста национального дохода (среднегодовой рост – выше 6%).</a:t>
            </a:r>
          </a:p>
          <a:p>
            <a:r>
              <a:rPr lang="ru-RU" sz="2100" dirty="0" smtClean="0"/>
              <a:t>Начало «научной революции» СССР (не завершена). Наивысшие успехи в развитии естественных наук.</a:t>
            </a:r>
          </a:p>
          <a:p>
            <a:r>
              <a:rPr lang="ru-RU" sz="2100" dirty="0" smtClean="0"/>
              <a:t>Единственный период роста производительности труда на основе его интенсификации.</a:t>
            </a:r>
          </a:p>
          <a:p>
            <a:r>
              <a:rPr lang="ru-RU" sz="2100" dirty="0" smtClean="0"/>
              <a:t>Резкий рост благосостояния населения (по инерции – до сер.  1970-х гг.).</a:t>
            </a:r>
          </a:p>
          <a:p>
            <a:r>
              <a:rPr lang="ru-RU" sz="2100" dirty="0" smtClean="0"/>
              <a:t>Достигнуты наибольшие успехи в освоении космического пространства.</a:t>
            </a:r>
          </a:p>
          <a:p>
            <a:r>
              <a:rPr lang="ru-RU" sz="2100" dirty="0" smtClean="0"/>
              <a:t>Создана самая эффективная за всю историю страны система образования (ее элементы копировались в других странах мира).</a:t>
            </a:r>
            <a:endParaRPr lang="ru-RU" sz="2100" dirty="0"/>
          </a:p>
        </p:txBody>
      </p:sp>
    </p:spTree>
    <p:extLst>
      <p:ext uri="{BB962C8B-B14F-4D97-AF65-F5344CB8AC3E}">
        <p14:creationId xmlns:p14="http://schemas.microsoft.com/office/powerpoint/2010/main" val="2721206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7355160" cy="80052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400" dirty="0" smtClean="0"/>
              <a:t>III </a:t>
            </a:r>
            <a:r>
              <a:rPr lang="ru-RU" sz="2400" dirty="0" smtClean="0"/>
              <a:t>диктатура уравнителей – «застой» (1971 – 1984 гг.)</a:t>
            </a:r>
            <a:endParaRPr lang="ru-RU" sz="24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1628800"/>
            <a:ext cx="6995120" cy="4392488"/>
          </a:xfrm>
        </p:spPr>
        <p:txBody>
          <a:bodyPr>
            <a:normAutofit/>
          </a:bodyPr>
          <a:lstStyle/>
          <a:p>
            <a:r>
              <a:rPr lang="ru-RU" sz="1800" dirty="0" smtClean="0"/>
              <a:t>Подавление «Пражской весны» (поворот к усилению диктатуры) – 1968 г.</a:t>
            </a:r>
          </a:p>
          <a:p>
            <a:r>
              <a:rPr lang="ru-RU" sz="1800" dirty="0" smtClean="0"/>
              <a:t>Постепенная ликвидация принципов хозрасчета в экономике. Увеличение плановых показателей с 10-15 до 100-120.</a:t>
            </a:r>
          </a:p>
          <a:p>
            <a:r>
              <a:rPr lang="ru-RU" sz="1800" dirty="0" smtClean="0"/>
              <a:t>Усиление роли государства в распределении благ (повышение зарплат и льгот при  сдерживании роста цен).</a:t>
            </a:r>
          </a:p>
          <a:p>
            <a:r>
              <a:rPr lang="ru-RU" sz="1800" dirty="0" smtClean="0"/>
              <a:t>Увеличение доли оборонных отраслей в промышленном производстве.</a:t>
            </a:r>
          </a:p>
          <a:p>
            <a:r>
              <a:rPr lang="ru-RU" sz="1800" dirty="0" smtClean="0"/>
              <a:t>Усиление борьбы с инакомыслием внутри страны.</a:t>
            </a:r>
          </a:p>
          <a:p>
            <a:r>
              <a:rPr lang="ru-RU" sz="1800" dirty="0" smtClean="0"/>
              <a:t>Новая фаза «холодной войны» (после 1975 г.).</a:t>
            </a:r>
          </a:p>
          <a:p>
            <a:r>
              <a:rPr lang="ru-RU" sz="1800" dirty="0" smtClean="0"/>
              <a:t>Введение советских войск в Афганистан.</a:t>
            </a:r>
            <a:endParaRPr lang="ru-RU" sz="18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476672"/>
            <a:ext cx="1228725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6133" y="2348880"/>
            <a:ext cx="1264952" cy="16146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8204" y="4077072"/>
            <a:ext cx="1257036" cy="1944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7105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8229600" cy="648072"/>
          </a:xfrm>
        </p:spPr>
        <p:txBody>
          <a:bodyPr>
            <a:normAutofit fontScale="90000"/>
          </a:bodyPr>
          <a:lstStyle/>
          <a:p>
            <a:r>
              <a:rPr lang="ru-RU" dirty="0"/>
              <a:t>Конституция СССР 1977 г.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1196752"/>
            <a:ext cx="8640960" cy="4320480"/>
          </a:xfrm>
        </p:spPr>
        <p:txBody>
          <a:bodyPr>
            <a:normAutofit fontScale="55000" lnSpcReduction="20000"/>
          </a:bodyPr>
          <a:lstStyle/>
          <a:p>
            <a:pPr marL="0" indent="0" algn="ctr">
              <a:buNone/>
            </a:pPr>
            <a:r>
              <a:rPr lang="ru-RU" dirty="0" smtClean="0"/>
              <a:t>В </a:t>
            </a:r>
            <a:r>
              <a:rPr lang="ru-RU" dirty="0"/>
              <a:t>СССР построено развитое социалистическое общество. На </a:t>
            </a:r>
            <a:r>
              <a:rPr lang="ru-RU" dirty="0" smtClean="0"/>
              <a:t>этом этапе</a:t>
            </a:r>
            <a:r>
              <a:rPr lang="ru-RU" dirty="0"/>
              <a:t>,  когда  социализм развивается на своей собственной основе</a:t>
            </a:r>
            <a:r>
              <a:rPr lang="ru-RU" dirty="0" smtClean="0"/>
              <a:t>, все  </a:t>
            </a:r>
            <a:r>
              <a:rPr lang="ru-RU" dirty="0"/>
              <a:t>полнее  раскрываются  созидательные   силы   нового   строя</a:t>
            </a:r>
            <a:r>
              <a:rPr lang="ru-RU" dirty="0" smtClean="0"/>
              <a:t>, преимущества социалистического </a:t>
            </a:r>
            <a:r>
              <a:rPr lang="ru-RU" dirty="0"/>
              <a:t>образа жизни,  трудящиеся все </a:t>
            </a:r>
            <a:r>
              <a:rPr lang="ru-RU" dirty="0" smtClean="0"/>
              <a:t>шире пользуются </a:t>
            </a:r>
            <a:r>
              <a:rPr lang="ru-RU" dirty="0"/>
              <a:t>плодами великих революционных завоеваний.</a:t>
            </a:r>
          </a:p>
          <a:p>
            <a:pPr marL="0" indent="0">
              <a:buNone/>
            </a:pPr>
            <a:r>
              <a:rPr lang="ru-RU" dirty="0"/>
              <a:t>     Это — общество,  в котором созданы могучие  </a:t>
            </a:r>
            <a:r>
              <a:rPr lang="ru-RU" dirty="0" smtClean="0"/>
              <a:t>производительные силы</a:t>
            </a:r>
            <a:r>
              <a:rPr lang="ru-RU" dirty="0"/>
              <a:t>,  передовая  наука  и  культура,  в котором постоянно </a:t>
            </a:r>
            <a:r>
              <a:rPr lang="ru-RU" dirty="0" smtClean="0"/>
              <a:t>растет благосостояние  </a:t>
            </a:r>
            <a:r>
              <a:rPr lang="ru-RU" dirty="0"/>
              <a:t>народа,  складываются  все  более   </a:t>
            </a:r>
            <a:r>
              <a:rPr lang="ru-RU" dirty="0" smtClean="0"/>
              <a:t>благоприятные условия </a:t>
            </a:r>
            <a:r>
              <a:rPr lang="ru-RU" dirty="0"/>
              <a:t>для всестороннего развития личности.</a:t>
            </a:r>
          </a:p>
          <a:p>
            <a:pPr marL="0" indent="0">
              <a:buNone/>
            </a:pPr>
            <a:r>
              <a:rPr lang="ru-RU" dirty="0"/>
              <a:t>     Это   —  общество   зрелых   социалистических   </a:t>
            </a:r>
            <a:r>
              <a:rPr lang="ru-RU" dirty="0" smtClean="0"/>
              <a:t>общественных отношений</a:t>
            </a:r>
            <a:r>
              <a:rPr lang="ru-RU" dirty="0"/>
              <a:t>,  в  котором  на  основе  сближения  всех   классов   </a:t>
            </a:r>
            <a:r>
              <a:rPr lang="ru-RU" dirty="0" smtClean="0"/>
              <a:t>и социальных  </a:t>
            </a:r>
            <a:r>
              <a:rPr lang="ru-RU" dirty="0"/>
              <a:t>слоев,  юридического  и  фактического  равенства </a:t>
            </a:r>
            <a:r>
              <a:rPr lang="ru-RU" dirty="0" smtClean="0"/>
              <a:t>всех наций </a:t>
            </a:r>
            <a:r>
              <a:rPr lang="ru-RU" dirty="0"/>
              <a:t>и народностей,  их братского сотрудничества сложилась </a:t>
            </a:r>
            <a:r>
              <a:rPr lang="ru-RU" dirty="0" smtClean="0"/>
              <a:t>новая историческая </a:t>
            </a:r>
            <a:r>
              <a:rPr lang="ru-RU" dirty="0"/>
              <a:t>общность людей — советский народ.</a:t>
            </a:r>
          </a:p>
          <a:p>
            <a:pPr marL="0" indent="0">
              <a:buNone/>
            </a:pPr>
            <a:r>
              <a:rPr lang="ru-RU" dirty="0"/>
              <a:t>     Это —   общество   высокой   организованности,  идейности  </a:t>
            </a:r>
            <a:r>
              <a:rPr lang="ru-RU" dirty="0" smtClean="0"/>
              <a:t>и сознательности </a:t>
            </a:r>
            <a:r>
              <a:rPr lang="ru-RU" dirty="0"/>
              <a:t>трудящихся — патриотов и интернационалистов.</a:t>
            </a:r>
          </a:p>
          <a:p>
            <a:pPr marL="0" indent="0">
              <a:buNone/>
            </a:pPr>
            <a:r>
              <a:rPr lang="ru-RU" dirty="0"/>
              <a:t>     Это — общество,  законом жизни которого является забота всех </a:t>
            </a:r>
            <a:r>
              <a:rPr lang="ru-RU" dirty="0" smtClean="0"/>
              <a:t>о </a:t>
            </a:r>
            <a:r>
              <a:rPr lang="ru-RU" dirty="0"/>
              <a:t>благе каждого и забота каждого о благе всех.</a:t>
            </a:r>
          </a:p>
          <a:p>
            <a:pPr marL="0" indent="0">
              <a:buNone/>
            </a:pPr>
            <a:r>
              <a:rPr lang="ru-RU" dirty="0"/>
              <a:t>     Это —  общество  подлинной демократии,  политическая </a:t>
            </a:r>
            <a:r>
              <a:rPr lang="ru-RU" dirty="0" smtClean="0"/>
              <a:t>система которого </a:t>
            </a:r>
            <a:r>
              <a:rPr lang="ru-RU" dirty="0"/>
              <a:t>обеспечивает эффективное управление всеми  </a:t>
            </a:r>
            <a:r>
              <a:rPr lang="ru-RU" dirty="0" smtClean="0"/>
              <a:t>общественным идеалами</a:t>
            </a:r>
            <a:r>
              <a:rPr lang="ru-RU" dirty="0"/>
              <a:t>,  все  более активное участие трудящихся в </a:t>
            </a:r>
            <a:r>
              <a:rPr lang="ru-RU" dirty="0" smtClean="0"/>
              <a:t>государственной жизни</a:t>
            </a:r>
            <a:r>
              <a:rPr lang="ru-RU" dirty="0"/>
              <a:t>,  сочетание  реальных  прав   и   свобод   граждан   с   </a:t>
            </a:r>
            <a:r>
              <a:rPr lang="ru-RU" dirty="0" smtClean="0"/>
              <a:t>их обязанностями </a:t>
            </a:r>
            <a:r>
              <a:rPr lang="ru-RU" dirty="0"/>
              <a:t>и ответственностью перед обществом.</a:t>
            </a:r>
          </a:p>
          <a:p>
            <a:pPr marL="0" indent="0">
              <a:buNone/>
            </a:pPr>
            <a:r>
              <a:rPr lang="ru-RU" dirty="0"/>
              <a:t>     </a:t>
            </a:r>
            <a:r>
              <a:rPr lang="ru-RU" b="1" dirty="0"/>
              <a:t>Развитое социалистическое  общество  —  закономерный этап </a:t>
            </a:r>
            <a:r>
              <a:rPr lang="ru-RU" b="1" dirty="0" smtClean="0"/>
              <a:t>на пути </a:t>
            </a:r>
            <a:r>
              <a:rPr lang="ru-RU" b="1" dirty="0"/>
              <a:t>к коммунизму</a:t>
            </a:r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1043608" y="5733256"/>
            <a:ext cx="6552728" cy="648072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prstClr val="black"/>
                </a:solidFill>
              </a:rPr>
              <a:t>Народная реакция: «По просьбе трудящихся,  в 1980 г. коммунизм заменен Московской олимпиадой».</a:t>
            </a:r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689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519336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Последствия </a:t>
            </a:r>
            <a:r>
              <a:rPr lang="en-US" dirty="0" smtClean="0"/>
              <a:t>III </a:t>
            </a:r>
            <a:r>
              <a:rPr lang="ru-RU" dirty="0" smtClean="0"/>
              <a:t>диктатуры: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1484784"/>
            <a:ext cx="8229600" cy="3960440"/>
          </a:xfrm>
        </p:spPr>
        <p:txBody>
          <a:bodyPr>
            <a:normAutofit/>
          </a:bodyPr>
          <a:lstStyle/>
          <a:p>
            <a:r>
              <a:rPr lang="ru-RU" dirty="0" smtClean="0"/>
              <a:t>Замедление темпов развития всех отраслей производства (стагнация).</a:t>
            </a:r>
          </a:p>
          <a:p>
            <a:r>
              <a:rPr lang="ru-RU" dirty="0" smtClean="0"/>
              <a:t>Создание «экономики дефицита».</a:t>
            </a:r>
          </a:p>
          <a:p>
            <a:r>
              <a:rPr lang="ru-RU" dirty="0" smtClean="0"/>
              <a:t>Начало разрыва между наукой и производством. Старение «производственных фондов».</a:t>
            </a:r>
          </a:p>
          <a:p>
            <a:r>
              <a:rPr lang="ru-RU" dirty="0" smtClean="0"/>
              <a:t>Нехватка «рабочих рук» в промышленности и с/х.</a:t>
            </a:r>
          </a:p>
          <a:p>
            <a:r>
              <a:rPr lang="ru-RU" dirty="0" smtClean="0"/>
              <a:t>Усиление зависимости от экспорта природных ископаемых. </a:t>
            </a:r>
          </a:p>
          <a:p>
            <a:r>
              <a:rPr lang="ru-RU" dirty="0" smtClean="0"/>
              <a:t>Начало импорта продовольствия.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18007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8219256" cy="792088"/>
          </a:xfrm>
        </p:spPr>
        <p:txBody>
          <a:bodyPr/>
          <a:lstStyle/>
          <a:p>
            <a:r>
              <a:rPr lang="ru-RU" sz="3200" dirty="0" smtClean="0"/>
              <a:t>Ответ населения на </a:t>
            </a:r>
            <a:r>
              <a:rPr lang="en-US" sz="3200" dirty="0" smtClean="0"/>
              <a:t>III </a:t>
            </a:r>
            <a:r>
              <a:rPr lang="ru-RU" sz="3200" dirty="0" smtClean="0"/>
              <a:t>диктатуру.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320480"/>
          </a:xfrm>
        </p:spPr>
        <p:txBody>
          <a:bodyPr>
            <a:normAutofit fontScale="85000" lnSpcReduction="10000"/>
          </a:bodyPr>
          <a:lstStyle/>
          <a:p>
            <a:r>
              <a:rPr lang="ru-RU" dirty="0" smtClean="0"/>
              <a:t>Усиление разрыва двух составляющих «двоемыслия»: общественные и личные смыслы перестали совпадать даже в малой степени.</a:t>
            </a:r>
          </a:p>
          <a:p>
            <a:r>
              <a:rPr lang="ru-RU" dirty="0" smtClean="0"/>
              <a:t>Тотальное разочарование в официальном идеале, усиление тяги к ценностям «западного мира» - «вещизм».</a:t>
            </a:r>
          </a:p>
          <a:p>
            <a:r>
              <a:rPr lang="ru-RU" dirty="0" smtClean="0"/>
              <a:t>Формирование нескольких «черных» и «серых» распределительных систем.</a:t>
            </a:r>
          </a:p>
          <a:p>
            <a:r>
              <a:rPr lang="ru-RU" dirty="0" smtClean="0"/>
              <a:t>Усиление коррумпированности партийно-управленческого аппарата.</a:t>
            </a:r>
          </a:p>
          <a:p>
            <a:r>
              <a:rPr lang="ru-RU" dirty="0" smtClean="0"/>
              <a:t>Формирование молодежных групп, противопоставляющих себя официальной идеологии (рок-музыка, авторская песня, фанатское движение).</a:t>
            </a:r>
          </a:p>
          <a:p>
            <a:r>
              <a:rPr lang="ru-RU" dirty="0" smtClean="0"/>
              <a:t>Самиздат и диссидентское движение в интеллектуальных слоях общества.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47070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3568" y="332656"/>
            <a:ext cx="8003232" cy="1008112"/>
          </a:xfrm>
        </p:spPr>
        <p:txBody>
          <a:bodyPr/>
          <a:lstStyle/>
          <a:p>
            <a:r>
              <a:rPr lang="ru-RU" sz="3600" dirty="0" smtClean="0"/>
              <a:t>Последний </a:t>
            </a:r>
            <a:r>
              <a:rPr lang="en-US" sz="3600" dirty="0" smtClean="0"/>
              <a:t>(III) </a:t>
            </a:r>
            <a:r>
              <a:rPr lang="ru-RU" sz="3600" dirty="0" smtClean="0"/>
              <a:t>«термидор»</a:t>
            </a:r>
            <a:endParaRPr 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71338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b="1" dirty="0" smtClean="0"/>
              <a:t>Первая фаза – «Ускорение» (1985 – 1986)</a:t>
            </a:r>
          </a:p>
          <a:p>
            <a:r>
              <a:rPr lang="ru-RU" dirty="0" smtClean="0"/>
              <a:t>Формирование группы </a:t>
            </a:r>
            <a:r>
              <a:rPr lang="ru-RU" dirty="0"/>
              <a:t>«реформаторов» в руководстве КПСС (А. Н. Яковлев, Е. К. Лигачёв, Н. И. Рыжков, Б. Н. Ельцин, А. И. </a:t>
            </a:r>
            <a:r>
              <a:rPr lang="ru-RU" dirty="0" smtClean="0"/>
              <a:t>Лукьянов).</a:t>
            </a:r>
          </a:p>
          <a:p>
            <a:r>
              <a:rPr lang="ru-RU" dirty="0" smtClean="0"/>
              <a:t>Борьба с коррупцией и вытеснение старых кадров.</a:t>
            </a:r>
          </a:p>
          <a:p>
            <a:r>
              <a:rPr lang="ru-RU" dirty="0" smtClean="0"/>
              <a:t>Ориентация на инициативу трудовых коллективов в экономике (новый хозрасчет).</a:t>
            </a:r>
          </a:p>
          <a:p>
            <a:r>
              <a:rPr lang="ru-RU" dirty="0" smtClean="0"/>
              <a:t>Постановка задач по модернизации страны.</a:t>
            </a:r>
          </a:p>
          <a:p>
            <a:r>
              <a:rPr lang="ru-RU" dirty="0" smtClean="0"/>
              <a:t>Антиалкогольная компания.</a:t>
            </a:r>
          </a:p>
          <a:p>
            <a:r>
              <a:rPr lang="ru-RU" dirty="0" smtClean="0"/>
              <a:t>Снижение накала «холодной войны».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02605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8075240" cy="936104"/>
          </a:xfrm>
        </p:spPr>
        <p:txBody>
          <a:bodyPr/>
          <a:lstStyle/>
          <a:p>
            <a:r>
              <a:rPr lang="ru-RU" dirty="0"/>
              <a:t>Последний </a:t>
            </a:r>
            <a:r>
              <a:rPr lang="en-US" dirty="0" smtClean="0"/>
              <a:t>«</a:t>
            </a:r>
            <a:r>
              <a:rPr lang="ru-RU" dirty="0"/>
              <a:t>термидор»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3888432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ru-RU" b="1" dirty="0" smtClean="0"/>
              <a:t>Вторая фаза – Перестройка (1988-1989)</a:t>
            </a:r>
          </a:p>
          <a:p>
            <a:r>
              <a:rPr lang="ru-RU" dirty="0" smtClean="0"/>
              <a:t>Выдвижение идеи демократического социализма.</a:t>
            </a:r>
          </a:p>
          <a:p>
            <a:r>
              <a:rPr lang="ru-RU" dirty="0" smtClean="0"/>
              <a:t>Политика гласности.</a:t>
            </a:r>
          </a:p>
          <a:p>
            <a:r>
              <a:rPr lang="ru-RU" dirty="0" smtClean="0"/>
              <a:t>Использование рыночных форм хозяйства (кооперативов, индивидуального предпринимательства).</a:t>
            </a:r>
          </a:p>
          <a:p>
            <a:r>
              <a:rPr lang="ru-RU" dirty="0" smtClean="0"/>
              <a:t>«Новое мышление» во внешней политике. Завершение «холодной войны».</a:t>
            </a:r>
          </a:p>
          <a:p>
            <a:r>
              <a:rPr lang="ru-RU" dirty="0" smtClean="0"/>
              <a:t>Раскол среди реформаторов по линии Горбачев – Ельцин.</a:t>
            </a:r>
          </a:p>
          <a:p>
            <a:r>
              <a:rPr lang="ru-RU" dirty="0" smtClean="0"/>
              <a:t>Появление межнациональных конфликтов.</a:t>
            </a:r>
          </a:p>
          <a:p>
            <a:r>
              <a:rPr lang="ru-RU" dirty="0" smtClean="0"/>
              <a:t>Усугубление кризисных явлений в экономике.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17270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 smtClean="0"/>
              <a:t>Новые политические силы</a:t>
            </a:r>
            <a:endParaRPr lang="ru-RU" sz="2800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7003827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13989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/>
          <a:lstStyle/>
          <a:p>
            <a:pPr algn="ctr"/>
            <a:r>
              <a:rPr lang="ru-RU" dirty="0"/>
              <a:t>Последний </a:t>
            </a:r>
            <a:r>
              <a:rPr lang="en-US" dirty="0" smtClean="0"/>
              <a:t>«</a:t>
            </a:r>
            <a:r>
              <a:rPr lang="ru-RU" dirty="0"/>
              <a:t>термидор»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248472"/>
          </a:xfrm>
        </p:spPr>
        <p:txBody>
          <a:bodyPr>
            <a:normAutofit fontScale="77500" lnSpcReduction="20000"/>
          </a:bodyPr>
          <a:lstStyle/>
          <a:p>
            <a:pPr marL="0" indent="0" algn="ctr">
              <a:buNone/>
            </a:pPr>
            <a:r>
              <a:rPr lang="ru-RU" b="1" dirty="0" smtClean="0"/>
              <a:t>Третья фаза: падение режима революционной </a:t>
            </a:r>
          </a:p>
          <a:p>
            <a:pPr marL="0" indent="0" algn="ctr">
              <a:buNone/>
            </a:pPr>
            <a:r>
              <a:rPr lang="ru-RU" b="1" dirty="0" smtClean="0"/>
              <a:t>диктатуры (1990-1991 гг.)</a:t>
            </a:r>
          </a:p>
          <a:p>
            <a:r>
              <a:rPr lang="ru-RU" dirty="0" smtClean="0"/>
              <a:t>Съезд народных депутатов и формирование политических альтернатив действующей власти.</a:t>
            </a:r>
          </a:p>
          <a:p>
            <a:r>
              <a:rPr lang="ru-RU" dirty="0" smtClean="0"/>
              <a:t>Массовые народные выступления с требованием демократизации страны.</a:t>
            </a:r>
          </a:p>
          <a:p>
            <a:r>
              <a:rPr lang="ru-RU" dirty="0" smtClean="0"/>
              <a:t>Отмена 6 статьи Конституции.</a:t>
            </a:r>
          </a:p>
          <a:p>
            <a:r>
              <a:rPr lang="ru-RU" dirty="0" smtClean="0"/>
              <a:t>Противостояние «центра» и региональных элит.</a:t>
            </a:r>
          </a:p>
          <a:p>
            <a:r>
              <a:rPr lang="ru-RU" dirty="0" smtClean="0"/>
              <a:t>Референдум о сохранении СССР (весна 1991 г.) и «ново-огаревский» процесс.</a:t>
            </a:r>
          </a:p>
          <a:p>
            <a:r>
              <a:rPr lang="ru-RU" dirty="0" smtClean="0"/>
              <a:t>ГКЧП (19-21 августа 1991 г.) и падение режима власти КПСС.</a:t>
            </a:r>
          </a:p>
          <a:p>
            <a:r>
              <a:rPr lang="ru-RU" dirty="0" smtClean="0"/>
              <a:t>Беловежское соглашение (8 декабря 1991 г.). «Роспуск» СССР.</a:t>
            </a:r>
          </a:p>
          <a:p>
            <a:r>
              <a:rPr lang="ru-RU" dirty="0" smtClean="0"/>
              <a:t>Уход от власти М.С.Горбачева (25 декабря 1991 г.)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833476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19256" cy="936104"/>
          </a:xfrm>
        </p:spPr>
        <p:txBody>
          <a:bodyPr/>
          <a:lstStyle/>
          <a:p>
            <a:r>
              <a:rPr lang="ru-RU" dirty="0"/>
              <a:t>Последний </a:t>
            </a:r>
            <a:r>
              <a:rPr lang="en-US" dirty="0" smtClean="0"/>
              <a:t>«</a:t>
            </a:r>
            <a:r>
              <a:rPr lang="ru-RU" dirty="0"/>
              <a:t>термидор»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989040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ru-RU" b="1" dirty="0" smtClean="0"/>
              <a:t>Четвертая фаза – «конституционный кризис» (1992 – 1993).</a:t>
            </a:r>
          </a:p>
          <a:p>
            <a:r>
              <a:rPr lang="ru-RU" dirty="0" smtClean="0"/>
              <a:t>Идеологическое противостояние между «командой Ельцина-Гайдара» и «коммунистическим» Верховным советом.</a:t>
            </a:r>
          </a:p>
          <a:p>
            <a:r>
              <a:rPr lang="ru-RU" dirty="0" smtClean="0"/>
              <a:t>20 марта – указ Президента «об особом порядке управления».</a:t>
            </a:r>
          </a:p>
          <a:p>
            <a:r>
              <a:rPr lang="ru-RU" dirty="0" smtClean="0"/>
              <a:t>Попытка проведения импичмента президенту.</a:t>
            </a:r>
          </a:p>
          <a:p>
            <a:r>
              <a:rPr lang="ru-RU" dirty="0" smtClean="0"/>
              <a:t>«Референдум о доверии» президенту – половинчатый результат.</a:t>
            </a:r>
          </a:p>
          <a:p>
            <a:r>
              <a:rPr lang="ru-RU" dirty="0" smtClean="0"/>
              <a:t>3-7 октября 1993 г. – открытое (вооруженное) противостояние между президентом и парламентом. «Расстрел Белого дома».</a:t>
            </a:r>
          </a:p>
          <a:p>
            <a:r>
              <a:rPr lang="ru-RU" dirty="0" smtClean="0"/>
              <a:t>8 октября – 12 декабря – переходная диктатура.</a:t>
            </a:r>
          </a:p>
          <a:p>
            <a:r>
              <a:rPr lang="ru-RU" dirty="0" smtClean="0"/>
              <a:t>12 декабря – выборы в Думу и референдум о конституции.</a:t>
            </a:r>
          </a:p>
          <a:p>
            <a:endParaRPr lang="ru-RU" dirty="0" smtClean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403024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Autofit/>
          </a:bodyPr>
          <a:lstStyle/>
          <a:p>
            <a:r>
              <a:rPr lang="ru-RU" sz="3600" dirty="0" smtClean="0"/>
              <a:t>Обострение кризиса легитимности:</a:t>
            </a:r>
            <a:endParaRPr lang="ru-RU" sz="3600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7839594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Скругленный прямоугольник 4"/>
          <p:cNvSpPr/>
          <p:nvPr/>
        </p:nvSpPr>
        <p:spPr>
          <a:xfrm>
            <a:off x="755576" y="1976444"/>
            <a:ext cx="2016224" cy="648072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prstClr val="black"/>
                </a:solidFill>
              </a:rPr>
              <a:t>Президент</a:t>
            </a:r>
            <a:endParaRPr lang="ru-RU" dirty="0">
              <a:solidFill>
                <a:prstClr val="black"/>
              </a:solidFill>
            </a:endParaRP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6444208" y="1988840"/>
            <a:ext cx="1944216" cy="648072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prstClr val="black"/>
                </a:solidFill>
              </a:rPr>
              <a:t>Верховный совет</a:t>
            </a:r>
            <a:endParaRPr lang="ru-RU" dirty="0">
              <a:solidFill>
                <a:prstClr val="black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888" y="5013176"/>
            <a:ext cx="2016224" cy="14382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7625" y="1836626"/>
            <a:ext cx="1428750" cy="952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5013176"/>
            <a:ext cx="1216911" cy="1667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3982" y="4919980"/>
            <a:ext cx="1116584" cy="16246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8342" y="4955210"/>
            <a:ext cx="1026403" cy="15840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Скругленный прямоугольник 2"/>
          <p:cNvSpPr/>
          <p:nvPr/>
        </p:nvSpPr>
        <p:spPr>
          <a:xfrm>
            <a:off x="3383868" y="908720"/>
            <a:ext cx="2376264" cy="576064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Конституционный суд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8110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648072"/>
          </a:xfrm>
        </p:spPr>
        <p:txBody>
          <a:bodyPr>
            <a:normAutofit fontScale="90000"/>
          </a:bodyPr>
          <a:lstStyle/>
          <a:p>
            <a:r>
              <a:rPr lang="ru-RU" sz="2800" dirty="0" smtClean="0"/>
              <a:t>Разгон парламента как инструмент политики.</a:t>
            </a:r>
            <a:endParaRPr lang="ru-RU" sz="280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39552" y="1124744"/>
            <a:ext cx="3931920" cy="360040"/>
          </a:xfrm>
        </p:spPr>
        <p:txBody>
          <a:bodyPr>
            <a:normAutofit fontScale="92500" lnSpcReduction="20000"/>
          </a:bodyPr>
          <a:lstStyle/>
          <a:p>
            <a:r>
              <a:rPr lang="ru-RU" dirty="0" smtClean="0"/>
              <a:t>Англия </a:t>
            </a:r>
            <a:r>
              <a:rPr lang="en-US" dirty="0" smtClean="0"/>
              <a:t>XVII </a:t>
            </a:r>
            <a:r>
              <a:rPr lang="ru-RU" dirty="0" smtClean="0"/>
              <a:t>век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788024" y="1052736"/>
            <a:ext cx="3931920" cy="432048"/>
          </a:xfrm>
        </p:spPr>
        <p:txBody>
          <a:bodyPr>
            <a:normAutofit lnSpcReduction="10000"/>
          </a:bodyPr>
          <a:lstStyle/>
          <a:p>
            <a:r>
              <a:rPr lang="ru-RU" dirty="0" smtClean="0"/>
              <a:t>Франция. </a:t>
            </a:r>
            <a:r>
              <a:rPr lang="en-US" dirty="0" smtClean="0"/>
              <a:t>XVIII </a:t>
            </a:r>
            <a:r>
              <a:rPr lang="ru-RU" dirty="0" smtClean="0"/>
              <a:t>век. 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quarter" idx="13"/>
          </p:nvPr>
        </p:nvSpPr>
        <p:spPr>
          <a:xfrm>
            <a:off x="467544" y="1556792"/>
            <a:ext cx="3931920" cy="3951288"/>
          </a:xfrm>
        </p:spPr>
        <p:txBody>
          <a:bodyPr>
            <a:normAutofit fontScale="92500"/>
          </a:bodyPr>
          <a:lstStyle/>
          <a:p>
            <a:r>
              <a:rPr lang="ru-RU" dirty="0" smtClean="0"/>
              <a:t>Парламент, начавший революцию 1640 г., был </a:t>
            </a:r>
            <a:r>
              <a:rPr lang="ru-RU" dirty="0"/>
              <a:t>«вычищен» 6 декабря </a:t>
            </a:r>
            <a:r>
              <a:rPr lang="ru-RU" dirty="0" smtClean="0"/>
              <a:t>1649 г. пехотным полком </a:t>
            </a:r>
            <a:r>
              <a:rPr lang="ru-RU" dirty="0"/>
              <a:t>полковника </a:t>
            </a:r>
            <a:r>
              <a:rPr lang="ru-RU" dirty="0" err="1" smtClean="0"/>
              <a:t>Прайда</a:t>
            </a:r>
            <a:r>
              <a:rPr lang="ru-RU" dirty="0" smtClean="0"/>
              <a:t> по приказанию Оливера Кромвеля.  Те, кто остался и заседал до 1659 г., именовались «Охвостьем» Долгого Парламента. </a:t>
            </a:r>
            <a:endParaRPr lang="ru-RU" dirty="0"/>
          </a:p>
        </p:txBody>
      </p:sp>
      <p:sp>
        <p:nvSpPr>
          <p:cNvPr id="6" name="Объект 5"/>
          <p:cNvSpPr>
            <a:spLocks noGrp="1"/>
          </p:cNvSpPr>
          <p:nvPr>
            <p:ph sz="quarter" idx="14"/>
          </p:nvPr>
        </p:nvSpPr>
        <p:spPr>
          <a:xfrm>
            <a:off x="4716016" y="1556792"/>
            <a:ext cx="3931920" cy="3951288"/>
          </a:xfrm>
        </p:spPr>
        <p:txBody>
          <a:bodyPr>
            <a:normAutofit fontScale="92500" lnSpcReduction="10000"/>
          </a:bodyPr>
          <a:lstStyle/>
          <a:p>
            <a:r>
              <a:rPr lang="ru-RU" dirty="0" smtClean="0"/>
              <a:t>10 ноября 1793 г. отряд под командованием Мюрата разогнал Совет пятисот (парламент), который отказывался утвердить полномочия Наполеона Бонапарта. После этого во главе Франции стали три консула</a:t>
            </a:r>
            <a:r>
              <a:rPr lang="ru-RU" dirty="0"/>
              <a:t>: Бонапарт, Сийес и </a:t>
            </a:r>
            <a:r>
              <a:rPr lang="ru-RU" dirty="0" smtClean="0"/>
              <a:t>Дюко.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518303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rmAutofit fontScale="90000"/>
          </a:bodyPr>
          <a:lstStyle/>
          <a:p>
            <a:r>
              <a:rPr lang="ru-RU" sz="2800" dirty="0"/>
              <a:t>Разгон </a:t>
            </a:r>
            <a:r>
              <a:rPr lang="ru-RU" sz="2800" dirty="0" smtClean="0"/>
              <a:t>парламента </a:t>
            </a:r>
            <a:r>
              <a:rPr lang="ru-RU" sz="2800" dirty="0"/>
              <a:t>как инструмент политики.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>
          <a:xfrm>
            <a:off x="467544" y="1268760"/>
            <a:ext cx="3931920" cy="360040"/>
          </a:xfrm>
        </p:spPr>
        <p:txBody>
          <a:bodyPr>
            <a:normAutofit fontScale="92500" lnSpcReduction="20000"/>
          </a:bodyPr>
          <a:lstStyle/>
          <a:p>
            <a:r>
              <a:rPr lang="ru-RU" dirty="0" smtClean="0"/>
              <a:t>Франция </a:t>
            </a:r>
            <a:r>
              <a:rPr lang="en-US" dirty="0" smtClean="0"/>
              <a:t>XIX </a:t>
            </a:r>
            <a:r>
              <a:rPr lang="ru-RU" dirty="0" smtClean="0"/>
              <a:t>век.</a:t>
            </a:r>
            <a:endParaRPr lang="ru-RU" dirty="0"/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3"/>
          </p:nvPr>
        </p:nvSpPr>
        <p:spPr>
          <a:xfrm>
            <a:off x="4716016" y="1268760"/>
            <a:ext cx="3931920" cy="360040"/>
          </a:xfrm>
        </p:spPr>
        <p:txBody>
          <a:bodyPr>
            <a:normAutofit fontScale="92500" lnSpcReduction="20000"/>
          </a:bodyPr>
          <a:lstStyle/>
          <a:p>
            <a:r>
              <a:rPr lang="ru-RU" dirty="0" smtClean="0"/>
              <a:t>Чили </a:t>
            </a:r>
            <a:r>
              <a:rPr lang="en-US" dirty="0" smtClean="0"/>
              <a:t>XX </a:t>
            </a:r>
            <a:r>
              <a:rPr lang="ru-RU" dirty="0" smtClean="0"/>
              <a:t>век.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sz="quarter" idx="13"/>
          </p:nvPr>
        </p:nvSpPr>
        <p:spPr>
          <a:xfrm>
            <a:off x="467544" y="1628800"/>
            <a:ext cx="3931920" cy="3951288"/>
          </a:xfrm>
        </p:spPr>
        <p:txBody>
          <a:bodyPr>
            <a:normAutofit fontScale="92500"/>
          </a:bodyPr>
          <a:lstStyle/>
          <a:p>
            <a:r>
              <a:rPr lang="ru-RU" dirty="0" smtClean="0"/>
              <a:t>В ходе «переворота 2 декабря» 1852 г. президент Франции Наполеон Бонапарт</a:t>
            </a:r>
            <a:r>
              <a:rPr lang="en-US" dirty="0" smtClean="0"/>
              <a:t> </a:t>
            </a:r>
            <a:r>
              <a:rPr lang="ru-RU" dirty="0" smtClean="0"/>
              <a:t>приказал войскам занять Законодательное собрание, после чего парламент был распущен, а Наполеон </a:t>
            </a:r>
            <a:r>
              <a:rPr lang="en-US" dirty="0" smtClean="0"/>
              <a:t>III</a:t>
            </a:r>
            <a:r>
              <a:rPr lang="ru-RU" dirty="0" smtClean="0"/>
              <a:t> был объявлен императором.</a:t>
            </a:r>
            <a:r>
              <a:rPr lang="en-US" dirty="0" smtClean="0"/>
              <a:t> </a:t>
            </a:r>
            <a:endParaRPr lang="ru-RU" dirty="0"/>
          </a:p>
        </p:txBody>
      </p:sp>
      <p:sp>
        <p:nvSpPr>
          <p:cNvPr id="7" name="Объект 6"/>
          <p:cNvSpPr>
            <a:spLocks noGrp="1"/>
          </p:cNvSpPr>
          <p:nvPr>
            <p:ph sz="quarter" idx="14"/>
          </p:nvPr>
        </p:nvSpPr>
        <p:spPr>
          <a:xfrm>
            <a:off x="4788024" y="1700808"/>
            <a:ext cx="3931920" cy="3951288"/>
          </a:xfrm>
        </p:spPr>
        <p:txBody>
          <a:bodyPr>
            <a:normAutofit fontScale="85000" lnSpcReduction="10000"/>
          </a:bodyPr>
          <a:lstStyle/>
          <a:p>
            <a:r>
              <a:rPr lang="ru-RU" dirty="0" smtClean="0"/>
              <a:t>11 сентября 1973 г. исполняющий обязанности командующего сухопутными силами ген. Аугусто Пиночет совершил государственный переворот, в ходе которого был убит президент-социалист Сальваторе Альенде. 21 сентября был распущен Национальный конгресс.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3011574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сполнительная">
  <a:themeElements>
    <a:clrScheme name="Исполнительная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Исполнительная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Исполнитель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431</TotalTime>
  <Words>1771</Words>
  <Application>Microsoft Office PowerPoint</Application>
  <PresentationFormat>Экран (4:3)</PresentationFormat>
  <Paragraphs>153</Paragraphs>
  <Slides>20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1" baseType="lpstr">
      <vt:lpstr>Исполнительная</vt:lpstr>
      <vt:lpstr>Поздний советский период (1954 – 1991). Постсоветская Россия</vt:lpstr>
      <vt:lpstr>Стадии протекания революционного процесса:</vt:lpstr>
      <vt:lpstr>Термидорианцы «после Сталина»:</vt:lpstr>
      <vt:lpstr>II «термидор» (сер. 1950-х – сер. 1960-х гг.)</vt:lpstr>
      <vt:lpstr>Период прогрессивных изменений. Достижения:</vt:lpstr>
      <vt:lpstr>III Программа КПСС:</vt:lpstr>
      <vt:lpstr>Продолжение II «термидора» в 1965-1970 гг. (после отстранения Хрущева от власти)</vt:lpstr>
      <vt:lpstr>Эффект II «термидора»</vt:lpstr>
      <vt:lpstr>III диктатура уравнителей – «застой» (1971 – 1984 гг.)</vt:lpstr>
      <vt:lpstr>Конституция СССР 1977 г.</vt:lpstr>
      <vt:lpstr>Последствия III диктатуры:</vt:lpstr>
      <vt:lpstr>Ответ населения на III диктатуру.</vt:lpstr>
      <vt:lpstr>Последний (III) «термидор»</vt:lpstr>
      <vt:lpstr>Последний «термидор»</vt:lpstr>
      <vt:lpstr>Новые политические силы</vt:lpstr>
      <vt:lpstr>Последний «термидор»</vt:lpstr>
      <vt:lpstr>Последний «термидор»</vt:lpstr>
      <vt:lpstr>Обострение кризиса легитимности:</vt:lpstr>
      <vt:lpstr>Разгон парламента как инструмент политики.</vt:lpstr>
      <vt:lpstr>Разгон парламента как инструмент политики.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44</cp:revision>
  <dcterms:created xsi:type="dcterms:W3CDTF">2014-12-06T09:24:31Z</dcterms:created>
  <dcterms:modified xsi:type="dcterms:W3CDTF">2020-12-03T07:17:48Z</dcterms:modified>
</cp:coreProperties>
</file>