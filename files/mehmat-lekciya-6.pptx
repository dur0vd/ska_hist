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61" r:id="rId6"/>
    <p:sldId id="263" r:id="rId7"/>
    <p:sldId id="264" r:id="rId8"/>
    <p:sldId id="265" r:id="rId9"/>
    <p:sldId id="262" r:id="rId10"/>
    <p:sldId id="267" r:id="rId11"/>
    <p:sldId id="266" r:id="rId12"/>
    <p:sldId id="268" r:id="rId13"/>
    <p:sldId id="269" r:id="rId14"/>
    <p:sldId id="277" r:id="rId15"/>
    <p:sldId id="280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59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D710-DF40-47B9-BE60-DBF800F9FB25}" type="datetimeFigureOut">
              <a:rPr lang="ru-RU" smtClean="0"/>
              <a:t>25.11.2021</a:t>
            </a:fld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257D13-176B-41B6-BF4C-FA15BF9E49A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D710-DF40-47B9-BE60-DBF800F9FB25}" type="datetimeFigureOut">
              <a:rPr lang="ru-RU" smtClean="0"/>
              <a:t>25.11.2021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57D13-176B-41B6-BF4C-FA15BF9E49A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D710-DF40-47B9-BE60-DBF800F9FB25}" type="datetimeFigureOut">
              <a:rPr lang="ru-RU" smtClean="0"/>
              <a:t>25.11.2021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57D13-176B-41B6-BF4C-FA15BF9E49A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D710-DF40-47B9-BE60-DBF800F9FB25}" type="datetimeFigureOut">
              <a:rPr lang="ru-RU" smtClean="0"/>
              <a:t>25.11.2021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57D13-176B-41B6-BF4C-FA15BF9E49A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D710-DF40-47B9-BE60-DBF800F9FB25}" type="datetimeFigureOut">
              <a:rPr lang="ru-RU" smtClean="0"/>
              <a:t>25.11.2021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57D13-176B-41B6-BF4C-FA15BF9E49A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D710-DF40-47B9-BE60-DBF800F9FB25}" type="datetimeFigureOut">
              <a:rPr lang="ru-RU" smtClean="0"/>
              <a:t>25.11.2021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57D13-176B-41B6-BF4C-FA15BF9E49A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D710-DF40-47B9-BE60-DBF800F9FB25}" type="datetimeFigureOut">
              <a:rPr lang="ru-RU" smtClean="0"/>
              <a:t>25.11.2021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57D13-176B-41B6-BF4C-FA15BF9E49A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D710-DF40-47B9-BE60-DBF800F9FB25}" type="datetimeFigureOut">
              <a:rPr lang="ru-RU" smtClean="0"/>
              <a:t>25.11.2021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57D13-176B-41B6-BF4C-FA15BF9E49A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D710-DF40-47B9-BE60-DBF800F9FB25}" type="datetimeFigureOut">
              <a:rPr lang="ru-RU" smtClean="0"/>
              <a:t>25.11.2021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57D13-176B-41B6-BF4C-FA15BF9E49A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D710-DF40-47B9-BE60-DBF800F9FB25}" type="datetimeFigureOut">
              <a:rPr lang="ru-RU" smtClean="0"/>
              <a:t>25.11.2021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57D13-176B-41B6-BF4C-FA15BF9E49A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D710-DF40-47B9-BE60-DBF800F9FB25}" type="datetimeFigureOut">
              <a:rPr lang="ru-RU" smtClean="0"/>
              <a:t>25.11.2021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57D13-176B-41B6-BF4C-FA15BF9E49A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5F4D710-DF40-47B9-BE60-DBF800F9FB25}" type="datetimeFigureOut">
              <a:rPr lang="ru-RU" smtClean="0"/>
              <a:t>25.11.2021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C3257D13-176B-41B6-BF4C-FA15BF9E49A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2603375"/>
          </a:xfrm>
        </p:spPr>
        <p:txBody>
          <a:bodyPr/>
          <a:lstStyle/>
          <a:p>
            <a:r>
              <a:rPr lang="ru-RU" sz="3600" dirty="0" smtClean="0"/>
              <a:t>Политическое развитие СССР</a:t>
            </a:r>
            <a:br>
              <a:rPr lang="ru-RU" sz="3600" dirty="0" smtClean="0"/>
            </a:br>
            <a:r>
              <a:rPr lang="ru-RU" sz="3600" smtClean="0"/>
              <a:t>в </a:t>
            </a:r>
            <a:r>
              <a:rPr lang="ru-RU" sz="3600" smtClean="0"/>
              <a:t>1920-е - 1930-е </a:t>
            </a:r>
            <a:r>
              <a:rPr lang="ru-RU" sz="3600" dirty="0" smtClean="0"/>
              <a:t>годы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5301208"/>
            <a:ext cx="6400800" cy="870992"/>
          </a:xfrm>
        </p:spPr>
        <p:txBody>
          <a:bodyPr/>
          <a:lstStyle/>
          <a:p>
            <a:r>
              <a:rPr lang="ru-RU" dirty="0" smtClean="0"/>
              <a:t>Лекция 6.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745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b="1" dirty="0" smtClean="0"/>
              <a:t>Тоталитарное общество – то, в котором государство устанавливает полный (тотальный) контроль над всеми проявлениями общественной и частной жизни людей.</a:t>
            </a:r>
            <a:endParaRPr lang="ru-RU" sz="2400" b="1" dirty="0"/>
          </a:p>
        </p:txBody>
      </p:sp>
      <p:sp>
        <p:nvSpPr>
          <p:cNvPr id="2" name="Текст 1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Варианты религиозного </a:t>
            </a:r>
            <a:r>
              <a:rPr lang="ru-RU" b="1" dirty="0" smtClean="0"/>
              <a:t>тоталитаризма:</a:t>
            </a:r>
            <a:endParaRPr lang="ru-RU" b="1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Варианты идеологического </a:t>
            </a:r>
            <a:r>
              <a:rPr lang="ru-RU" b="1" dirty="0" smtClean="0"/>
              <a:t>тоталитаризма в </a:t>
            </a:r>
            <a:r>
              <a:rPr lang="en-US" b="1" dirty="0" smtClean="0"/>
              <a:t>XX </a:t>
            </a:r>
            <a:r>
              <a:rPr lang="ru-RU" b="1" dirty="0" smtClean="0"/>
              <a:t>веке: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инкский социализм;</a:t>
            </a:r>
          </a:p>
          <a:p>
            <a:r>
              <a:rPr lang="ru-RU" dirty="0" smtClean="0"/>
              <a:t>диктатура Савонаролы во Флоренции в 1494-1498 гг.;</a:t>
            </a:r>
          </a:p>
          <a:p>
            <a:r>
              <a:rPr lang="ru-RU" dirty="0" smtClean="0"/>
              <a:t>Женева в правление Кальвина 1541 – 1564;</a:t>
            </a:r>
          </a:p>
          <a:p>
            <a:r>
              <a:rPr lang="ru-RU" dirty="0" smtClean="0"/>
              <a:t>тоталитарные секты ХХ века;</a:t>
            </a:r>
          </a:p>
          <a:p>
            <a:r>
              <a:rPr lang="ru-RU" dirty="0" smtClean="0"/>
              <a:t>террористические квазигосударства (ИГИЛ).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4"/>
          </p:nvPr>
        </p:nvSpPr>
        <p:spPr/>
        <p:txBody>
          <a:bodyPr>
            <a:noAutofit/>
          </a:bodyPr>
          <a:lstStyle/>
          <a:p>
            <a:r>
              <a:rPr lang="ru-RU" sz="2600" dirty="0"/>
              <a:t>классовый (коммунизм);</a:t>
            </a:r>
          </a:p>
          <a:p>
            <a:r>
              <a:rPr lang="ru-RU" sz="2600" dirty="0" smtClean="0"/>
              <a:t>патриотический (фашизм);</a:t>
            </a:r>
          </a:p>
          <a:p>
            <a:r>
              <a:rPr lang="ru-RU" sz="2600" dirty="0" smtClean="0"/>
              <a:t>национальный (национал-социализм).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356230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60648"/>
            <a:ext cx="8686800" cy="864096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dirty="0"/>
              <a:t>Базовые черты «инкского социализма»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41438"/>
            <a:ext cx="8686800" cy="4967287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ru-RU" altLang="ru-RU" sz="2400" dirty="0" smtClean="0"/>
              <a:t>Разделение земель на общинные, «земли инки» и «земли Солнца» (храмовые).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dirty="0" smtClean="0"/>
              <a:t>Введение обязательности труда вне зависимости от социального положения.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dirty="0" smtClean="0"/>
              <a:t>Наделение крестьян общинников земельным участком – «тупой».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dirty="0" smtClean="0"/>
              <a:t>Общественный труд по обработке земель – «манка».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dirty="0" smtClean="0"/>
              <a:t>Введение общественных работ на рудниках и в строительстве.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dirty="0" smtClean="0"/>
              <a:t>Огосударствление системы дорог и ремесла. Замена торговли на государственное распределение.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dirty="0" smtClean="0"/>
              <a:t>Создание государственных запасов продовольствия.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dirty="0" smtClean="0"/>
              <a:t>Пятидесятиричная система самоуправления.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dirty="0" smtClean="0"/>
              <a:t>Государственное регулирование как трудовой, так и семейно-бытовой сферы.  </a:t>
            </a:r>
          </a:p>
        </p:txBody>
      </p:sp>
    </p:spTree>
    <p:extLst>
      <p:ext uri="{BB962C8B-B14F-4D97-AF65-F5344CB8AC3E}">
        <p14:creationId xmlns:p14="http://schemas.microsoft.com/office/powerpoint/2010/main" val="375762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>Базовые черты тоталитарного общества: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6085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 smtClean="0"/>
              <a:t>Ценностные ориентиры</a:t>
            </a:r>
            <a:r>
              <a:rPr lang="ru-RU" dirty="0" smtClean="0"/>
              <a:t>: надличностные (бог/государство/нация/интересы класса – превыше всего).</a:t>
            </a:r>
          </a:p>
          <a:p>
            <a:pPr marL="0" indent="0">
              <a:buNone/>
            </a:pPr>
            <a:r>
              <a:rPr lang="ru-RU" b="1" dirty="0" smtClean="0"/>
              <a:t>Отношения населения с властью </a:t>
            </a:r>
            <a:r>
              <a:rPr lang="ru-RU" dirty="0" smtClean="0"/>
              <a:t>– патримональные.</a:t>
            </a:r>
          </a:p>
          <a:p>
            <a:pPr marL="0" indent="0">
              <a:buNone/>
            </a:pPr>
            <a:r>
              <a:rPr lang="ru-RU" b="1" dirty="0" smtClean="0"/>
              <a:t>Способ взаимодействия власти с населением</a:t>
            </a:r>
            <a:r>
              <a:rPr lang="ru-RU" dirty="0" smtClean="0"/>
              <a:t>: пропаганда.</a:t>
            </a:r>
          </a:p>
          <a:p>
            <a:pPr marL="0" indent="0">
              <a:buNone/>
            </a:pPr>
            <a:r>
              <a:rPr lang="ru-RU" b="1" dirty="0" smtClean="0"/>
              <a:t>Политическая система</a:t>
            </a:r>
            <a:r>
              <a:rPr lang="ru-RU" dirty="0" smtClean="0"/>
              <a:t>: лидерская (фюрерская), однопартийная.</a:t>
            </a:r>
          </a:p>
          <a:p>
            <a:pPr marL="0" indent="0">
              <a:buNone/>
            </a:pPr>
            <a:r>
              <a:rPr lang="ru-RU" b="1" dirty="0" smtClean="0"/>
              <a:t>Организация общества</a:t>
            </a:r>
            <a:r>
              <a:rPr lang="ru-RU" dirty="0" smtClean="0"/>
              <a:t>: корпоративная.</a:t>
            </a:r>
          </a:p>
          <a:p>
            <a:pPr marL="0" indent="0">
              <a:buNone/>
            </a:pPr>
            <a:r>
              <a:rPr lang="ru-RU" b="1" dirty="0" smtClean="0"/>
              <a:t>Организация управления</a:t>
            </a:r>
            <a:r>
              <a:rPr lang="ru-RU" dirty="0" smtClean="0"/>
              <a:t>: превентивное насилие, проводимое «органами безопасности».</a:t>
            </a:r>
          </a:p>
          <a:p>
            <a:pPr marL="0" indent="0">
              <a:buNone/>
            </a:pPr>
            <a:r>
              <a:rPr lang="ru-RU" b="1" dirty="0" smtClean="0"/>
              <a:t>Внешние связи</a:t>
            </a:r>
            <a:r>
              <a:rPr lang="ru-RU" dirty="0" smtClean="0"/>
              <a:t>: «враждебное окружение».</a:t>
            </a:r>
          </a:p>
          <a:p>
            <a:pPr marL="0" indent="0">
              <a:buNone/>
            </a:pPr>
            <a:r>
              <a:rPr lang="ru-RU" b="1" dirty="0" smtClean="0"/>
              <a:t>Экономика</a:t>
            </a:r>
            <a:r>
              <a:rPr lang="ru-RU" dirty="0" smtClean="0"/>
              <a:t>: милитаризированная, огосударствленная.</a:t>
            </a:r>
          </a:p>
        </p:txBody>
      </p:sp>
    </p:spTree>
    <p:extLst>
      <p:ext uri="{BB962C8B-B14F-4D97-AF65-F5344CB8AC3E}">
        <p14:creationId xmlns:p14="http://schemas.microsoft.com/office/powerpoint/2010/main" val="59945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ru-RU" sz="2000" dirty="0" smtClean="0"/>
              <a:t>Первые шаги к установлению монополии большевиков на власть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439248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9 ноября 1917 г. «Декрет о печати», на основании которого к июлю 1918 г. было закрыто 450 газет.</a:t>
            </a:r>
          </a:p>
          <a:p>
            <a:r>
              <a:rPr lang="ru-RU" dirty="0" smtClean="0"/>
              <a:t>7 декабря 1917 г. </a:t>
            </a:r>
            <a:r>
              <a:rPr lang="ru-RU" dirty="0"/>
              <a:t>Создание </a:t>
            </a:r>
            <a:r>
              <a:rPr lang="ru-RU" dirty="0" smtClean="0"/>
              <a:t>Всероссийской </a:t>
            </a:r>
            <a:r>
              <a:rPr lang="ru-RU" dirty="0"/>
              <a:t>чрезвычайная комиссия по борьбе с контрреволюцией и </a:t>
            </a:r>
            <a:r>
              <a:rPr lang="ru-RU" dirty="0" smtClean="0"/>
              <a:t>саботажем.</a:t>
            </a:r>
          </a:p>
          <a:p>
            <a:r>
              <a:rPr lang="ru-RU" dirty="0" smtClean="0"/>
              <a:t>18 января 1918 г. Роспуск Учредительного собрания.</a:t>
            </a:r>
          </a:p>
          <a:p>
            <a:r>
              <a:rPr lang="ru-RU" dirty="0" smtClean="0"/>
              <a:t>18 апреля 1918 г. Создание Политотдела РВСР (институт комиссаров)</a:t>
            </a:r>
          </a:p>
          <a:p>
            <a:r>
              <a:rPr lang="ru-RU" dirty="0" smtClean="0"/>
              <a:t>9 июля 1918 г. </a:t>
            </a:r>
            <a:r>
              <a:rPr lang="en-US" dirty="0" smtClean="0"/>
              <a:t>V </a:t>
            </a:r>
            <a:r>
              <a:rPr lang="ru-RU" dirty="0" smtClean="0"/>
              <a:t>съезд советов. Исключение левых эсеров из советов всех уровней (образована партия революционных коммунистов).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811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576064"/>
          </a:xfrm>
        </p:spPr>
        <p:txBody>
          <a:bodyPr/>
          <a:lstStyle/>
          <a:p>
            <a:r>
              <a:rPr lang="ru-RU" sz="3600" dirty="0" smtClean="0"/>
              <a:t>«Красный террор»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Начало: Декрет от 5 сентября 1918 г.</a:t>
            </a:r>
          </a:p>
          <a:p>
            <a:pPr marL="0" indent="0">
              <a:buNone/>
            </a:pPr>
            <a:r>
              <a:rPr lang="ru-RU" dirty="0" smtClean="0"/>
              <a:t>Содержание:</a:t>
            </a:r>
          </a:p>
          <a:p>
            <a:r>
              <a:rPr lang="ru-RU" dirty="0" smtClean="0"/>
              <a:t>расстрелы «по спискам» противников революционной власти;</a:t>
            </a:r>
          </a:p>
          <a:p>
            <a:r>
              <a:rPr lang="ru-RU" dirty="0" smtClean="0"/>
              <a:t>аресты и отправление в концентрационные лагеря в соответствии  с «социальной принадлежностью»;</a:t>
            </a:r>
          </a:p>
          <a:p>
            <a:r>
              <a:rPr lang="ru-RU" dirty="0" smtClean="0"/>
              <a:t>«взятие заложников».</a:t>
            </a:r>
          </a:p>
        </p:txBody>
      </p:sp>
    </p:spTree>
    <p:extLst>
      <p:ext uri="{BB962C8B-B14F-4D97-AF65-F5344CB8AC3E}">
        <p14:creationId xmlns:p14="http://schemas.microsoft.com/office/powerpoint/2010/main" val="404403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>
            <a:normAutofit/>
          </a:bodyPr>
          <a:lstStyle/>
          <a:p>
            <a:r>
              <a:rPr lang="ru-RU" sz="3200" dirty="0"/>
              <a:t>«Красный террор</a:t>
            </a:r>
            <a:r>
              <a:rPr lang="ru-RU" sz="3200" dirty="0" smtClean="0"/>
              <a:t>» в 1919 – 1922 г г.</a:t>
            </a:r>
            <a:endParaRPr lang="ru-RU" sz="3200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021907"/>
          </a:xfrm>
        </p:spPr>
        <p:txBody>
          <a:bodyPr>
            <a:normAutofit/>
          </a:bodyPr>
          <a:lstStyle/>
          <a:p>
            <a:r>
              <a:rPr lang="ru-RU" dirty="0" smtClean="0"/>
              <a:t>12 </a:t>
            </a:r>
            <a:r>
              <a:rPr lang="ru-RU" dirty="0"/>
              <a:t>апреля </a:t>
            </a:r>
            <a:r>
              <a:rPr lang="ru-RU" dirty="0" smtClean="0"/>
              <a:t>1919 «Положение о революционных трибуналах» («революционное правосознание»).</a:t>
            </a:r>
            <a:endParaRPr lang="ru-RU" dirty="0"/>
          </a:p>
          <a:p>
            <a:r>
              <a:rPr lang="ru-RU" dirty="0"/>
              <a:t>15 апреля 1919 г. Создание «Лагерей принудительных работ</a:t>
            </a:r>
            <a:r>
              <a:rPr lang="ru-RU" dirty="0" smtClean="0"/>
              <a:t>».</a:t>
            </a:r>
          </a:p>
          <a:p>
            <a:r>
              <a:rPr lang="ru-RU" dirty="0" smtClean="0"/>
              <a:t>1920 – «Красный террор» на Крымском полуострове.</a:t>
            </a:r>
          </a:p>
          <a:p>
            <a:r>
              <a:rPr lang="ru-RU" dirty="0" smtClean="0"/>
              <a:t>1921 – Подавление крестьянских восстаний.</a:t>
            </a:r>
          </a:p>
          <a:p>
            <a:r>
              <a:rPr lang="ru-RU" dirty="0" smtClean="0"/>
              <a:t>1922 – «Изъятие церковных ценностей», массовое закрытие церквей, расстрелы священников.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49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dirty="0" smtClean="0"/>
              <a:t>Ликвидация оппозиционных партий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124744"/>
            <a:ext cx="8424936" cy="5472608"/>
          </a:xfrm>
        </p:spPr>
        <p:txBody>
          <a:bodyPr>
            <a:noAutofit/>
          </a:bodyPr>
          <a:lstStyle/>
          <a:p>
            <a:r>
              <a:rPr lang="ru-RU" sz="2200" dirty="0"/>
              <a:t>1920 г. Самоликвидация партии революционного коммунизма.</a:t>
            </a:r>
          </a:p>
          <a:p>
            <a:r>
              <a:rPr lang="ru-RU" sz="2200" dirty="0" smtClean="0"/>
              <a:t>1921 г. Репрессии против анархистов (расстрелы/высылка за границу). Массовое вступление анархистов в ВКП(б).</a:t>
            </a:r>
          </a:p>
          <a:p>
            <a:r>
              <a:rPr lang="ru-RU" sz="2200" dirty="0" smtClean="0"/>
              <a:t>1922 г. Процесс над ЦК партии социалистов- революционеров.</a:t>
            </a:r>
          </a:p>
          <a:p>
            <a:r>
              <a:rPr lang="ru-RU" sz="2200" dirty="0" smtClean="0"/>
              <a:t>1922-1924 – ликвидация организационных структур РСДРП (Меньшевиков).</a:t>
            </a:r>
          </a:p>
          <a:p>
            <a:r>
              <a:rPr lang="ru-RU" sz="2200" dirty="0" smtClean="0"/>
              <a:t>1925 г. Официальное прекращение деятельности Центрального Бюро партии социалистов-революционеров.</a:t>
            </a:r>
          </a:p>
          <a:p>
            <a:r>
              <a:rPr lang="ru-RU" sz="2200" dirty="0" smtClean="0"/>
              <a:t>1929 г.  закрытие издательства «Голос труда» (анархо—синдикалисты) и аресты лидеров анархистских организаций.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81231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>ВКП (б) Дискуссия о профсоюзах 1920-1921 гг.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268761"/>
            <a:ext cx="7488832" cy="38164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000" dirty="0" smtClean="0"/>
              <a:t>«Платформы» в ВКП (б):</a:t>
            </a:r>
          </a:p>
          <a:p>
            <a:r>
              <a:rPr lang="ru-RU" sz="2000" dirty="0" smtClean="0"/>
              <a:t>«Рабочая оппозиция»: профсоюзы – форма реализации пролетариатом прав на управление (главная форма диктатуры пролетариата).</a:t>
            </a:r>
          </a:p>
          <a:p>
            <a:r>
              <a:rPr lang="ru-RU" sz="2000" dirty="0" smtClean="0"/>
              <a:t>«</a:t>
            </a:r>
            <a:r>
              <a:rPr lang="ru-RU" sz="2000" dirty="0"/>
              <a:t>П</a:t>
            </a:r>
            <a:r>
              <a:rPr lang="ru-RU" sz="2000" dirty="0" smtClean="0"/>
              <a:t>роизводственная оппозиция»: необходимо развивать управленческие традиции «трудовых армий», созданных в гражданской войне.</a:t>
            </a:r>
          </a:p>
          <a:p>
            <a:r>
              <a:rPr lang="ru-RU" sz="2000" dirty="0" smtClean="0"/>
              <a:t>Группа «демократического централизма»: необходимо предоставить   свободу  фракциям и группам в партии, а также  ограничить контроль партии над советами и профсоюзами.</a:t>
            </a:r>
          </a:p>
          <a:p>
            <a:r>
              <a:rPr lang="ru-RU" sz="2000" dirty="0" smtClean="0"/>
              <a:t>«Группа 10»:  запрет фракционной деятельности в партии + превращение профсоюзов в орган, обеспечивающий лояльность рабочих («школу коммунизма»)</a:t>
            </a:r>
            <a:endParaRPr lang="ru-RU" sz="20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971600" y="5517232"/>
            <a:ext cx="6768752" cy="936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Закрепление позиции Ленина в решениях Х съезда ВКП(б) означала отказ от «термидора» в политике.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133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2400" dirty="0" smtClean="0"/>
              <a:t>В.И. Ленин «Письмо к съезду» (к. 1922, оглашено в 1924 г.):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410445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Я думаю, что основным в вопросе устойчивости </a:t>
            </a:r>
            <a:r>
              <a:rPr lang="ru-RU" dirty="0" smtClean="0"/>
              <a:t>… являются </a:t>
            </a:r>
            <a:r>
              <a:rPr lang="ru-RU" dirty="0"/>
              <a:t>такие члены Ц.К., как </a:t>
            </a:r>
            <a:r>
              <a:rPr lang="ru-RU" dirty="0" smtClean="0"/>
              <a:t>Сталин </a:t>
            </a:r>
            <a:r>
              <a:rPr lang="ru-RU" dirty="0"/>
              <a:t>и Троцкий. Отношения между ними, по-моему, составляют большую половину опасности того раскола, который мог бы быть избегнут и избежанию которого, по моему мнению, должно служить, между прочим, увеличение числа членов Ц.К. до 50-ти, до 100 человек.</a:t>
            </a:r>
          </a:p>
          <a:p>
            <a:pPr marL="0" indent="0">
              <a:buNone/>
            </a:pPr>
            <a:r>
              <a:rPr lang="ru-RU" dirty="0"/>
              <a:t>Тов. Сталин, сделавшись </a:t>
            </a:r>
            <a:r>
              <a:rPr lang="ru-RU" dirty="0" smtClean="0"/>
              <a:t>генсеком, </a:t>
            </a:r>
            <a:r>
              <a:rPr lang="ru-RU" dirty="0"/>
              <a:t>сосредоточил в своих руках необъятную власть, и я не уверен, сумеет ли он всегда достаточно осторожно пользоваться этой властью. С другой стороны, тов. Троцкий, как доказала уже его борьба против Ц.К. в связи с вопросом о </a:t>
            </a:r>
            <a:r>
              <a:rPr lang="ru-RU" dirty="0" smtClean="0"/>
              <a:t>НКПС</a:t>
            </a:r>
            <a:r>
              <a:rPr lang="ru-RU" dirty="0"/>
              <a:t>, отличается не только выдающимися способностями. Лично, он, пожалуй, самый способный человек в настоящем Ц.К., но и чрезмерно хватающий самоуверенностью и чрезмерным увлечением чисто административной стороной дела.</a:t>
            </a:r>
          </a:p>
        </p:txBody>
      </p:sp>
    </p:spTree>
    <p:extLst>
      <p:ext uri="{BB962C8B-B14F-4D97-AF65-F5344CB8AC3E}">
        <p14:creationId xmlns:p14="http://schemas.microsoft.com/office/powerpoint/2010/main" val="298244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Сакрализация В.И.Ленина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5"/>
            <a:ext cx="5554960" cy="4320480"/>
          </a:xfrm>
        </p:spPr>
        <p:txBody>
          <a:bodyPr>
            <a:normAutofit/>
          </a:bodyPr>
          <a:lstStyle/>
          <a:p>
            <a:r>
              <a:rPr lang="ru-RU" dirty="0"/>
              <a:t>1923 г. – Создается «институт Ленина» и появляется термин «ленинизм»;</a:t>
            </a:r>
          </a:p>
          <a:p>
            <a:r>
              <a:rPr lang="ru-RU" dirty="0"/>
              <a:t>1924 г. – Петроград переименован в </a:t>
            </a:r>
            <a:r>
              <a:rPr lang="ru-RU" dirty="0" smtClean="0"/>
              <a:t>Ленинград</a:t>
            </a:r>
          </a:p>
          <a:p>
            <a:r>
              <a:rPr lang="ru-RU" dirty="0" smtClean="0"/>
              <a:t>Имя Ленина присвоено: РКСМ, пионерской организации, Казанскому университету, Румянцевской библиотеке.</a:t>
            </a:r>
            <a:endParaRPr lang="ru-RU" dirty="0"/>
          </a:p>
          <a:p>
            <a:r>
              <a:rPr lang="ru-RU" dirty="0"/>
              <a:t>1930 – Орден </a:t>
            </a:r>
            <a:r>
              <a:rPr lang="ru-RU" dirty="0" smtClean="0"/>
              <a:t>Ленина.</a:t>
            </a:r>
            <a:endParaRPr lang="ru-RU" dirty="0"/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124744"/>
            <a:ext cx="2601137" cy="2073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579" y="3278111"/>
            <a:ext cx="1440082" cy="2206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040388"/>
            <a:ext cx="1524019" cy="1645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755576" y="5484260"/>
            <a:ext cx="4752528" cy="89706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Формируется псевдо-религиозная доктрина о «создателе» (партии) и его наследниках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508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801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dirty="0" smtClean="0"/>
              <a:t>«Генеральная линия» партии и борьба с «отклонениями»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1924 г. Разгром «троцкизма» на XIII партийной конференции.</a:t>
            </a:r>
          </a:p>
          <a:p>
            <a:r>
              <a:rPr lang="ru-RU" dirty="0"/>
              <a:t>1925 г. борьба с «новой оппозицией» (Зиновьев, Каменев и делегация Ленинграда на XV партконференции).</a:t>
            </a:r>
          </a:p>
          <a:p>
            <a:r>
              <a:rPr lang="ru-RU" dirty="0"/>
              <a:t>1926 г. «Левая оппозиция» (Троцкий, Зиновьев, Каменев, Крупская, Преображенский, Пятаков, Серебряков, Сокольников, Антонов-Овсеенко, Муралов, Шляпников и др.).</a:t>
            </a:r>
          </a:p>
          <a:p>
            <a:r>
              <a:rPr lang="ru-RU" dirty="0"/>
              <a:t>1927-1928 гг. Борьба с «правой оппозицией» (Бухарин, Рыков, Томский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67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Политбюро ЦК ВКП(б)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51520" y="1772816"/>
            <a:ext cx="4038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 smtClean="0"/>
              <a:t>1924 г.</a:t>
            </a:r>
          </a:p>
          <a:p>
            <a:r>
              <a:rPr lang="ru-RU" dirty="0"/>
              <a:t>Н. И. Бухарин, </a:t>
            </a:r>
            <a:endParaRPr lang="ru-RU" dirty="0" smtClean="0"/>
          </a:p>
          <a:p>
            <a:r>
              <a:rPr lang="ru-RU" dirty="0" smtClean="0"/>
              <a:t>Г</a:t>
            </a:r>
            <a:r>
              <a:rPr lang="ru-RU" dirty="0"/>
              <a:t>. Е. Зиновьев, </a:t>
            </a:r>
            <a:endParaRPr lang="ru-RU" dirty="0" smtClean="0"/>
          </a:p>
          <a:p>
            <a:r>
              <a:rPr lang="ru-RU" dirty="0" smtClean="0"/>
              <a:t>Л</a:t>
            </a:r>
            <a:r>
              <a:rPr lang="ru-RU" dirty="0"/>
              <a:t>. Б. Каменев, </a:t>
            </a:r>
            <a:endParaRPr lang="ru-RU" dirty="0" smtClean="0"/>
          </a:p>
          <a:p>
            <a:r>
              <a:rPr lang="ru-RU" dirty="0" smtClean="0"/>
              <a:t>А</a:t>
            </a:r>
            <a:r>
              <a:rPr lang="ru-RU" dirty="0"/>
              <a:t>. И. Рыков, </a:t>
            </a:r>
            <a:endParaRPr lang="ru-RU" dirty="0" smtClean="0"/>
          </a:p>
          <a:p>
            <a:r>
              <a:rPr lang="ru-RU" dirty="0" smtClean="0"/>
              <a:t>И</a:t>
            </a:r>
            <a:r>
              <a:rPr lang="ru-RU" dirty="0"/>
              <a:t>. В. Сталин, </a:t>
            </a:r>
            <a:endParaRPr lang="ru-RU" dirty="0" smtClean="0"/>
          </a:p>
          <a:p>
            <a:r>
              <a:rPr lang="ru-RU" dirty="0" smtClean="0"/>
              <a:t>М</a:t>
            </a:r>
            <a:r>
              <a:rPr lang="ru-RU" dirty="0"/>
              <a:t>. П. Томский, </a:t>
            </a:r>
            <a:endParaRPr lang="ru-RU" dirty="0" smtClean="0"/>
          </a:p>
          <a:p>
            <a:r>
              <a:rPr lang="ru-RU" dirty="0" smtClean="0"/>
              <a:t>Л</a:t>
            </a:r>
            <a:r>
              <a:rPr lang="ru-RU" dirty="0"/>
              <a:t>. Д. Троцкий.</a:t>
            </a:r>
          </a:p>
          <a:p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4572000" y="1844824"/>
            <a:ext cx="4038600" cy="420506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dirty="0" smtClean="0"/>
              <a:t>1934 г.</a:t>
            </a:r>
          </a:p>
          <a:p>
            <a:r>
              <a:rPr lang="ru-RU" dirty="0"/>
              <a:t>А. А. </a:t>
            </a:r>
            <a:r>
              <a:rPr lang="ru-RU" dirty="0" smtClean="0"/>
              <a:t>Андреев,</a:t>
            </a:r>
          </a:p>
          <a:p>
            <a:r>
              <a:rPr lang="ru-RU" dirty="0" smtClean="0"/>
              <a:t>К</a:t>
            </a:r>
            <a:r>
              <a:rPr lang="ru-RU" dirty="0"/>
              <a:t>. Е. </a:t>
            </a:r>
            <a:r>
              <a:rPr lang="ru-RU" dirty="0" smtClean="0"/>
              <a:t>Ворошилов,</a:t>
            </a:r>
          </a:p>
          <a:p>
            <a:r>
              <a:rPr lang="ru-RU" dirty="0" smtClean="0"/>
              <a:t>Л</a:t>
            </a:r>
            <a:r>
              <a:rPr lang="ru-RU" dirty="0"/>
              <a:t>. М. Каганович, </a:t>
            </a:r>
            <a:endParaRPr lang="ru-RU" dirty="0" smtClean="0"/>
          </a:p>
          <a:p>
            <a:r>
              <a:rPr lang="ru-RU" dirty="0" smtClean="0"/>
              <a:t>М</a:t>
            </a:r>
            <a:r>
              <a:rPr lang="ru-RU" dirty="0"/>
              <a:t>. И. Калинин, </a:t>
            </a:r>
            <a:endParaRPr lang="ru-RU" dirty="0" smtClean="0"/>
          </a:p>
          <a:p>
            <a:r>
              <a:rPr lang="ru-RU" dirty="0" smtClean="0">
                <a:solidFill>
                  <a:srgbClr val="FF0000"/>
                </a:solidFill>
              </a:rPr>
              <a:t>С</a:t>
            </a:r>
            <a:r>
              <a:rPr lang="ru-RU" dirty="0">
                <a:solidFill>
                  <a:srgbClr val="FF0000"/>
                </a:solidFill>
              </a:rPr>
              <a:t>. М. Киров, </a:t>
            </a:r>
            <a:endParaRPr lang="ru-RU" dirty="0" smtClean="0">
              <a:solidFill>
                <a:srgbClr val="FF0000"/>
              </a:solidFill>
            </a:endParaRPr>
          </a:p>
          <a:p>
            <a:r>
              <a:rPr lang="ru-RU" dirty="0" smtClean="0">
                <a:solidFill>
                  <a:srgbClr val="FF0000"/>
                </a:solidFill>
              </a:rPr>
              <a:t>С</a:t>
            </a:r>
            <a:r>
              <a:rPr lang="ru-RU" dirty="0">
                <a:solidFill>
                  <a:srgbClr val="FF0000"/>
                </a:solidFill>
              </a:rPr>
              <a:t>. В. Косиор</a:t>
            </a:r>
            <a:r>
              <a:rPr lang="ru-RU" dirty="0"/>
              <a:t>, </a:t>
            </a:r>
            <a:endParaRPr lang="ru-RU" dirty="0" smtClean="0"/>
          </a:p>
          <a:p>
            <a:r>
              <a:rPr lang="ru-RU" dirty="0" smtClean="0">
                <a:solidFill>
                  <a:srgbClr val="FF0000"/>
                </a:solidFill>
              </a:rPr>
              <a:t>В</a:t>
            </a:r>
            <a:r>
              <a:rPr lang="ru-RU" dirty="0">
                <a:solidFill>
                  <a:srgbClr val="FF0000"/>
                </a:solidFill>
              </a:rPr>
              <a:t>. В. </a:t>
            </a:r>
            <a:r>
              <a:rPr lang="ru-RU" dirty="0" smtClean="0">
                <a:solidFill>
                  <a:srgbClr val="FF0000"/>
                </a:solidFill>
              </a:rPr>
              <a:t>Куйбышев,</a:t>
            </a:r>
          </a:p>
          <a:p>
            <a:r>
              <a:rPr lang="ru-RU" dirty="0" smtClean="0"/>
              <a:t>В</a:t>
            </a:r>
            <a:r>
              <a:rPr lang="ru-RU" dirty="0"/>
              <a:t>. М. </a:t>
            </a:r>
            <a:r>
              <a:rPr lang="ru-RU" dirty="0" smtClean="0"/>
              <a:t>Молотов,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Г</a:t>
            </a:r>
            <a:r>
              <a:rPr lang="ru-RU" dirty="0">
                <a:solidFill>
                  <a:srgbClr val="FF0000"/>
                </a:solidFill>
              </a:rPr>
              <a:t>. К. </a:t>
            </a:r>
            <a:r>
              <a:rPr lang="ru-RU" dirty="0" smtClean="0">
                <a:solidFill>
                  <a:srgbClr val="FF0000"/>
                </a:solidFill>
              </a:rPr>
              <a:t>Орджоникидзе</a:t>
            </a:r>
            <a:r>
              <a:rPr lang="ru-RU" dirty="0" smtClean="0"/>
              <a:t>,</a:t>
            </a:r>
          </a:p>
          <a:p>
            <a:r>
              <a:rPr lang="ru-RU" dirty="0" smtClean="0"/>
              <a:t>И</a:t>
            </a:r>
            <a:r>
              <a:rPr lang="ru-RU" dirty="0"/>
              <a:t>. В. Сталин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172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Концепция «обострения классовой борьбы»</a:t>
            </a:r>
            <a:endParaRPr lang="ru-RU" sz="3200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«… </a:t>
            </a:r>
            <a:r>
              <a:rPr lang="ru-RU" dirty="0"/>
              <a:t>по мере нашего продвижения вперед, сопротивление капиталистических элементов будет возрастать, классовая борьба будет обостряться, а Советская власть, силы которой будут возрастать все больше и больше, будет проводить политику изоляции этих элементов, политику разложения врагов рабочего класса, наконец, политику подавления сопротивления эксплуататоров</a:t>
            </a:r>
            <a:r>
              <a:rPr lang="ru-RU" dirty="0" smtClean="0"/>
              <a:t>…»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(Сталин И.В. Об индустриализации и хлебной проблеме. Речь 9 июля 1928 г. на пленуме ЦК ВКП(б)</a:t>
            </a:r>
          </a:p>
        </p:txBody>
      </p:sp>
    </p:spTree>
    <p:extLst>
      <p:ext uri="{BB962C8B-B14F-4D97-AF65-F5344CB8AC3E}">
        <p14:creationId xmlns:p14="http://schemas.microsoft.com/office/powerpoint/2010/main" val="414132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2656"/>
            <a:ext cx="4032448" cy="283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32656"/>
            <a:ext cx="3925052" cy="282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564904"/>
            <a:ext cx="2270792" cy="354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312" y="2663017"/>
            <a:ext cx="2459064" cy="3456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021" y="3110160"/>
            <a:ext cx="1890365" cy="3002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542" y="3110159"/>
            <a:ext cx="2053873" cy="2982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269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ru-RU" sz="3200" dirty="0" smtClean="0"/>
              <a:t>Репрессии первой пятилетки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4248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1928 г. «Дело об экономической контрреволюции в Донбассе</a:t>
            </a:r>
            <a:r>
              <a:rPr lang="ru-RU" dirty="0" smtClean="0"/>
              <a:t>» («Шахтинский процесс»): 53 обвиняемых, 11 приговорено к расстрелу (казнены – 5).</a:t>
            </a:r>
          </a:p>
          <a:p>
            <a:pPr marL="0" indent="0">
              <a:buNone/>
            </a:pPr>
            <a:r>
              <a:rPr lang="ru-RU" dirty="0" smtClean="0"/>
              <a:t>1930-1931 гг. Операция «Весна»: арест и осуждение офицеров и генералов Красной Армии из числа офицеров «царской армии» (3496 дел).</a:t>
            </a:r>
          </a:p>
          <a:p>
            <a:pPr marL="0" indent="0">
              <a:buNone/>
            </a:pPr>
            <a:r>
              <a:rPr lang="ru-RU" dirty="0" smtClean="0"/>
              <a:t>1931 г</a:t>
            </a:r>
            <a:r>
              <a:rPr lang="ru-RU" dirty="0"/>
              <a:t>. </a:t>
            </a:r>
            <a:r>
              <a:rPr lang="ru-RU" dirty="0" smtClean="0"/>
              <a:t>Дело союзного бюро ЦК РСДРП (меньшевиков): работники Госбанка, Госплана, экономисты и хозяйственные работники – 122 чел.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133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Репрессии первой пятилетки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052736"/>
            <a:ext cx="4176464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800" dirty="0" smtClean="0"/>
              <a:t>Дело </a:t>
            </a:r>
            <a:r>
              <a:rPr lang="ru-RU" sz="2800" b="1" dirty="0" smtClean="0"/>
              <a:t>«Трудовой крестьянской партии»: </a:t>
            </a:r>
            <a:r>
              <a:rPr lang="ru-RU" sz="2800" dirty="0" smtClean="0"/>
              <a:t>около 2 тыс. человек: профессура ВУЗов, экономисты, работники хозяйственных организаций, обеспечивающих функционирование сельского хозяйства (отправлены в концлагеря)</a:t>
            </a:r>
            <a:endParaRPr lang="ru-RU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90447" y="1052736"/>
            <a:ext cx="1943980" cy="1419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7020271" y="1079073"/>
            <a:ext cx="1584176" cy="134181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А.К. Берзин, зам наркома земледелия (арестован в 1938 г.)</a:t>
            </a:r>
            <a:endParaRPr lang="ru-RU" sz="1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071" y="2636912"/>
            <a:ext cx="1440160" cy="194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6754050" y="2780928"/>
            <a:ext cx="1850397" cy="100240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А.В Чаянов (расстрелян в 1937 г.)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338" y="4112011"/>
            <a:ext cx="1467974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кругленный прямоугольник 5"/>
          <p:cNvSpPr/>
          <p:nvPr/>
        </p:nvSpPr>
        <p:spPr>
          <a:xfrm>
            <a:off x="4790447" y="4796336"/>
            <a:ext cx="1943980" cy="112443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Н.Д. Кондратьев (расстрелян в 1938 г)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777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200" dirty="0" smtClean="0"/>
              <a:t>Репрессии первой пятилетки: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5266928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1930 г. </a:t>
            </a:r>
            <a:r>
              <a:rPr lang="ru-RU" dirty="0"/>
              <a:t>Процесс: </a:t>
            </a:r>
            <a:r>
              <a:rPr lang="ru-RU" dirty="0" smtClean="0"/>
              <a:t>«Союза </a:t>
            </a:r>
            <a:r>
              <a:rPr lang="ru-RU" dirty="0"/>
              <a:t>инженерных организаций» («Промышленной партии</a:t>
            </a:r>
            <a:r>
              <a:rPr lang="ru-RU" dirty="0" smtClean="0"/>
              <a:t>»): профессора технических вузов и сотрудники плановых хозяйственных органов. Из 8 обвиняемых к расстрелу приговорены 4 (заменен 10-леним сроком).</a:t>
            </a:r>
          </a:p>
          <a:p>
            <a:pPr marL="0" indent="0">
              <a:buNone/>
            </a:pPr>
            <a:r>
              <a:rPr lang="ru-RU" dirty="0" smtClean="0"/>
              <a:t>Репрессировано 2 тыс. научных работников и инженеров.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020555"/>
            <a:ext cx="2336032" cy="2412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6156176" y="3645024"/>
            <a:ext cx="2520280" cy="22322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Л.К. Рамзин</a:t>
            </a:r>
            <a:r>
              <a:rPr lang="ru-RU" dirty="0"/>
              <a:t>, руководитель   </a:t>
            </a:r>
            <a:r>
              <a:rPr lang="ru-RU" dirty="0" smtClean="0"/>
              <a:t>Всероссийского теплотехнического института, один из авторов плана ГОЭЛРО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410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XVII </a:t>
            </a:r>
            <a:r>
              <a:rPr lang="ru-RU" sz="3200" dirty="0"/>
              <a:t>съезд ВКП(б</a:t>
            </a:r>
            <a:r>
              <a:rPr lang="ru-RU" sz="3200" dirty="0" smtClean="0"/>
              <a:t>) («Съезд победителей»). Январь-февраль 19134 г.</a:t>
            </a:r>
            <a:endParaRPr lang="ru-RU" sz="320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484785"/>
            <a:ext cx="4038600" cy="3096344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ru-RU" dirty="0" smtClean="0"/>
              <a:t>Легенда:</a:t>
            </a:r>
          </a:p>
          <a:p>
            <a:pPr marL="0" indent="0">
              <a:buNone/>
            </a:pPr>
            <a:r>
              <a:rPr lang="ru-RU" dirty="0" smtClean="0"/>
              <a:t>По воспоминаниям участников съезда, там активно обсуждалось предложение избрать генеральным секретарем С.М. Кирова.</a:t>
            </a:r>
          </a:p>
          <a:p>
            <a:pPr marL="0" indent="0">
              <a:buNone/>
            </a:pPr>
            <a:r>
              <a:rPr lang="ru-RU" dirty="0" smtClean="0"/>
              <a:t>Против Сталина, при выборов ЦК, проголосовало  292 депутата (в протоколе – 3, как и у Кирова)</a:t>
            </a:r>
          </a:p>
          <a:p>
            <a:pPr marL="0" indent="0">
              <a:buNone/>
            </a:pPr>
            <a:r>
              <a:rPr lang="ru-RU" dirty="0" smtClean="0"/>
              <a:t>Киров категорически отказался от поста генсека.</a:t>
            </a:r>
          </a:p>
          <a:p>
            <a:pPr marL="0" indent="0">
              <a:buNone/>
            </a:pPr>
            <a:r>
              <a:rPr lang="ru-RU" dirty="0" smtClean="0"/>
              <a:t>Сталин: «Спасибо. Я тебе этого не забуду».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4644008" y="1484785"/>
            <a:ext cx="4042792" cy="2808312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ru-RU" dirty="0" smtClean="0"/>
              <a:t>Факты:</a:t>
            </a:r>
          </a:p>
          <a:p>
            <a:pPr marL="0" indent="0">
              <a:buNone/>
            </a:pPr>
            <a:r>
              <a:rPr lang="ru-RU" sz="3200" dirty="0" smtClean="0"/>
              <a:t>1 декабря 1934 г. С.М. Киров убит  Л. Николаевым (приговорен к расстрелу 29 декабря).</a:t>
            </a:r>
          </a:p>
          <a:p>
            <a:pPr marL="0" indent="0">
              <a:buNone/>
            </a:pPr>
            <a:r>
              <a:rPr lang="ru-RU" sz="3200" dirty="0" smtClean="0"/>
              <a:t>Из 1956 участников съезда, были арестованы 1108 чел.</a:t>
            </a:r>
          </a:p>
          <a:p>
            <a:pPr marL="0" indent="0">
              <a:buNone/>
            </a:pPr>
            <a:r>
              <a:rPr lang="ru-RU" sz="3200" dirty="0" smtClean="0"/>
              <a:t>Из 139 членов и кандидатов в члены ЦК ВКП(б), избранных на этом съезде, было арестовано 97. </a:t>
            </a:r>
            <a:endParaRPr lang="ru-RU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300" y="4437112"/>
            <a:ext cx="2521115" cy="190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653136"/>
            <a:ext cx="2346459" cy="169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793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128215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dirty="0"/>
              <a:t>Постановление ЦИК СССР «О порядке ведения дел о подготовке или совершении террористических актов</a:t>
            </a:r>
            <a:r>
              <a:rPr lang="ru-RU" sz="2400" dirty="0" smtClean="0"/>
              <a:t>»  01.12.1934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700809"/>
            <a:ext cx="8219256" cy="46085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ЦИК Союза ССР постановляет:</a:t>
            </a:r>
          </a:p>
          <a:p>
            <a:pPr marL="0" indent="0">
              <a:buNone/>
            </a:pPr>
            <a:r>
              <a:rPr lang="ru-RU" dirty="0"/>
              <a:t>Внести следующие изменения в действующие уголовно-процессуальные кодексы союзных республик по расследованию и рассмотрению дел о террористических организациях и террористических актах против работников советской власти:</a:t>
            </a:r>
          </a:p>
          <a:p>
            <a:pPr marL="0" indent="0">
              <a:buNone/>
            </a:pPr>
            <a:r>
              <a:rPr lang="ru-RU" dirty="0"/>
              <a:t>1. Следствие по этим делам заканчивать в срок не более десяти дней.</a:t>
            </a:r>
          </a:p>
          <a:p>
            <a:pPr marL="0" indent="0">
              <a:buNone/>
            </a:pPr>
            <a:r>
              <a:rPr lang="ru-RU" dirty="0"/>
              <a:t>2. Обвинительное заключение вручать обвиняемым за одни сутки до рассмотрения дела в суде.</a:t>
            </a:r>
          </a:p>
          <a:p>
            <a:pPr marL="0" indent="0">
              <a:buNone/>
            </a:pPr>
            <a:r>
              <a:rPr lang="ru-RU" dirty="0"/>
              <a:t>3. Дела слушать без участия сторон.</a:t>
            </a:r>
          </a:p>
          <a:p>
            <a:pPr marL="0" indent="0">
              <a:buNone/>
            </a:pPr>
            <a:r>
              <a:rPr lang="ru-RU" dirty="0"/>
              <a:t>4. Кассационного обжалования приговоров, как и подачи ходатайств о помиловании, не допускать.</a:t>
            </a:r>
          </a:p>
          <a:p>
            <a:pPr marL="0" indent="0">
              <a:buNone/>
            </a:pPr>
            <a:r>
              <a:rPr lang="ru-RU" dirty="0"/>
              <a:t>5. Приговор к высшей мере наказания приводить в исполнение немедленно по вынесении приговора.</a:t>
            </a:r>
          </a:p>
        </p:txBody>
      </p:sp>
    </p:spTree>
    <p:extLst>
      <p:ext uri="{BB962C8B-B14F-4D97-AF65-F5344CB8AC3E}">
        <p14:creationId xmlns:p14="http://schemas.microsoft.com/office/powerpoint/2010/main" val="219976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>Ликвидация «старых партийных кадров»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/>
          </a:bodyPr>
          <a:lstStyle/>
          <a:p>
            <a:r>
              <a:rPr lang="ru-RU" dirty="0" smtClean="0"/>
              <a:t>1936 г. Процесс «Антисоветского </a:t>
            </a:r>
            <a:r>
              <a:rPr lang="ru-RU" dirty="0"/>
              <a:t>объединенного троцкистско-зиновьевского </a:t>
            </a:r>
            <a:r>
              <a:rPr lang="ru-RU" dirty="0" smtClean="0"/>
              <a:t>центра». 16 человек приговорено к расстрелу, в </a:t>
            </a:r>
            <a:r>
              <a:rPr lang="ru-RU" dirty="0"/>
              <a:t>том числе Г. Е. Зиновьев и Л. Б. Каменев</a:t>
            </a:r>
            <a:r>
              <a:rPr lang="ru-RU" dirty="0" smtClean="0"/>
              <a:t>.</a:t>
            </a:r>
          </a:p>
          <a:p>
            <a:r>
              <a:rPr lang="ru-RU" dirty="0"/>
              <a:t>1937 г. Процесс </a:t>
            </a:r>
            <a:r>
              <a:rPr lang="ru-RU" dirty="0" smtClean="0"/>
              <a:t>«Параллельного </a:t>
            </a:r>
            <a:r>
              <a:rPr lang="ru-RU" dirty="0"/>
              <a:t>антисоветского троцкистского </a:t>
            </a:r>
            <a:r>
              <a:rPr lang="ru-RU" dirty="0" smtClean="0"/>
              <a:t>центра» 17 чел, в </a:t>
            </a:r>
            <a:r>
              <a:rPr lang="ru-RU" dirty="0"/>
              <a:t>том числе Г.Л. Пятаков,  К.Б. Радек,  Л.П. Серебряков,  Г.Я. </a:t>
            </a:r>
            <a:r>
              <a:rPr lang="ru-RU" dirty="0" smtClean="0"/>
              <a:t>Сокольников.</a:t>
            </a:r>
          </a:p>
          <a:p>
            <a:r>
              <a:rPr lang="ru-RU" dirty="0"/>
              <a:t>1938 г. Процесс антисоветского «право-троцкистского блока</a:t>
            </a:r>
            <a:r>
              <a:rPr lang="ru-RU" dirty="0" smtClean="0"/>
              <a:t>». 21 человек, в том </a:t>
            </a:r>
            <a:r>
              <a:rPr lang="ru-RU" dirty="0"/>
              <a:t>числе </a:t>
            </a:r>
            <a:r>
              <a:rPr lang="ru-RU" dirty="0" smtClean="0"/>
              <a:t>А.И</a:t>
            </a:r>
            <a:r>
              <a:rPr lang="ru-RU" dirty="0"/>
              <a:t>. Рыков, Н.И. </a:t>
            </a:r>
            <a:r>
              <a:rPr lang="ru-RU" dirty="0" smtClean="0"/>
              <a:t>Бухарин, Г.Г. Ягода.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181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147248" cy="9361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600" dirty="0" smtClean="0"/>
              <a:t>Массовая истерия </a:t>
            </a:r>
            <a:r>
              <a:rPr lang="en-US" sz="3600" dirty="0" smtClean="0"/>
              <a:t>II </a:t>
            </a:r>
            <a:r>
              <a:rPr lang="ru-RU" sz="3600" dirty="0" smtClean="0"/>
              <a:t>пол. 1930-х гг.</a:t>
            </a:r>
            <a:endParaRPr lang="ru-RU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1340769"/>
            <a:ext cx="4100219" cy="2304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40769"/>
            <a:ext cx="3875489" cy="2354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49" y="3714018"/>
            <a:ext cx="4060802" cy="245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716017" y="3789040"/>
            <a:ext cx="373147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Спасибо пролетарскому суду</a:t>
            </a:r>
            <a:r>
              <a:rPr lang="ru-RU" sz="1400" dirty="0" smtClean="0"/>
              <a:t>!</a:t>
            </a:r>
            <a:endParaRPr lang="ru-RU" sz="1400" dirty="0"/>
          </a:p>
          <a:p>
            <a:r>
              <a:rPr lang="ru-RU" sz="1400" dirty="0"/>
              <a:t>«Как колокол набатный, </a:t>
            </a:r>
            <a:r>
              <a:rPr lang="ru-RU" sz="1400" dirty="0" smtClean="0"/>
              <a:t>прогудела</a:t>
            </a:r>
            <a:endParaRPr lang="ru-RU" sz="1400" dirty="0"/>
          </a:p>
          <a:p>
            <a:r>
              <a:rPr lang="ru-RU" sz="1400" dirty="0"/>
              <a:t>Страна, от возмущения дрожа</a:t>
            </a:r>
            <a:r>
              <a:rPr lang="ru-RU" sz="1400" dirty="0" smtClean="0"/>
              <a:t>.</a:t>
            </a:r>
            <a:endParaRPr lang="ru-RU" sz="1400" dirty="0"/>
          </a:p>
          <a:p>
            <a:r>
              <a:rPr lang="ru-RU" sz="1400" dirty="0"/>
              <a:t>Спасибо вам, бойцы Наркомвнудела</a:t>
            </a:r>
            <a:r>
              <a:rPr lang="ru-RU" sz="1400" dirty="0" smtClean="0"/>
              <a:t>,</a:t>
            </a:r>
            <a:endParaRPr lang="ru-RU" sz="1400" dirty="0"/>
          </a:p>
          <a:p>
            <a:r>
              <a:rPr lang="ru-RU" sz="1400" dirty="0"/>
              <a:t>Республики великой сторожа</a:t>
            </a:r>
            <a:r>
              <a:rPr lang="ru-RU" sz="1400" dirty="0" smtClean="0"/>
              <a:t>!</a:t>
            </a:r>
            <a:endParaRPr lang="ru-RU" sz="1400" dirty="0"/>
          </a:p>
          <a:p>
            <a:r>
              <a:rPr lang="ru-RU" sz="1400" dirty="0"/>
              <a:t>Предателей блудливая </a:t>
            </a:r>
            <a:r>
              <a:rPr lang="ru-RU" sz="1400" dirty="0" smtClean="0"/>
              <a:t>порода</a:t>
            </a:r>
            <a:endParaRPr lang="ru-RU" sz="1400" dirty="0"/>
          </a:p>
          <a:p>
            <a:r>
              <a:rPr lang="ru-RU" sz="1400" dirty="0"/>
              <a:t>Грозить не будет жизни и труду</a:t>
            </a:r>
            <a:r>
              <a:rPr lang="ru-RU" sz="1400" dirty="0" smtClean="0"/>
              <a:t>.</a:t>
            </a:r>
            <a:endParaRPr lang="ru-RU" sz="1400" dirty="0"/>
          </a:p>
          <a:p>
            <a:r>
              <a:rPr lang="ru-RU" sz="1400" dirty="0"/>
              <a:t>От всей души советского </a:t>
            </a:r>
            <a:r>
              <a:rPr lang="ru-RU" sz="1400" dirty="0" smtClean="0"/>
              <a:t>народа</a:t>
            </a:r>
            <a:endParaRPr lang="ru-RU" sz="1400" dirty="0"/>
          </a:p>
          <a:p>
            <a:r>
              <a:rPr lang="ru-RU" sz="1400" dirty="0"/>
              <a:t>Спасибо пролетарскому суду</a:t>
            </a:r>
            <a:r>
              <a:rPr lang="ru-RU" sz="1400" dirty="0" smtClean="0"/>
              <a:t>!»</a:t>
            </a:r>
            <a:endParaRPr lang="ru-RU" sz="1400" dirty="0"/>
          </a:p>
          <a:p>
            <a:r>
              <a:rPr lang="ru-RU" sz="1400" b="1" dirty="0"/>
              <a:t>Василий </a:t>
            </a:r>
            <a:r>
              <a:rPr lang="ru-RU" sz="1400" b="1" dirty="0" smtClean="0"/>
              <a:t>Лебедев-Кумач</a:t>
            </a:r>
            <a:endParaRPr lang="ru-RU" sz="1400" b="1" dirty="0"/>
          </a:p>
          <a:p>
            <a:r>
              <a:rPr lang="ru-RU" sz="1400" b="1" dirty="0"/>
              <a:t>«Известия», февраль 1937 г.</a:t>
            </a:r>
          </a:p>
        </p:txBody>
      </p:sp>
    </p:spTree>
    <p:extLst>
      <p:ext uri="{BB962C8B-B14F-4D97-AF65-F5344CB8AC3E}">
        <p14:creationId xmlns:p14="http://schemas.microsoft.com/office/powerpoint/2010/main" val="336504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490066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</a:rPr>
              <a:t>Формирование «культа личности»</a:t>
            </a:r>
            <a:endParaRPr lang="ru-RU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211420"/>
            <a:ext cx="1995638" cy="2515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12" y="2811337"/>
            <a:ext cx="2836870" cy="212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854864" y="938082"/>
            <a:ext cx="1995638" cy="2776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39" y="969095"/>
            <a:ext cx="2945904" cy="1903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077" y="938082"/>
            <a:ext cx="1893787" cy="252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731" y="3251622"/>
            <a:ext cx="1792802" cy="2527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921" y="969095"/>
            <a:ext cx="1788441" cy="234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125" y="2872885"/>
            <a:ext cx="2336034" cy="1596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906" y="4343294"/>
            <a:ext cx="2611675" cy="1504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10" y="4221088"/>
            <a:ext cx="2598340" cy="171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9145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467544" y="404664"/>
            <a:ext cx="4176464" cy="27363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u="sng" dirty="0" smtClean="0"/>
              <a:t>Москва майская:</a:t>
            </a:r>
          </a:p>
          <a:p>
            <a:pPr algn="ctr"/>
            <a:r>
              <a:rPr lang="ru-RU" dirty="0"/>
              <a:t>Солнце майское, светлее</a:t>
            </a:r>
          </a:p>
          <a:p>
            <a:pPr algn="ctr"/>
            <a:r>
              <a:rPr lang="ru-RU" dirty="0"/>
              <a:t>Небо синее освети.</a:t>
            </a:r>
          </a:p>
          <a:p>
            <a:pPr algn="ctr"/>
            <a:r>
              <a:rPr lang="ru-RU" dirty="0"/>
              <a:t>Чтоб до вышки мавзолея</a:t>
            </a:r>
          </a:p>
          <a:p>
            <a:pPr algn="ctr"/>
            <a:r>
              <a:rPr lang="ru-RU" dirty="0"/>
              <a:t>Нашу радость донести.</a:t>
            </a:r>
          </a:p>
          <a:p>
            <a:pPr algn="ctr"/>
            <a:r>
              <a:rPr lang="ru-RU" dirty="0"/>
              <a:t>Чтобы ярче заблистали</a:t>
            </a:r>
          </a:p>
          <a:p>
            <a:pPr algn="ctr"/>
            <a:r>
              <a:rPr lang="ru-RU" dirty="0"/>
              <a:t>Наши лозунги побед,</a:t>
            </a:r>
          </a:p>
          <a:p>
            <a:pPr algn="ctr"/>
            <a:r>
              <a:rPr lang="ru-RU" dirty="0"/>
              <a:t>Чтобы руку поднял Сталин,</a:t>
            </a:r>
          </a:p>
          <a:p>
            <a:pPr algn="ctr"/>
            <a:r>
              <a:rPr lang="ru-RU" dirty="0"/>
              <a:t>Посылая нам привет.</a:t>
            </a:r>
          </a:p>
          <a:p>
            <a:pPr algn="ctr"/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81626" y="3356992"/>
            <a:ext cx="4176464" cy="27363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u="sng" dirty="0"/>
              <a:t>Песня советских </a:t>
            </a:r>
            <a:r>
              <a:rPr lang="ru-RU" b="1" u="sng" dirty="0" smtClean="0"/>
              <a:t>школьников:</a:t>
            </a:r>
          </a:p>
          <a:p>
            <a:pPr algn="ctr"/>
            <a:r>
              <a:rPr lang="ru-RU" dirty="0"/>
              <a:t>Мы дети заводов и пашен,</a:t>
            </a:r>
          </a:p>
          <a:p>
            <a:pPr algn="ctr"/>
            <a:r>
              <a:rPr lang="ru-RU" dirty="0"/>
              <a:t>И наша дорога ясна.</a:t>
            </a:r>
          </a:p>
          <a:p>
            <a:pPr algn="ctr"/>
            <a:r>
              <a:rPr lang="ru-RU" dirty="0"/>
              <a:t>За детство счастливое наше</a:t>
            </a:r>
          </a:p>
          <a:p>
            <a:pPr algn="ctr"/>
            <a:r>
              <a:rPr lang="ru-RU" dirty="0"/>
              <a:t>Спасибо, Родная Страна</a:t>
            </a:r>
            <a:r>
              <a:rPr lang="ru-RU" dirty="0" smtClean="0"/>
              <a:t>!</a:t>
            </a:r>
            <a:endParaRPr lang="ru-RU" dirty="0"/>
          </a:p>
          <a:p>
            <a:pPr algn="ctr"/>
            <a:r>
              <a:rPr lang="ru-RU" dirty="0"/>
              <a:t>У карт и у досок мы станем,</a:t>
            </a:r>
          </a:p>
          <a:p>
            <a:pPr algn="ctr"/>
            <a:r>
              <a:rPr lang="ru-RU" dirty="0"/>
              <a:t>Вбежим мы в сверкающий зал.</a:t>
            </a:r>
          </a:p>
          <a:p>
            <a:pPr algn="ctr"/>
            <a:r>
              <a:rPr lang="ru-RU" dirty="0"/>
              <a:t>Мы учимся так, чтобы Сталин</a:t>
            </a:r>
          </a:p>
          <a:p>
            <a:pPr algn="ctr"/>
            <a:r>
              <a:rPr lang="ru-RU" dirty="0"/>
              <a:t>"Отлично, ребята!" сказал.</a:t>
            </a:r>
          </a:p>
          <a:p>
            <a:pPr algn="ctr"/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932040" y="476672"/>
            <a:ext cx="3960440" cy="27363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u="sng" dirty="0"/>
              <a:t>Советский простой </a:t>
            </a:r>
            <a:r>
              <a:rPr lang="ru-RU" b="1" u="sng" dirty="0" smtClean="0"/>
              <a:t>человек:</a:t>
            </a:r>
            <a:endParaRPr lang="ru-RU" b="1" u="sng" dirty="0"/>
          </a:p>
          <a:p>
            <a:pPr algn="ctr"/>
            <a:r>
              <a:rPr lang="ru-RU" dirty="0" smtClean="0"/>
              <a:t>Цветет </a:t>
            </a:r>
            <a:r>
              <a:rPr lang="ru-RU" dirty="0"/>
              <a:t>красотой небывалой</a:t>
            </a:r>
          </a:p>
          <a:p>
            <a:pPr algn="ctr"/>
            <a:r>
              <a:rPr lang="ru-RU" dirty="0"/>
              <a:t>Народного счастья весна,</a:t>
            </a:r>
          </a:p>
          <a:p>
            <a:pPr algn="ctr"/>
            <a:r>
              <a:rPr lang="ru-RU" dirty="0"/>
              <a:t>Всемирной надеждою стала</a:t>
            </a:r>
          </a:p>
          <a:p>
            <a:pPr algn="ctr"/>
            <a:r>
              <a:rPr lang="ru-RU" dirty="0"/>
              <a:t>Советская наша страна</a:t>
            </a:r>
            <a:r>
              <a:rPr lang="ru-RU" dirty="0" smtClean="0"/>
              <a:t>.</a:t>
            </a:r>
            <a:endParaRPr lang="ru-RU" dirty="0"/>
          </a:p>
          <a:p>
            <a:pPr algn="ctr"/>
            <a:r>
              <a:rPr lang="ru-RU" dirty="0"/>
              <a:t>И звезды сильней заблистали,</a:t>
            </a:r>
          </a:p>
          <a:p>
            <a:pPr algn="ctr"/>
            <a:r>
              <a:rPr lang="ru-RU" dirty="0"/>
              <a:t>И кровь ускоряет свой бег,</a:t>
            </a:r>
          </a:p>
          <a:p>
            <a:pPr algn="ctr"/>
            <a:r>
              <a:rPr lang="ru-RU" dirty="0"/>
              <a:t>И смотрит с улыбкою </a:t>
            </a:r>
            <a:r>
              <a:rPr lang="ru-RU" dirty="0" smtClean="0"/>
              <a:t>Сталин-</a:t>
            </a:r>
            <a:endParaRPr lang="ru-RU" dirty="0"/>
          </a:p>
          <a:p>
            <a:pPr algn="ctr"/>
            <a:r>
              <a:rPr lang="ru-RU" dirty="0"/>
              <a:t>Советский простой человек.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860032" y="3332005"/>
            <a:ext cx="3960440" cy="27363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u="sng" dirty="0"/>
              <a:t>Сталинский </a:t>
            </a:r>
            <a:r>
              <a:rPr lang="ru-RU" b="1" u="sng" dirty="0" smtClean="0"/>
              <a:t>закон:</a:t>
            </a:r>
          </a:p>
          <a:p>
            <a:pPr algn="ctr"/>
            <a:endParaRPr lang="ru-RU" dirty="0"/>
          </a:p>
          <a:p>
            <a:pPr algn="ctr"/>
            <a:r>
              <a:rPr lang="ru-RU" dirty="0" smtClean="0"/>
              <a:t>Да </a:t>
            </a:r>
            <a:r>
              <a:rPr lang="ru-RU" dirty="0"/>
              <a:t>здравствует Сталин,</a:t>
            </a:r>
          </a:p>
          <a:p>
            <a:pPr algn="ctr"/>
            <a:r>
              <a:rPr lang="ru-RU" dirty="0"/>
              <a:t>Да здравствует тот,</a:t>
            </a:r>
          </a:p>
          <a:p>
            <a:pPr algn="ctr"/>
            <a:r>
              <a:rPr lang="ru-RU" dirty="0"/>
              <a:t>Кто нас от победы к победе ведет!</a:t>
            </a:r>
          </a:p>
          <a:p>
            <a:pPr algn="ctr"/>
            <a:r>
              <a:rPr lang="ru-RU" dirty="0"/>
              <a:t>Свети нам, его величавый закон,</a:t>
            </a:r>
          </a:p>
          <a:p>
            <a:pPr algn="ctr"/>
            <a:r>
              <a:rPr lang="ru-RU" dirty="0"/>
              <a:t>Свети на одиннадцать наших сторон!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32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Конституция 1936 г.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Статья 1. Российская Советская Федеративная Социалистическая Республика есть социалистическое государство рабочих и крестьян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Статья 2. Политическую основу РСФСР составляют Советы депутатов трудящихся, выросшие и окрепшие в результате свержения власти помещиков и капиталистов и завоевания диктатуры пролетариата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Статья 3. Вся власть в РСФСР принадлежит трудящимся города и деревни в лице Советов депутатов трудящихся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Статья 4. Экономическую основу РСФСР составляют социалистическая система хозяйства и социалистическая собственность на орудия и средства производства, утвердившиеся в результате ликвидации капиталистической системы хозяйства, отмены частной собственности на орудия и средства производства и уничтожения эксплуатации человека человеком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Статья 5. Социалистическая собственность в РСФСР имеет либо форму государственной собственности (всенародное достояние), либо форму кооперативно-колхозной собственности (собственность отдельных колхозов, собственность кооперативных объединений</a:t>
            </a:r>
            <a:r>
              <a:rPr lang="ru-RU" dirty="0" smtClean="0"/>
              <a:t>).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619672" y="5157192"/>
            <a:ext cx="6768752" cy="10801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Главная черта Светов, как органов власти – в них нет разделения властей.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6510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Конституция </a:t>
            </a:r>
            <a:r>
              <a:rPr lang="ru-RU" dirty="0" smtClean="0"/>
              <a:t>1936 </a:t>
            </a:r>
            <a:r>
              <a:rPr lang="ru-RU" dirty="0"/>
              <a:t>г.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800" dirty="0"/>
              <a:t>Статья 122. Граждане РСФСР имеют </a:t>
            </a:r>
            <a:r>
              <a:rPr lang="ru-RU" sz="1800" b="1" dirty="0"/>
              <a:t>право на труд</a:t>
            </a:r>
            <a:r>
              <a:rPr lang="ru-RU" sz="1800" dirty="0"/>
              <a:t>, то есть право на получение гарантированной работы с оплатой их труда в соответствии с его количеством и качеством</a:t>
            </a:r>
            <a:r>
              <a:rPr lang="ru-RU" sz="1800" dirty="0" smtClean="0"/>
              <a:t>.</a:t>
            </a:r>
          </a:p>
          <a:p>
            <a:pPr marL="0" indent="0">
              <a:buNone/>
            </a:pPr>
            <a:r>
              <a:rPr lang="ru-RU" sz="1800" dirty="0"/>
              <a:t>Статья 123. Граждане РСФСР имеют </a:t>
            </a:r>
            <a:r>
              <a:rPr lang="ru-RU" sz="1800" b="1" dirty="0"/>
              <a:t>право на отдых</a:t>
            </a:r>
            <a:r>
              <a:rPr lang="ru-RU" sz="1800" dirty="0" smtClean="0"/>
              <a:t>.</a:t>
            </a:r>
          </a:p>
          <a:p>
            <a:pPr marL="0" indent="0">
              <a:buNone/>
            </a:pPr>
            <a:r>
              <a:rPr lang="ru-RU" sz="1800" dirty="0"/>
              <a:t>Статья 124. Граждане РСФСР имеют право на </a:t>
            </a:r>
            <a:r>
              <a:rPr lang="ru-RU" sz="1800" b="1" dirty="0"/>
              <a:t>материальное обеспечение </a:t>
            </a:r>
            <a:r>
              <a:rPr lang="ru-RU" sz="1800" dirty="0"/>
              <a:t>в старости, а также в случае болезни и потери трудоспособности</a:t>
            </a:r>
            <a:r>
              <a:rPr lang="ru-RU" sz="1800" dirty="0" smtClean="0"/>
              <a:t>.</a:t>
            </a:r>
          </a:p>
          <a:p>
            <a:pPr marL="0" indent="0">
              <a:buNone/>
            </a:pPr>
            <a:r>
              <a:rPr lang="ru-RU" sz="1800" dirty="0" smtClean="0"/>
              <a:t>Статья </a:t>
            </a:r>
            <a:r>
              <a:rPr lang="ru-RU" sz="1800" dirty="0"/>
              <a:t>125. Граждане РСФСР имеют право на </a:t>
            </a:r>
            <a:r>
              <a:rPr lang="ru-RU" sz="1800" b="1" dirty="0"/>
              <a:t>образование</a:t>
            </a:r>
            <a:r>
              <a:rPr lang="ru-RU" sz="1800" dirty="0" smtClean="0"/>
              <a:t>.</a:t>
            </a:r>
          </a:p>
          <a:p>
            <a:pPr marL="0" indent="0">
              <a:buNone/>
            </a:pPr>
            <a:r>
              <a:rPr lang="ru-RU" sz="1800" dirty="0"/>
              <a:t>Статья 126</a:t>
            </a:r>
            <a:r>
              <a:rPr lang="ru-RU" sz="1800" b="1" dirty="0"/>
              <a:t>. Женщине в РСФСР предоставляются равные права с мужчиной </a:t>
            </a:r>
            <a:r>
              <a:rPr lang="ru-RU" sz="1800" dirty="0"/>
              <a:t>во всех областях хозяйственной, государственной, культурной и общественно-политической жизни</a:t>
            </a:r>
            <a:r>
              <a:rPr lang="ru-RU" sz="1800" dirty="0" smtClean="0"/>
              <a:t>.</a:t>
            </a:r>
          </a:p>
          <a:p>
            <a:pPr marL="0" indent="0">
              <a:buNone/>
            </a:pPr>
            <a:r>
              <a:rPr lang="ru-RU" sz="1800" dirty="0"/>
              <a:t>Статья 127</a:t>
            </a:r>
            <a:r>
              <a:rPr lang="ru-RU" sz="1800" b="1" dirty="0"/>
              <a:t>. Равноправие граждан РСФСР</a:t>
            </a:r>
            <a:r>
              <a:rPr lang="ru-RU" sz="1800" dirty="0"/>
              <a:t>, независимо от их национальности и расы, во всех областях хозяйственной, государственной, культурной и общественно-политической жизни является непреложным законом</a:t>
            </a:r>
            <a:r>
              <a:rPr lang="ru-RU" sz="1800" dirty="0" smtClean="0"/>
              <a:t>.</a:t>
            </a:r>
          </a:p>
          <a:p>
            <a:pPr marL="0" indent="0">
              <a:buNone/>
            </a:pPr>
            <a:r>
              <a:rPr lang="ru-RU" sz="1800" dirty="0"/>
              <a:t>Статья 128. В целях обеспечения за гражданами свободы совести </a:t>
            </a:r>
            <a:r>
              <a:rPr lang="ru-RU" sz="1800" b="1" dirty="0"/>
              <a:t>церковь в РСФСР отделена от государства и школа от церкви</a:t>
            </a:r>
            <a:r>
              <a:rPr lang="ru-RU" sz="1800" dirty="0"/>
              <a:t>. Свобода отправления религиозных культов и свобода антирелигиозной пропаганды признается за всеми гражданами</a:t>
            </a:r>
            <a:r>
              <a:rPr lang="ru-RU" sz="1800" dirty="0" smtClean="0"/>
              <a:t>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2318883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Конституция 1936 г.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496855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Статья 129. В соответствии с интересами трудящихся и в целях укрепления социалистического строя гражданам РСФСР гарантируются законом:</a:t>
            </a:r>
          </a:p>
          <a:p>
            <a:pPr marL="0" indent="0">
              <a:buNone/>
            </a:pPr>
            <a:r>
              <a:rPr lang="ru-RU" dirty="0"/>
              <a:t>а) свобода слова;</a:t>
            </a:r>
          </a:p>
          <a:p>
            <a:pPr marL="0" indent="0">
              <a:buNone/>
            </a:pPr>
            <a:r>
              <a:rPr lang="ru-RU" dirty="0"/>
              <a:t>б) свобода печати;</a:t>
            </a:r>
          </a:p>
          <a:p>
            <a:pPr marL="0" indent="0">
              <a:buNone/>
            </a:pPr>
            <a:r>
              <a:rPr lang="ru-RU" dirty="0"/>
              <a:t>в) свобода собраний и митингов;</a:t>
            </a:r>
          </a:p>
          <a:p>
            <a:pPr marL="0" indent="0">
              <a:buNone/>
            </a:pPr>
            <a:r>
              <a:rPr lang="ru-RU" dirty="0"/>
              <a:t>г) свобода уличных шествий и демонстраций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/>
              <a:t>Статья 130. В соответствии с интересами трудящихся и в целях развития организационной самодеятельности и политической активности народных масс гражданам </a:t>
            </a:r>
            <a:r>
              <a:rPr lang="ru-RU" b="1" dirty="0"/>
              <a:t>РСФСР обеспечивается право объединения в общественные организации</a:t>
            </a:r>
            <a:r>
              <a:rPr lang="ru-RU" dirty="0"/>
              <a:t>: профессиональные союзы, кооперативные объединения, организации молодежи, спортивные и оборонные организации, культурные, технические и научные общества, а наиболее активные и сознательные граждане из рядов рабочего класса и других слоев трудящихся объединяются во </a:t>
            </a:r>
            <a:r>
              <a:rPr lang="ru-RU" b="1" dirty="0"/>
              <a:t>Всесоюзную коммунистическую партию (большевиков), являющуюся передовым отрядом трудящихся </a:t>
            </a:r>
            <a:r>
              <a:rPr lang="ru-RU" dirty="0"/>
              <a:t>в их борьбе за укрепление и развитие социалистического строя и представляющую руководящее ядро всех организаций трудящихся, как общественных, так и государственных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Статья 131. Гражданам РСФСР обеспечивается </a:t>
            </a:r>
            <a:r>
              <a:rPr lang="ru-RU" b="1" dirty="0"/>
              <a:t>неприкосновенность личности</a:t>
            </a:r>
            <a:r>
              <a:rPr lang="ru-RU" dirty="0"/>
              <a:t>. Никто не может быть подвергнут аресту иначе как по постановлению суда или с санкции прокурора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029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dirty="0" smtClean="0"/>
              <a:t>Массовые репрессии 1937-1938 гг.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435334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Ключевые решения </a:t>
            </a:r>
            <a:r>
              <a:rPr lang="ru-RU" dirty="0" smtClean="0"/>
              <a:t>– Политбюро ЦК ВКП(Б)</a:t>
            </a:r>
          </a:p>
          <a:p>
            <a:pPr marL="0" indent="0">
              <a:buNone/>
            </a:pPr>
            <a:r>
              <a:rPr lang="ru-RU" b="1" dirty="0" smtClean="0"/>
              <a:t>Основной исполнитель - </a:t>
            </a:r>
            <a:r>
              <a:rPr lang="ru-RU" dirty="0" smtClean="0"/>
              <a:t>НКВД и его новый глава – Н.И. Ежов (расстрелян в 1940 г.).</a:t>
            </a:r>
          </a:p>
          <a:p>
            <a:pPr marL="0" indent="0">
              <a:buNone/>
            </a:pPr>
            <a:r>
              <a:rPr lang="ru-RU" dirty="0" smtClean="0"/>
              <a:t>Плановый характер:  Директива ЦК – «разверстка по регионам» – текущие планы арестов.</a:t>
            </a:r>
          </a:p>
          <a:p>
            <a:pPr marL="0" indent="0">
              <a:buNone/>
            </a:pPr>
            <a:r>
              <a:rPr lang="ru-RU" b="1" dirty="0" smtClean="0"/>
              <a:t>Механизм 1. </a:t>
            </a:r>
            <a:r>
              <a:rPr lang="ru-RU" dirty="0" smtClean="0"/>
              <a:t>Плановый арест – «личное признание» (посредством пыток) – оговор «соучастников» – суд – ст. 158 УК «Контрреволюционные преступления».</a:t>
            </a:r>
          </a:p>
          <a:p>
            <a:pPr marL="0" indent="0">
              <a:buNone/>
            </a:pPr>
            <a:r>
              <a:rPr lang="ru-RU" b="1" dirty="0" smtClean="0"/>
              <a:t>Механизм 2.</a:t>
            </a:r>
            <a:r>
              <a:rPr lang="ru-RU" dirty="0" smtClean="0"/>
              <a:t> «Инициативный донос» – арест – пытки – оговор – арест «соучастников» - взаимооговор – ст. 158.</a:t>
            </a:r>
          </a:p>
          <a:p>
            <a:pPr marL="0" indent="0">
              <a:buNone/>
            </a:pPr>
            <a:r>
              <a:rPr lang="ru-RU" b="1" dirty="0" smtClean="0"/>
              <a:t>Базовые приговоры </a:t>
            </a:r>
            <a:r>
              <a:rPr lang="ru-RU" dirty="0" smtClean="0"/>
              <a:t>– смертная казнь или  10 лет лагерей «без права переписки».</a:t>
            </a:r>
          </a:p>
          <a:p>
            <a:pPr marL="0" indent="0">
              <a:buNone/>
            </a:pPr>
            <a:r>
              <a:rPr lang="ru-RU" dirty="0" smtClean="0"/>
              <a:t>Вынесение приговора </a:t>
            </a:r>
            <a:r>
              <a:rPr lang="ru-RU" dirty="0"/>
              <a:t>«тройкой»: </a:t>
            </a:r>
            <a:r>
              <a:rPr lang="ru-RU" dirty="0" smtClean="0"/>
              <a:t>начальником </a:t>
            </a:r>
            <a:r>
              <a:rPr lang="ru-RU" dirty="0"/>
              <a:t>областного управления НКВД, </a:t>
            </a:r>
            <a:r>
              <a:rPr lang="ru-RU" dirty="0" smtClean="0"/>
              <a:t>секретарем </a:t>
            </a:r>
            <a:r>
              <a:rPr lang="ru-RU" dirty="0"/>
              <a:t>обкома </a:t>
            </a:r>
            <a:r>
              <a:rPr lang="ru-RU" dirty="0" smtClean="0"/>
              <a:t>ВКП(б) и прокурором области.</a:t>
            </a:r>
          </a:p>
          <a:p>
            <a:pPr marL="0" indent="0">
              <a:buNone/>
            </a:pPr>
            <a:r>
              <a:rPr lang="ru-RU" dirty="0" smtClean="0"/>
              <a:t>Число пострадавших (официальные цифры</a:t>
            </a:r>
            <a:r>
              <a:rPr lang="ru-RU" dirty="0"/>
              <a:t>):  арестовано 1 344 </a:t>
            </a:r>
            <a:r>
              <a:rPr lang="ru-RU" dirty="0" smtClean="0"/>
              <a:t>923 чел.; приговорено </a:t>
            </a:r>
            <a:r>
              <a:rPr lang="ru-RU" dirty="0"/>
              <a:t>к расстрелу  681 692 </a:t>
            </a:r>
            <a:r>
              <a:rPr lang="ru-RU" dirty="0" smtClean="0"/>
              <a:t>чел.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7311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Репрессии в РККА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1937 г. Процесс </a:t>
            </a:r>
            <a:r>
              <a:rPr lang="ru-RU" dirty="0"/>
              <a:t>«антисоветской троцкистской военной организации</a:t>
            </a:r>
            <a:r>
              <a:rPr lang="ru-RU" dirty="0" smtClean="0"/>
              <a:t>» - 7 военачальников в ранге от комкора до маршала.</a:t>
            </a:r>
          </a:p>
          <a:p>
            <a:pPr marL="0" indent="0">
              <a:buNone/>
            </a:pPr>
            <a:r>
              <a:rPr lang="ru-RU" dirty="0" smtClean="0"/>
              <a:t>Увольнения решениями военных советов округов и флотов – около 30 тыс. человек.</a:t>
            </a:r>
          </a:p>
          <a:p>
            <a:pPr marL="0" indent="0">
              <a:buNone/>
            </a:pPr>
            <a:r>
              <a:rPr lang="ru-RU" dirty="0" smtClean="0"/>
              <a:t>Аресты (по приблизительным подсчетам) 11 – 12 тыс. чел. в армии и около 5 тыс. после увольнения.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44862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097939"/>
              </p:ext>
            </p:extLst>
          </p:nvPr>
        </p:nvGraphicFramePr>
        <p:xfrm>
          <a:off x="467544" y="260648"/>
          <a:ext cx="7992882" cy="6166474"/>
        </p:xfrm>
        <a:graphic>
          <a:graphicData uri="http://schemas.openxmlformats.org/drawingml/2006/table">
            <a:tbl>
              <a:tblPr/>
              <a:tblGrid>
                <a:gridCol w="504054"/>
                <a:gridCol w="1272142"/>
                <a:gridCol w="888098"/>
                <a:gridCol w="888098"/>
                <a:gridCol w="888098"/>
                <a:gridCol w="888098"/>
                <a:gridCol w="888098"/>
                <a:gridCol w="888098"/>
                <a:gridCol w="888098"/>
              </a:tblGrid>
              <a:tr h="151767">
                <a:tc rowSpan="2"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№ п/п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Категория высшего комсостава РККА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Состояло на службе в РККА в 1936 г.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F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ru-RU" sz="600" dirty="0">
                          <a:effectLst/>
                        </a:rPr>
                        <a:t>Погибло в 1937-1941 гг.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Вернулись из тюрьмы живыми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Общее количество жертв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Репрессировано в % к численности соответствующей категории на 1936 г.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F"/>
                    </a:solidFill>
                  </a:tcPr>
                </a:tc>
              </a:tr>
              <a:tr h="100036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Расстреляно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Умерли под стражей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Покончили жизнь самоубийством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89252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1.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Маршалы Советского Союза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—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—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60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2.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effectLst/>
                        </a:rPr>
                        <a:t>Командармы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ru-RU" sz="14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1 и 2 ранга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15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19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—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—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20</a:t>
                      </a:r>
                      <a:endParaRPr lang="ru-RU" sz="1400" dirty="0">
                        <a:effectLst/>
                      </a:endParaRP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133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3.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Флагманы флота 1-го и 2-го ранга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4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—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—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—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125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594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4.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Комкоры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62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58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4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69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112,6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470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5.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Флагманы 1-го ранга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6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—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—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6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100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594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6.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Комдивы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201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122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9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effectLst/>
                      </a:endParaRP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22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153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76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594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7.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Комбриги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474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201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15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30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247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52,1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8552">
                <a:tc>
                  <a:txBody>
                    <a:bodyPr/>
                    <a:lstStyle/>
                    <a:p>
                      <a:endParaRPr lang="ru-RU" sz="1400" dirty="0">
                        <a:effectLst/>
                      </a:endParaRP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В целом по высшему комсоставу РККА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767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412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29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59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503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65,6</a:t>
                      </a:r>
                    </a:p>
                  </a:txBody>
                  <a:tcPr marL="30789" marR="30789" marT="15394" marB="15394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86110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</p:spPr>
        <p:txBody>
          <a:bodyPr>
            <a:noAutofit/>
          </a:bodyPr>
          <a:lstStyle/>
          <a:p>
            <a:r>
              <a:rPr lang="ru-RU" sz="2800" dirty="0" smtClean="0"/>
              <a:t>Народный ответ на </a:t>
            </a:r>
            <a:r>
              <a:rPr lang="en-US" sz="2800" dirty="0" smtClean="0"/>
              <a:t>II </a:t>
            </a:r>
            <a:r>
              <a:rPr lang="ru-RU" sz="2800" dirty="0" smtClean="0"/>
              <a:t>диктатуру 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39248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«Патернализация сознания» достигла максимальных </a:t>
            </a:r>
            <a:r>
              <a:rPr lang="ru-RU" dirty="0" smtClean="0"/>
              <a:t>значений. Осознание полной зависимости от государства вытеснил</a:t>
            </a:r>
            <a:r>
              <a:rPr lang="ru-RU" dirty="0"/>
              <a:t>о</a:t>
            </a:r>
            <a:r>
              <a:rPr lang="ru-RU" dirty="0" smtClean="0"/>
              <a:t> все другие формы общественного сознания.</a:t>
            </a:r>
          </a:p>
          <a:p>
            <a:r>
              <a:rPr lang="ru-RU" dirty="0" smtClean="0"/>
              <a:t>Усилилась коллективная составляющая жизни, вплоть до самоотречения в трудовом энтузиазме и героическом поведении на войне.</a:t>
            </a:r>
          </a:p>
          <a:p>
            <a:r>
              <a:rPr lang="ru-RU" dirty="0" smtClean="0"/>
              <a:t>Доносительство </a:t>
            </a:r>
            <a:r>
              <a:rPr lang="ru-RU" dirty="0"/>
              <a:t>стало одной из форм выживания и обеспечение жизни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Сформировалось «двоемыслие» как форма приспособления к условиям жизни.</a:t>
            </a:r>
          </a:p>
          <a:p>
            <a:r>
              <a:rPr lang="ru-RU" dirty="0" smtClean="0"/>
              <a:t>В молодежной среде возникло тяготение к «подлинному марксизму» и «настоящему ленинизму» как идеологии, признающей свободу индивидуальности.</a:t>
            </a:r>
            <a:endParaRPr lang="ru-RU" dirty="0"/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187624" y="5733256"/>
            <a:ext cx="7128792" cy="9361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Базовая модель поведения – «отказ от личности».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09576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466</TotalTime>
  <Words>2803</Words>
  <Application>Microsoft Office PowerPoint</Application>
  <PresentationFormat>Экран (4:3)</PresentationFormat>
  <Paragraphs>306</Paragraphs>
  <Slides>31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2" baseType="lpstr">
      <vt:lpstr>Исполнительная</vt:lpstr>
      <vt:lpstr>Политическое развитие СССР в 1920-е - 1930-е годы</vt:lpstr>
      <vt:lpstr>Тоталитарное общество – то, в котором государство устанавливает полный (тотальный) контроль над всеми проявлениями общественной и частной жизни людей.</vt:lpstr>
      <vt:lpstr>Базовые черты «инкского социализма»</vt:lpstr>
      <vt:lpstr>Базовые черты тоталитарного общества:</vt:lpstr>
      <vt:lpstr>Первые шаги к установлению монополии большевиков на власть</vt:lpstr>
      <vt:lpstr>«Красный террор»</vt:lpstr>
      <vt:lpstr>«Красный террор» в 1919 – 1922 г г.</vt:lpstr>
      <vt:lpstr>Ликвидация оппозиционных партий</vt:lpstr>
      <vt:lpstr>ВКП (б) Дискуссия о профсоюзах 1920-1921 гг.</vt:lpstr>
      <vt:lpstr>В.И. Ленин «Письмо к съезду» (к. 1922, оглашено в 1924 г.):</vt:lpstr>
      <vt:lpstr>Сакрализация В.И.Ленина</vt:lpstr>
      <vt:lpstr>«Генеральная линия» партии и борьба с «отклонениями»</vt:lpstr>
      <vt:lpstr>Политбюро ЦК ВКП(б)</vt:lpstr>
      <vt:lpstr>Концепция «обострения классовой борьбы»</vt:lpstr>
      <vt:lpstr>Презентация PowerPoint</vt:lpstr>
      <vt:lpstr>Репрессии первой пятилетки</vt:lpstr>
      <vt:lpstr>Репрессии первой пятилетки</vt:lpstr>
      <vt:lpstr>Репрессии первой пятилетки:</vt:lpstr>
      <vt:lpstr>XVII съезд ВКП(б) («Съезд победителей»). Январь-февраль 19134 г.</vt:lpstr>
      <vt:lpstr>Постановление ЦИК СССР «О порядке ведения дел о подготовке или совершении террористических актов»  01.12.1934</vt:lpstr>
      <vt:lpstr>Ликвидация «старых партийных кадров»</vt:lpstr>
      <vt:lpstr>Массовая истерия II пол. 1930-х гг.</vt:lpstr>
      <vt:lpstr>Формирование «культа личности»</vt:lpstr>
      <vt:lpstr>Презентация PowerPoint</vt:lpstr>
      <vt:lpstr>Конституция 1936 г.</vt:lpstr>
      <vt:lpstr>Конституция 1936 г.</vt:lpstr>
      <vt:lpstr>Конституция 1936 г.</vt:lpstr>
      <vt:lpstr>Массовые репрессии 1937-1938 гг.</vt:lpstr>
      <vt:lpstr>Репрессии в РККА</vt:lpstr>
      <vt:lpstr>Презентация PowerPoint</vt:lpstr>
      <vt:lpstr>Народный ответ на II диктатуру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Политическое развитие СССР в 1930-е годы</dc:title>
  <dc:creator>User</dc:creator>
  <cp:lastModifiedBy>User</cp:lastModifiedBy>
  <cp:revision>45</cp:revision>
  <dcterms:created xsi:type="dcterms:W3CDTF">2017-03-14T11:35:11Z</dcterms:created>
  <dcterms:modified xsi:type="dcterms:W3CDTF">2021-11-25T05:57:48Z</dcterms:modified>
</cp:coreProperties>
</file>