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30"/>
  </p:notesMasterIdLst>
  <p:handoutMasterIdLst>
    <p:handoutMasterId r:id="rId31"/>
  </p:handoutMasterIdLst>
  <p:sldIdLst>
    <p:sldId id="256" r:id="rId3"/>
    <p:sldId id="257" r:id="rId4"/>
    <p:sldId id="258" r:id="rId5"/>
    <p:sldId id="259" r:id="rId6"/>
    <p:sldId id="260" r:id="rId7"/>
    <p:sldId id="285" r:id="rId8"/>
    <p:sldId id="261" r:id="rId9"/>
    <p:sldId id="286" r:id="rId10"/>
    <p:sldId id="262" r:id="rId11"/>
    <p:sldId id="263" r:id="rId12"/>
    <p:sldId id="264" r:id="rId13"/>
    <p:sldId id="287" r:id="rId14"/>
    <p:sldId id="284" r:id="rId15"/>
    <p:sldId id="288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0080625" cy="755967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67">
          <p15:clr>
            <a:srgbClr val="A4A3A4"/>
          </p15:clr>
        </p15:guide>
        <p15:guide id="2" pos="238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 autoAdjust="0"/>
    <p:restoredTop sz="94711" autoAdjust="0"/>
  </p:normalViewPr>
  <p:slideViewPr>
    <p:cSldViewPr>
      <p:cViewPr varScale="1">
        <p:scale>
          <a:sx n="95" d="100"/>
          <a:sy n="95" d="100"/>
        </p:scale>
        <p:origin x="1788" y="90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541"/>
    </p:cViewPr>
  </p:sorterViewPr>
  <p:notesViewPr>
    <p:cSldViewPr>
      <p:cViewPr varScale="1">
        <p:scale>
          <a:sx n="56" d="100"/>
          <a:sy n="56" d="100"/>
        </p:scale>
        <p:origin x="-3187" y="-86"/>
      </p:cViewPr>
      <p:guideLst>
        <p:guide orient="horz" pos="3367"/>
        <p:guide pos="238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" name="Дата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E05F18DF-E6CD-4C68-8F74-0764628638AC}" type="slidenum">
              <a:t>‹#›</a:t>
            </a:fld>
            <a:endParaRPr lang="ru-RU" sz="14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22161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4" name="Верхний колонтитул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5" name="Дата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/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/>
          <a:lstStyle>
            <a:lvl1pPr lvl="0" algn="r" rtl="0" hangingPunct="0">
              <a:buNone/>
              <a:tabLst/>
              <a:defRPr lang="ru-RU" sz="1400" kern="1200">
                <a:latin typeface="Times New Roman" pitchFamily="18"/>
                <a:ea typeface="Lucida Sans Unicode" pitchFamily="2"/>
                <a:cs typeface="Tahoma" pitchFamily="2"/>
              </a:defRPr>
            </a:lvl1pPr>
          </a:lstStyle>
          <a:p>
            <a:pPr lvl="0"/>
            <a:fld id="{4FA8309D-041A-4E29-9D29-6AA2C79DC94D}" type="slidenum"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66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ru-RU" sz="2000" b="0" i="0" u="none" strike="noStrike" kern="1200">
        <a:ln>
          <a:noFill/>
        </a:ln>
        <a:latin typeface="Arial" pitchFamily="18"/>
        <a:ea typeface="Microsoft YaHei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671972"/>
            <a:ext cx="8568531" cy="470379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5459765"/>
            <a:ext cx="7056438" cy="1343942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C27D0E68-19BF-4AA3-A1B7-726A726E7F86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/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3E4A76-A200-4115-BCBE-7AE225083E51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1511936"/>
            <a:ext cx="8568531" cy="2761381"/>
          </a:xfrm>
        </p:spPr>
        <p:txBody>
          <a:bodyPr anchor="b"/>
          <a:lstStyle>
            <a:lvl1pPr algn="ctr" defTabSz="100794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3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4485058"/>
            <a:ext cx="8568531" cy="1247696"/>
          </a:xfrm>
        </p:spPr>
        <p:txBody>
          <a:bodyPr anchor="t"/>
          <a:lstStyle>
            <a:lvl1pPr marL="0" indent="0" algn="ct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E4977F-BC59-41C4-A227-3DC61F259095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956307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76821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736844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4318" y="1763925"/>
            <a:ext cx="4452276" cy="4989036"/>
          </a:xfrm>
        </p:spPr>
        <p:txBody>
          <a:bodyPr/>
          <a:lstStyle>
            <a:lvl1pPr>
              <a:defRPr sz="26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146258A-E26E-45E7-B31B-7D420FDB86A5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3225" y="1763924"/>
            <a:ext cx="4455636" cy="49893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763924"/>
            <a:ext cx="4454027" cy="671971"/>
          </a:xfrm>
        </p:spPr>
        <p:txBody>
          <a:bodyPr anchor="b">
            <a:noAutofit/>
          </a:bodyPr>
          <a:lstStyle>
            <a:lvl1pPr marL="0" indent="0" algn="ctr">
              <a:buNone/>
              <a:defRPr sz="2600" b="0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4318" y="1763924"/>
            <a:ext cx="4455776" cy="671971"/>
          </a:xfrm>
        </p:spPr>
        <p:txBody>
          <a:bodyPr anchor="b">
            <a:noAutofit/>
          </a:bodyPr>
          <a:lstStyle>
            <a:lvl1pPr marL="0" indent="0" algn="ctr">
              <a:buNone/>
              <a:defRPr sz="2600" b="0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BB8D5C-0F58-4E28-8415-9F1A569336D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504031" y="2439255"/>
            <a:ext cx="4455636" cy="431405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5151200" y="2439256"/>
            <a:ext cx="4455636" cy="43135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21AEA2-6F50-400F-9A0B-F277EF5FA87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A0F4A8-2C95-4423-8DF5-F17835912229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2154" y="293987"/>
            <a:ext cx="3316456" cy="2309901"/>
          </a:xfrm>
        </p:spPr>
        <p:txBody>
          <a:bodyPr anchor="b"/>
          <a:lstStyle>
            <a:lvl1pPr algn="ctr">
              <a:lnSpc>
                <a:spcPct val="100000"/>
              </a:lnSpc>
              <a:defRPr sz="31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799" y="300988"/>
            <a:ext cx="5507592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2154" y="2687885"/>
            <a:ext cx="3316456" cy="4065076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8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3CC8A4E-65C7-4EF2-8E6D-9619EE522BB6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1616" y="251989"/>
            <a:ext cx="6296889" cy="986958"/>
          </a:xfrm>
        </p:spPr>
        <p:txBody>
          <a:bodyPr anchor="b"/>
          <a:lstStyle>
            <a:lvl1pPr algn="ctr">
              <a:lnSpc>
                <a:spcPct val="100000"/>
              </a:lnSpc>
              <a:defRPr sz="31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2604" y="1259946"/>
            <a:ext cx="6674913" cy="5005660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500"/>
            </a:lvl1pPr>
            <a:lvl2pPr marL="503972" indent="0">
              <a:buNone/>
              <a:defRPr sz="3100"/>
            </a:lvl2pPr>
            <a:lvl3pPr marL="1007943" indent="0">
              <a:buNone/>
              <a:defRPr sz="2600"/>
            </a:lvl3pPr>
            <a:lvl4pPr marL="1511915" indent="0">
              <a:buNone/>
              <a:defRPr sz="2200"/>
            </a:lvl4pPr>
            <a:lvl5pPr marL="2015886" indent="0">
              <a:buNone/>
              <a:defRPr sz="2200"/>
            </a:lvl5pPr>
            <a:lvl6pPr marL="2519858" indent="0">
              <a:buNone/>
              <a:defRPr sz="2200"/>
            </a:lvl6pPr>
            <a:lvl7pPr marL="3023829" indent="0">
              <a:buNone/>
              <a:defRPr sz="2200"/>
            </a:lvl7pPr>
            <a:lvl8pPr marL="3527801" indent="0">
              <a:buNone/>
              <a:defRPr sz="2200"/>
            </a:lvl8pPr>
            <a:lvl9pPr marL="4031772" indent="0">
              <a:buNone/>
              <a:defRPr sz="2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51616" y="6404725"/>
            <a:ext cx="6296889" cy="58797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7F3C39-7590-41DD-9682-2FA73133CBE4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66E070A-C3A1-44DF-B5A5-8A4B57EFD2D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453" y="302738"/>
            <a:ext cx="2268141" cy="645022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031" y="302738"/>
            <a:ext cx="6636411" cy="645022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40AF4E4-B946-4657-AAB8-20E09F7ED7A0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8" y="671972"/>
            <a:ext cx="8568531" cy="470379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5459765"/>
            <a:ext cx="7056438" cy="1343942"/>
          </a:xfrm>
        </p:spPr>
        <p:txBody>
          <a:bodyPr>
            <a:normAutofit/>
          </a:bodyPr>
          <a:lstStyle>
            <a:lvl1pPr marL="0" indent="0" algn="ctr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80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6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40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2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9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8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6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4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C27D0E68-19BF-4AA3-A1B7-726A726E7F86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1802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73E4A76-A200-4115-BCBE-7AE225083E5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612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1" y="1511937"/>
            <a:ext cx="8568531" cy="2761381"/>
          </a:xfrm>
        </p:spPr>
        <p:txBody>
          <a:bodyPr anchor="b"/>
          <a:lstStyle>
            <a:lvl1pPr algn="ctr" defTabSz="756031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975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1" y="4485058"/>
            <a:ext cx="8568531" cy="1247696"/>
          </a:xfrm>
        </p:spPr>
        <p:txBody>
          <a:bodyPr anchor="t"/>
          <a:lstStyle>
            <a:lvl1pPr marL="0" indent="0" algn="ct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7801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5603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134046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4pPr>
            <a:lvl5pPr marL="1512062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5pPr>
            <a:lvl6pPr marL="1890077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6pPr>
            <a:lvl7pPr marL="2268093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7pPr>
            <a:lvl8pPr marL="2646108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8pPr>
            <a:lvl9pPr marL="3024124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3E4977F-BC59-41C4-A227-3DC61F259095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4956308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3" tIns="37802" rIns="75603" bIns="37802" rtlCol="0" anchor="ctr"/>
          <a:lstStyle/>
          <a:p>
            <a:pPr algn="ctr"/>
            <a:endParaRPr lang="en-US" sz="1350"/>
          </a:p>
        </p:txBody>
      </p:sp>
      <p:sp>
        <p:nvSpPr>
          <p:cNvPr id="8" name="Oval 7"/>
          <p:cNvSpPr/>
          <p:nvPr/>
        </p:nvSpPr>
        <p:spPr>
          <a:xfrm>
            <a:off x="5176822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3" tIns="37802" rIns="75603" bIns="37802" rtlCol="0" anchor="ctr"/>
          <a:lstStyle/>
          <a:p>
            <a:pPr algn="ctr"/>
            <a:endParaRPr lang="en-US" sz="1350"/>
          </a:p>
        </p:txBody>
      </p:sp>
      <p:sp>
        <p:nvSpPr>
          <p:cNvPr id="9" name="Oval 8"/>
          <p:cNvSpPr/>
          <p:nvPr/>
        </p:nvSpPr>
        <p:spPr>
          <a:xfrm>
            <a:off x="4736845" y="4325814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3" tIns="37802" rIns="75603" bIns="37802"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03178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4318" y="1763926"/>
            <a:ext cx="4452276" cy="4989036"/>
          </a:xfrm>
        </p:spPr>
        <p:txBody>
          <a:bodyPr/>
          <a:lstStyle>
            <a:lvl1pPr>
              <a:defRPr sz="1950"/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146258A-E26E-45E7-B31B-7D420FDB86A5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3225" y="1763924"/>
            <a:ext cx="4455636" cy="49893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94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763924"/>
            <a:ext cx="4454027" cy="671971"/>
          </a:xfrm>
        </p:spPr>
        <p:txBody>
          <a:bodyPr anchor="b">
            <a:noAutofit/>
          </a:bodyPr>
          <a:lstStyle>
            <a:lvl1pPr marL="0" indent="0" algn="ctr">
              <a:buNone/>
              <a:defRPr sz="1950" b="0"/>
            </a:lvl1pPr>
            <a:lvl2pPr marL="378015" indent="0">
              <a:buNone/>
              <a:defRPr sz="1650" b="1"/>
            </a:lvl2pPr>
            <a:lvl3pPr marL="756031" indent="0">
              <a:buNone/>
              <a:defRPr sz="1500" b="1"/>
            </a:lvl3pPr>
            <a:lvl4pPr marL="1134046" indent="0">
              <a:buNone/>
              <a:defRPr sz="1350" b="1"/>
            </a:lvl4pPr>
            <a:lvl5pPr marL="1512062" indent="0">
              <a:buNone/>
              <a:defRPr sz="1350" b="1"/>
            </a:lvl5pPr>
            <a:lvl6pPr marL="1890077" indent="0">
              <a:buNone/>
              <a:defRPr sz="1350" b="1"/>
            </a:lvl6pPr>
            <a:lvl7pPr marL="2268093" indent="0">
              <a:buNone/>
              <a:defRPr sz="1350" b="1"/>
            </a:lvl7pPr>
            <a:lvl8pPr marL="2646108" indent="0">
              <a:buNone/>
              <a:defRPr sz="1350" b="1"/>
            </a:lvl8pPr>
            <a:lvl9pPr marL="3024124" indent="0">
              <a:buNone/>
              <a:defRPr sz="135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4318" y="1763924"/>
            <a:ext cx="4455776" cy="671971"/>
          </a:xfrm>
        </p:spPr>
        <p:txBody>
          <a:bodyPr anchor="b">
            <a:noAutofit/>
          </a:bodyPr>
          <a:lstStyle>
            <a:lvl1pPr marL="0" indent="0" algn="ctr">
              <a:buNone/>
              <a:defRPr sz="1950" b="0"/>
            </a:lvl1pPr>
            <a:lvl2pPr marL="378015" indent="0">
              <a:buNone/>
              <a:defRPr sz="1650" b="1"/>
            </a:lvl2pPr>
            <a:lvl3pPr marL="756031" indent="0">
              <a:buNone/>
              <a:defRPr sz="1500" b="1"/>
            </a:lvl3pPr>
            <a:lvl4pPr marL="1134046" indent="0">
              <a:buNone/>
              <a:defRPr sz="1350" b="1"/>
            </a:lvl4pPr>
            <a:lvl5pPr marL="1512062" indent="0">
              <a:buNone/>
              <a:defRPr sz="1350" b="1"/>
            </a:lvl5pPr>
            <a:lvl6pPr marL="1890077" indent="0">
              <a:buNone/>
              <a:defRPr sz="1350" b="1"/>
            </a:lvl6pPr>
            <a:lvl7pPr marL="2268093" indent="0">
              <a:buNone/>
              <a:defRPr sz="1350" b="1"/>
            </a:lvl7pPr>
            <a:lvl8pPr marL="2646108" indent="0">
              <a:buNone/>
              <a:defRPr sz="1350" b="1"/>
            </a:lvl8pPr>
            <a:lvl9pPr marL="3024124" indent="0">
              <a:buNone/>
              <a:defRPr sz="135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CBB8D5C-0F58-4E28-8415-9F1A569336DA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504031" y="2439256"/>
            <a:ext cx="4455636" cy="431405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5151200" y="2439257"/>
            <a:ext cx="4455636" cy="43135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6258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21AEA2-6F50-400F-9A0B-F277EF5FA87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2810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A0F4A8-2C95-4423-8DF5-F1783591222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304433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12154" y="293987"/>
            <a:ext cx="3316456" cy="2309901"/>
          </a:xfrm>
        </p:spPr>
        <p:txBody>
          <a:bodyPr anchor="b"/>
          <a:lstStyle>
            <a:lvl1pPr algn="ctr">
              <a:lnSpc>
                <a:spcPct val="100000"/>
              </a:lnSpc>
              <a:defRPr sz="2325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800" y="300989"/>
            <a:ext cx="5507592" cy="6451973"/>
          </a:xfrm>
        </p:spPr>
        <p:txBody>
          <a:bodyPr/>
          <a:lstStyle>
            <a:lvl1pPr>
              <a:defRPr sz="2625"/>
            </a:lvl1pPr>
            <a:lvl2pPr>
              <a:defRPr sz="2325"/>
            </a:lvl2pPr>
            <a:lvl3pPr>
              <a:defRPr sz="195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2154" y="2687886"/>
            <a:ext cx="3316456" cy="4065076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350"/>
            </a:lvl1pPr>
            <a:lvl2pPr marL="378015" indent="0">
              <a:buNone/>
              <a:defRPr sz="975"/>
            </a:lvl2pPr>
            <a:lvl3pPr marL="756031" indent="0">
              <a:buNone/>
              <a:defRPr sz="825"/>
            </a:lvl3pPr>
            <a:lvl4pPr marL="1134046" indent="0">
              <a:buNone/>
              <a:defRPr sz="750"/>
            </a:lvl4pPr>
            <a:lvl5pPr marL="1512062" indent="0">
              <a:buNone/>
              <a:defRPr sz="750"/>
            </a:lvl5pPr>
            <a:lvl6pPr marL="1890077" indent="0">
              <a:buNone/>
              <a:defRPr sz="750"/>
            </a:lvl6pPr>
            <a:lvl7pPr marL="2268093" indent="0">
              <a:buNone/>
              <a:defRPr sz="750"/>
            </a:lvl7pPr>
            <a:lvl8pPr marL="2646108" indent="0">
              <a:buNone/>
              <a:defRPr sz="750"/>
            </a:lvl8pPr>
            <a:lvl9pPr marL="3024124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3CC8A4E-65C7-4EF2-8E6D-9619EE522BB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9594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1617" y="251989"/>
            <a:ext cx="6296889" cy="986958"/>
          </a:xfrm>
        </p:spPr>
        <p:txBody>
          <a:bodyPr anchor="b"/>
          <a:lstStyle>
            <a:lvl1pPr algn="ctr">
              <a:lnSpc>
                <a:spcPct val="100000"/>
              </a:lnSpc>
              <a:defRPr sz="2325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2605" y="1259946"/>
            <a:ext cx="6674913" cy="5005660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2625"/>
            </a:lvl1pPr>
            <a:lvl2pPr marL="378015" indent="0">
              <a:buNone/>
              <a:defRPr sz="2325"/>
            </a:lvl2pPr>
            <a:lvl3pPr marL="756031" indent="0">
              <a:buNone/>
              <a:defRPr sz="1950"/>
            </a:lvl3pPr>
            <a:lvl4pPr marL="1134046" indent="0">
              <a:buNone/>
              <a:defRPr sz="1650"/>
            </a:lvl4pPr>
            <a:lvl5pPr marL="1512062" indent="0">
              <a:buNone/>
              <a:defRPr sz="1650"/>
            </a:lvl5pPr>
            <a:lvl6pPr marL="1890077" indent="0">
              <a:buNone/>
              <a:defRPr sz="1650"/>
            </a:lvl6pPr>
            <a:lvl7pPr marL="2268093" indent="0">
              <a:buNone/>
              <a:defRPr sz="1650"/>
            </a:lvl7pPr>
            <a:lvl8pPr marL="2646108" indent="0">
              <a:buNone/>
              <a:defRPr sz="1650"/>
            </a:lvl8pPr>
            <a:lvl9pPr marL="3024124" indent="0">
              <a:buNone/>
              <a:defRPr sz="165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51617" y="6404726"/>
            <a:ext cx="6296889" cy="587975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78015" indent="0">
              <a:buNone/>
              <a:defRPr sz="975"/>
            </a:lvl2pPr>
            <a:lvl3pPr marL="756031" indent="0">
              <a:buNone/>
              <a:defRPr sz="825"/>
            </a:lvl3pPr>
            <a:lvl4pPr marL="1134046" indent="0">
              <a:buNone/>
              <a:defRPr sz="750"/>
            </a:lvl4pPr>
            <a:lvl5pPr marL="1512062" indent="0">
              <a:buNone/>
              <a:defRPr sz="750"/>
            </a:lvl5pPr>
            <a:lvl6pPr marL="1890077" indent="0">
              <a:buNone/>
              <a:defRPr sz="750"/>
            </a:lvl6pPr>
            <a:lvl7pPr marL="2268093" indent="0">
              <a:buNone/>
              <a:defRPr sz="750"/>
            </a:lvl7pPr>
            <a:lvl8pPr marL="2646108" indent="0">
              <a:buNone/>
              <a:defRPr sz="750"/>
            </a:lvl8pPr>
            <a:lvl9pPr marL="3024124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7F3C39-7590-41DD-9682-2FA73133CBE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21068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66E070A-C3A1-44DF-B5A5-8A4B57EFD2D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08224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454" y="302739"/>
            <a:ext cx="2268141" cy="645022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032" y="302739"/>
            <a:ext cx="6636411" cy="645022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40AF4E4-B946-4657-AAB8-20E09F7ED7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9818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0"/>
            <a:ext cx="9072563" cy="1763924"/>
          </a:xfrm>
          <a:prstGeom prst="rect">
            <a:avLst/>
          </a:prstGeom>
        </p:spPr>
        <p:txBody>
          <a:bodyPr vert="horz" lIns="100794" tIns="50397" rIns="100794" bIns="50397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763925"/>
            <a:ext cx="9072563" cy="4989036"/>
          </a:xfrm>
          <a:prstGeom prst="rect">
            <a:avLst/>
          </a:prstGeom>
        </p:spPr>
        <p:txBody>
          <a:bodyPr vert="horz" lIns="100794" tIns="50397" rIns="100794" bIns="5039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15149" y="7006699"/>
            <a:ext cx="2299643" cy="402483"/>
          </a:xfrm>
          <a:prstGeom prst="rect">
            <a:avLst/>
          </a:prstGeom>
        </p:spPr>
        <p:txBody>
          <a:bodyPr vert="horz" lIns="100794" tIns="50397" rIns="50397" bIns="50397" rtlCol="0" anchor="ctr"/>
          <a:lstStyle>
            <a:lvl1pPr algn="r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684" y="7006699"/>
            <a:ext cx="3139695" cy="402483"/>
          </a:xfrm>
          <a:prstGeom prst="rect">
            <a:avLst/>
          </a:prstGeom>
        </p:spPr>
        <p:txBody>
          <a:bodyPr vert="horz" lIns="50397" tIns="50397" rIns="100794" bIns="50397" rtlCol="0" anchor="ctr"/>
          <a:lstStyle>
            <a:lvl1pPr algn="l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8371" y="7006699"/>
            <a:ext cx="619538" cy="402483"/>
          </a:xfrm>
          <a:prstGeom prst="rect">
            <a:avLst/>
          </a:prstGeom>
        </p:spPr>
        <p:txBody>
          <a:bodyPr vert="horz" lIns="30238" tIns="50397" rIns="50397" bIns="50397" rtlCol="0" anchor="ctr"/>
          <a:lstStyle>
            <a:lvl1pPr algn="l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fld id="{27E168FE-E371-4623-AA0E-44FABA66183D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9324093" y="7164367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marL="0" algn="ctr" defTabSz="1007943" rtl="0" eaLnBrk="1" latinLnBrk="0" hangingPunct="1"/>
            <a:endParaRPr lang="en-US" sz="20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27414" y="7164367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794" tIns="50397" rIns="100794" bIns="50397"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007943" rtl="0" eaLnBrk="1" latinLnBrk="0" hangingPunct="1">
        <a:lnSpc>
          <a:spcPts val="6393"/>
        </a:lnSpc>
        <a:spcBef>
          <a:spcPct val="0"/>
        </a:spcBef>
        <a:buNone/>
        <a:defRPr sz="60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77979" indent="-377979" algn="l" defTabSz="1007943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818954" indent="-314982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259929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763900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267872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771844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3275815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779787" indent="-251986" algn="l" defTabSz="1007943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4283758" indent="-251986" algn="l" defTabSz="1007943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2" y="0"/>
            <a:ext cx="9072563" cy="1763924"/>
          </a:xfrm>
          <a:prstGeom prst="rect">
            <a:avLst/>
          </a:prstGeom>
        </p:spPr>
        <p:txBody>
          <a:bodyPr vert="horz" lIns="100794" tIns="50397" rIns="100794" bIns="50397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2" y="1763926"/>
            <a:ext cx="9072563" cy="4989036"/>
          </a:xfrm>
          <a:prstGeom prst="rect">
            <a:avLst/>
          </a:prstGeom>
        </p:spPr>
        <p:txBody>
          <a:bodyPr vert="horz" lIns="100794" tIns="50397" rIns="100794" bIns="5039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15150" y="7006700"/>
            <a:ext cx="2299643" cy="402483"/>
          </a:xfrm>
          <a:prstGeom prst="rect">
            <a:avLst/>
          </a:prstGeom>
        </p:spPr>
        <p:txBody>
          <a:bodyPr vert="horz" lIns="100794" tIns="50397" rIns="50397" bIns="50397" rtlCol="0" anchor="ctr"/>
          <a:lstStyle>
            <a:lvl1pPr algn="r">
              <a:defRPr sz="975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685" y="7006700"/>
            <a:ext cx="3139695" cy="402483"/>
          </a:xfrm>
          <a:prstGeom prst="rect">
            <a:avLst/>
          </a:prstGeom>
        </p:spPr>
        <p:txBody>
          <a:bodyPr vert="horz" lIns="50397" tIns="50397" rIns="100794" bIns="50397" rtlCol="0" anchor="ctr"/>
          <a:lstStyle>
            <a:lvl1pPr algn="l">
              <a:defRPr sz="975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8371" y="7006700"/>
            <a:ext cx="619538" cy="402483"/>
          </a:xfrm>
          <a:prstGeom prst="rect">
            <a:avLst/>
          </a:prstGeom>
        </p:spPr>
        <p:txBody>
          <a:bodyPr vert="horz" lIns="30238" tIns="50397" rIns="50397" bIns="50397" rtlCol="0" anchor="ctr"/>
          <a:lstStyle>
            <a:lvl1pPr algn="l">
              <a:defRPr sz="975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lvl="0"/>
            <a:fld id="{27E168FE-E371-4623-AA0E-44FABA66183D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/>
          <p:cNvSpPr/>
          <p:nvPr/>
        </p:nvSpPr>
        <p:spPr>
          <a:xfrm>
            <a:off x="9324094" y="7164367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3" tIns="37802" rIns="75603" bIns="37802" rtlCol="0" anchor="ctr"/>
          <a:lstStyle/>
          <a:p>
            <a:pPr marL="0" algn="ctr" defTabSz="756031" rtl="0" eaLnBrk="1" latinLnBrk="0" hangingPunct="1"/>
            <a:endParaRPr lang="en-US" sz="15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27415" y="7164367"/>
            <a:ext cx="93455" cy="9344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3" tIns="37802" rIns="75603" bIns="37802"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46430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756031" rtl="0" eaLnBrk="1" latinLnBrk="0" hangingPunct="1">
        <a:lnSpc>
          <a:spcPts val="4795"/>
        </a:lnSpc>
        <a:spcBef>
          <a:spcPct val="0"/>
        </a:spcBef>
        <a:buNone/>
        <a:defRPr sz="45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283512" indent="-283512" algn="l" defTabSz="756031" rtl="0" eaLnBrk="1" latinLnBrk="0" hangingPunct="1">
        <a:spcBef>
          <a:spcPct val="20000"/>
        </a:spcBef>
        <a:buFont typeface="Arial" pitchFamily="34" charset="0"/>
        <a:buChar char="•"/>
        <a:defRPr sz="195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614275" indent="-236260" algn="l" defTabSz="756031" rtl="0" eaLnBrk="1" latinLnBrk="0" hangingPunct="1">
        <a:spcBef>
          <a:spcPct val="20000"/>
        </a:spcBef>
        <a:buFont typeface="Courier New" pitchFamily="49" charset="0"/>
        <a:buChar char="o"/>
        <a:defRPr sz="135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945039" indent="-189008" algn="l" defTabSz="756031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323054" indent="-189008" algn="l" defTabSz="756031" rtl="0" eaLnBrk="1" latinLnBrk="0" hangingPunct="1">
        <a:spcBef>
          <a:spcPct val="20000"/>
        </a:spcBef>
        <a:buFont typeface="Courier New" pitchFamily="49" charset="0"/>
        <a:buChar char="o"/>
        <a:defRPr sz="135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1701069" indent="-189008" algn="l" defTabSz="756031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079085" indent="-189008" algn="l" defTabSz="756031" rtl="0" eaLnBrk="1" latinLnBrk="0" hangingPunct="1">
        <a:spcBef>
          <a:spcPct val="20000"/>
        </a:spcBef>
        <a:buFont typeface="Courier New" pitchFamily="49" charset="0"/>
        <a:buChar char="o"/>
        <a:defRPr sz="135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457100" indent="-189008" algn="l" defTabSz="756031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2835116" indent="-189008" algn="l" defTabSz="756031" rtl="0" eaLnBrk="1" latinLnBrk="0" hangingPunct="1">
        <a:spcBef>
          <a:spcPct val="20000"/>
        </a:spcBef>
        <a:buFont typeface="Courier New" pitchFamily="49" charset="0"/>
        <a:buChar char="o"/>
        <a:defRPr sz="135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213131" indent="-189008" algn="l" defTabSz="756031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75603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78015" algn="l" defTabSz="75603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31" algn="l" defTabSz="75603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34046" algn="l" defTabSz="75603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12062" algn="l" defTabSz="75603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90077" algn="l" defTabSz="75603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68093" algn="l" defTabSz="75603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46108" algn="l" defTabSz="75603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24124" algn="l" defTabSz="756031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ctrTitle"/>
          </p:nvPr>
        </p:nvSpPr>
        <p:spPr>
          <a:xfrm>
            <a:off x="719832" y="1835621"/>
            <a:ext cx="8568531" cy="840442"/>
          </a:xfrm>
        </p:spPr>
        <p:txBody>
          <a:bodyPr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4800" dirty="0"/>
              <a:t>История России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1"/>
          </p:nvPr>
        </p:nvSpPr>
        <p:spPr>
          <a:xfrm>
            <a:off x="1583928" y="3707829"/>
            <a:ext cx="7056437" cy="1640661"/>
          </a:xfrm>
        </p:spPr>
        <p:txBody>
          <a:bodyPr anchor="ctr"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lvl="0" indent="0" algn="ctr">
              <a:buNone/>
            </a:pPr>
            <a:r>
              <a:rPr lang="ru-RU" sz="2800" dirty="0"/>
              <a:t>Лекция 2.</a:t>
            </a:r>
          </a:p>
          <a:p>
            <a:pPr marL="0" lvl="0" indent="0" algn="ctr">
              <a:buNone/>
            </a:pPr>
            <a:r>
              <a:rPr lang="ru-RU" sz="2800" dirty="0"/>
              <a:t>Древняя Русь IX — XIII вв.</a:t>
            </a:r>
          </a:p>
          <a:p>
            <a:pPr marL="0" lvl="0" indent="0" algn="ctr">
              <a:buNone/>
            </a:pPr>
            <a:endParaRPr lang="ru-RU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511920" y="301625"/>
            <a:ext cx="7560643" cy="669925"/>
          </a:xfrm>
        </p:spPr>
        <p:txBody>
          <a:bodyPr>
            <a:no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4000" dirty="0"/>
              <a:t>Славяне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1009651" y="1403349"/>
            <a:ext cx="4750741" cy="2520503"/>
          </a:xfrm>
        </p:spPr>
        <p:txBody>
          <a:bodyPr>
            <a:normAutofit fontScale="850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Часть индоевропейской языковой семьи народов.</a:t>
            </a:r>
          </a:p>
          <a:p>
            <a:pPr lvl="0"/>
            <a:r>
              <a:rPr lang="ru-RU" sz="2400" dirty="0"/>
              <a:t>Фиксируются в письменных источниках в первой половине I тысячелетия нашей эры в Восточной Европе, как народы «антов» и «венедов».</a:t>
            </a:r>
          </a:p>
          <a:p>
            <a:pPr lvl="0"/>
            <a:r>
              <a:rPr lang="ru-RU" sz="2400" dirty="0"/>
              <a:t>Самоназвание: </a:t>
            </a:r>
            <a:r>
              <a:rPr lang="ru-RU" sz="2400" b="1" dirty="0"/>
              <a:t>словене</a:t>
            </a:r>
            <a:r>
              <a:rPr lang="ru-RU" sz="2400" dirty="0"/>
              <a:t>.</a:t>
            </a:r>
          </a:p>
          <a:p>
            <a:pPr lvl="0"/>
            <a:endParaRPr lang="ru-RU" sz="2800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035905" y="4211885"/>
            <a:ext cx="3888432" cy="193097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ru-RU" sz="2000" dirty="0"/>
              <a:t>Корень «сло» обозначает способ коммуникации посредством устной речи: слово, слыть, слышать, славить(ся).</a:t>
            </a: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192440" y="1259557"/>
            <a:ext cx="3384376" cy="194421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ru-RU" sz="2800" dirty="0"/>
              <a:t>Корень «ве(н)» означает «знать»: ведать</a:t>
            </a:r>
          </a:p>
        </p:txBody>
      </p:sp>
      <p:pic>
        <p:nvPicPr>
          <p:cNvPr id="1027" name="Picture 3" descr="D:\Documents\ДЛЯ_УЧЕБЫ\ХИМИЧЕСКИЙ\Презентации\Первый семестр\фото\posolxstwo_rf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563" y="3635821"/>
            <a:ext cx="3400351" cy="2630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439912" y="301625"/>
            <a:ext cx="7632651" cy="669925"/>
          </a:xfrm>
        </p:spPr>
        <p:txBody>
          <a:bodyPr>
            <a:no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4000" dirty="0"/>
              <a:t>Восточные славяне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719832" y="1187549"/>
            <a:ext cx="8640960" cy="2952328"/>
          </a:xfrm>
        </p:spPr>
        <p:txBody>
          <a:bodyPr>
            <a:normAutofit fontScale="850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marL="108000" lvl="0" indent="0" algn="just">
              <a:buNone/>
            </a:pPr>
            <a:r>
              <a:rPr lang="ru-RU" sz="2400" dirty="0"/>
              <a:t>Между V и  VIII веками переселились из мест прежнего обитания (между Вислой и Одером) на территорию Восточно-Европейской равнины (от озера Ильмень, до  Днепровских порогов от Северной Двины до Оки).</a:t>
            </a:r>
          </a:p>
          <a:p>
            <a:pPr marL="108000" lvl="0" indent="0">
              <a:buNone/>
            </a:pPr>
            <a:r>
              <a:rPr lang="ru-RU" sz="2400" dirty="0"/>
              <a:t>Причины переселения:</a:t>
            </a:r>
          </a:p>
          <a:p>
            <a:pPr lvl="0"/>
            <a:r>
              <a:rPr lang="ru-RU" sz="2400" dirty="0"/>
              <a:t>Перенаселение прежних мест обитания.</a:t>
            </a:r>
          </a:p>
          <a:p>
            <a:pPr lvl="0"/>
            <a:r>
              <a:rPr lang="ru-RU" sz="2400" dirty="0"/>
              <a:t>Истощение земель при обработке «подсечно-огневым способом».</a:t>
            </a:r>
          </a:p>
          <a:p>
            <a:pPr lvl="0"/>
            <a:r>
              <a:rPr lang="ru-RU" sz="2400" dirty="0"/>
              <a:t>Давление кочевников гуннов (IV — V вв.) и авар (VI в.)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944" y="4363443"/>
            <a:ext cx="6768752" cy="3026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4320" y="604800"/>
            <a:ext cx="8739000" cy="65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9072563" cy="1262063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dirty="0"/>
              <a:t>Два пути расселения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215776" y="1768476"/>
            <a:ext cx="4211762" cy="2443409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Летописный (южный):</a:t>
            </a:r>
          </a:p>
          <a:p>
            <a:pPr lvl="0"/>
            <a:r>
              <a:rPr lang="ru-RU" dirty="0"/>
              <a:t>Висла-Балканы-Днепр (поляне, древляне, северяне, дреговичи, радимичи и др.) осевшие на юге.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5653089" y="1768476"/>
            <a:ext cx="3635696" cy="2371401"/>
          </a:xfrm>
        </p:spPr>
        <p:txBody>
          <a:bodyPr>
            <a:normAutofit fontScale="925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Археологический: Висла-Балтийское побережье-Сев. Двина и верховья Днепра (словене, кривичи и, возможно, вятичи).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912339" y="4499917"/>
            <a:ext cx="3312359" cy="478932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0000" tIns="45000" rIns="90000" bIns="45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2400" b="0" i="0" u="none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«цокали»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151881" y="4499917"/>
            <a:ext cx="2520280" cy="478932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0000" tIns="45000" rIns="90000" bIns="45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2400" b="0" i="0" u="none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«чокали»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59792" y="251446"/>
            <a:ext cx="4454027" cy="504056"/>
          </a:xfrm>
        </p:spPr>
        <p:txBody>
          <a:bodyPr/>
          <a:lstStyle/>
          <a:p>
            <a:r>
              <a:rPr lang="ru-RU" dirty="0"/>
              <a:t>«Цокающая» грамота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>
          <a:xfrm>
            <a:off x="5040312" y="323454"/>
            <a:ext cx="4455776" cy="432048"/>
          </a:xfrm>
        </p:spPr>
        <p:txBody>
          <a:bodyPr/>
          <a:lstStyle/>
          <a:p>
            <a:r>
              <a:rPr lang="ru-RU" dirty="0"/>
              <a:t>«Чокающая» грамота</a:t>
            </a:r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890926693"/>
              </p:ext>
            </p:extLst>
          </p:nvPr>
        </p:nvGraphicFramePr>
        <p:xfrm>
          <a:off x="4824288" y="827510"/>
          <a:ext cx="4742556" cy="6205860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4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7580">
                <a:tc>
                  <a:txBody>
                    <a:bodyPr/>
                    <a:lstStyle/>
                    <a:p>
                      <a:r>
                        <a:rPr lang="ru-RU" sz="1700" b="0" dirty="0"/>
                        <a:t>Текст</a:t>
                      </a:r>
                    </a:p>
                  </a:txBody>
                  <a:tcPr marL="22444" marR="22444" marT="22444" marB="224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0" dirty="0"/>
                        <a:t>Грамота </a:t>
                      </a:r>
                      <a:r>
                        <a:rPr lang="ru-RU" sz="1700" b="0" dirty="0" err="1"/>
                        <a:t>отъ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Жизномира</a:t>
                      </a:r>
                      <a:r>
                        <a:rPr lang="ru-RU" sz="1700" b="0" dirty="0"/>
                        <a:t> к </a:t>
                      </a:r>
                      <a:r>
                        <a:rPr lang="ru-RU" sz="1700" b="0" dirty="0" err="1"/>
                        <a:t>Микоуле</a:t>
                      </a:r>
                      <a:r>
                        <a:rPr lang="ru-RU" sz="1700" b="0" dirty="0"/>
                        <a:t>. </a:t>
                      </a:r>
                      <a:r>
                        <a:rPr lang="ru-RU" sz="1700" b="0" dirty="0" err="1"/>
                        <a:t>Коупилъ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еси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робоу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Плъскове</a:t>
                      </a:r>
                      <a:r>
                        <a:rPr lang="ru-RU" sz="1700" b="0" dirty="0"/>
                        <a:t>, а ныне </a:t>
                      </a:r>
                      <a:r>
                        <a:rPr lang="ru-RU" sz="1700" b="0" dirty="0" err="1"/>
                        <a:t>мя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въ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томъ</a:t>
                      </a:r>
                      <a:r>
                        <a:rPr lang="ru-RU" sz="1700" b="0" dirty="0"/>
                        <a:t> яла </a:t>
                      </a:r>
                      <a:r>
                        <a:rPr lang="ru-RU" sz="1700" b="0" dirty="0" err="1"/>
                        <a:t>кънягыни</a:t>
                      </a:r>
                      <a:r>
                        <a:rPr lang="ru-RU" sz="1700" b="0" dirty="0"/>
                        <a:t>. А ныне </a:t>
                      </a:r>
                      <a:r>
                        <a:rPr lang="ru-RU" sz="1700" b="0" dirty="0" err="1"/>
                        <a:t>ся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дроужина</a:t>
                      </a:r>
                      <a:r>
                        <a:rPr lang="ru-RU" sz="1700" b="0" dirty="0"/>
                        <a:t> по </a:t>
                      </a:r>
                      <a:r>
                        <a:rPr lang="ru-RU" sz="1700" b="0" dirty="0" err="1"/>
                        <a:t>мя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пороучила</a:t>
                      </a:r>
                      <a:r>
                        <a:rPr lang="ru-RU" sz="1700" b="0" dirty="0"/>
                        <a:t>. А ныне ка </a:t>
                      </a:r>
                      <a:r>
                        <a:rPr lang="ru-RU" sz="1700" b="0" dirty="0" err="1"/>
                        <a:t>посъли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къ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томоу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моужеви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грамотоу</a:t>
                      </a:r>
                      <a:r>
                        <a:rPr lang="ru-RU" sz="1700" b="0" dirty="0"/>
                        <a:t>: е ли </a:t>
                      </a:r>
                      <a:r>
                        <a:rPr lang="ru-RU" sz="1700" b="0" dirty="0" err="1"/>
                        <a:t>оу</a:t>
                      </a:r>
                      <a:r>
                        <a:rPr lang="ru-RU" sz="1700" b="0" dirty="0"/>
                        <a:t> него роба? А се </a:t>
                      </a:r>
                      <a:r>
                        <a:rPr lang="ru-RU" sz="1700" b="0" dirty="0" err="1"/>
                        <a:t>ти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1" dirty="0" err="1"/>
                        <a:t>хочоу</a:t>
                      </a:r>
                      <a:r>
                        <a:rPr lang="ru-RU" sz="1700" b="0" dirty="0"/>
                        <a:t>, коне </a:t>
                      </a:r>
                      <a:r>
                        <a:rPr lang="ru-RU" sz="1700" b="0" dirty="0" err="1"/>
                        <a:t>коупив</a:t>
                      </a:r>
                      <a:r>
                        <a:rPr lang="ru-RU" sz="1700" b="0" dirty="0"/>
                        <a:t> и </a:t>
                      </a:r>
                      <a:r>
                        <a:rPr lang="ru-RU" sz="1700" b="0" dirty="0" err="1"/>
                        <a:t>къняжъ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моужъ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въсадивъ</a:t>
                      </a:r>
                      <a:r>
                        <a:rPr lang="ru-RU" sz="1700" b="0" dirty="0"/>
                        <a:t>, та на </a:t>
                      </a:r>
                      <a:r>
                        <a:rPr lang="ru-RU" sz="1700" b="0" dirty="0" err="1"/>
                        <a:t>съводы</a:t>
                      </a:r>
                      <a:r>
                        <a:rPr lang="ru-RU" sz="1700" b="0" dirty="0"/>
                        <a:t>. А ты </a:t>
                      </a:r>
                      <a:r>
                        <a:rPr lang="ru-RU" sz="1700" b="0" dirty="0" err="1"/>
                        <a:t>атче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еси</a:t>
                      </a:r>
                      <a:r>
                        <a:rPr lang="ru-RU" sz="1700" b="0" dirty="0"/>
                        <a:t> не </a:t>
                      </a:r>
                      <a:r>
                        <a:rPr lang="ru-RU" sz="1700" b="0" dirty="0" err="1"/>
                        <a:t>възалъ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коунъ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техъ</a:t>
                      </a:r>
                      <a:r>
                        <a:rPr lang="ru-RU" sz="1700" b="0" dirty="0"/>
                        <a:t>, не </a:t>
                      </a:r>
                      <a:r>
                        <a:rPr lang="ru-RU" sz="1700" b="0" dirty="0" err="1"/>
                        <a:t>емли</a:t>
                      </a:r>
                      <a:r>
                        <a:rPr lang="ru-RU" sz="1700" b="0" dirty="0"/>
                        <a:t> </a:t>
                      </a:r>
                      <a:r>
                        <a:rPr lang="ru-RU" sz="1700" b="0" dirty="0" err="1"/>
                        <a:t>ничъто</a:t>
                      </a:r>
                      <a:r>
                        <a:rPr lang="ru-RU" sz="1700" b="0" dirty="0"/>
                        <a:t> же </a:t>
                      </a:r>
                      <a:r>
                        <a:rPr lang="ru-RU" sz="1700" b="0" dirty="0" err="1"/>
                        <a:t>оу</a:t>
                      </a:r>
                      <a:r>
                        <a:rPr lang="ru-RU" sz="1700" b="0" dirty="0"/>
                        <a:t> него.</a:t>
                      </a:r>
                    </a:p>
                  </a:txBody>
                  <a:tcPr marL="22444" marR="22444" marT="22444" marB="224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1092">
                <a:tc>
                  <a:txBody>
                    <a:bodyPr/>
                    <a:lstStyle/>
                    <a:p>
                      <a:r>
                        <a:rPr lang="ru-RU" sz="1700" b="0" dirty="0"/>
                        <a:t>Перевод</a:t>
                      </a:r>
                    </a:p>
                  </a:txBody>
                  <a:tcPr marL="22444" marR="22444" marT="22444" marB="224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b="0" dirty="0"/>
                        <a:t>Грамота от </a:t>
                      </a:r>
                      <a:r>
                        <a:rPr lang="ru-RU" sz="1700" b="0" dirty="0" err="1"/>
                        <a:t>Жизномира</a:t>
                      </a:r>
                      <a:r>
                        <a:rPr lang="ru-RU" sz="1700" b="0" dirty="0"/>
                        <a:t> к Микуле. Ты купил рабыню во Пскове, а теперь меня за это схватила княгиня. Но за меня поручилась дружина. А ты теперь пошли к тому мужу грамоту: есть ли у него рабыня? А я вот хочу, коня купив и посадив [на коня] княжеского мужа, [идти] на очные ставки. А ты, если [еще] не взял тех денег, не бери у него ничего.</a:t>
                      </a:r>
                    </a:p>
                  </a:txBody>
                  <a:tcPr marL="22444" marR="22444" marT="22444" marB="224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997283"/>
              </p:ext>
            </p:extLst>
          </p:nvPr>
        </p:nvGraphicFramePr>
        <p:xfrm>
          <a:off x="359792" y="827509"/>
          <a:ext cx="4176464" cy="5937084"/>
        </p:xfrm>
        <a:graphic>
          <a:graphicData uri="http://schemas.openxmlformats.org/drawingml/2006/table">
            <a:tbl>
              <a:tblPr/>
              <a:tblGrid>
                <a:gridCol w="99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5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9088">
                <a:tc>
                  <a:txBody>
                    <a:bodyPr/>
                    <a:lstStyle/>
                    <a:p>
                      <a:r>
                        <a:rPr lang="ru-RU" sz="1800" b="0" dirty="0"/>
                        <a:t>Текст</a:t>
                      </a:r>
                    </a:p>
                  </a:txBody>
                  <a:tcPr marL="40238" marR="40238" marT="40238" marB="402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/>
                        <a:t>От </a:t>
                      </a:r>
                      <a:r>
                        <a:rPr lang="ru-RU" sz="1800" b="0" dirty="0" err="1"/>
                        <a:t>Жировита</a:t>
                      </a:r>
                      <a:r>
                        <a:rPr lang="ru-RU" sz="1800" b="0" dirty="0"/>
                        <a:t> к </a:t>
                      </a:r>
                      <a:r>
                        <a:rPr lang="ru-RU" sz="1800" b="0" dirty="0" err="1"/>
                        <a:t>Стоянови</a:t>
                      </a:r>
                      <a:r>
                        <a:rPr lang="ru-RU" sz="1800" b="0" dirty="0"/>
                        <a:t>. </a:t>
                      </a:r>
                      <a:r>
                        <a:rPr lang="ru-RU" sz="1800" b="0" dirty="0" err="1"/>
                        <a:t>Како</a:t>
                      </a:r>
                      <a:r>
                        <a:rPr lang="ru-RU" sz="1800" b="0" dirty="0"/>
                        <a:t> ты </a:t>
                      </a:r>
                      <a:r>
                        <a:rPr lang="ru-RU" sz="1800" b="0" dirty="0" err="1"/>
                        <a:t>оу</a:t>
                      </a:r>
                      <a:r>
                        <a:rPr lang="ru-RU" sz="1800" b="0" dirty="0"/>
                        <a:t> мене и честное древо </a:t>
                      </a:r>
                      <a:r>
                        <a:rPr lang="ru-RU" sz="1800" b="0" dirty="0" err="1"/>
                        <a:t>възъямь</a:t>
                      </a:r>
                      <a:r>
                        <a:rPr lang="ru-RU" sz="1800" b="0" dirty="0"/>
                        <a:t> и </a:t>
                      </a:r>
                      <a:r>
                        <a:rPr lang="ru-RU" sz="1800" b="0" dirty="0" err="1"/>
                        <a:t>вевериць</a:t>
                      </a:r>
                      <a:r>
                        <a:rPr lang="ru-RU" sz="1800" b="0" dirty="0"/>
                        <a:t> ми не </a:t>
                      </a:r>
                      <a:r>
                        <a:rPr lang="ru-RU" sz="1800" b="0" dirty="0" err="1"/>
                        <a:t>присълещи</a:t>
                      </a:r>
                      <a:r>
                        <a:rPr lang="ru-RU" sz="1800" b="0" dirty="0"/>
                        <a:t> то девятое лето. А не </a:t>
                      </a:r>
                      <a:r>
                        <a:rPr lang="ru-RU" sz="1800" b="0" dirty="0" err="1"/>
                        <a:t>присълещи</a:t>
                      </a:r>
                      <a:r>
                        <a:rPr lang="ru-RU" sz="1800" b="0" dirty="0"/>
                        <a:t> ми </a:t>
                      </a:r>
                      <a:r>
                        <a:rPr lang="ru-RU" sz="1800" b="0" dirty="0" err="1"/>
                        <a:t>полоу</a:t>
                      </a:r>
                      <a:r>
                        <a:rPr lang="ru-RU" sz="1800" b="0" dirty="0"/>
                        <a:t> пяты </a:t>
                      </a:r>
                      <a:r>
                        <a:rPr lang="ru-RU" sz="1800" b="0" dirty="0" err="1"/>
                        <a:t>гривьны</a:t>
                      </a:r>
                      <a:r>
                        <a:rPr lang="ru-RU" sz="1800" b="0" dirty="0"/>
                        <a:t>, а </a:t>
                      </a:r>
                      <a:r>
                        <a:rPr lang="ru-RU" sz="1800" b="1" dirty="0" err="1"/>
                        <a:t>хоцоу</a:t>
                      </a:r>
                      <a:r>
                        <a:rPr lang="ru-RU" sz="1800" b="0" dirty="0"/>
                        <a:t> </a:t>
                      </a:r>
                      <a:r>
                        <a:rPr lang="ru-RU" sz="1800" b="0" dirty="0" err="1"/>
                        <a:t>ти</a:t>
                      </a:r>
                      <a:r>
                        <a:rPr lang="ru-RU" sz="1800" b="0" dirty="0"/>
                        <a:t> </a:t>
                      </a:r>
                      <a:r>
                        <a:rPr lang="ru-RU" sz="1800" b="0" dirty="0" err="1"/>
                        <a:t>выройти</a:t>
                      </a:r>
                      <a:r>
                        <a:rPr lang="ru-RU" sz="1800" b="0" dirty="0"/>
                        <a:t> </a:t>
                      </a:r>
                      <a:r>
                        <a:rPr lang="ru-RU" sz="1800" b="0" dirty="0" err="1"/>
                        <a:t>въ</a:t>
                      </a:r>
                      <a:r>
                        <a:rPr lang="ru-RU" sz="1800" b="0" dirty="0"/>
                        <a:t> </a:t>
                      </a:r>
                      <a:r>
                        <a:rPr lang="ru-RU" sz="1800" b="0" dirty="0" err="1"/>
                        <a:t>тя</a:t>
                      </a:r>
                      <a:r>
                        <a:rPr lang="ru-RU" sz="1800" b="0" dirty="0"/>
                        <a:t> </a:t>
                      </a:r>
                      <a:r>
                        <a:rPr lang="ru-RU" sz="1800" b="1" dirty="0" err="1"/>
                        <a:t>лоуцьшаго</a:t>
                      </a:r>
                      <a:r>
                        <a:rPr lang="ru-RU" sz="1800" b="1" dirty="0"/>
                        <a:t> </a:t>
                      </a:r>
                      <a:r>
                        <a:rPr lang="ru-RU" sz="1800" b="0" dirty="0" err="1"/>
                        <a:t>новъгорожанина</a:t>
                      </a:r>
                      <a:r>
                        <a:rPr lang="ru-RU" sz="1800" b="0" dirty="0"/>
                        <a:t>. </a:t>
                      </a:r>
                      <a:r>
                        <a:rPr lang="ru-RU" sz="1800" b="0" dirty="0" err="1"/>
                        <a:t>Посъли</a:t>
                      </a:r>
                      <a:r>
                        <a:rPr lang="ru-RU" sz="1800" b="0" dirty="0"/>
                        <a:t> же </a:t>
                      </a:r>
                      <a:r>
                        <a:rPr lang="ru-RU" sz="1800" b="0" dirty="0" err="1"/>
                        <a:t>добръмь</a:t>
                      </a:r>
                      <a:r>
                        <a:rPr lang="ru-RU" sz="1800" b="0" dirty="0"/>
                        <a:t>.</a:t>
                      </a:r>
                    </a:p>
                  </a:txBody>
                  <a:tcPr marL="40238" marR="40238" marT="40238" marB="402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8924">
                <a:tc>
                  <a:txBody>
                    <a:bodyPr/>
                    <a:lstStyle/>
                    <a:p>
                      <a:r>
                        <a:rPr lang="ru-RU" sz="1800" b="0"/>
                        <a:t>Перевод</a:t>
                      </a:r>
                    </a:p>
                  </a:txBody>
                  <a:tcPr marL="40238" marR="40238" marT="40238" marB="402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/>
                        <a:t>От </a:t>
                      </a:r>
                      <a:r>
                        <a:rPr lang="ru-RU" sz="1800" b="0" dirty="0" err="1"/>
                        <a:t>Жировита</a:t>
                      </a:r>
                      <a:r>
                        <a:rPr lang="ru-RU" sz="1800" b="0" dirty="0"/>
                        <a:t> к </a:t>
                      </a:r>
                      <a:r>
                        <a:rPr lang="ru-RU" sz="1800" b="0" dirty="0" err="1"/>
                        <a:t>Стояну</a:t>
                      </a:r>
                      <a:r>
                        <a:rPr lang="ru-RU" sz="1800" b="0" dirty="0"/>
                        <a:t>. С тех пор, как ты поклялся мне на кресте и не присылаешь мне денег, идет девятый год. Если же не пришлешь мне четырех с половиной гривен, то я собираюсь за твою вину конфисковать товар у знатнейшего новгородца. Пошли же добром.</a:t>
                      </a:r>
                    </a:p>
                  </a:txBody>
                  <a:tcPr marL="40238" marR="40238" marT="40238" marB="4023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558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376015" y="301625"/>
            <a:ext cx="4752529" cy="741363"/>
          </a:xfrm>
        </p:spPr>
        <p:txBody>
          <a:bodyPr>
            <a:no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Экономика </a:t>
            </a:r>
            <a:r>
              <a:rPr lang="en-US" sz="3200" dirty="0"/>
              <a:t>VI – X </a:t>
            </a:r>
            <a:r>
              <a:rPr lang="ru-RU" sz="3200" dirty="0"/>
              <a:t>вв.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0" y="1187450"/>
            <a:ext cx="4425950" cy="4989513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2800" dirty="0"/>
              <a:t>Сельское хозяйство:</a:t>
            </a:r>
          </a:p>
          <a:p>
            <a:pPr lvl="0"/>
            <a:r>
              <a:rPr lang="ru-RU" sz="2800" dirty="0"/>
              <a:t>«подсека» и «перелог» в XVIII — X вв., затем «двуполье».</a:t>
            </a:r>
          </a:p>
          <a:p>
            <a:pPr lvl="0"/>
            <a:r>
              <a:rPr lang="ru-RU" sz="2800" dirty="0"/>
              <a:t>Домашнее скотоводства в деревнях и городах: коровы (волы на юге) овцы, козы, свиньи.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5616376" y="1115541"/>
            <a:ext cx="3995736" cy="4967287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 algn="ctr">
              <a:buNone/>
            </a:pPr>
            <a:r>
              <a:rPr lang="ru-RU" sz="2400" dirty="0"/>
              <a:t>Ремесло:</a:t>
            </a:r>
          </a:p>
          <a:p>
            <a:pPr lvl="0"/>
            <a:r>
              <a:rPr lang="ru-RU" sz="2000" dirty="0"/>
              <a:t>Материалы: дерево, глина, кожи, льняные ткани, медь; с XI в. - железо.</a:t>
            </a:r>
          </a:p>
          <a:p>
            <a:pPr lvl="0"/>
            <a:r>
              <a:rPr lang="ru-RU" sz="2000" dirty="0"/>
              <a:t>Изделия: с XI в. более ста наименований изделий только из металлов.</a:t>
            </a:r>
          </a:p>
          <a:p>
            <a:pPr lvl="0"/>
            <a:r>
              <a:rPr lang="ru-RU" sz="2000" dirty="0"/>
              <a:t>Национальная специфика: мостовые; плетеные кольчуги; меховые изделия, поташ, а также ювелирные изделия из меди и серебра (зернь, скань, филигрань), колокола.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75815" y="5594399"/>
            <a:ext cx="4320481" cy="77772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0000" tIns="45000" rIns="90000" bIns="45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1800" b="0" i="0" u="none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 Рост городов: с 30 в XI в. до 75 в XIII в.</a:t>
            </a:r>
          </a:p>
        </p:txBody>
      </p:sp>
      <p:sp>
        <p:nvSpPr>
          <p:cNvPr id="6" name="Прямая соединительная линия 5"/>
          <p:cNvSpPr/>
          <p:nvPr/>
        </p:nvSpPr>
        <p:spPr>
          <a:xfrm flipV="1">
            <a:off x="4752280" y="3131764"/>
            <a:ext cx="936104" cy="2238495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ru-RU" sz="18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16" y="1048536"/>
            <a:ext cx="4601829" cy="4010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375" y="918037"/>
            <a:ext cx="3242358" cy="4271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008" y="5075981"/>
            <a:ext cx="503872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4031" y="179437"/>
            <a:ext cx="9072563" cy="576064"/>
          </a:xfrm>
        </p:spPr>
        <p:txBody>
          <a:bodyPr/>
          <a:lstStyle/>
          <a:p>
            <a:r>
              <a:rPr lang="ru-RU" sz="3200" dirty="0"/>
              <a:t>Ремесленные изделия </a:t>
            </a:r>
            <a:r>
              <a:rPr lang="en-US" sz="3200" dirty="0"/>
              <a:t>IX – XII </a:t>
            </a:r>
            <a:r>
              <a:rPr lang="ru-RU" sz="3200" dirty="0"/>
              <a:t>веков</a:t>
            </a:r>
          </a:p>
        </p:txBody>
      </p:sp>
    </p:spTree>
    <p:extLst>
      <p:ext uri="{BB962C8B-B14F-4D97-AF65-F5344CB8AC3E}">
        <p14:creationId xmlns:p14="http://schemas.microsoft.com/office/powerpoint/2010/main" val="112978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935856" y="301626"/>
            <a:ext cx="8136707" cy="885924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600" b="1" dirty="0"/>
              <a:t>Торговля: путь «Из Варяг в Греки»</a:t>
            </a:r>
            <a:endParaRPr lang="ru-RU" sz="3600" dirty="0"/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0" y="1768475"/>
            <a:ext cx="5140325" cy="4314825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 algn="l">
              <a:spcAft>
                <a:spcPts val="0"/>
              </a:spcAft>
              <a:buNone/>
            </a:pPr>
            <a:endParaRPr lang="ru-RU" sz="2800" b="1" dirty="0"/>
          </a:p>
          <a:p>
            <a:pPr lvl="0"/>
            <a:r>
              <a:rPr lang="ru-RU" dirty="0"/>
              <a:t>экспорт: меха, мед, воск, поташ, строевой лес, рабы;</a:t>
            </a:r>
          </a:p>
          <a:p>
            <a:pPr lvl="0"/>
            <a:r>
              <a:rPr lang="ru-RU" dirty="0"/>
              <a:t>импорт: ткани, оружие, ювелирные изделия, вино;</a:t>
            </a:r>
          </a:p>
          <a:p>
            <a:pPr lvl="0"/>
            <a:r>
              <a:rPr lang="ru-RU" dirty="0"/>
              <a:t>транзит: янтарь в Византию, вина, ткани, драгоценности – на Балтику.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87720" y="1687680"/>
            <a:ext cx="3323879" cy="4762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59792" y="301625"/>
            <a:ext cx="9145016" cy="741908"/>
          </a:xfrm>
        </p:spPr>
        <p:txBody>
          <a:bodyPr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dirty="0"/>
              <a:t> </a:t>
            </a:r>
            <a:r>
              <a:rPr lang="ru-RU" sz="3600" dirty="0"/>
              <a:t>Раннефеодальное общество, базовые черты: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59792" y="1346200"/>
            <a:ext cx="9073008" cy="4881909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2000" dirty="0">
                <a:latin typeface="Arial" pitchFamily="34"/>
              </a:rPr>
              <a:t>В </a:t>
            </a:r>
            <a:r>
              <a:rPr lang="ru-RU" sz="2000" i="1" dirty="0">
                <a:latin typeface="Arial" pitchFamily="34"/>
              </a:rPr>
              <a:t>отношениях собственности</a:t>
            </a:r>
            <a:r>
              <a:rPr lang="ru-RU" sz="2000" dirty="0">
                <a:latin typeface="Arial" pitchFamily="34"/>
              </a:rPr>
              <a:t>  общинное владение землей сменялось первыми формами</a:t>
            </a:r>
            <a:r>
              <a:rPr lang="ru-RU" sz="2000" b="1" dirty="0">
                <a:latin typeface="Arial" pitchFamily="34"/>
              </a:rPr>
              <a:t> условного землевладения:</a:t>
            </a:r>
            <a:r>
              <a:rPr lang="ru-RU" sz="2000" dirty="0">
                <a:latin typeface="Arial" pitchFamily="34"/>
              </a:rPr>
              <a:t> княжескими, боярскими и монастырскими вотчинами.</a:t>
            </a:r>
          </a:p>
          <a:p>
            <a:pPr lvl="0">
              <a:buNone/>
            </a:pPr>
            <a:r>
              <a:rPr lang="ru-RU" sz="2000" dirty="0">
                <a:latin typeface="Arial" pitchFamily="34"/>
              </a:rPr>
              <a:t>В </a:t>
            </a:r>
            <a:r>
              <a:rPr lang="ru-RU" sz="2000" i="1" dirty="0">
                <a:latin typeface="Arial" pitchFamily="34"/>
              </a:rPr>
              <a:t>социальной сфере</a:t>
            </a:r>
            <a:r>
              <a:rPr lang="ru-RU" sz="2000" dirty="0">
                <a:latin typeface="Arial" pitchFamily="34"/>
              </a:rPr>
              <a:t> прежние слабо отделенные друг от друга </a:t>
            </a:r>
            <a:r>
              <a:rPr lang="ru-RU" sz="2000" b="1" i="1" dirty="0">
                <a:latin typeface="Arial" pitchFamily="34"/>
              </a:rPr>
              <a:t>страты </a:t>
            </a:r>
            <a:r>
              <a:rPr lang="ru-RU" sz="2000" dirty="0">
                <a:latin typeface="Arial" pitchFamily="34"/>
              </a:rPr>
              <a:t>трансформируются в </a:t>
            </a:r>
            <a:r>
              <a:rPr lang="ru-RU" sz="2000" b="1" i="1" dirty="0">
                <a:latin typeface="Arial" pitchFamily="34"/>
              </a:rPr>
              <a:t>феодальные сословия</a:t>
            </a:r>
            <a:r>
              <a:rPr lang="ru-RU" sz="2000" b="1" dirty="0">
                <a:latin typeface="Arial" pitchFamily="34"/>
              </a:rPr>
              <a:t>:</a:t>
            </a:r>
            <a:r>
              <a:rPr lang="ru-RU" sz="2000" dirty="0">
                <a:latin typeface="Arial" pitchFamily="34"/>
              </a:rPr>
              <a:t> сельские (землевладельцев и земледельцев) и городские (купцов и ремесленников).</a:t>
            </a:r>
          </a:p>
          <a:p>
            <a:pPr lvl="0" algn="just">
              <a:buNone/>
            </a:pPr>
            <a:r>
              <a:rPr lang="ru-RU" sz="2000" dirty="0">
                <a:latin typeface="Arial" pitchFamily="34"/>
              </a:rPr>
              <a:t>Во </a:t>
            </a:r>
            <a:r>
              <a:rPr lang="ru-RU" sz="2000" i="1" dirty="0">
                <a:latin typeface="Arial" pitchFamily="34"/>
              </a:rPr>
              <a:t>властной сфере</a:t>
            </a:r>
            <a:r>
              <a:rPr lang="ru-RU" sz="2000" dirty="0">
                <a:latin typeface="Arial" pitchFamily="34"/>
              </a:rPr>
              <a:t> именно в этот период формируются все необходимые признаки </a:t>
            </a:r>
            <a:r>
              <a:rPr lang="ru-RU" sz="2000" b="1" dirty="0">
                <a:latin typeface="Arial" pitchFamily="34"/>
              </a:rPr>
              <a:t>государства.</a:t>
            </a:r>
          </a:p>
          <a:p>
            <a:pPr lvl="0" algn="just">
              <a:buNone/>
            </a:pPr>
            <a:r>
              <a:rPr lang="ru-RU" sz="2000" dirty="0">
                <a:latin typeface="Arial" pitchFamily="34"/>
              </a:rPr>
              <a:t>В сфере </a:t>
            </a:r>
            <a:r>
              <a:rPr lang="ru-RU" sz="2000" i="1" dirty="0">
                <a:latin typeface="Arial" pitchFamily="34"/>
              </a:rPr>
              <a:t>культуры</a:t>
            </a:r>
            <a:r>
              <a:rPr lang="ru-RU" sz="2000" dirty="0">
                <a:latin typeface="Arial" pitchFamily="34"/>
              </a:rPr>
              <a:t>: восточные славяне переходят от древних политеистических культов к </a:t>
            </a:r>
            <a:r>
              <a:rPr lang="ru-RU" sz="2000" b="1" dirty="0">
                <a:latin typeface="Arial" pitchFamily="34"/>
              </a:rPr>
              <a:t>монотеизму</a:t>
            </a:r>
            <a:r>
              <a:rPr lang="ru-RU" sz="2000" dirty="0">
                <a:latin typeface="Arial" pitchFamily="34"/>
              </a:rPr>
              <a:t>, в виде православного христианства, а в вместе с новой верой заимствуют многие формы культуры в Византии.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719832" y="301625"/>
            <a:ext cx="8712968" cy="8143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600" dirty="0"/>
              <a:t>Основные даты в создании государства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647824" y="1403350"/>
            <a:ext cx="8856984" cy="4536727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862 — утверждение норманнской династии в Новгороде («приглашение варягов»).</a:t>
            </a:r>
          </a:p>
          <a:p>
            <a:pPr lvl="0"/>
            <a:r>
              <a:rPr lang="ru-RU" sz="2400" dirty="0"/>
              <a:t>882 — создание государственной территории  с центром в Киеве (Малая Русь, Смоленск, Новгород, Полоцк, Ростов, Муром).</a:t>
            </a:r>
          </a:p>
          <a:p>
            <a:pPr lvl="0"/>
            <a:r>
              <a:rPr lang="ru-RU" sz="2400" dirty="0"/>
              <a:t>945 — реформа полюдья и создание первых элементов налоговой системы.</a:t>
            </a:r>
          </a:p>
          <a:p>
            <a:pPr lvl="0"/>
            <a:r>
              <a:rPr lang="ru-RU" sz="2400" dirty="0"/>
              <a:t>1015 — Правда Ярослава («уголовный кодекс»).</a:t>
            </a:r>
          </a:p>
          <a:p>
            <a:pPr lvl="0"/>
            <a:r>
              <a:rPr lang="ru-RU" sz="2400" dirty="0"/>
              <a:t>1072 — Правда Ярославичей («земельный кодекс»).</a:t>
            </a:r>
          </a:p>
          <a:p>
            <a:pPr lvl="0"/>
            <a:r>
              <a:rPr lang="ru-RU" sz="2400" dirty="0"/>
              <a:t>1113 — Устав Владимира Мономаха (взаимоотношения должников и заимодавцев).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72972-478F-73FB-987F-163687B19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31" y="467469"/>
            <a:ext cx="9072563" cy="9361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Вопрос о том, кто создал древнерусское государство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270B4D-CE52-B7F6-EC76-8271E57DC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31" y="1763925"/>
            <a:ext cx="9072563" cy="3024024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 err="1"/>
              <a:t>Норманисты</a:t>
            </a:r>
            <a:r>
              <a:rPr lang="ru-RU" b="1" dirty="0"/>
              <a:t>: </a:t>
            </a:r>
            <a:r>
              <a:rPr lang="ru-RU" dirty="0"/>
              <a:t>государственная власть (в лице великого князя) с призвания новгородцами варягов, следовательно государственные институты привнесены </a:t>
            </a:r>
            <a:r>
              <a:rPr lang="ru-RU" dirty="0" err="1"/>
              <a:t>норманами</a:t>
            </a:r>
            <a:r>
              <a:rPr lang="ru-RU" dirty="0"/>
              <a:t>.</a:t>
            </a:r>
          </a:p>
          <a:p>
            <a:r>
              <a:rPr lang="ru-RU" b="1" dirty="0" err="1"/>
              <a:t>Антинорманисты</a:t>
            </a:r>
            <a:r>
              <a:rPr lang="ru-RU" b="1" dirty="0"/>
              <a:t>: </a:t>
            </a:r>
            <a:r>
              <a:rPr lang="ru-RU" dirty="0"/>
              <a:t>призвание варягов – сказка или вредный пропагандистский вымысел. Государство в Древней Руси было создано исключительно славянами.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432A123-C31D-09C8-E61B-4C996D56AA17}"/>
              </a:ext>
            </a:extLst>
          </p:cNvPr>
          <p:cNvSpPr/>
          <p:nvPr/>
        </p:nvSpPr>
        <p:spPr>
          <a:xfrm>
            <a:off x="293650" y="5003973"/>
            <a:ext cx="9289032" cy="1944216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Оба эти утверждения неверны, поскольку:</a:t>
            </a:r>
          </a:p>
          <a:p>
            <a:pPr marL="342900" indent="-342900" algn="ctr">
              <a:buAutoNum type="arabicPeriod"/>
            </a:pPr>
            <a:r>
              <a:rPr lang="ru-RU" dirty="0"/>
              <a:t>Привнесение отделенных от народа форм власти невозможно, в том случае, если население их не воспринимает как свои.</a:t>
            </a:r>
          </a:p>
          <a:p>
            <a:pPr marL="342900" indent="-342900" algn="ctr">
              <a:buAutoNum type="arabicPeriod"/>
            </a:pPr>
            <a:r>
              <a:rPr lang="ru-RU" dirty="0"/>
              <a:t>В процессе создания государств внешние факторы могут быть использованы в качестве «строительного материала» (при заимствовании  отдельных форм) или как инструмент (при использовании иностранных военных формирований). </a:t>
            </a:r>
          </a:p>
        </p:txBody>
      </p:sp>
    </p:spTree>
    <p:extLst>
      <p:ext uri="{BB962C8B-B14F-4D97-AF65-F5344CB8AC3E}">
        <p14:creationId xmlns:p14="http://schemas.microsoft.com/office/powerpoint/2010/main" val="714835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Княжий меч - на острове Хортиц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76" y="323453"/>
            <a:ext cx="3215025" cy="21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152" y="928566"/>
            <a:ext cx="4241248" cy="229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3600152" y="336983"/>
            <a:ext cx="3186689" cy="54011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67"/>
            <a:r>
              <a:rPr lang="ru-RU" sz="1350" dirty="0">
                <a:solidFill>
                  <a:prstClr val="black"/>
                </a:solidFill>
                <a:latin typeface="Palatino Linotype"/>
              </a:rPr>
              <a:t>Меч с острова </a:t>
            </a:r>
            <a:r>
              <a:rPr lang="ru-RU" sz="1350" dirty="0" err="1">
                <a:solidFill>
                  <a:prstClr val="black"/>
                </a:solidFill>
                <a:latin typeface="Palatino Linotype"/>
              </a:rPr>
              <a:t>Хортица</a:t>
            </a:r>
            <a:r>
              <a:rPr lang="ru-RU" sz="1350" dirty="0">
                <a:solidFill>
                  <a:prstClr val="black"/>
                </a:solidFill>
                <a:latin typeface="Palatino Linotype"/>
              </a:rPr>
              <a:t> Х век.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7924440" y="1017046"/>
            <a:ext cx="2106455" cy="75616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867"/>
            <a:r>
              <a:rPr lang="ru-RU" sz="1350" dirty="0">
                <a:solidFill>
                  <a:prstClr val="black"/>
                </a:solidFill>
                <a:latin typeface="Palatino Linotype"/>
              </a:rPr>
              <a:t>Скандинавский меч. Прибалтика Х век.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A989A7-987A-6B8D-A41C-343D66B55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76" y="3446494"/>
            <a:ext cx="5112568" cy="3422122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60A5558-904D-08FA-7737-E33E13DDB2F9}"/>
              </a:ext>
            </a:extLst>
          </p:cNvPr>
          <p:cNvSpPr/>
          <p:nvPr/>
        </p:nvSpPr>
        <p:spPr>
          <a:xfrm>
            <a:off x="863848" y="7092205"/>
            <a:ext cx="3888431" cy="288032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Амулеты «молот Тора» </a:t>
            </a:r>
            <a:r>
              <a:rPr lang="en-US" dirty="0"/>
              <a:t>X-XI </a:t>
            </a:r>
            <a:r>
              <a:rPr lang="ru-RU" dirty="0"/>
              <a:t>вв.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1C6FE9-1EEB-2D5A-8D83-9476F803E5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020" y="3285350"/>
            <a:ext cx="4562261" cy="2913960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3A9C6EF-CF87-4189-1613-28EFC19994E8}"/>
              </a:ext>
            </a:extLst>
          </p:cNvPr>
          <p:cNvSpPr/>
          <p:nvPr/>
        </p:nvSpPr>
        <p:spPr>
          <a:xfrm>
            <a:off x="5544368" y="6372125"/>
            <a:ext cx="4176464" cy="85056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Амулеты </a:t>
            </a:r>
            <a:r>
              <a:rPr lang="en-US" dirty="0"/>
              <a:t>XI – XII </a:t>
            </a:r>
            <a:r>
              <a:rPr lang="ru-RU" dirty="0"/>
              <a:t> вв. Считаются подражанием скандинавским оригиналом</a:t>
            </a:r>
          </a:p>
        </p:txBody>
      </p:sp>
    </p:spTree>
    <p:extLst>
      <p:ext uri="{BB962C8B-B14F-4D97-AF65-F5344CB8AC3E}">
        <p14:creationId xmlns:p14="http://schemas.microsoft.com/office/powerpoint/2010/main" val="285209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72972-478F-73FB-987F-163687B19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31" y="467469"/>
            <a:ext cx="9072563" cy="9361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800" dirty="0"/>
              <a:t>Вопрос о политическом режиме Древнерусского государства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270B4D-CE52-B7F6-EC76-8271E57DC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31" y="1763925"/>
            <a:ext cx="9072563" cy="504024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dirty="0"/>
              <a:t>Вариант 1. </a:t>
            </a:r>
            <a:r>
              <a:rPr lang="ru-RU" dirty="0"/>
              <a:t>Неустойчивая монархия, несколько раз распадавшаяся и вновь собираемая правителями Киева.  (историки Х</a:t>
            </a:r>
            <a:r>
              <a:rPr lang="en-US" dirty="0"/>
              <a:t>VIII </a:t>
            </a:r>
            <a:r>
              <a:rPr lang="ru-RU" dirty="0"/>
              <a:t>в. и первой четверти </a:t>
            </a:r>
            <a:r>
              <a:rPr lang="en-US" dirty="0"/>
              <a:t>XIX </a:t>
            </a:r>
            <a:r>
              <a:rPr lang="ru-RU" dirty="0"/>
              <a:t>в.</a:t>
            </a:r>
            <a:r>
              <a:rPr lang="en-US" dirty="0"/>
              <a:t>)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/>
              <a:t>Вариант 2. </a:t>
            </a:r>
            <a:r>
              <a:rPr lang="ru-RU" dirty="0"/>
              <a:t>В</a:t>
            </a:r>
            <a:r>
              <a:rPr lang="ru-RU" b="1" dirty="0"/>
              <a:t> </a:t>
            </a:r>
            <a:r>
              <a:rPr lang="ru-RU" dirty="0"/>
              <a:t>Древней Руси не было государственности, а было «родовое правление» (С.М. Соловьев и «государственная школа» середины – </a:t>
            </a:r>
            <a:r>
              <a:rPr lang="en-US" dirty="0"/>
              <a:t>II </a:t>
            </a:r>
            <a:r>
              <a:rPr lang="ru-RU" dirty="0"/>
              <a:t>пол.  </a:t>
            </a:r>
            <a:r>
              <a:rPr lang="en-US" dirty="0"/>
              <a:t>XIX </a:t>
            </a:r>
            <a:r>
              <a:rPr lang="ru-RU" dirty="0"/>
              <a:t>века).</a:t>
            </a:r>
          </a:p>
          <a:p>
            <a:pPr marL="0" indent="0">
              <a:buNone/>
            </a:pPr>
            <a:r>
              <a:rPr lang="ru-RU" b="1" dirty="0"/>
              <a:t>Вариант 3.  </a:t>
            </a:r>
            <a:r>
              <a:rPr lang="ru-RU" dirty="0"/>
              <a:t>Федерация  государств «договорного» типа («земель») с распределением полномочий между вечевыми структурами и княжеской династией </a:t>
            </a:r>
            <a:r>
              <a:rPr lang="en-US" dirty="0"/>
              <a:t>(II </a:t>
            </a:r>
            <a:r>
              <a:rPr lang="ru-RU" dirty="0"/>
              <a:t>половина </a:t>
            </a:r>
            <a:r>
              <a:rPr lang="en-US" dirty="0"/>
              <a:t>XIX </a:t>
            </a:r>
            <a:r>
              <a:rPr lang="ru-RU" dirty="0"/>
              <a:t>в.).</a:t>
            </a:r>
          </a:p>
          <a:p>
            <a:pPr marL="0" indent="0">
              <a:buNone/>
            </a:pPr>
            <a:r>
              <a:rPr lang="ru-RU" b="1" dirty="0"/>
              <a:t>Вариант 4. </a:t>
            </a:r>
            <a:r>
              <a:rPr lang="ru-RU" dirty="0"/>
              <a:t>Раннефеодальная монархия европейского типа (советские историки середины ХХ в., «московская школа»).</a:t>
            </a:r>
          </a:p>
          <a:p>
            <a:pPr marL="0" indent="0">
              <a:buNone/>
            </a:pPr>
            <a:r>
              <a:rPr lang="ru-RU" b="1" dirty="0"/>
              <a:t>Вариант 5. </a:t>
            </a:r>
            <a:r>
              <a:rPr lang="ru-RU" dirty="0"/>
              <a:t>Государство «коллективного сюзеренитета» (советские историки 1950-х – 1970-х гг.).</a:t>
            </a:r>
          </a:p>
          <a:p>
            <a:pPr marL="0" indent="0">
              <a:buNone/>
            </a:pPr>
            <a:r>
              <a:rPr lang="ru-RU" b="1" dirty="0"/>
              <a:t>Вариант 6. </a:t>
            </a:r>
            <a:r>
              <a:rPr lang="ru-RU" dirty="0"/>
              <a:t>Федерация государств «полисного типа» («ленинградская школа» 1960-х – 1980-х гг.).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3203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504030" y="454880"/>
            <a:ext cx="9072563" cy="963553"/>
          </a:xfrm>
        </p:spPr>
        <p:txBody>
          <a:bodyPr wrap="square">
            <a:sp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800" dirty="0"/>
              <a:t>Древняя Русь как раннефеодальная империя (государство государств):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59792" y="1768475"/>
            <a:ext cx="4067746" cy="4218290"/>
          </a:xfrm>
        </p:spPr>
        <p:txBody>
          <a:bodyPr wrap="square">
            <a:spAutoFit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000" dirty="0"/>
              <a:t>Создана завоеванием.</a:t>
            </a:r>
          </a:p>
          <a:p>
            <a:pPr lvl="0"/>
            <a:r>
              <a:rPr lang="ru-RU" sz="2000" dirty="0"/>
              <a:t>Экономические основания для территориального единства отсутствуют.</a:t>
            </a:r>
          </a:p>
          <a:p>
            <a:pPr lvl="0"/>
            <a:r>
              <a:rPr lang="ru-RU" sz="2000" dirty="0"/>
              <a:t>Базовый принцип взаимодействия центральной власти и территорий: </a:t>
            </a:r>
            <a:r>
              <a:rPr lang="ru-RU" sz="2000" b="1" dirty="0"/>
              <a:t>вооруженная защита в обмен на плату деньгами или товарами</a:t>
            </a:r>
            <a:r>
              <a:rPr lang="ru-RU" sz="2000" dirty="0"/>
              <a:t>.</a:t>
            </a:r>
          </a:p>
          <a:p>
            <a:pPr lvl="0"/>
            <a:r>
              <a:rPr lang="ru-RU" sz="2000" dirty="0"/>
              <a:t>Власть держится на </a:t>
            </a:r>
            <a:r>
              <a:rPr lang="ru-RU" sz="2000" b="1" dirty="0"/>
              <a:t>личной харизме</a:t>
            </a:r>
            <a:r>
              <a:rPr lang="ru-RU" sz="2000" dirty="0"/>
              <a:t> правителя.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4294967295"/>
          </p:nvPr>
        </p:nvSpPr>
        <p:spPr>
          <a:xfrm>
            <a:off x="7239257" y="1763613"/>
            <a:ext cx="2193543" cy="4989513"/>
          </a:xfrm>
          <a:effectLst>
            <a:glow rad="63500">
              <a:schemeClr val="accent4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2400" dirty="0"/>
              <a:t>Ближайшие аналоги:</a:t>
            </a:r>
          </a:p>
          <a:p>
            <a:pPr lvl="0">
              <a:buNone/>
            </a:pPr>
            <a:r>
              <a:rPr lang="ru-RU" sz="2400" dirty="0"/>
              <a:t>Империя Карла Великого</a:t>
            </a:r>
          </a:p>
          <a:p>
            <a:pPr lvl="0">
              <a:buNone/>
            </a:pPr>
            <a:r>
              <a:rPr lang="ru-RU" sz="2400" dirty="0"/>
              <a:t>(I пол. IX в.)</a:t>
            </a:r>
          </a:p>
          <a:p>
            <a:pPr lvl="0">
              <a:buNone/>
            </a:pPr>
            <a:r>
              <a:rPr lang="ru-RU" sz="2400" dirty="0"/>
              <a:t>Империя</a:t>
            </a:r>
          </a:p>
          <a:p>
            <a:pPr lvl="0">
              <a:buNone/>
            </a:pPr>
            <a:r>
              <a:rPr lang="ru-RU" sz="2400" dirty="0"/>
              <a:t>Харальда</a:t>
            </a:r>
          </a:p>
          <a:p>
            <a:pPr lvl="0">
              <a:buNone/>
            </a:pPr>
            <a:r>
              <a:rPr lang="ru-RU" sz="2400" dirty="0"/>
              <a:t>Синезубого (Х век).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175139" y="3995861"/>
            <a:ext cx="1356120" cy="2257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112320" y="1475581"/>
            <a:ext cx="1481759" cy="22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Стрелка вниз 6"/>
          <p:cNvSpPr/>
          <p:nvPr/>
        </p:nvSpPr>
        <p:spPr>
          <a:xfrm rot="16454570" flipV="1">
            <a:off x="6788931" y="2811614"/>
            <a:ext cx="271598" cy="642973"/>
          </a:xfrm>
          <a:prstGeom prst="downArrow">
            <a:avLst>
              <a:gd name="adj1" fmla="val 50000"/>
              <a:gd name="adj2" fmla="val 56759"/>
            </a:avLst>
          </a:prstGeom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низ 7"/>
          <p:cNvSpPr/>
          <p:nvPr/>
        </p:nvSpPr>
        <p:spPr>
          <a:xfrm rot="3762351">
            <a:off x="6741242" y="4632472"/>
            <a:ext cx="288032" cy="648072"/>
          </a:xfrm>
          <a:prstGeom prst="downArrow">
            <a:avLst/>
          </a:prstGeom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719832" y="250825"/>
            <a:ext cx="8352731" cy="1224756"/>
          </a:xfrm>
        </p:spPr>
        <p:txBody>
          <a:bodyPr>
            <a:normAutofit fontScale="90000"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dirty="0"/>
              <a:t>Д</a:t>
            </a:r>
            <a:r>
              <a:rPr lang="ru-RU" sz="2800" dirty="0"/>
              <a:t>ля сохранения власти правителю раннефеодального государства необходимо: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431800" y="1763613"/>
            <a:ext cx="7464856" cy="3888432"/>
          </a:xfrm>
        </p:spPr>
        <p:txBody>
          <a:bodyPr>
            <a:normAutofit fontScale="925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000" dirty="0"/>
              <a:t>или постоянно перемещаться по территории, доказывая свою силу и полезность;</a:t>
            </a:r>
          </a:p>
          <a:p>
            <a:pPr lvl="0"/>
            <a:r>
              <a:rPr lang="ru-RU" sz="2000" dirty="0"/>
              <a:t>или делегировать свою власть представителям, с вероятностью вступить с ними в конфликт, в будущем;</a:t>
            </a:r>
          </a:p>
          <a:p>
            <a:pPr lvl="0"/>
            <a:r>
              <a:rPr lang="ru-RU" sz="2000" dirty="0"/>
              <a:t>или сформировать новые </a:t>
            </a:r>
            <a:r>
              <a:rPr lang="ru-RU" sz="2000" b="1" dirty="0"/>
              <a:t>институты</a:t>
            </a:r>
            <a:r>
              <a:rPr lang="ru-RU" sz="2000" dirty="0"/>
              <a:t> (традиции и поведенческие стереотипы</a:t>
            </a:r>
            <a:r>
              <a:rPr lang="ru-RU" sz="2000" b="1" dirty="0"/>
              <a:t>)</a:t>
            </a:r>
            <a:r>
              <a:rPr lang="ru-RU" sz="2000" dirty="0"/>
              <a:t>, которые бы:</a:t>
            </a:r>
          </a:p>
          <a:p>
            <a:pPr lvl="0">
              <a:buChar char="✔"/>
            </a:pPr>
            <a:r>
              <a:rPr lang="ru-RU" sz="2000" dirty="0"/>
              <a:t>задавали параметры единого культурного пространство для всех народов, входящих это государство;</a:t>
            </a:r>
          </a:p>
          <a:p>
            <a:pPr lvl="0">
              <a:buChar char="✔"/>
            </a:pPr>
            <a:r>
              <a:rPr lang="ru-RU" sz="2000" dirty="0"/>
              <a:t>отделяли культурными формами народы этого государства от всех остальных;</a:t>
            </a:r>
          </a:p>
          <a:p>
            <a:pPr lvl="0">
              <a:buChar char="✔"/>
            </a:pPr>
            <a:r>
              <a:rPr lang="ru-RU" sz="2000" dirty="0"/>
              <a:t>формировали потребность в добровольном подчинении центральной власти.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13796" y="5940077"/>
            <a:ext cx="7128792" cy="88128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0000" tIns="45000" rIns="90000" bIns="45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2200" b="0" i="0" u="sng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Вопрос:</a:t>
            </a:r>
            <a:r>
              <a:rPr lang="ru-RU" sz="2200" b="0" i="0" u="none" strike="noStrike" kern="1200" dirty="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rPr>
              <a:t> где взять такие традиции?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ru-RU" sz="2200" u="sng" dirty="0">
                <a:latin typeface="Arial" pitchFamily="18"/>
                <a:ea typeface="Microsoft YaHei" pitchFamily="2"/>
                <a:cs typeface="Mangal" pitchFamily="2"/>
              </a:rPr>
              <a:t>Ответ:</a:t>
            </a:r>
            <a:r>
              <a:rPr lang="ru-RU" sz="2200" dirty="0">
                <a:latin typeface="Arial" pitchFamily="18"/>
                <a:ea typeface="Microsoft YaHei" pitchFamily="2"/>
                <a:cs typeface="Mangal" pitchFamily="2"/>
              </a:rPr>
              <a:t> там, где они есть .</a:t>
            </a:r>
            <a:endParaRPr lang="ru-RU" sz="2200" b="0" i="0" u="none" strike="noStrike" kern="1200" dirty="0">
              <a:ln>
                <a:noFill/>
              </a:ln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8136656" y="1691605"/>
            <a:ext cx="1512168" cy="3600400"/>
          </a:xfrm>
          <a:prstGeom prst="round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При отсутствии </a:t>
            </a:r>
            <a:r>
              <a:rPr lang="ru-RU" sz="1600" dirty="0" err="1"/>
              <a:t>экономи-ческого</a:t>
            </a:r>
            <a:r>
              <a:rPr lang="ru-RU" sz="1600" dirty="0"/>
              <a:t> единства возможны только две формы связей: насилие и культура.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863848" y="301625"/>
            <a:ext cx="8208715" cy="81438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Переформатирование культуры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719832" y="1331913"/>
            <a:ext cx="8352731" cy="4319587"/>
          </a:xfrm>
        </p:spPr>
        <p:txBody>
          <a:bodyPr>
            <a:normAutofit fontScale="925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200" dirty="0"/>
              <a:t>Нач. 980-х гг. «языческая реформа»: отбор племенных и сельскохозяйственных богов в качестве «главных»: Перун, Даждьбог, Стрибог, Мокошь, Хорс.</a:t>
            </a:r>
          </a:p>
          <a:p>
            <a:pPr lvl="0"/>
            <a:r>
              <a:rPr lang="ru-RU" sz="2200" dirty="0"/>
              <a:t>Середина 980—х гг. : две стадии «выбора веры»; прием посольств из Хазарии, Булгарии, Германии и отправление посольства с целью ознакомления с религиозными обычаями «на месте».</a:t>
            </a:r>
          </a:p>
          <a:p>
            <a:pPr lvl="0"/>
            <a:r>
              <a:rPr lang="ru-RU" sz="2200" dirty="0"/>
              <a:t>987-988: выбор религии, обусловленный политическим взаимодействием с Византией;</a:t>
            </a:r>
          </a:p>
          <a:p>
            <a:pPr lvl="0"/>
            <a:r>
              <a:rPr lang="ru-RU" sz="2200" dirty="0"/>
              <a:t>988-989: крещение великого князя, дружины и киевлян;</a:t>
            </a:r>
          </a:p>
          <a:p>
            <a:pPr lvl="0"/>
            <a:r>
              <a:rPr lang="ru-RU" sz="2200" dirty="0"/>
              <a:t>990-991: крещение Новгорода «огнем и мечем»;</a:t>
            </a:r>
          </a:p>
          <a:p>
            <a:pPr lvl="0"/>
            <a:r>
              <a:rPr lang="ru-RU" sz="2200" dirty="0"/>
              <a:t>после 991 – распространение христианства по всем землям Руси как официальной религии.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511920" y="5580037"/>
            <a:ext cx="6912768" cy="1224136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Бытование религиозных воззрений в форме двоеверия продолжалось до </a:t>
            </a:r>
            <a:r>
              <a:rPr lang="en-US" dirty="0"/>
              <a:t>XVI </a:t>
            </a:r>
            <a:r>
              <a:rPr lang="ru-RU" dirty="0"/>
              <a:t>века. Элементы двоеверия существуют (в опосредованной форме) до сих пор.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152525" y="301625"/>
            <a:ext cx="7920235" cy="669925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800" dirty="0"/>
              <a:t>Результаты принятия христианства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287784" y="1116013"/>
            <a:ext cx="9289032" cy="4938712"/>
          </a:xfrm>
        </p:spPr>
        <p:txBody>
          <a:bodyPr/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Цивилизационный: «европейский выбор», вхождение в единую историю европейских народов (до II трети XIII в.)</a:t>
            </a:r>
          </a:p>
          <a:p>
            <a:pPr lvl="0"/>
            <a:r>
              <a:rPr lang="ru-RU" sz="2400" dirty="0"/>
              <a:t>Внешнеполитический: возможность утвердить равные отношения (в то числе династические) с европейскими странами.</a:t>
            </a:r>
          </a:p>
          <a:p>
            <a:pPr lvl="0"/>
            <a:r>
              <a:rPr lang="ru-RU" sz="2400" dirty="0"/>
              <a:t>Экономический: усиление торговых связей с Византией.</a:t>
            </a:r>
          </a:p>
          <a:p>
            <a:pPr lvl="0"/>
            <a:r>
              <a:rPr lang="ru-RU" sz="2400" dirty="0"/>
              <a:t>Внутриполитические: объединение разрозненных племенных территорий на основе формирования единой христианской культуры + закрепление за правящей династией прав на управление «от Бога» и под покровительством местных святых (первые: сыновья Владимира Борис и Глеб).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719832" y="301625"/>
            <a:ext cx="8352731" cy="1029940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200" dirty="0"/>
              <a:t>«Земля» как форма социальной организации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647824" y="1547589"/>
            <a:ext cx="8424739" cy="5089525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 «Земля» - городская община, владеющая пахотной и лесной территорией и распределяющей ее для владения и с/х работ. Структурные элементы «земли» - град (его «концы» и улицы), посады и пригороды.</a:t>
            </a:r>
          </a:p>
          <a:p>
            <a:pPr lvl="0"/>
            <a:r>
              <a:rPr lang="ru-RU" sz="2400" dirty="0"/>
              <a:t>В городе: сословно-корпоративные объединения бояр, дружинников и «людей» (свободных): торговцев и ремесленников, объединённых в «сотни». Выборные руководители сотен — старцы. Глава городской общины — тысяцкий. Все они – мужи.</a:t>
            </a:r>
          </a:p>
          <a:p>
            <a:pPr lvl="0"/>
            <a:r>
              <a:rPr lang="ru-RU" sz="2400" dirty="0"/>
              <a:t>В деревне: людины на свободных и смерды на владельческих землях объединены  в «верви» - земледельческие общины, руководимые выборными десятскими и сотскими (старцами).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1295897" y="301625"/>
            <a:ext cx="6984776" cy="598488"/>
          </a:xfrm>
        </p:spPr>
        <p:txBody>
          <a:bodyPr>
            <a:no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Зависимое население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75817" y="1116013"/>
            <a:ext cx="4968552" cy="5400128"/>
          </a:xfrm>
        </p:spPr>
        <p:txBody>
          <a:bodyPr>
            <a:normAutofit fontScale="850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Смерд — лично свободен, но живет на земле князя или боярина, поэтому должен платить ренту — около 1/10 части урожая.</a:t>
            </a:r>
          </a:p>
          <a:p>
            <a:pPr lvl="0"/>
            <a:r>
              <a:rPr lang="ru-RU" dirty="0"/>
              <a:t>Закуп — должник. Работает на заимодавца, пока не вернет «купу» - долг с процентами.</a:t>
            </a:r>
          </a:p>
          <a:p>
            <a:pPr lvl="0"/>
            <a:r>
              <a:rPr lang="ru-RU" dirty="0"/>
              <a:t>Рядович — работник по «ряду» - договору.</a:t>
            </a:r>
          </a:p>
          <a:p>
            <a:pPr lvl="0"/>
            <a:r>
              <a:rPr lang="ru-RU" dirty="0"/>
              <a:t>Холоп (роб) — состояние временного рабства (до 5 лет), как правило для попавших в плен воинов и уведенных в «полон» работников, во время войн.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832400" y="971525"/>
            <a:ext cx="3672408" cy="5544616"/>
          </a:xfrm>
          <a:prstGeom prst="roundRect">
            <a:avLst>
              <a:gd name="adj" fmla="val 2881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b="1" dirty="0"/>
              <a:t>Из «Русской правды»:</a:t>
            </a:r>
          </a:p>
          <a:p>
            <a:pPr marL="342900" indent="-342900" algn="ctr">
              <a:buAutoNum type="arabicPeriod"/>
            </a:pPr>
            <a:r>
              <a:rPr lang="ru-RU" sz="1600" dirty="0"/>
              <a:t>Убьет муж мужа, то мстит брат за брата, или сын за отца, или сын брата, или сын сестры; если не будет никто мстить, то 40 гривен за убитого.</a:t>
            </a:r>
          </a:p>
          <a:p>
            <a:pPr marL="342900" indent="-342900" algn="ctr">
              <a:buAutoNum type="arabicPeriod"/>
            </a:pPr>
            <a:r>
              <a:rPr lang="ru-RU" sz="1600" dirty="0"/>
              <a:t>22. За княжеского сельского старосту или за полевого старосту платить 12 гривен, а за княжеского рядовича 5 гривен.</a:t>
            </a:r>
          </a:p>
          <a:p>
            <a:pPr algn="ctr"/>
            <a:r>
              <a:rPr lang="ru-RU" sz="1600" dirty="0"/>
              <a:t>23. А за убитого смерда или холопа 5 гривен.</a:t>
            </a:r>
          </a:p>
          <a:p>
            <a:pPr algn="ctr"/>
            <a:r>
              <a:rPr lang="ru-RU" sz="1600" dirty="0"/>
              <a:t>25. А за княжеского коня, если тот с пятном, 3 гривны, а за коня смерда 2 гривны.</a:t>
            </a:r>
          </a:p>
          <a:p>
            <a:pPr algn="ctr"/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791840" y="301625"/>
            <a:ext cx="8784976" cy="1262063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200" dirty="0"/>
              <a:t>Главные направления внутренней политики</a:t>
            </a:r>
            <a:br>
              <a:rPr lang="ru-RU" sz="3200" dirty="0"/>
            </a:br>
            <a:r>
              <a:rPr lang="ru-RU" sz="3200" dirty="0"/>
              <a:t>X — нач. XIII  в.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59792" y="1768475"/>
            <a:ext cx="8712771" cy="3811588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Выработка династических правил владения русскими землями для потомков Владимира Святославича.</a:t>
            </a:r>
          </a:p>
          <a:p>
            <a:pPr lvl="0"/>
            <a:r>
              <a:rPr lang="ru-RU" sz="2400" dirty="0"/>
              <a:t>Замена родо-племенных обычаев разрешения конфликтов государственными формами.</a:t>
            </a:r>
          </a:p>
          <a:p>
            <a:pPr lvl="0"/>
            <a:r>
              <a:rPr lang="ru-RU" sz="2400" dirty="0"/>
              <a:t>Согласование интересов населения различных земель и разрешение внутренних конфликтов.</a:t>
            </a:r>
          </a:p>
          <a:p>
            <a:pPr lvl="0"/>
            <a:r>
              <a:rPr lang="ru-RU" sz="2400" dirty="0"/>
              <a:t>Смена религиозной парадигмы и покровительство православной церкви.</a:t>
            </a:r>
          </a:p>
          <a:p>
            <a:pPr lvl="0"/>
            <a:r>
              <a:rPr lang="ru-RU" sz="2400" dirty="0"/>
              <a:t>Освоение новых территорий, пригодных для ведения с\х и с удобным расположением торговых путей.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935856" y="301626"/>
            <a:ext cx="8136707" cy="813916"/>
          </a:xfrm>
        </p:spPr>
        <p:txBody>
          <a:bodyPr>
            <a:noAutofit/>
          </a:bodyPr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Выработка династических правил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03808" y="1331565"/>
            <a:ext cx="9001000" cy="5400599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>
              <a:buNone/>
            </a:pPr>
            <a:r>
              <a:rPr lang="ru-RU" sz="2000" dirty="0"/>
              <a:t>Полоцкое княжество находится во власти потомков Изяслава Владимировича.</a:t>
            </a:r>
          </a:p>
          <a:p>
            <a:pPr lvl="0">
              <a:buNone/>
            </a:pPr>
            <a:r>
              <a:rPr lang="ru-RU" sz="2000" dirty="0"/>
              <a:t>Все остальные земли управляются потомками Ярослава Мудрого, исходя из общего </a:t>
            </a:r>
            <a:r>
              <a:rPr lang="ru-RU" sz="2000" b="1" dirty="0"/>
              <a:t>принципа «старейшинства» </a:t>
            </a:r>
            <a:r>
              <a:rPr lang="ru-RU" sz="2000" dirty="0"/>
              <a:t>в княжеском роду.</a:t>
            </a:r>
          </a:p>
          <a:p>
            <a:pPr lvl="0">
              <a:buNone/>
            </a:pPr>
            <a:r>
              <a:rPr lang="ru-RU" sz="2000" dirty="0"/>
              <a:t>Принцип «старейшинства» постоянно нарушался:</a:t>
            </a:r>
          </a:p>
          <a:p>
            <a:pPr lvl="0"/>
            <a:r>
              <a:rPr lang="ru-RU" sz="2000" dirty="0"/>
              <a:t>972-980 — первая династическая война (сыновей Святослава Игоревича).</a:t>
            </a:r>
          </a:p>
          <a:p>
            <a:pPr lvl="0"/>
            <a:r>
              <a:rPr lang="ru-RU" sz="2000" dirty="0"/>
              <a:t>1015 -1017 вторая династическая война (убийство Бориса и Глеба, Ярослав против Святополка Окаянного).</a:t>
            </a:r>
          </a:p>
          <a:p>
            <a:pPr lvl="0"/>
            <a:r>
              <a:rPr lang="ru-RU" sz="2000" dirty="0"/>
              <a:t>1023-1024 третья династическая война (Ярослав Мудрый против Мстислава Храброго).</a:t>
            </a:r>
          </a:p>
          <a:p>
            <a:pPr lvl="0"/>
            <a:r>
              <a:rPr lang="ru-RU" sz="2000" dirty="0"/>
              <a:t>1073 — четвертая династическая война (сыновей Ярослава Мудрого).</a:t>
            </a:r>
          </a:p>
          <a:p>
            <a:pPr lvl="0"/>
            <a:r>
              <a:rPr lang="ru-RU" sz="2000" dirty="0"/>
              <a:t>1078 — 1113 — период междоусобиц с участием сыновей, внуков и правнуков Ярослава.</a:t>
            </a:r>
          </a:p>
          <a:p>
            <a:pPr lvl="0"/>
            <a:r>
              <a:rPr lang="ru-RU" sz="2000" dirty="0"/>
              <a:t>После 1132 г. (смерть Мстислава Великого) непрерывна череда междоусобиц («феодальная раздробленность).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15776" y="301626"/>
            <a:ext cx="9289032" cy="885924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3200" dirty="0"/>
              <a:t>Альтернативы династическим конфликтам.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75816" y="1403350"/>
            <a:ext cx="8784976" cy="4989513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XI век - «братское соправление» при разделении прав на земли. Два варианта: а) Ярослав и Мстислав Владимировичи; б) три старших сына Ярослава (Изяслав, Святослав и Всеволод).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sz="2400" dirty="0"/>
              <a:t>1097 — съезд князей в Любече, принята формула «каждый держит отчину свою».</a:t>
            </a:r>
          </a:p>
          <a:p>
            <a:pPr lvl="0"/>
            <a:r>
              <a:rPr lang="ru-RU" sz="2400" dirty="0"/>
              <a:t>XII век: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ru-RU" sz="2400" dirty="0"/>
              <a:t> «династические соправления» (Мономашич + Ольгович) в Киеве;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ru-RU" sz="2400" dirty="0"/>
              <a:t>предоставление Новгороду особой привилегии — приглашать себе князей, ограничивая их право в управлении;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ru-RU" sz="2400" dirty="0"/>
              <a:t>формирование второго «великого княжения»  во Владимире (Андрей Боголюбский 1169 г.).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503808" y="301625"/>
            <a:ext cx="9145016" cy="977900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200" dirty="0"/>
              <a:t>Замена родоплеменных обычаев разрешения конфликтов государственными формами.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503808" y="1474788"/>
            <a:ext cx="8856984" cy="5113337"/>
          </a:xfrm>
        </p:spPr>
        <p:txBody>
          <a:bodyPr>
            <a:normAutofit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200" dirty="0"/>
              <a:t>Устранение власти «племенных» князей (последние правили у вятичей в начале XII века).</a:t>
            </a:r>
          </a:p>
          <a:p>
            <a:pPr lvl="0"/>
            <a:r>
              <a:rPr lang="ru-RU" sz="2200" dirty="0"/>
              <a:t>Замена </a:t>
            </a:r>
            <a:r>
              <a:rPr lang="ru-RU" sz="2200" b="1" dirty="0"/>
              <a:t>полюдья</a:t>
            </a:r>
            <a:r>
              <a:rPr lang="ru-RU" sz="2200" dirty="0"/>
              <a:t> налогами и введение судебных и торговых пошлин, сбора за перевоз через реку.</a:t>
            </a:r>
          </a:p>
          <a:p>
            <a:pPr lvl="0"/>
            <a:r>
              <a:rPr lang="ru-RU" sz="2200" dirty="0"/>
              <a:t>Распространение действия «Русской правды» на все земли Руси.</a:t>
            </a:r>
          </a:p>
          <a:p>
            <a:pPr lvl="0"/>
            <a:r>
              <a:rPr lang="ru-RU" sz="2200" dirty="0"/>
              <a:t>Оформление общей финансовой системы (замена «меховых» денег — векш (шкурок белки) на серебряные: гривны-ногаты-куны-резаны.</a:t>
            </a:r>
          </a:p>
          <a:p>
            <a:pPr lvl="0"/>
            <a:r>
              <a:rPr lang="ru-RU" sz="2200" dirty="0"/>
              <a:t>Назначение в города (кроме Новгорода) бояр-правителей (посадников/наместников).</a:t>
            </a:r>
          </a:p>
          <a:p>
            <a:pPr lvl="0"/>
            <a:r>
              <a:rPr lang="ru-RU" sz="2200" dirty="0"/>
              <a:t>Формирование из числа дружинников </a:t>
            </a:r>
            <a:r>
              <a:rPr lang="ru-RU" sz="2200" b="1" dirty="0"/>
              <a:t>проточиновников</a:t>
            </a:r>
            <a:r>
              <a:rPr lang="ru-RU" sz="2200" dirty="0"/>
              <a:t> (вирников, мечников).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15776" y="301625"/>
            <a:ext cx="9433048" cy="1262063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3200" dirty="0"/>
              <a:t>Согласование интересов населения различных земель и разрешение внутренних конфликтов.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287784" y="1768475"/>
            <a:ext cx="5472608" cy="5179714"/>
          </a:xfrm>
        </p:spPr>
        <p:txBody>
          <a:bodyPr>
            <a:normAutofit fontScale="85000" lnSpcReduction="2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sz="2400" dirty="0"/>
              <a:t>«Кочевание по столам» - представители единой династии переходят из города в город по мере роста их авторитета. Сила князя = могуществу земель.</a:t>
            </a:r>
          </a:p>
          <a:p>
            <a:pPr lvl="0"/>
            <a:r>
              <a:rPr lang="ru-RU" sz="2400" dirty="0"/>
              <a:t>Принятие решений по ключевым вопросам управления с участием «сотских и десятских» - представителей городской общины («земли»).</a:t>
            </a:r>
          </a:p>
          <a:p>
            <a:pPr lvl="0"/>
            <a:r>
              <a:rPr lang="ru-RU" sz="2400" dirty="0"/>
              <a:t>«Снемы» - съезды князей, на которых решаются спорные вопросы (часто – с участием представителей дружины и городов).</a:t>
            </a:r>
          </a:p>
          <a:p>
            <a:pPr lvl="0"/>
            <a:r>
              <a:rPr lang="ru-RU" sz="2400" dirty="0"/>
              <a:t>Совместные походы княжеских дружин как в «Дикое поле», так и против князя — зачинщика раздоров (Святослава Ольговича, Давыда Игоревича в к. XI —  нач. XII вв., боярина Владислава </a:t>
            </a:r>
            <a:r>
              <a:rPr lang="ru-RU" sz="2400" dirty="0" err="1"/>
              <a:t>Кормиличича</a:t>
            </a:r>
            <a:r>
              <a:rPr lang="ru-RU" sz="2400" dirty="0"/>
              <a:t> в Галиче нач. </a:t>
            </a:r>
            <a:r>
              <a:rPr lang="en-US" sz="2400" dirty="0"/>
              <a:t>XIII </a:t>
            </a:r>
            <a:r>
              <a:rPr lang="ru-RU" sz="2400" dirty="0"/>
              <a:t>в.).</a:t>
            </a:r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5904408" y="1763613"/>
            <a:ext cx="3816424" cy="482453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Из «Повести временных лет»</a:t>
            </a:r>
          </a:p>
          <a:p>
            <a:pPr algn="ctr"/>
            <a:r>
              <a:rPr lang="ru-RU" sz="1600" dirty="0"/>
              <a:t>В год 6604 (1096). Святополк и Владимир послали к Олегу, говоря так: «Приди в Киев, да заключим договор о Русской земле перед епископами и игуменами, и перед мужами отцов наших, и перед горожанами, чтобы оборонили мы Русскую землю от поганых». Олег же, исполнившись дерзких намерений и высокомерных слов, сказал так: «Не пристойно судить меня епископу, или чернецам, или смердам». И не захотел идти к братьям своим, послушав недобрых советников</a:t>
            </a:r>
            <a:r>
              <a:rPr lang="ru-RU" sz="1400" dirty="0"/>
              <a:t>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935856" y="301626"/>
            <a:ext cx="8136707" cy="741908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ru-RU" sz="2800" dirty="0"/>
              <a:t>Покровительство православной церкви.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431800" y="1331913"/>
            <a:ext cx="6408712" cy="4989512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Утверждение церковных Уставов княжеской властью (первый — устав Владимира Святославича)</a:t>
            </a:r>
          </a:p>
          <a:p>
            <a:pPr lvl="0"/>
            <a:r>
              <a:rPr lang="ru-RU" dirty="0"/>
              <a:t>Установление церковного налога — десятины.</a:t>
            </a:r>
          </a:p>
          <a:p>
            <a:pPr lvl="0"/>
            <a:r>
              <a:rPr lang="ru-RU" dirty="0"/>
              <a:t>Борьба с волхвами и языческими культами.</a:t>
            </a:r>
          </a:p>
          <a:p>
            <a:pPr lvl="0"/>
            <a:r>
              <a:rPr lang="ru-RU" dirty="0"/>
              <a:t>Строительство храмов на средства князей.</a:t>
            </a:r>
          </a:p>
          <a:p>
            <a:pPr lvl="0"/>
            <a:r>
              <a:rPr lang="ru-RU" dirty="0"/>
              <a:t>Сопряжение христианства с правящей династией (культ Бориса и Глеба, затем – св. Ольги и св. Владимира).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520" y="1619597"/>
            <a:ext cx="2684141" cy="3652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6984528" y="5436021"/>
            <a:ext cx="2612133" cy="108012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Борис и Глеб – первые святые Руси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15776" y="395461"/>
            <a:ext cx="9577064" cy="1096219"/>
          </a:xfrm>
        </p:spPr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lnSpc>
                <a:spcPct val="100000"/>
              </a:lnSpc>
              <a:buNone/>
            </a:pPr>
            <a:r>
              <a:rPr lang="ru-RU" sz="2800" dirty="0"/>
              <a:t>Освоение новых территорий, пригодных для ведения с\х и с удобным расположением торговых путей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59792" y="1768475"/>
            <a:ext cx="9217024" cy="4314825"/>
          </a:xfrm>
        </p:spPr>
        <p:txBody>
          <a:bodyPr>
            <a:normAutofit fontScale="92500" lnSpcReduction="10000"/>
          </a:bodyPr>
          <a:lstStyle>
            <a:def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None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defPPr>
            <a:lvl1pPr marL="432000" marR="0" lvl="0" indent="-324000">
              <a:spcBef>
                <a:spcPts val="0"/>
              </a:spcBef>
              <a:spcAft>
                <a:spcPts val="1148"/>
              </a:spcAft>
              <a:buSzPct val="45000"/>
              <a:buFont typeface="StarSymbol"/>
              <a:buChar char="●"/>
              <a:defRPr lang="ru-RU" sz="26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1pPr>
            <a:lvl2pPr marL="864000" marR="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ru-RU" sz="28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2pPr>
            <a:lvl3pPr marL="1295999" marR="0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ru-RU" sz="24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3pPr>
            <a:lvl4pPr marL="1728000" marR="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4pPr>
            <a:lvl5pPr marL="2160000" marR="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5pPr>
            <a:lvl6pPr marL="2592000" marR="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6pPr>
            <a:lvl7pPr marL="3024000" marR="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7pPr>
            <a:lvl8pPr marL="3456000" marR="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8pPr>
            <a:lvl9pPr marL="3887999" marR="0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ru-RU" sz="2000" b="0" i="0" u="none" strike="noStrike" kern="1200">
                <a:ln>
                  <a:noFill/>
                </a:ln>
                <a:latin typeface="Arial" pitchFamily="18"/>
                <a:ea typeface="Microsoft YaHei" pitchFamily="2"/>
                <a:cs typeface="Mangal" pitchFamily="2"/>
              </a:defRPr>
            </a:lvl9pPr>
          </a:lstStyle>
          <a:p>
            <a:pPr lvl="0"/>
            <a:r>
              <a:rPr lang="ru-RU" dirty="0"/>
              <a:t>Олег — утверждение власти великого князя вдоль пути «Из варяг в греки».</a:t>
            </a:r>
          </a:p>
          <a:p>
            <a:pPr lvl="0"/>
            <a:r>
              <a:rPr lang="ru-RU" dirty="0"/>
              <a:t>Святослава Игоревич — основание Тмутаракани на Черном море.</a:t>
            </a:r>
          </a:p>
          <a:p>
            <a:pPr lvl="0"/>
            <a:r>
              <a:rPr lang="ru-RU" dirty="0"/>
              <a:t>Владимир </a:t>
            </a:r>
            <a:r>
              <a:rPr lang="ru-RU" dirty="0" err="1"/>
              <a:t>Святославич</a:t>
            </a:r>
            <a:r>
              <a:rPr lang="ru-RU" dirty="0"/>
              <a:t> –  строительство «</a:t>
            </a:r>
            <a:r>
              <a:rPr lang="ru-RU" dirty="0" err="1"/>
              <a:t>Змиевых</a:t>
            </a:r>
            <a:r>
              <a:rPr lang="ru-RU" dirty="0"/>
              <a:t> валов» на границе с Диким полем.</a:t>
            </a:r>
          </a:p>
          <a:p>
            <a:pPr lvl="0"/>
            <a:r>
              <a:rPr lang="ru-RU" dirty="0"/>
              <a:t>Ярослав Мудрый – закладка сторожевых крепостей (градов): Юрьева в Прибалтике и Ярославля на Верхней Волге.</a:t>
            </a:r>
          </a:p>
          <a:p>
            <a:pPr lvl="0"/>
            <a:r>
              <a:rPr lang="ru-RU" dirty="0"/>
              <a:t>Владимир Мономах — строительство Владимира на Клязьме и освоение бассейна Оки-Волги.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616</TotalTime>
  <Words>2532</Words>
  <Application>Microsoft Office PowerPoint</Application>
  <PresentationFormat>Произвольный</PresentationFormat>
  <Paragraphs>175</Paragraphs>
  <Slides>27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27</vt:i4>
      </vt:variant>
    </vt:vector>
  </HeadingPairs>
  <TitlesOfParts>
    <vt:vector size="37" baseType="lpstr">
      <vt:lpstr>Arial</vt:lpstr>
      <vt:lpstr>Calibri</vt:lpstr>
      <vt:lpstr>Century Gothic</vt:lpstr>
      <vt:lpstr>Courier New</vt:lpstr>
      <vt:lpstr>Palatino Linotype</vt:lpstr>
      <vt:lpstr>StarSymbol</vt:lpstr>
      <vt:lpstr>Times New Roman</vt:lpstr>
      <vt:lpstr>Wingdings</vt:lpstr>
      <vt:lpstr>Исполнительная</vt:lpstr>
      <vt:lpstr>1_Исполнительная</vt:lpstr>
      <vt:lpstr>История России</vt:lpstr>
      <vt:lpstr>Славяне</vt:lpstr>
      <vt:lpstr>Восточные славяне</vt:lpstr>
      <vt:lpstr>Презентация PowerPoint</vt:lpstr>
      <vt:lpstr>Два пути расселения</vt:lpstr>
      <vt:lpstr>Презентация PowerPoint</vt:lpstr>
      <vt:lpstr>Экономика VI – X вв.</vt:lpstr>
      <vt:lpstr>Ремесленные изделия IX – XII веков</vt:lpstr>
      <vt:lpstr>Торговля: путь «Из Варяг в Греки»</vt:lpstr>
      <vt:lpstr> Раннефеодальное общество, базовые черты:</vt:lpstr>
      <vt:lpstr>Основные даты в создании государства</vt:lpstr>
      <vt:lpstr>Вопрос о том, кто создал древнерусское государство</vt:lpstr>
      <vt:lpstr>Презентация PowerPoint</vt:lpstr>
      <vt:lpstr>Вопрос о политическом режиме Древнерусского государства</vt:lpstr>
      <vt:lpstr>Древняя Русь как раннефеодальная империя (государство государств):</vt:lpstr>
      <vt:lpstr>Для сохранения власти правителю раннефеодального государства необходимо:</vt:lpstr>
      <vt:lpstr>Переформатирование культуры</vt:lpstr>
      <vt:lpstr>Результаты принятия христианства</vt:lpstr>
      <vt:lpstr>«Земля» как форма социальной организации</vt:lpstr>
      <vt:lpstr>Зависимое население</vt:lpstr>
      <vt:lpstr>Главные направления внутренней политики X — нач. XIII  в.</vt:lpstr>
      <vt:lpstr>Выработка династических правил</vt:lpstr>
      <vt:lpstr>Альтернативы династическим конфликтам.</vt:lpstr>
      <vt:lpstr>Замена родоплеменных обычаев разрешения конфликтов государственными формами.</vt:lpstr>
      <vt:lpstr>Согласование интересов населения различных земель и разрешение внутренних конфликтов.</vt:lpstr>
      <vt:lpstr>Покровительство православной церкви.</vt:lpstr>
      <vt:lpstr>Освоение новых территорий, пригодных для ведения с\х и с удобным расположением торговых путей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Отечества</dc:title>
  <dc:creator>Константин Соловьев</dc:creator>
  <cp:lastModifiedBy>Константин Соловьев</cp:lastModifiedBy>
  <cp:revision>35</cp:revision>
  <dcterms:created xsi:type="dcterms:W3CDTF">2015-08-05T19:01:27Z</dcterms:created>
  <dcterms:modified xsi:type="dcterms:W3CDTF">2023-08-22T09:29:49Z</dcterms:modified>
</cp:coreProperties>
</file>