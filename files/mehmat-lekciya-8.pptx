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83" r:id="rId13"/>
    <p:sldId id="269" r:id="rId14"/>
    <p:sldId id="270" r:id="rId15"/>
    <p:sldId id="271" r:id="rId16"/>
    <p:sldId id="284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731199-C957-405D-AEB8-AAE7F819DF90}" type="doc">
      <dgm:prSet loTypeId="urn:diagrams.loki3.com/BracketList+Icon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1A9BB99-260F-4988-81D0-535C3D62C008}">
      <dgm:prSet phldrT="[Текст]"/>
      <dgm:spPr/>
      <dgm:t>
        <a:bodyPr/>
        <a:lstStyle/>
        <a:p>
          <a:r>
            <a:rPr lang="ru-RU" dirty="0" smtClean="0"/>
            <a:t>Экономика </a:t>
          </a:r>
          <a:endParaRPr lang="ru-RU" dirty="0"/>
        </a:p>
      </dgm:t>
    </dgm:pt>
    <dgm:pt modelId="{0820A4F1-4D5D-499D-B8F2-BAF037105CD8}" type="parTrans" cxnId="{7EE7545E-39F6-49E9-BE20-5E2F8B7F5ACD}">
      <dgm:prSet/>
      <dgm:spPr/>
      <dgm:t>
        <a:bodyPr/>
        <a:lstStyle/>
        <a:p>
          <a:endParaRPr lang="ru-RU"/>
        </a:p>
      </dgm:t>
    </dgm:pt>
    <dgm:pt modelId="{27A5C08B-8C4B-4FD9-A281-7D84472F13F0}" type="sibTrans" cxnId="{7EE7545E-39F6-49E9-BE20-5E2F8B7F5ACD}">
      <dgm:prSet/>
      <dgm:spPr/>
      <dgm:t>
        <a:bodyPr/>
        <a:lstStyle/>
        <a:p>
          <a:endParaRPr lang="ru-RU"/>
        </a:p>
      </dgm:t>
    </dgm:pt>
    <dgm:pt modelId="{EF52F717-0B56-4CA0-82B9-6A5C6A5CF5CD}">
      <dgm:prSet phldrT="[Текст]"/>
      <dgm:spPr>
        <a:effectLst>
          <a:glow rad="139700">
            <a:schemeClr val="accent5">
              <a:satMod val="175000"/>
              <a:alpha val="40000"/>
            </a:schemeClr>
          </a:glow>
        </a:effectLst>
      </dgm:spPr>
      <dgm:t>
        <a:bodyPr/>
        <a:lstStyle/>
        <a:p>
          <a:r>
            <a:rPr lang="ru-RU" dirty="0" smtClean="0"/>
            <a:t>эффект реформ + цена на нефть;</a:t>
          </a:r>
          <a:endParaRPr lang="ru-RU" dirty="0"/>
        </a:p>
      </dgm:t>
    </dgm:pt>
    <dgm:pt modelId="{6E7025B3-520F-4454-A84A-492B8246D9F0}" type="parTrans" cxnId="{8E527541-FBAB-4E8A-9ED6-DD92FD1BD433}">
      <dgm:prSet/>
      <dgm:spPr/>
      <dgm:t>
        <a:bodyPr/>
        <a:lstStyle/>
        <a:p>
          <a:endParaRPr lang="ru-RU"/>
        </a:p>
      </dgm:t>
    </dgm:pt>
    <dgm:pt modelId="{65770DE4-B73F-4BF9-B95A-72A80B0E1F87}" type="sibTrans" cxnId="{8E527541-FBAB-4E8A-9ED6-DD92FD1BD433}">
      <dgm:prSet/>
      <dgm:spPr/>
      <dgm:t>
        <a:bodyPr/>
        <a:lstStyle/>
        <a:p>
          <a:endParaRPr lang="ru-RU"/>
        </a:p>
      </dgm:t>
    </dgm:pt>
    <dgm:pt modelId="{9F693C76-0224-47CD-8E61-BFD7C5A5DBE7}">
      <dgm:prSet phldrT="[Текст]"/>
      <dgm:spPr>
        <a:effectLst>
          <a:glow rad="139700">
            <a:schemeClr val="accent5">
              <a:satMod val="175000"/>
              <a:alpha val="40000"/>
            </a:schemeClr>
          </a:glow>
        </a:effectLst>
      </dgm:spPr>
      <dgm:t>
        <a:bodyPr/>
        <a:lstStyle/>
        <a:p>
          <a:r>
            <a:rPr lang="ru-RU" dirty="0" smtClean="0"/>
            <a:t>появилась возможность говорить о стабильности как о главной ценности общества.</a:t>
          </a:r>
          <a:endParaRPr lang="ru-RU" dirty="0"/>
        </a:p>
      </dgm:t>
    </dgm:pt>
    <dgm:pt modelId="{AA01B460-D583-44E7-8D33-116D4962A39A}" type="parTrans" cxnId="{7ED7BE44-8A99-455B-B3A1-4B401D80FC16}">
      <dgm:prSet/>
      <dgm:spPr/>
      <dgm:t>
        <a:bodyPr/>
        <a:lstStyle/>
        <a:p>
          <a:endParaRPr lang="ru-RU"/>
        </a:p>
      </dgm:t>
    </dgm:pt>
    <dgm:pt modelId="{40BB7EA5-5145-47BD-98BF-46CADD1B1247}" type="sibTrans" cxnId="{7ED7BE44-8A99-455B-B3A1-4B401D80FC16}">
      <dgm:prSet/>
      <dgm:spPr/>
      <dgm:t>
        <a:bodyPr/>
        <a:lstStyle/>
        <a:p>
          <a:endParaRPr lang="ru-RU"/>
        </a:p>
      </dgm:t>
    </dgm:pt>
    <dgm:pt modelId="{6AF9ED81-CD85-41F1-BFD3-42E9DBFD0A22}">
      <dgm:prSet phldrT="[Текст]"/>
      <dgm:spPr/>
      <dgm:t>
        <a:bodyPr/>
        <a:lstStyle/>
        <a:p>
          <a:r>
            <a:rPr lang="ru-RU" dirty="0" smtClean="0"/>
            <a:t>Чечня</a:t>
          </a:r>
          <a:endParaRPr lang="ru-RU" dirty="0"/>
        </a:p>
      </dgm:t>
    </dgm:pt>
    <dgm:pt modelId="{F4BE87C4-5CC0-4064-8DF0-6BCBE57480E4}" type="parTrans" cxnId="{D60B08DB-3AE8-4EDD-9C6A-B11BB954ED98}">
      <dgm:prSet/>
      <dgm:spPr/>
      <dgm:t>
        <a:bodyPr/>
        <a:lstStyle/>
        <a:p>
          <a:endParaRPr lang="ru-RU"/>
        </a:p>
      </dgm:t>
    </dgm:pt>
    <dgm:pt modelId="{9E1F5CA5-7A18-426F-8EE9-110E5C95D68D}" type="sibTrans" cxnId="{D60B08DB-3AE8-4EDD-9C6A-B11BB954ED98}">
      <dgm:prSet/>
      <dgm:spPr/>
      <dgm:t>
        <a:bodyPr/>
        <a:lstStyle/>
        <a:p>
          <a:endParaRPr lang="ru-RU"/>
        </a:p>
      </dgm:t>
    </dgm:pt>
    <dgm:pt modelId="{FBED4CFE-CD90-43DB-A2FA-ED8EA007A148}">
      <dgm:prSet phldrT="[Текст]"/>
      <dgm:spPr>
        <a:effectLst>
          <a:glow rad="139700">
            <a:schemeClr val="accent5">
              <a:satMod val="175000"/>
              <a:alpha val="40000"/>
            </a:schemeClr>
          </a:glow>
        </a:effectLst>
      </dgm:spPr>
      <dgm:t>
        <a:bodyPr/>
        <a:lstStyle/>
        <a:p>
          <a:r>
            <a:rPr lang="ru-RU" dirty="0" smtClean="0"/>
            <a:t>автономизация конфликта;</a:t>
          </a:r>
          <a:endParaRPr lang="ru-RU" dirty="0"/>
        </a:p>
      </dgm:t>
    </dgm:pt>
    <dgm:pt modelId="{D0F33590-F47F-49DB-A9A8-8A7726E5DE1D}" type="parTrans" cxnId="{0B13E04C-FEEA-47B3-AA9B-8BF9EE4ABE14}">
      <dgm:prSet/>
      <dgm:spPr/>
      <dgm:t>
        <a:bodyPr/>
        <a:lstStyle/>
        <a:p>
          <a:endParaRPr lang="ru-RU"/>
        </a:p>
      </dgm:t>
    </dgm:pt>
    <dgm:pt modelId="{4B53B045-3EB4-435A-B2BA-B5801E6FE757}" type="sibTrans" cxnId="{0B13E04C-FEEA-47B3-AA9B-8BF9EE4ABE14}">
      <dgm:prSet/>
      <dgm:spPr/>
      <dgm:t>
        <a:bodyPr/>
        <a:lstStyle/>
        <a:p>
          <a:endParaRPr lang="ru-RU"/>
        </a:p>
      </dgm:t>
    </dgm:pt>
    <dgm:pt modelId="{95C124FB-85A6-4C10-947C-32B7486E303E}">
      <dgm:prSet phldrT="[Текст]"/>
      <dgm:spPr>
        <a:effectLst>
          <a:glow rad="139700">
            <a:schemeClr val="accent5">
              <a:satMod val="175000"/>
              <a:alpha val="40000"/>
            </a:schemeClr>
          </a:glow>
        </a:effectLst>
      </dgm:spPr>
      <dgm:t>
        <a:bodyPr/>
        <a:lstStyle/>
        <a:p>
          <a:r>
            <a:rPr lang="ru-RU" dirty="0" smtClean="0"/>
            <a:t>телевидение конструирует иллюзию победы и ликвидации угрозы распада России.</a:t>
          </a:r>
          <a:endParaRPr lang="ru-RU" dirty="0"/>
        </a:p>
      </dgm:t>
    </dgm:pt>
    <dgm:pt modelId="{8FE6CAF1-F535-4085-97E8-72F60BD602A2}" type="parTrans" cxnId="{A964F4E6-1055-4EEE-BAAA-3C460F1C371A}">
      <dgm:prSet/>
      <dgm:spPr/>
      <dgm:t>
        <a:bodyPr/>
        <a:lstStyle/>
        <a:p>
          <a:endParaRPr lang="ru-RU"/>
        </a:p>
      </dgm:t>
    </dgm:pt>
    <dgm:pt modelId="{0A9080B6-B7EA-4D79-B65B-8E697313D089}" type="sibTrans" cxnId="{A964F4E6-1055-4EEE-BAAA-3C460F1C371A}">
      <dgm:prSet/>
      <dgm:spPr/>
      <dgm:t>
        <a:bodyPr/>
        <a:lstStyle/>
        <a:p>
          <a:endParaRPr lang="ru-RU"/>
        </a:p>
      </dgm:t>
    </dgm:pt>
    <dgm:pt modelId="{0A61618B-09A4-46CC-BDD3-F0599962A005}">
      <dgm:prSet phldrT="[Текст]"/>
      <dgm:spPr/>
      <dgm:t>
        <a:bodyPr/>
        <a:lstStyle/>
        <a:p>
          <a:r>
            <a:rPr lang="ru-RU" dirty="0" smtClean="0"/>
            <a:t>Терроризм</a:t>
          </a:r>
          <a:endParaRPr lang="ru-RU" dirty="0"/>
        </a:p>
      </dgm:t>
    </dgm:pt>
    <dgm:pt modelId="{E25C0F1B-C1C2-494C-B5B3-2212D779B1D0}" type="parTrans" cxnId="{14C817A4-AF81-48EC-8CFD-73DAEFF53900}">
      <dgm:prSet/>
      <dgm:spPr/>
      <dgm:t>
        <a:bodyPr/>
        <a:lstStyle/>
        <a:p>
          <a:endParaRPr lang="ru-RU"/>
        </a:p>
      </dgm:t>
    </dgm:pt>
    <dgm:pt modelId="{8DFF0390-FBFF-4F66-8BC7-46486CACA0BD}" type="sibTrans" cxnId="{14C817A4-AF81-48EC-8CFD-73DAEFF53900}">
      <dgm:prSet/>
      <dgm:spPr/>
      <dgm:t>
        <a:bodyPr/>
        <a:lstStyle/>
        <a:p>
          <a:endParaRPr lang="ru-RU"/>
        </a:p>
      </dgm:t>
    </dgm:pt>
    <dgm:pt modelId="{385EFE06-8F9B-4D46-B6B9-77CCB5168A93}">
      <dgm:prSet phldrT="[Текст]"/>
      <dgm:spPr>
        <a:effectLst>
          <a:glow rad="139700">
            <a:schemeClr val="accent5">
              <a:satMod val="175000"/>
              <a:alpha val="40000"/>
            </a:schemeClr>
          </a:glow>
        </a:effectLst>
      </dgm:spPr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dirty="0" smtClean="0"/>
            <a:t>сплочение общества вокруг призыва «мочить в сортире»;</a:t>
          </a:r>
        </a:p>
      </dgm:t>
    </dgm:pt>
    <dgm:pt modelId="{1B1CB95B-AA44-46F8-9F42-9AC75A8D07A3}" type="parTrans" cxnId="{6D2847D8-FE6E-4F1F-BE12-C4B90F81D497}">
      <dgm:prSet/>
      <dgm:spPr/>
      <dgm:t>
        <a:bodyPr/>
        <a:lstStyle/>
        <a:p>
          <a:endParaRPr lang="ru-RU"/>
        </a:p>
      </dgm:t>
    </dgm:pt>
    <dgm:pt modelId="{B26F6B70-25A6-4BF1-A0C6-8A14617B1B51}" type="sibTrans" cxnId="{6D2847D8-FE6E-4F1F-BE12-C4B90F81D497}">
      <dgm:prSet/>
      <dgm:spPr/>
      <dgm:t>
        <a:bodyPr/>
        <a:lstStyle/>
        <a:p>
          <a:endParaRPr lang="ru-RU"/>
        </a:p>
      </dgm:t>
    </dgm:pt>
    <dgm:pt modelId="{F89B88CB-F777-42DD-9D63-99011341FEBA}">
      <dgm:prSet/>
      <dgm:spPr/>
      <dgm:t>
        <a:bodyPr/>
        <a:lstStyle/>
        <a:p>
          <a:r>
            <a:rPr lang="ru-RU" dirty="0" smtClean="0"/>
            <a:t>Внешняя политика</a:t>
          </a:r>
          <a:endParaRPr lang="ru-RU" dirty="0"/>
        </a:p>
      </dgm:t>
    </dgm:pt>
    <dgm:pt modelId="{099A68F4-B1D8-4957-83D2-589A12F91128}" type="parTrans" cxnId="{542320B8-A86A-4D84-836A-41396D509D35}">
      <dgm:prSet/>
      <dgm:spPr/>
      <dgm:t>
        <a:bodyPr/>
        <a:lstStyle/>
        <a:p>
          <a:endParaRPr lang="ru-RU"/>
        </a:p>
      </dgm:t>
    </dgm:pt>
    <dgm:pt modelId="{FA9F9015-DAF1-46BC-B235-B74F56AC7415}" type="sibTrans" cxnId="{542320B8-A86A-4D84-836A-41396D509D35}">
      <dgm:prSet/>
      <dgm:spPr/>
      <dgm:t>
        <a:bodyPr/>
        <a:lstStyle/>
        <a:p>
          <a:endParaRPr lang="ru-RU"/>
        </a:p>
      </dgm:t>
    </dgm:pt>
    <dgm:pt modelId="{ECA2DEB3-04AB-4E0F-9D17-E39A4176B889}">
      <dgm:prSet/>
      <dgm:spPr>
        <a:effectLst>
          <a:glow rad="139700">
            <a:schemeClr val="accent5">
              <a:satMod val="175000"/>
              <a:alpha val="40000"/>
            </a:schemeClr>
          </a:glow>
        </a:effectLst>
      </dgm:spPr>
      <dgm:t>
        <a:bodyPr/>
        <a:lstStyle/>
        <a:p>
          <a:r>
            <a:rPr lang="ru-RU" dirty="0" smtClean="0"/>
            <a:t>военная активность США на Ближнем Востоке и в Афганистане позволяет возродить внешнеполитическую доктрину позднего СССР о «вероятном противнике»;</a:t>
          </a:r>
          <a:endParaRPr lang="ru-RU" dirty="0"/>
        </a:p>
      </dgm:t>
    </dgm:pt>
    <dgm:pt modelId="{25A8771E-22DF-4F43-951D-A09CDDD1CBC1}" type="parTrans" cxnId="{2C95F707-8462-465E-A82F-D6578D376BF6}">
      <dgm:prSet/>
      <dgm:spPr/>
      <dgm:t>
        <a:bodyPr/>
        <a:lstStyle/>
        <a:p>
          <a:endParaRPr lang="ru-RU"/>
        </a:p>
      </dgm:t>
    </dgm:pt>
    <dgm:pt modelId="{10BE2747-63DA-4852-830D-13C2485800A3}" type="sibTrans" cxnId="{2C95F707-8462-465E-A82F-D6578D376BF6}">
      <dgm:prSet/>
      <dgm:spPr/>
      <dgm:t>
        <a:bodyPr/>
        <a:lstStyle/>
        <a:p>
          <a:endParaRPr lang="ru-RU"/>
        </a:p>
      </dgm:t>
    </dgm:pt>
    <dgm:pt modelId="{49B1641F-27A5-4181-8C96-F8FAF3FDAC84}">
      <dgm:prSet/>
      <dgm:spPr>
        <a:effectLst>
          <a:glow rad="139700">
            <a:schemeClr val="accent5">
              <a:satMod val="175000"/>
              <a:alpha val="40000"/>
            </a:schemeClr>
          </a:glow>
        </a:effectLst>
      </dgm:spPr>
      <dgm:t>
        <a:bodyPr/>
        <a:lstStyle/>
        <a:p>
          <a:r>
            <a:rPr lang="ru-RU" dirty="0" smtClean="0"/>
            <a:t>«оранжевые революции» трактуются как нарастание внешней угрозы стабильности российской жизни.</a:t>
          </a:r>
          <a:endParaRPr lang="ru-RU" dirty="0"/>
        </a:p>
      </dgm:t>
    </dgm:pt>
    <dgm:pt modelId="{40D0A959-D53A-4CE0-B34C-06B88AC9A357}" type="parTrans" cxnId="{7886F735-AEBA-4F66-98A8-552D44846D72}">
      <dgm:prSet/>
      <dgm:spPr/>
      <dgm:t>
        <a:bodyPr/>
        <a:lstStyle/>
        <a:p>
          <a:endParaRPr lang="ru-RU"/>
        </a:p>
      </dgm:t>
    </dgm:pt>
    <dgm:pt modelId="{1B17AD61-9812-411E-A930-D636047B0EE3}" type="sibTrans" cxnId="{7886F735-AEBA-4F66-98A8-552D44846D72}">
      <dgm:prSet/>
      <dgm:spPr/>
      <dgm:t>
        <a:bodyPr/>
        <a:lstStyle/>
        <a:p>
          <a:endParaRPr lang="ru-RU"/>
        </a:p>
      </dgm:t>
    </dgm:pt>
    <dgm:pt modelId="{FA09BE7B-4E50-4826-A77E-AC610ABBC864}">
      <dgm:prSet phldrT="[Текст]"/>
      <dgm:spPr>
        <a:effectLst>
          <a:glow rad="139700">
            <a:schemeClr val="accent5">
              <a:satMod val="175000"/>
              <a:alpha val="40000"/>
            </a:schemeClr>
          </a:glow>
        </a:effectLst>
      </dgm:spPr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dirty="0" smtClean="0"/>
            <a:t>любой новый теракт  - оправдание «борьбы с экстремизмом» и усиление власти силовых структур в стране.</a:t>
          </a:r>
        </a:p>
      </dgm:t>
    </dgm:pt>
    <dgm:pt modelId="{8A200FF6-30F1-47DE-B821-13AD54F7D6B0}" type="parTrans" cxnId="{E183D6EE-0C3F-40E1-8068-7765ABF3B73A}">
      <dgm:prSet/>
      <dgm:spPr/>
      <dgm:t>
        <a:bodyPr/>
        <a:lstStyle/>
        <a:p>
          <a:endParaRPr lang="ru-RU"/>
        </a:p>
      </dgm:t>
    </dgm:pt>
    <dgm:pt modelId="{2DCA03BD-F2DF-4346-8889-C97566921C9D}" type="sibTrans" cxnId="{E183D6EE-0C3F-40E1-8068-7765ABF3B73A}">
      <dgm:prSet/>
      <dgm:spPr/>
      <dgm:t>
        <a:bodyPr/>
        <a:lstStyle/>
        <a:p>
          <a:endParaRPr lang="ru-RU"/>
        </a:p>
      </dgm:t>
    </dgm:pt>
    <dgm:pt modelId="{04799BD1-27C4-4322-B226-AE067D4C6D2E}">
      <dgm:prSet/>
      <dgm:spPr>
        <a:effectLst>
          <a:glow rad="139700">
            <a:schemeClr val="accent5">
              <a:satMod val="175000"/>
              <a:alpha val="40000"/>
            </a:schemeClr>
          </a:glow>
        </a:effectLst>
      </dgm:spPr>
      <dgm:t>
        <a:bodyPr/>
        <a:lstStyle/>
        <a:p>
          <a:endParaRPr lang="ru-RU" dirty="0" smtClean="0"/>
        </a:p>
      </dgm:t>
    </dgm:pt>
    <dgm:pt modelId="{629B2B11-B765-4B8F-BB4F-887B8E6D83E9}" type="parTrans" cxnId="{328067BF-CF8B-497F-BE14-06D56F42060F}">
      <dgm:prSet/>
      <dgm:spPr/>
      <dgm:t>
        <a:bodyPr/>
        <a:lstStyle/>
        <a:p>
          <a:endParaRPr lang="ru-RU"/>
        </a:p>
      </dgm:t>
    </dgm:pt>
    <dgm:pt modelId="{E7C2EA9F-0462-41A3-B8C9-765FB5DC08E2}" type="sibTrans" cxnId="{328067BF-CF8B-497F-BE14-06D56F42060F}">
      <dgm:prSet/>
      <dgm:spPr/>
      <dgm:t>
        <a:bodyPr/>
        <a:lstStyle/>
        <a:p>
          <a:endParaRPr lang="ru-RU"/>
        </a:p>
      </dgm:t>
    </dgm:pt>
    <dgm:pt modelId="{2DEC42B7-E222-4C5A-8E5B-45ABB03524CA}" type="pres">
      <dgm:prSet presAssocID="{16731199-C957-405D-AEB8-AAE7F819DF9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21E1EC0-296E-45EC-9162-081635BADECE}" type="pres">
      <dgm:prSet presAssocID="{B1A9BB99-260F-4988-81D0-535C3D62C008}" presName="linNode" presStyleCnt="0"/>
      <dgm:spPr/>
    </dgm:pt>
    <dgm:pt modelId="{9DC88C0E-81B3-4D3E-9849-734A485D4EA6}" type="pres">
      <dgm:prSet presAssocID="{B1A9BB99-260F-4988-81D0-535C3D62C008}" presName="parTx" presStyleLbl="revTx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6FA63FA-A597-4E26-B85C-E083CD1C47E7}" type="pres">
      <dgm:prSet presAssocID="{B1A9BB99-260F-4988-81D0-535C3D62C008}" presName="bracket" presStyleLbl="parChTrans1D1" presStyleIdx="0" presStyleCnt="4"/>
      <dgm:spPr/>
    </dgm:pt>
    <dgm:pt modelId="{CD0BB8A8-C482-41BD-879A-D00E2D759A65}" type="pres">
      <dgm:prSet presAssocID="{B1A9BB99-260F-4988-81D0-535C3D62C008}" presName="spH" presStyleCnt="0"/>
      <dgm:spPr/>
    </dgm:pt>
    <dgm:pt modelId="{4E886077-31C1-464F-9DC8-389F4F1AFF59}" type="pres">
      <dgm:prSet presAssocID="{B1A9BB99-260F-4988-81D0-535C3D62C008}" presName="desTx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ADF2229-0E45-44DC-8E31-88C29CD74945}" type="pres">
      <dgm:prSet presAssocID="{27A5C08B-8C4B-4FD9-A281-7D84472F13F0}" presName="spV" presStyleCnt="0"/>
      <dgm:spPr/>
    </dgm:pt>
    <dgm:pt modelId="{C86F6539-8EE7-4242-BE0D-67DA1818F0C4}" type="pres">
      <dgm:prSet presAssocID="{6AF9ED81-CD85-41F1-BFD3-42E9DBFD0A22}" presName="linNode" presStyleCnt="0"/>
      <dgm:spPr/>
    </dgm:pt>
    <dgm:pt modelId="{B2974BED-D6BB-4F8A-A76D-ED7AA1D7349B}" type="pres">
      <dgm:prSet presAssocID="{6AF9ED81-CD85-41F1-BFD3-42E9DBFD0A22}" presName="parTx" presStyleLbl="revTx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01EE974-BF35-40EA-BE16-269C87D99725}" type="pres">
      <dgm:prSet presAssocID="{6AF9ED81-CD85-41F1-BFD3-42E9DBFD0A22}" presName="bracket" presStyleLbl="parChTrans1D1" presStyleIdx="1" presStyleCnt="4"/>
      <dgm:spPr/>
    </dgm:pt>
    <dgm:pt modelId="{BB54FC40-5F87-421D-B2C7-AB3A2CB78E66}" type="pres">
      <dgm:prSet presAssocID="{6AF9ED81-CD85-41F1-BFD3-42E9DBFD0A22}" presName="spH" presStyleCnt="0"/>
      <dgm:spPr/>
    </dgm:pt>
    <dgm:pt modelId="{DC1B3F1A-DC2A-44BC-824D-E08F52AC4456}" type="pres">
      <dgm:prSet presAssocID="{6AF9ED81-CD85-41F1-BFD3-42E9DBFD0A22}" presName="desTx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D037B71-31F6-4BC7-9C27-73B930DA38EF}" type="pres">
      <dgm:prSet presAssocID="{9E1F5CA5-7A18-426F-8EE9-110E5C95D68D}" presName="spV" presStyleCnt="0"/>
      <dgm:spPr/>
    </dgm:pt>
    <dgm:pt modelId="{294AFD5F-C434-4861-9CA9-2EDD40E49AAD}" type="pres">
      <dgm:prSet presAssocID="{0A61618B-09A4-46CC-BDD3-F0599962A005}" presName="linNode" presStyleCnt="0"/>
      <dgm:spPr/>
    </dgm:pt>
    <dgm:pt modelId="{8156095C-0BD9-47E0-8414-F46334AAC4A9}" type="pres">
      <dgm:prSet presAssocID="{0A61618B-09A4-46CC-BDD3-F0599962A005}" presName="parTx" presStyleLbl="revTx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A100858-C41D-4D66-B5A0-C6AD11BEC742}" type="pres">
      <dgm:prSet presAssocID="{0A61618B-09A4-46CC-BDD3-F0599962A005}" presName="bracket" presStyleLbl="parChTrans1D1" presStyleIdx="2" presStyleCnt="4"/>
      <dgm:spPr/>
    </dgm:pt>
    <dgm:pt modelId="{6701D06D-A0E9-49CF-BC87-E443D6B16B64}" type="pres">
      <dgm:prSet presAssocID="{0A61618B-09A4-46CC-BDD3-F0599962A005}" presName="spH" presStyleCnt="0"/>
      <dgm:spPr/>
    </dgm:pt>
    <dgm:pt modelId="{B645222E-AA3B-4AD7-882B-15A92C7F27F9}" type="pres">
      <dgm:prSet presAssocID="{0A61618B-09A4-46CC-BDD3-F0599962A005}" presName="desTx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90C9F58-F395-4B4A-AB06-DFEDC8184816}" type="pres">
      <dgm:prSet presAssocID="{8DFF0390-FBFF-4F66-8BC7-46486CACA0BD}" presName="spV" presStyleCnt="0"/>
      <dgm:spPr/>
    </dgm:pt>
    <dgm:pt modelId="{C9195E8B-0559-4C95-96E6-01568D5FA418}" type="pres">
      <dgm:prSet presAssocID="{F89B88CB-F777-42DD-9D63-99011341FEBA}" presName="linNode" presStyleCnt="0"/>
      <dgm:spPr/>
    </dgm:pt>
    <dgm:pt modelId="{CCE0BC9F-F355-405E-9D3A-7C093CB05B58}" type="pres">
      <dgm:prSet presAssocID="{F89B88CB-F777-42DD-9D63-99011341FEBA}" presName="parTx" presStyleLbl="revTx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AF40A4B-7DBA-4C2F-9549-46F6DE291491}" type="pres">
      <dgm:prSet presAssocID="{F89B88CB-F777-42DD-9D63-99011341FEBA}" presName="bracket" presStyleLbl="parChTrans1D1" presStyleIdx="3" presStyleCnt="4"/>
      <dgm:spPr/>
    </dgm:pt>
    <dgm:pt modelId="{C912A60B-6275-4856-8945-F531F8E192B9}" type="pres">
      <dgm:prSet presAssocID="{F89B88CB-F777-42DD-9D63-99011341FEBA}" presName="spH" presStyleCnt="0"/>
      <dgm:spPr/>
    </dgm:pt>
    <dgm:pt modelId="{C8C4D7B5-4EBB-4197-A3C2-AACCCCB489C2}" type="pres">
      <dgm:prSet presAssocID="{F89B88CB-F777-42DD-9D63-99011341FEBA}" presName="desTx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A3D1FC5-51C1-4E55-8762-C3D0035B059A}" type="presOf" srcId="{16731199-C957-405D-AEB8-AAE7F819DF90}" destId="{2DEC42B7-E222-4C5A-8E5B-45ABB03524CA}" srcOrd="0" destOrd="0" presId="urn:diagrams.loki3.com/BracketList+Icon"/>
    <dgm:cxn modelId="{825B20FE-9346-40ED-AF07-18CFC0BC3626}" type="presOf" srcId="{FA09BE7B-4E50-4826-A77E-AC610ABBC864}" destId="{B645222E-AA3B-4AD7-882B-15A92C7F27F9}" srcOrd="0" destOrd="1" presId="urn:diagrams.loki3.com/BracketList+Icon"/>
    <dgm:cxn modelId="{14C817A4-AF81-48EC-8CFD-73DAEFF53900}" srcId="{16731199-C957-405D-AEB8-AAE7F819DF90}" destId="{0A61618B-09A4-46CC-BDD3-F0599962A005}" srcOrd="2" destOrd="0" parTransId="{E25C0F1B-C1C2-494C-B5B3-2212D779B1D0}" sibTransId="{8DFF0390-FBFF-4F66-8BC7-46486CACA0BD}"/>
    <dgm:cxn modelId="{7886F735-AEBA-4F66-98A8-552D44846D72}" srcId="{F89B88CB-F777-42DD-9D63-99011341FEBA}" destId="{49B1641F-27A5-4181-8C96-F8FAF3FDAC84}" srcOrd="1" destOrd="0" parTransId="{40D0A959-D53A-4CE0-B34C-06B88AC9A357}" sibTransId="{1B17AD61-9812-411E-A930-D636047B0EE3}"/>
    <dgm:cxn modelId="{7ED7BE44-8A99-455B-B3A1-4B401D80FC16}" srcId="{B1A9BB99-260F-4988-81D0-535C3D62C008}" destId="{9F693C76-0224-47CD-8E61-BFD7C5A5DBE7}" srcOrd="1" destOrd="0" parTransId="{AA01B460-D583-44E7-8D33-116D4962A39A}" sibTransId="{40BB7EA5-5145-47BD-98BF-46CADD1B1247}"/>
    <dgm:cxn modelId="{542320B8-A86A-4D84-836A-41396D509D35}" srcId="{16731199-C957-405D-AEB8-AAE7F819DF90}" destId="{F89B88CB-F777-42DD-9D63-99011341FEBA}" srcOrd="3" destOrd="0" parTransId="{099A68F4-B1D8-4957-83D2-589A12F91128}" sibTransId="{FA9F9015-DAF1-46BC-B235-B74F56AC7415}"/>
    <dgm:cxn modelId="{718B3469-6767-42E5-AB73-D7B6B4B7159C}" type="presOf" srcId="{385EFE06-8F9B-4D46-B6B9-77CCB5168A93}" destId="{B645222E-AA3B-4AD7-882B-15A92C7F27F9}" srcOrd="0" destOrd="0" presId="urn:diagrams.loki3.com/BracketList+Icon"/>
    <dgm:cxn modelId="{D60B08DB-3AE8-4EDD-9C6A-B11BB954ED98}" srcId="{16731199-C957-405D-AEB8-AAE7F819DF90}" destId="{6AF9ED81-CD85-41F1-BFD3-42E9DBFD0A22}" srcOrd="1" destOrd="0" parTransId="{F4BE87C4-5CC0-4064-8DF0-6BCBE57480E4}" sibTransId="{9E1F5CA5-7A18-426F-8EE9-110E5C95D68D}"/>
    <dgm:cxn modelId="{8E527541-FBAB-4E8A-9ED6-DD92FD1BD433}" srcId="{B1A9BB99-260F-4988-81D0-535C3D62C008}" destId="{EF52F717-0B56-4CA0-82B9-6A5C6A5CF5CD}" srcOrd="0" destOrd="0" parTransId="{6E7025B3-520F-4454-A84A-492B8246D9F0}" sibTransId="{65770DE4-B73F-4BF9-B95A-72A80B0E1F87}"/>
    <dgm:cxn modelId="{A964F4E6-1055-4EEE-BAAA-3C460F1C371A}" srcId="{6AF9ED81-CD85-41F1-BFD3-42E9DBFD0A22}" destId="{95C124FB-85A6-4C10-947C-32B7486E303E}" srcOrd="1" destOrd="0" parTransId="{8FE6CAF1-F535-4085-97E8-72F60BD602A2}" sibTransId="{0A9080B6-B7EA-4D79-B65B-8E697313D089}"/>
    <dgm:cxn modelId="{E183D6EE-0C3F-40E1-8068-7765ABF3B73A}" srcId="{0A61618B-09A4-46CC-BDD3-F0599962A005}" destId="{FA09BE7B-4E50-4826-A77E-AC610ABBC864}" srcOrd="1" destOrd="0" parTransId="{8A200FF6-30F1-47DE-B821-13AD54F7D6B0}" sibTransId="{2DCA03BD-F2DF-4346-8889-C97566921C9D}"/>
    <dgm:cxn modelId="{328067BF-CF8B-497F-BE14-06D56F42060F}" srcId="{0A61618B-09A4-46CC-BDD3-F0599962A005}" destId="{04799BD1-27C4-4322-B226-AE067D4C6D2E}" srcOrd="2" destOrd="0" parTransId="{629B2B11-B765-4B8F-BB4F-887B8E6D83E9}" sibTransId="{E7C2EA9F-0462-41A3-B8C9-765FB5DC08E2}"/>
    <dgm:cxn modelId="{82661550-884F-4B24-820D-CC38A1D697B3}" type="presOf" srcId="{49B1641F-27A5-4181-8C96-F8FAF3FDAC84}" destId="{C8C4D7B5-4EBB-4197-A3C2-AACCCCB489C2}" srcOrd="0" destOrd="1" presId="urn:diagrams.loki3.com/BracketList+Icon"/>
    <dgm:cxn modelId="{5AC6E72A-223C-49D3-A259-291510D638DE}" type="presOf" srcId="{6AF9ED81-CD85-41F1-BFD3-42E9DBFD0A22}" destId="{B2974BED-D6BB-4F8A-A76D-ED7AA1D7349B}" srcOrd="0" destOrd="0" presId="urn:diagrams.loki3.com/BracketList+Icon"/>
    <dgm:cxn modelId="{6BE167DE-DCD5-40B6-91F4-DF71D14F05B1}" type="presOf" srcId="{F89B88CB-F777-42DD-9D63-99011341FEBA}" destId="{CCE0BC9F-F355-405E-9D3A-7C093CB05B58}" srcOrd="0" destOrd="0" presId="urn:diagrams.loki3.com/BracketList+Icon"/>
    <dgm:cxn modelId="{88E9733B-EFF9-449A-9C2D-D003B5F93BA1}" type="presOf" srcId="{95C124FB-85A6-4C10-947C-32B7486E303E}" destId="{DC1B3F1A-DC2A-44BC-824D-E08F52AC4456}" srcOrd="0" destOrd="1" presId="urn:diagrams.loki3.com/BracketList+Icon"/>
    <dgm:cxn modelId="{27A2F79D-2FF7-4FB0-A3FD-75294A7798E9}" type="presOf" srcId="{B1A9BB99-260F-4988-81D0-535C3D62C008}" destId="{9DC88C0E-81B3-4D3E-9849-734A485D4EA6}" srcOrd="0" destOrd="0" presId="urn:diagrams.loki3.com/BracketList+Icon"/>
    <dgm:cxn modelId="{0B13E04C-FEEA-47B3-AA9B-8BF9EE4ABE14}" srcId="{6AF9ED81-CD85-41F1-BFD3-42E9DBFD0A22}" destId="{FBED4CFE-CD90-43DB-A2FA-ED8EA007A148}" srcOrd="0" destOrd="0" parTransId="{D0F33590-F47F-49DB-A9A8-8A7726E5DE1D}" sibTransId="{4B53B045-3EB4-435A-B2BA-B5801E6FE757}"/>
    <dgm:cxn modelId="{D1D7EE73-0C80-4D0F-9DEC-1149DC74CD12}" type="presOf" srcId="{ECA2DEB3-04AB-4E0F-9D17-E39A4176B889}" destId="{C8C4D7B5-4EBB-4197-A3C2-AACCCCB489C2}" srcOrd="0" destOrd="0" presId="urn:diagrams.loki3.com/BracketList+Icon"/>
    <dgm:cxn modelId="{36F06672-1E3D-4911-B18D-3BABEE1FEC7A}" type="presOf" srcId="{0A61618B-09A4-46CC-BDD3-F0599962A005}" destId="{8156095C-0BD9-47E0-8414-F46334AAC4A9}" srcOrd="0" destOrd="0" presId="urn:diagrams.loki3.com/BracketList+Icon"/>
    <dgm:cxn modelId="{1DBBA4C2-5932-42BB-B189-469B3537C491}" type="presOf" srcId="{9F693C76-0224-47CD-8E61-BFD7C5A5DBE7}" destId="{4E886077-31C1-464F-9DC8-389F4F1AFF59}" srcOrd="0" destOrd="1" presId="urn:diagrams.loki3.com/BracketList+Icon"/>
    <dgm:cxn modelId="{55E9320B-AB15-485E-814C-1F696203280F}" type="presOf" srcId="{04799BD1-27C4-4322-B226-AE067D4C6D2E}" destId="{B645222E-AA3B-4AD7-882B-15A92C7F27F9}" srcOrd="0" destOrd="2" presId="urn:diagrams.loki3.com/BracketList+Icon"/>
    <dgm:cxn modelId="{6D2847D8-FE6E-4F1F-BE12-C4B90F81D497}" srcId="{0A61618B-09A4-46CC-BDD3-F0599962A005}" destId="{385EFE06-8F9B-4D46-B6B9-77CCB5168A93}" srcOrd="0" destOrd="0" parTransId="{1B1CB95B-AA44-46F8-9F42-9AC75A8D07A3}" sibTransId="{B26F6B70-25A6-4BF1-A0C6-8A14617B1B51}"/>
    <dgm:cxn modelId="{7EE7545E-39F6-49E9-BE20-5E2F8B7F5ACD}" srcId="{16731199-C957-405D-AEB8-AAE7F819DF90}" destId="{B1A9BB99-260F-4988-81D0-535C3D62C008}" srcOrd="0" destOrd="0" parTransId="{0820A4F1-4D5D-499D-B8F2-BAF037105CD8}" sibTransId="{27A5C08B-8C4B-4FD9-A281-7D84472F13F0}"/>
    <dgm:cxn modelId="{1A27C10B-23D4-4D8C-9F46-023DC4F071EB}" type="presOf" srcId="{FBED4CFE-CD90-43DB-A2FA-ED8EA007A148}" destId="{DC1B3F1A-DC2A-44BC-824D-E08F52AC4456}" srcOrd="0" destOrd="0" presId="urn:diagrams.loki3.com/BracketList+Icon"/>
    <dgm:cxn modelId="{2C95F707-8462-465E-A82F-D6578D376BF6}" srcId="{F89B88CB-F777-42DD-9D63-99011341FEBA}" destId="{ECA2DEB3-04AB-4E0F-9D17-E39A4176B889}" srcOrd="0" destOrd="0" parTransId="{25A8771E-22DF-4F43-951D-A09CDDD1CBC1}" sibTransId="{10BE2747-63DA-4852-830D-13C2485800A3}"/>
    <dgm:cxn modelId="{4C5DEB71-A680-4C8C-AE14-4665AABBE58C}" type="presOf" srcId="{EF52F717-0B56-4CA0-82B9-6A5C6A5CF5CD}" destId="{4E886077-31C1-464F-9DC8-389F4F1AFF59}" srcOrd="0" destOrd="0" presId="urn:diagrams.loki3.com/BracketList+Icon"/>
    <dgm:cxn modelId="{84A5E2FF-70E2-4A82-80D2-F5B22FC8A3FC}" type="presParOf" srcId="{2DEC42B7-E222-4C5A-8E5B-45ABB03524CA}" destId="{F21E1EC0-296E-45EC-9162-081635BADECE}" srcOrd="0" destOrd="0" presId="urn:diagrams.loki3.com/BracketList+Icon"/>
    <dgm:cxn modelId="{2B32E996-29EC-4A32-80BA-1F8F52EAA7D6}" type="presParOf" srcId="{F21E1EC0-296E-45EC-9162-081635BADECE}" destId="{9DC88C0E-81B3-4D3E-9849-734A485D4EA6}" srcOrd="0" destOrd="0" presId="urn:diagrams.loki3.com/BracketList+Icon"/>
    <dgm:cxn modelId="{14E04718-AF3C-46FA-8B3A-A043845DFBBA}" type="presParOf" srcId="{F21E1EC0-296E-45EC-9162-081635BADECE}" destId="{B6FA63FA-A597-4E26-B85C-E083CD1C47E7}" srcOrd="1" destOrd="0" presId="urn:diagrams.loki3.com/BracketList+Icon"/>
    <dgm:cxn modelId="{275E6C51-6498-4C72-AFFC-6D9931F86AA9}" type="presParOf" srcId="{F21E1EC0-296E-45EC-9162-081635BADECE}" destId="{CD0BB8A8-C482-41BD-879A-D00E2D759A65}" srcOrd="2" destOrd="0" presId="urn:diagrams.loki3.com/BracketList+Icon"/>
    <dgm:cxn modelId="{8BED71D9-1BB7-4E5F-9D2E-CAE7F5715DB8}" type="presParOf" srcId="{F21E1EC0-296E-45EC-9162-081635BADECE}" destId="{4E886077-31C1-464F-9DC8-389F4F1AFF59}" srcOrd="3" destOrd="0" presId="urn:diagrams.loki3.com/BracketList+Icon"/>
    <dgm:cxn modelId="{4922E5CC-E2D4-4341-B0D7-4ABE6A87D848}" type="presParOf" srcId="{2DEC42B7-E222-4C5A-8E5B-45ABB03524CA}" destId="{8ADF2229-0E45-44DC-8E31-88C29CD74945}" srcOrd="1" destOrd="0" presId="urn:diagrams.loki3.com/BracketList+Icon"/>
    <dgm:cxn modelId="{44ED583B-522F-42AD-9DBB-58A6ED2C493D}" type="presParOf" srcId="{2DEC42B7-E222-4C5A-8E5B-45ABB03524CA}" destId="{C86F6539-8EE7-4242-BE0D-67DA1818F0C4}" srcOrd="2" destOrd="0" presId="urn:diagrams.loki3.com/BracketList+Icon"/>
    <dgm:cxn modelId="{DDA18C11-FBD8-4265-9F87-ABAAA99970BF}" type="presParOf" srcId="{C86F6539-8EE7-4242-BE0D-67DA1818F0C4}" destId="{B2974BED-D6BB-4F8A-A76D-ED7AA1D7349B}" srcOrd="0" destOrd="0" presId="urn:diagrams.loki3.com/BracketList+Icon"/>
    <dgm:cxn modelId="{4A652D7D-DF9E-4EDC-8058-937745131F5A}" type="presParOf" srcId="{C86F6539-8EE7-4242-BE0D-67DA1818F0C4}" destId="{B01EE974-BF35-40EA-BE16-269C87D99725}" srcOrd="1" destOrd="0" presId="urn:diagrams.loki3.com/BracketList+Icon"/>
    <dgm:cxn modelId="{7C168D00-5CBF-4832-B627-BBBA91C561AF}" type="presParOf" srcId="{C86F6539-8EE7-4242-BE0D-67DA1818F0C4}" destId="{BB54FC40-5F87-421D-B2C7-AB3A2CB78E66}" srcOrd="2" destOrd="0" presId="urn:diagrams.loki3.com/BracketList+Icon"/>
    <dgm:cxn modelId="{465B6F17-3A81-4364-9D59-2FA2AA1FC6D1}" type="presParOf" srcId="{C86F6539-8EE7-4242-BE0D-67DA1818F0C4}" destId="{DC1B3F1A-DC2A-44BC-824D-E08F52AC4456}" srcOrd="3" destOrd="0" presId="urn:diagrams.loki3.com/BracketList+Icon"/>
    <dgm:cxn modelId="{0917543D-94C5-4924-AED6-10316AA937FE}" type="presParOf" srcId="{2DEC42B7-E222-4C5A-8E5B-45ABB03524CA}" destId="{3D037B71-31F6-4BC7-9C27-73B930DA38EF}" srcOrd="3" destOrd="0" presId="urn:diagrams.loki3.com/BracketList+Icon"/>
    <dgm:cxn modelId="{E37FE20D-9D84-434A-B767-3995995822B4}" type="presParOf" srcId="{2DEC42B7-E222-4C5A-8E5B-45ABB03524CA}" destId="{294AFD5F-C434-4861-9CA9-2EDD40E49AAD}" srcOrd="4" destOrd="0" presId="urn:diagrams.loki3.com/BracketList+Icon"/>
    <dgm:cxn modelId="{6B8DC0C0-8D37-4C18-B3AF-9E8B0F394716}" type="presParOf" srcId="{294AFD5F-C434-4861-9CA9-2EDD40E49AAD}" destId="{8156095C-0BD9-47E0-8414-F46334AAC4A9}" srcOrd="0" destOrd="0" presId="urn:diagrams.loki3.com/BracketList+Icon"/>
    <dgm:cxn modelId="{F6C69049-5609-41A6-819A-7FA54CC0B4C8}" type="presParOf" srcId="{294AFD5F-C434-4861-9CA9-2EDD40E49AAD}" destId="{CA100858-C41D-4D66-B5A0-C6AD11BEC742}" srcOrd="1" destOrd="0" presId="urn:diagrams.loki3.com/BracketList+Icon"/>
    <dgm:cxn modelId="{87944DF1-D8E0-443F-8939-634D37FCD971}" type="presParOf" srcId="{294AFD5F-C434-4861-9CA9-2EDD40E49AAD}" destId="{6701D06D-A0E9-49CF-BC87-E443D6B16B64}" srcOrd="2" destOrd="0" presId="urn:diagrams.loki3.com/BracketList+Icon"/>
    <dgm:cxn modelId="{77DF8A58-0275-4F60-8194-4B54E37AEEE7}" type="presParOf" srcId="{294AFD5F-C434-4861-9CA9-2EDD40E49AAD}" destId="{B645222E-AA3B-4AD7-882B-15A92C7F27F9}" srcOrd="3" destOrd="0" presId="urn:diagrams.loki3.com/BracketList+Icon"/>
    <dgm:cxn modelId="{E6B945B3-2FF5-4E11-B2B1-B692FEFAF8D9}" type="presParOf" srcId="{2DEC42B7-E222-4C5A-8E5B-45ABB03524CA}" destId="{C90C9F58-F395-4B4A-AB06-DFEDC8184816}" srcOrd="5" destOrd="0" presId="urn:diagrams.loki3.com/BracketList+Icon"/>
    <dgm:cxn modelId="{21D9F011-7F5E-46C9-99E8-479D08B2F3C5}" type="presParOf" srcId="{2DEC42B7-E222-4C5A-8E5B-45ABB03524CA}" destId="{C9195E8B-0559-4C95-96E6-01568D5FA418}" srcOrd="6" destOrd="0" presId="urn:diagrams.loki3.com/BracketList+Icon"/>
    <dgm:cxn modelId="{55193691-4270-434D-930F-D8D7089B54A4}" type="presParOf" srcId="{C9195E8B-0559-4C95-96E6-01568D5FA418}" destId="{CCE0BC9F-F355-405E-9D3A-7C093CB05B58}" srcOrd="0" destOrd="0" presId="urn:diagrams.loki3.com/BracketList+Icon"/>
    <dgm:cxn modelId="{DF151DE0-F919-4C5D-B124-793A5F9CE1F4}" type="presParOf" srcId="{C9195E8B-0559-4C95-96E6-01568D5FA418}" destId="{8AF40A4B-7DBA-4C2F-9549-46F6DE291491}" srcOrd="1" destOrd="0" presId="urn:diagrams.loki3.com/BracketList+Icon"/>
    <dgm:cxn modelId="{659844EF-0BEF-4002-B409-4AD265777697}" type="presParOf" srcId="{C9195E8B-0559-4C95-96E6-01568D5FA418}" destId="{C912A60B-6275-4856-8945-F531F8E192B9}" srcOrd="2" destOrd="0" presId="urn:diagrams.loki3.com/BracketList+Icon"/>
    <dgm:cxn modelId="{55550833-7290-464A-A892-81DA281D03BD}" type="presParOf" srcId="{C9195E8B-0559-4C95-96E6-01568D5FA418}" destId="{C8C4D7B5-4EBB-4197-A3C2-AACCCCB489C2}" srcOrd="3" destOrd="0" presId="urn:diagrams.loki3.com/BracketLis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2803A4-BF3D-4E48-BCF5-FB114D1E88D4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8ED9DC1-4D2F-448A-B1A0-FE21AE293326}">
      <dgm:prSet phldrT="[Текст]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 w="152400" h="50800" prst="softRound"/>
        </a:sp3d>
      </dgm:spPr>
      <dgm:t>
        <a:bodyPr/>
        <a:lstStyle/>
        <a:p>
          <a:r>
            <a:rPr lang="ru-RU" dirty="0" smtClean="0"/>
            <a:t>«Режим Путина»</a:t>
          </a:r>
          <a:endParaRPr lang="ru-RU" dirty="0"/>
        </a:p>
      </dgm:t>
    </dgm:pt>
    <dgm:pt modelId="{FF341177-0493-4377-8834-34621B3B12DD}" type="parTrans" cxnId="{B322EA36-5135-46CC-8DEF-EB93ACA8A791}">
      <dgm:prSet/>
      <dgm:spPr/>
      <dgm:t>
        <a:bodyPr/>
        <a:lstStyle/>
        <a:p>
          <a:endParaRPr lang="ru-RU"/>
        </a:p>
      </dgm:t>
    </dgm:pt>
    <dgm:pt modelId="{687DECD4-D6F1-4A3D-9AB4-288AF3D723B2}" type="sibTrans" cxnId="{B322EA36-5135-46CC-8DEF-EB93ACA8A791}">
      <dgm:prSet/>
      <dgm:spPr/>
      <dgm:t>
        <a:bodyPr/>
        <a:lstStyle/>
        <a:p>
          <a:endParaRPr lang="ru-RU"/>
        </a:p>
      </dgm:t>
    </dgm:pt>
    <dgm:pt modelId="{F69D0D40-0653-49EC-83E1-7F85738B8457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ru-RU" dirty="0" smtClean="0"/>
            <a:t>Развод В.В. Путина усиливает образ одинокого «отца нации»</a:t>
          </a:r>
          <a:endParaRPr lang="ru-RU" dirty="0"/>
        </a:p>
      </dgm:t>
    </dgm:pt>
    <dgm:pt modelId="{0C92EF9D-A73A-468C-814F-4D05CF13D178}" type="parTrans" cxnId="{5EE6F892-F8F7-4731-9497-B5B2EEC3A28D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  <dgm:pt modelId="{BD5F92F2-F345-42CA-AB4A-B8C69E65B060}" type="sibTrans" cxnId="{5EE6F892-F8F7-4731-9497-B5B2EEC3A28D}">
      <dgm:prSet/>
      <dgm:spPr/>
      <dgm:t>
        <a:bodyPr/>
        <a:lstStyle/>
        <a:p>
          <a:endParaRPr lang="ru-RU"/>
        </a:p>
      </dgm:t>
    </dgm:pt>
    <dgm:pt modelId="{5C4160AC-9E67-4344-9B01-6C649B1E8EF1}">
      <dgm:prSet phldrT="[Текст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ru-RU" dirty="0" smtClean="0"/>
            <a:t>Институализация «Народного фронта» снимает зависимость  режима от «партии власти».</a:t>
          </a:r>
          <a:endParaRPr lang="ru-RU" dirty="0"/>
        </a:p>
      </dgm:t>
    </dgm:pt>
    <dgm:pt modelId="{4971451A-0C37-4B78-A2D1-0D36474CDF75}" type="parTrans" cxnId="{DC3E8CD1-1808-4037-8A4D-9D6E8C848CF7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  <dgm:pt modelId="{E43C34E9-2689-41E1-90AD-9FF0C902F0C5}" type="sibTrans" cxnId="{DC3E8CD1-1808-4037-8A4D-9D6E8C848CF7}">
      <dgm:prSet/>
      <dgm:spPr/>
      <dgm:t>
        <a:bodyPr/>
        <a:lstStyle/>
        <a:p>
          <a:endParaRPr lang="ru-RU"/>
        </a:p>
      </dgm:t>
    </dgm:pt>
    <dgm:pt modelId="{7A390BF9-66A1-4032-A989-F3D74B32AB90}">
      <dgm:prSet phldrT="[Текст]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ru-RU" dirty="0" smtClean="0"/>
            <a:t>Усиление карательных санкций против оппозиции  позволяет устранить потенциальных кандидатов на руководство страной</a:t>
          </a:r>
          <a:endParaRPr lang="ru-RU" dirty="0"/>
        </a:p>
      </dgm:t>
    </dgm:pt>
    <dgm:pt modelId="{6B3D1B29-1596-4C7D-B3BD-1409B0F7BD61}" type="parTrans" cxnId="{7011E60F-9EC1-4A6F-9FF4-CD8A1B593F21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  <dgm:pt modelId="{0C79CE68-CFAB-478B-9859-7BB83C15DDAD}" type="sibTrans" cxnId="{7011E60F-9EC1-4A6F-9FF4-CD8A1B593F21}">
      <dgm:prSet/>
      <dgm:spPr/>
      <dgm:t>
        <a:bodyPr/>
        <a:lstStyle/>
        <a:p>
          <a:endParaRPr lang="ru-RU"/>
        </a:p>
      </dgm:t>
    </dgm:pt>
    <dgm:pt modelId="{DE6789AD-4B53-4E09-AAE5-367207DB5170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ru-RU" dirty="0" smtClean="0"/>
            <a:t>Усиление пропаганды антиамериканизма создает эффект сплочения народа вокруг лидера против внешней угрозы</a:t>
          </a:r>
          <a:endParaRPr lang="ru-RU" dirty="0"/>
        </a:p>
      </dgm:t>
    </dgm:pt>
    <dgm:pt modelId="{4F382B8D-0761-4BA4-8380-281BDD806673}" type="parTrans" cxnId="{C5D9DFA4-3419-419E-9058-8012D30E566C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  <dgm:pt modelId="{A64A0CCC-3ACD-4328-AF43-B4593D9FF257}" type="sibTrans" cxnId="{C5D9DFA4-3419-419E-9058-8012D30E566C}">
      <dgm:prSet/>
      <dgm:spPr/>
      <dgm:t>
        <a:bodyPr/>
        <a:lstStyle/>
        <a:p>
          <a:endParaRPr lang="ru-RU"/>
        </a:p>
      </dgm:t>
    </dgm:pt>
    <dgm:pt modelId="{3C6EE7B1-DB66-4AE6-AEFE-78942E3582B5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ru-RU" dirty="0" smtClean="0"/>
            <a:t>Поиск враждебных народу меньшинств позволяет сплотить «</a:t>
          </a:r>
          <a:r>
            <a:rPr lang="ru-RU" dirty="0" err="1" smtClean="0"/>
            <a:t>провластное</a:t>
          </a:r>
          <a:r>
            <a:rPr lang="ru-RU" dirty="0" smtClean="0"/>
            <a:t> большинство»</a:t>
          </a:r>
          <a:endParaRPr lang="ru-RU" dirty="0"/>
        </a:p>
      </dgm:t>
    </dgm:pt>
    <dgm:pt modelId="{81CEA7FC-41DA-4E37-9CED-84F374535E93}" type="parTrans" cxnId="{6C183D8E-DE58-42CC-B3EC-49A0B6A0EACB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  <dgm:pt modelId="{0D9CD72D-4506-4C06-9D19-6D8CD7DBAD74}" type="sibTrans" cxnId="{6C183D8E-DE58-42CC-B3EC-49A0B6A0EACB}">
      <dgm:prSet/>
      <dgm:spPr/>
      <dgm:t>
        <a:bodyPr/>
        <a:lstStyle/>
        <a:p>
          <a:endParaRPr lang="ru-RU"/>
        </a:p>
      </dgm:t>
    </dgm:pt>
    <dgm:pt modelId="{15851466-57DC-4583-BF08-B5B93CCE8E8B}">
      <dgm:prSet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ru-RU" dirty="0" smtClean="0"/>
            <a:t>Проведение подконтрольных, но честных выборов с заранее предсказуемым результатом снимает большую часть претензий к «недемократичности режима».</a:t>
          </a:r>
          <a:endParaRPr lang="ru-RU" dirty="0"/>
        </a:p>
      </dgm:t>
    </dgm:pt>
    <dgm:pt modelId="{BDEE04C1-F700-4D06-98F7-7021F30E5DF3}" type="parTrans" cxnId="{DC7EBCED-A774-4410-BB84-8AE3E298DF09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  <dgm:pt modelId="{CD8DEC41-F58F-45B4-8320-C8C05E0F9473}" type="sibTrans" cxnId="{DC7EBCED-A774-4410-BB84-8AE3E298DF09}">
      <dgm:prSet/>
      <dgm:spPr/>
      <dgm:t>
        <a:bodyPr/>
        <a:lstStyle/>
        <a:p>
          <a:endParaRPr lang="ru-RU"/>
        </a:p>
      </dgm:t>
    </dgm:pt>
    <dgm:pt modelId="{AE0CA62F-081D-4B15-AFAE-CBC84E4771CD}" type="pres">
      <dgm:prSet presAssocID="{0B2803A4-BF3D-4E48-BCF5-FB114D1E88D4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5846529-A90B-4539-B40B-68C5166DC9B6}" type="pres">
      <dgm:prSet presAssocID="{18ED9DC1-4D2F-448A-B1A0-FE21AE293326}" presName="centerShape" presStyleLbl="node0" presStyleIdx="0" presStyleCnt="1"/>
      <dgm:spPr/>
      <dgm:t>
        <a:bodyPr/>
        <a:lstStyle/>
        <a:p>
          <a:endParaRPr lang="ru-RU"/>
        </a:p>
      </dgm:t>
    </dgm:pt>
    <dgm:pt modelId="{F54F7C73-A07E-4418-B6F4-C9B662E3BDEB}" type="pres">
      <dgm:prSet presAssocID="{0C92EF9D-A73A-468C-814F-4D05CF13D178}" presName="parTrans" presStyleLbl="bgSibTrans2D1" presStyleIdx="0" presStyleCnt="6"/>
      <dgm:spPr/>
      <dgm:t>
        <a:bodyPr/>
        <a:lstStyle/>
        <a:p>
          <a:endParaRPr lang="ru-RU"/>
        </a:p>
      </dgm:t>
    </dgm:pt>
    <dgm:pt modelId="{7D3336BA-A5A3-4E75-84B3-20D6EFF0F7E7}" type="pres">
      <dgm:prSet presAssocID="{F69D0D40-0653-49EC-83E1-7F85738B8457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6B7B1E1-8B0E-42F3-B8F6-84A9A91CC08A}" type="pres">
      <dgm:prSet presAssocID="{4971451A-0C37-4B78-A2D1-0D36474CDF75}" presName="parTrans" presStyleLbl="bgSibTrans2D1" presStyleIdx="1" presStyleCnt="6"/>
      <dgm:spPr/>
      <dgm:t>
        <a:bodyPr/>
        <a:lstStyle/>
        <a:p>
          <a:endParaRPr lang="ru-RU"/>
        </a:p>
      </dgm:t>
    </dgm:pt>
    <dgm:pt modelId="{D4F447C9-12F6-4477-9333-E2ED8EB2DCE7}" type="pres">
      <dgm:prSet presAssocID="{5C4160AC-9E67-4344-9B01-6C649B1E8EF1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08E3586-1650-4E45-80E3-CE85F2586EA5}" type="pres">
      <dgm:prSet presAssocID="{6B3D1B29-1596-4C7D-B3BD-1409B0F7BD61}" presName="parTrans" presStyleLbl="bgSibTrans2D1" presStyleIdx="2" presStyleCnt="6"/>
      <dgm:spPr/>
      <dgm:t>
        <a:bodyPr/>
        <a:lstStyle/>
        <a:p>
          <a:endParaRPr lang="ru-RU"/>
        </a:p>
      </dgm:t>
    </dgm:pt>
    <dgm:pt modelId="{63CD9535-0436-43DB-AED3-7260363250E7}" type="pres">
      <dgm:prSet presAssocID="{7A390BF9-66A1-4032-A989-F3D74B32AB90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53B9C5-F027-44BD-BA13-46817A55C16F}" type="pres">
      <dgm:prSet presAssocID="{4F382B8D-0761-4BA4-8380-281BDD806673}" presName="parTrans" presStyleLbl="bgSibTrans2D1" presStyleIdx="3" presStyleCnt="6"/>
      <dgm:spPr/>
      <dgm:t>
        <a:bodyPr/>
        <a:lstStyle/>
        <a:p>
          <a:endParaRPr lang="ru-RU"/>
        </a:p>
      </dgm:t>
    </dgm:pt>
    <dgm:pt modelId="{5F25B654-F32E-4C08-9A9A-2AA15ACC3ADD}" type="pres">
      <dgm:prSet presAssocID="{DE6789AD-4B53-4E09-AAE5-367207DB5170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DFCFCB0-A0E4-459D-9104-CC23BB577E00}" type="pres">
      <dgm:prSet presAssocID="{81CEA7FC-41DA-4E37-9CED-84F374535E93}" presName="parTrans" presStyleLbl="bgSibTrans2D1" presStyleIdx="4" presStyleCnt="6"/>
      <dgm:spPr/>
      <dgm:t>
        <a:bodyPr/>
        <a:lstStyle/>
        <a:p>
          <a:endParaRPr lang="ru-RU"/>
        </a:p>
      </dgm:t>
    </dgm:pt>
    <dgm:pt modelId="{EC0AA5AC-9592-40F3-B714-EA9E452D0363}" type="pres">
      <dgm:prSet presAssocID="{3C6EE7B1-DB66-4AE6-AEFE-78942E3582B5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A4DDEBD-52B6-4961-93AE-DC017053FF9B}" type="pres">
      <dgm:prSet presAssocID="{BDEE04C1-F700-4D06-98F7-7021F30E5DF3}" presName="parTrans" presStyleLbl="bgSibTrans2D1" presStyleIdx="5" presStyleCnt="6" custLinFactNeighborX="172" custLinFactNeighborY="-8395"/>
      <dgm:spPr/>
      <dgm:t>
        <a:bodyPr/>
        <a:lstStyle/>
        <a:p>
          <a:endParaRPr lang="ru-RU"/>
        </a:p>
      </dgm:t>
    </dgm:pt>
    <dgm:pt modelId="{ECE95D29-9153-4E34-97BE-760B938F3AF8}" type="pres">
      <dgm:prSet presAssocID="{15851466-57DC-4583-BF08-B5B93CCE8E8B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618A9C6-C011-48FA-8161-879ED0AD5277}" type="presOf" srcId="{5C4160AC-9E67-4344-9B01-6C649B1E8EF1}" destId="{D4F447C9-12F6-4477-9333-E2ED8EB2DCE7}" srcOrd="0" destOrd="0" presId="urn:microsoft.com/office/officeart/2005/8/layout/radial4"/>
    <dgm:cxn modelId="{DC3E8CD1-1808-4037-8A4D-9D6E8C848CF7}" srcId="{18ED9DC1-4D2F-448A-B1A0-FE21AE293326}" destId="{5C4160AC-9E67-4344-9B01-6C649B1E8EF1}" srcOrd="1" destOrd="0" parTransId="{4971451A-0C37-4B78-A2D1-0D36474CDF75}" sibTransId="{E43C34E9-2689-41E1-90AD-9FF0C902F0C5}"/>
    <dgm:cxn modelId="{B322EA36-5135-46CC-8DEF-EB93ACA8A791}" srcId="{0B2803A4-BF3D-4E48-BCF5-FB114D1E88D4}" destId="{18ED9DC1-4D2F-448A-B1A0-FE21AE293326}" srcOrd="0" destOrd="0" parTransId="{FF341177-0493-4377-8834-34621B3B12DD}" sibTransId="{687DECD4-D6F1-4A3D-9AB4-288AF3D723B2}"/>
    <dgm:cxn modelId="{415B8B39-66B4-4447-8FF5-2C3DD7BE82EE}" type="presOf" srcId="{15851466-57DC-4583-BF08-B5B93CCE8E8B}" destId="{ECE95D29-9153-4E34-97BE-760B938F3AF8}" srcOrd="0" destOrd="0" presId="urn:microsoft.com/office/officeart/2005/8/layout/radial4"/>
    <dgm:cxn modelId="{8A0FEF1D-8D8D-4B9E-992F-6D61E6BCDA8B}" type="presOf" srcId="{18ED9DC1-4D2F-448A-B1A0-FE21AE293326}" destId="{95846529-A90B-4539-B40B-68C5166DC9B6}" srcOrd="0" destOrd="0" presId="urn:microsoft.com/office/officeart/2005/8/layout/radial4"/>
    <dgm:cxn modelId="{000F0C98-170D-47F4-8135-5C9D6FFABD3F}" type="presOf" srcId="{3C6EE7B1-DB66-4AE6-AEFE-78942E3582B5}" destId="{EC0AA5AC-9592-40F3-B714-EA9E452D0363}" srcOrd="0" destOrd="0" presId="urn:microsoft.com/office/officeart/2005/8/layout/radial4"/>
    <dgm:cxn modelId="{4BE5F1E1-AA35-4A97-A9BD-72C80B7DC4BB}" type="presOf" srcId="{0B2803A4-BF3D-4E48-BCF5-FB114D1E88D4}" destId="{AE0CA62F-081D-4B15-AFAE-CBC84E4771CD}" srcOrd="0" destOrd="0" presId="urn:microsoft.com/office/officeart/2005/8/layout/radial4"/>
    <dgm:cxn modelId="{7011E60F-9EC1-4A6F-9FF4-CD8A1B593F21}" srcId="{18ED9DC1-4D2F-448A-B1A0-FE21AE293326}" destId="{7A390BF9-66A1-4032-A989-F3D74B32AB90}" srcOrd="2" destOrd="0" parTransId="{6B3D1B29-1596-4C7D-B3BD-1409B0F7BD61}" sibTransId="{0C79CE68-CFAB-478B-9859-7BB83C15DDAD}"/>
    <dgm:cxn modelId="{1BE08E8B-D64F-45FC-950B-36479CA19317}" type="presOf" srcId="{4F382B8D-0761-4BA4-8380-281BDD806673}" destId="{4F53B9C5-F027-44BD-BA13-46817A55C16F}" srcOrd="0" destOrd="0" presId="urn:microsoft.com/office/officeart/2005/8/layout/radial4"/>
    <dgm:cxn modelId="{F5A4CBB5-3F31-4C0A-B7C1-27D5D6138E55}" type="presOf" srcId="{6B3D1B29-1596-4C7D-B3BD-1409B0F7BD61}" destId="{008E3586-1650-4E45-80E3-CE85F2586EA5}" srcOrd="0" destOrd="0" presId="urn:microsoft.com/office/officeart/2005/8/layout/radial4"/>
    <dgm:cxn modelId="{A99B1948-4210-4FE2-973A-B59B7F427E2C}" type="presOf" srcId="{BDEE04C1-F700-4D06-98F7-7021F30E5DF3}" destId="{AA4DDEBD-52B6-4961-93AE-DC017053FF9B}" srcOrd="0" destOrd="0" presId="urn:microsoft.com/office/officeart/2005/8/layout/radial4"/>
    <dgm:cxn modelId="{DC7EBCED-A774-4410-BB84-8AE3E298DF09}" srcId="{18ED9DC1-4D2F-448A-B1A0-FE21AE293326}" destId="{15851466-57DC-4583-BF08-B5B93CCE8E8B}" srcOrd="5" destOrd="0" parTransId="{BDEE04C1-F700-4D06-98F7-7021F30E5DF3}" sibTransId="{CD8DEC41-F58F-45B4-8320-C8C05E0F9473}"/>
    <dgm:cxn modelId="{6C183D8E-DE58-42CC-B3EC-49A0B6A0EACB}" srcId="{18ED9DC1-4D2F-448A-B1A0-FE21AE293326}" destId="{3C6EE7B1-DB66-4AE6-AEFE-78942E3582B5}" srcOrd="4" destOrd="0" parTransId="{81CEA7FC-41DA-4E37-9CED-84F374535E93}" sibTransId="{0D9CD72D-4506-4C06-9D19-6D8CD7DBAD74}"/>
    <dgm:cxn modelId="{7702A766-CF54-4B9F-B4F3-64AC63821C4D}" type="presOf" srcId="{7A390BF9-66A1-4032-A989-F3D74B32AB90}" destId="{63CD9535-0436-43DB-AED3-7260363250E7}" srcOrd="0" destOrd="0" presId="urn:microsoft.com/office/officeart/2005/8/layout/radial4"/>
    <dgm:cxn modelId="{D3CEDE06-FB71-4DEC-B5CE-2B27CF69CD7A}" type="presOf" srcId="{0C92EF9D-A73A-468C-814F-4D05CF13D178}" destId="{F54F7C73-A07E-4418-B6F4-C9B662E3BDEB}" srcOrd="0" destOrd="0" presId="urn:microsoft.com/office/officeart/2005/8/layout/radial4"/>
    <dgm:cxn modelId="{E8241541-1640-4313-9F92-BC32645AF17C}" type="presOf" srcId="{F69D0D40-0653-49EC-83E1-7F85738B8457}" destId="{7D3336BA-A5A3-4E75-84B3-20D6EFF0F7E7}" srcOrd="0" destOrd="0" presId="urn:microsoft.com/office/officeart/2005/8/layout/radial4"/>
    <dgm:cxn modelId="{5EE6F892-F8F7-4731-9497-B5B2EEC3A28D}" srcId="{18ED9DC1-4D2F-448A-B1A0-FE21AE293326}" destId="{F69D0D40-0653-49EC-83E1-7F85738B8457}" srcOrd="0" destOrd="0" parTransId="{0C92EF9D-A73A-468C-814F-4D05CF13D178}" sibTransId="{BD5F92F2-F345-42CA-AB4A-B8C69E65B060}"/>
    <dgm:cxn modelId="{15DD6DBA-700C-415D-A366-707E9561B8B5}" type="presOf" srcId="{4971451A-0C37-4B78-A2D1-0D36474CDF75}" destId="{36B7B1E1-8B0E-42F3-B8F6-84A9A91CC08A}" srcOrd="0" destOrd="0" presId="urn:microsoft.com/office/officeart/2005/8/layout/radial4"/>
    <dgm:cxn modelId="{EF7CC14E-6A65-418B-B139-5DBC2D81626A}" type="presOf" srcId="{DE6789AD-4B53-4E09-AAE5-367207DB5170}" destId="{5F25B654-F32E-4C08-9A9A-2AA15ACC3ADD}" srcOrd="0" destOrd="0" presId="urn:microsoft.com/office/officeart/2005/8/layout/radial4"/>
    <dgm:cxn modelId="{79C5FE7F-F67B-48FF-A067-8E61FD9DE941}" type="presOf" srcId="{81CEA7FC-41DA-4E37-9CED-84F374535E93}" destId="{BDFCFCB0-A0E4-459D-9104-CC23BB577E00}" srcOrd="0" destOrd="0" presId="urn:microsoft.com/office/officeart/2005/8/layout/radial4"/>
    <dgm:cxn modelId="{C5D9DFA4-3419-419E-9058-8012D30E566C}" srcId="{18ED9DC1-4D2F-448A-B1A0-FE21AE293326}" destId="{DE6789AD-4B53-4E09-AAE5-367207DB5170}" srcOrd="3" destOrd="0" parTransId="{4F382B8D-0761-4BA4-8380-281BDD806673}" sibTransId="{A64A0CCC-3ACD-4328-AF43-B4593D9FF257}"/>
    <dgm:cxn modelId="{1B72A372-E588-42A5-9880-5CE7F22BBE3C}" type="presParOf" srcId="{AE0CA62F-081D-4B15-AFAE-CBC84E4771CD}" destId="{95846529-A90B-4539-B40B-68C5166DC9B6}" srcOrd="0" destOrd="0" presId="urn:microsoft.com/office/officeart/2005/8/layout/radial4"/>
    <dgm:cxn modelId="{8336F3DC-B104-4485-9405-4B59B2991CC4}" type="presParOf" srcId="{AE0CA62F-081D-4B15-AFAE-CBC84E4771CD}" destId="{F54F7C73-A07E-4418-B6F4-C9B662E3BDEB}" srcOrd="1" destOrd="0" presId="urn:microsoft.com/office/officeart/2005/8/layout/radial4"/>
    <dgm:cxn modelId="{CB04E54E-8573-436A-BA73-326BE6BA3444}" type="presParOf" srcId="{AE0CA62F-081D-4B15-AFAE-CBC84E4771CD}" destId="{7D3336BA-A5A3-4E75-84B3-20D6EFF0F7E7}" srcOrd="2" destOrd="0" presId="urn:microsoft.com/office/officeart/2005/8/layout/radial4"/>
    <dgm:cxn modelId="{A9EC2587-C26D-4B7F-9CC6-1B4839F6D794}" type="presParOf" srcId="{AE0CA62F-081D-4B15-AFAE-CBC84E4771CD}" destId="{36B7B1E1-8B0E-42F3-B8F6-84A9A91CC08A}" srcOrd="3" destOrd="0" presId="urn:microsoft.com/office/officeart/2005/8/layout/radial4"/>
    <dgm:cxn modelId="{45375F0A-4016-43D3-AD8F-2ECDD991ED52}" type="presParOf" srcId="{AE0CA62F-081D-4B15-AFAE-CBC84E4771CD}" destId="{D4F447C9-12F6-4477-9333-E2ED8EB2DCE7}" srcOrd="4" destOrd="0" presId="urn:microsoft.com/office/officeart/2005/8/layout/radial4"/>
    <dgm:cxn modelId="{C011E7CC-19D8-408D-A00A-54E000CEDADF}" type="presParOf" srcId="{AE0CA62F-081D-4B15-AFAE-CBC84E4771CD}" destId="{008E3586-1650-4E45-80E3-CE85F2586EA5}" srcOrd="5" destOrd="0" presId="urn:microsoft.com/office/officeart/2005/8/layout/radial4"/>
    <dgm:cxn modelId="{80CC99BA-DBEA-4201-BA93-2AAD402AD5BE}" type="presParOf" srcId="{AE0CA62F-081D-4B15-AFAE-CBC84E4771CD}" destId="{63CD9535-0436-43DB-AED3-7260363250E7}" srcOrd="6" destOrd="0" presId="urn:microsoft.com/office/officeart/2005/8/layout/radial4"/>
    <dgm:cxn modelId="{7214CC6D-95F8-425C-AB04-E6A3071CE944}" type="presParOf" srcId="{AE0CA62F-081D-4B15-AFAE-CBC84E4771CD}" destId="{4F53B9C5-F027-44BD-BA13-46817A55C16F}" srcOrd="7" destOrd="0" presId="urn:microsoft.com/office/officeart/2005/8/layout/radial4"/>
    <dgm:cxn modelId="{9301F837-D9AE-4015-838A-92739F66B120}" type="presParOf" srcId="{AE0CA62F-081D-4B15-AFAE-CBC84E4771CD}" destId="{5F25B654-F32E-4C08-9A9A-2AA15ACC3ADD}" srcOrd="8" destOrd="0" presId="urn:microsoft.com/office/officeart/2005/8/layout/radial4"/>
    <dgm:cxn modelId="{677490CC-8022-4DDB-97B8-FD283481BAAA}" type="presParOf" srcId="{AE0CA62F-081D-4B15-AFAE-CBC84E4771CD}" destId="{BDFCFCB0-A0E4-459D-9104-CC23BB577E00}" srcOrd="9" destOrd="0" presId="urn:microsoft.com/office/officeart/2005/8/layout/radial4"/>
    <dgm:cxn modelId="{C431D49E-2426-4BFF-BAD4-143314CB81E2}" type="presParOf" srcId="{AE0CA62F-081D-4B15-AFAE-CBC84E4771CD}" destId="{EC0AA5AC-9592-40F3-B714-EA9E452D0363}" srcOrd="10" destOrd="0" presId="urn:microsoft.com/office/officeart/2005/8/layout/radial4"/>
    <dgm:cxn modelId="{BA10D13D-5DFA-4C9F-8E83-3778FC7A913B}" type="presParOf" srcId="{AE0CA62F-081D-4B15-AFAE-CBC84E4771CD}" destId="{AA4DDEBD-52B6-4961-93AE-DC017053FF9B}" srcOrd="11" destOrd="0" presId="urn:microsoft.com/office/officeart/2005/8/layout/radial4"/>
    <dgm:cxn modelId="{74DACEA6-45F0-4157-8CB7-89ABDFEB3FFA}" type="presParOf" srcId="{AE0CA62F-081D-4B15-AFAE-CBC84E4771CD}" destId="{ECE95D29-9153-4E34-97BE-760B938F3AF8}" srcOrd="12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C88C0E-81B3-4D3E-9849-734A485D4EA6}">
      <dsp:nvSpPr>
        <dsp:cNvPr id="0" name=""/>
        <dsp:cNvSpPr/>
      </dsp:nvSpPr>
      <dsp:spPr>
        <a:xfrm>
          <a:off x="4008" y="460594"/>
          <a:ext cx="2050223" cy="315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38100" rIns="106680" bIns="38100" numCol="1" spcCol="1270" anchor="ctr" anchorCtr="0">
          <a:noAutofit/>
        </a:bodyPr>
        <a:lstStyle/>
        <a:p>
          <a:pPr lvl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/>
            <a:t>Экономика </a:t>
          </a:r>
          <a:endParaRPr lang="ru-RU" sz="1500" kern="1200" dirty="0"/>
        </a:p>
      </dsp:txBody>
      <dsp:txXfrm>
        <a:off x="4008" y="460594"/>
        <a:ext cx="2050223" cy="315562"/>
      </dsp:txXfrm>
    </dsp:sp>
    <dsp:sp modelId="{B6FA63FA-A597-4E26-B85C-E083CD1C47E7}">
      <dsp:nvSpPr>
        <dsp:cNvPr id="0" name=""/>
        <dsp:cNvSpPr/>
      </dsp:nvSpPr>
      <dsp:spPr>
        <a:xfrm>
          <a:off x="2054232" y="194338"/>
          <a:ext cx="410044" cy="848074"/>
        </a:xfrm>
        <a:prstGeom prst="leftBrace">
          <a:avLst>
            <a:gd name="adj1" fmla="val 35000"/>
            <a:gd name="adj2" fmla="val 50000"/>
          </a:avLst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886077-31C1-464F-9DC8-389F4F1AFF59}">
      <dsp:nvSpPr>
        <dsp:cNvPr id="0" name=""/>
        <dsp:cNvSpPr/>
      </dsp:nvSpPr>
      <dsp:spPr>
        <a:xfrm>
          <a:off x="2628294" y="194338"/>
          <a:ext cx="5576608" cy="8480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glow rad="139700">
            <a:schemeClr val="accent5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500" kern="1200" dirty="0" smtClean="0"/>
            <a:t>эффект реформ + цена на нефть;</a:t>
          </a:r>
          <a:endParaRPr lang="ru-RU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500" kern="1200" dirty="0" smtClean="0"/>
            <a:t>появилась возможность говорить о стабильности как о главной ценности общества.</a:t>
          </a:r>
          <a:endParaRPr lang="ru-RU" sz="1500" kern="1200" dirty="0"/>
        </a:p>
      </dsp:txBody>
      <dsp:txXfrm>
        <a:off x="2628294" y="194338"/>
        <a:ext cx="5576608" cy="848074"/>
      </dsp:txXfrm>
    </dsp:sp>
    <dsp:sp modelId="{B2974BED-D6BB-4F8A-A76D-ED7AA1D7349B}">
      <dsp:nvSpPr>
        <dsp:cNvPr id="0" name=""/>
        <dsp:cNvSpPr/>
      </dsp:nvSpPr>
      <dsp:spPr>
        <a:xfrm>
          <a:off x="4008" y="1362668"/>
          <a:ext cx="2050223" cy="315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38100" rIns="106680" bIns="38100" numCol="1" spcCol="1270" anchor="ctr" anchorCtr="0">
          <a:noAutofit/>
        </a:bodyPr>
        <a:lstStyle/>
        <a:p>
          <a:pPr lvl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/>
            <a:t>Чечня</a:t>
          </a:r>
          <a:endParaRPr lang="ru-RU" sz="1500" kern="1200" dirty="0"/>
        </a:p>
      </dsp:txBody>
      <dsp:txXfrm>
        <a:off x="4008" y="1362668"/>
        <a:ext cx="2050223" cy="315562"/>
      </dsp:txXfrm>
    </dsp:sp>
    <dsp:sp modelId="{B01EE974-BF35-40EA-BE16-269C87D99725}">
      <dsp:nvSpPr>
        <dsp:cNvPr id="0" name=""/>
        <dsp:cNvSpPr/>
      </dsp:nvSpPr>
      <dsp:spPr>
        <a:xfrm>
          <a:off x="2054232" y="1096412"/>
          <a:ext cx="410044" cy="848074"/>
        </a:xfrm>
        <a:prstGeom prst="leftBrace">
          <a:avLst>
            <a:gd name="adj1" fmla="val 35000"/>
            <a:gd name="adj2" fmla="val 50000"/>
          </a:avLst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1B3F1A-DC2A-44BC-824D-E08F52AC4456}">
      <dsp:nvSpPr>
        <dsp:cNvPr id="0" name=""/>
        <dsp:cNvSpPr/>
      </dsp:nvSpPr>
      <dsp:spPr>
        <a:xfrm>
          <a:off x="2628294" y="1096412"/>
          <a:ext cx="5576608" cy="8480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glow rad="139700">
            <a:schemeClr val="accent5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500" kern="1200" dirty="0" smtClean="0"/>
            <a:t>автономизация конфликта;</a:t>
          </a:r>
          <a:endParaRPr lang="ru-RU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500" kern="1200" dirty="0" smtClean="0"/>
            <a:t>телевидение конструирует иллюзию победы и ликвидации угрозы распада России.</a:t>
          </a:r>
          <a:endParaRPr lang="ru-RU" sz="1500" kern="1200" dirty="0"/>
        </a:p>
      </dsp:txBody>
      <dsp:txXfrm>
        <a:off x="2628294" y="1096412"/>
        <a:ext cx="5576608" cy="848074"/>
      </dsp:txXfrm>
    </dsp:sp>
    <dsp:sp modelId="{8156095C-0BD9-47E0-8414-F46334AAC4A9}">
      <dsp:nvSpPr>
        <dsp:cNvPr id="0" name=""/>
        <dsp:cNvSpPr/>
      </dsp:nvSpPr>
      <dsp:spPr>
        <a:xfrm>
          <a:off x="4008" y="2530998"/>
          <a:ext cx="2050223" cy="315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38100" rIns="106680" bIns="38100" numCol="1" spcCol="1270" anchor="ctr" anchorCtr="0">
          <a:noAutofit/>
        </a:bodyPr>
        <a:lstStyle/>
        <a:p>
          <a:pPr lvl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/>
            <a:t>Терроризм</a:t>
          </a:r>
          <a:endParaRPr lang="ru-RU" sz="1500" kern="1200" dirty="0"/>
        </a:p>
      </dsp:txBody>
      <dsp:txXfrm>
        <a:off x="4008" y="2530998"/>
        <a:ext cx="2050223" cy="315562"/>
      </dsp:txXfrm>
    </dsp:sp>
    <dsp:sp modelId="{CA100858-C41D-4D66-B5A0-C6AD11BEC742}">
      <dsp:nvSpPr>
        <dsp:cNvPr id="0" name=""/>
        <dsp:cNvSpPr/>
      </dsp:nvSpPr>
      <dsp:spPr>
        <a:xfrm>
          <a:off x="2054232" y="1998486"/>
          <a:ext cx="410044" cy="1380585"/>
        </a:xfrm>
        <a:prstGeom prst="leftBrace">
          <a:avLst>
            <a:gd name="adj1" fmla="val 35000"/>
            <a:gd name="adj2" fmla="val 50000"/>
          </a:avLst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45222E-AA3B-4AD7-882B-15A92C7F27F9}">
      <dsp:nvSpPr>
        <dsp:cNvPr id="0" name=""/>
        <dsp:cNvSpPr/>
      </dsp:nvSpPr>
      <dsp:spPr>
        <a:xfrm>
          <a:off x="2628294" y="1998486"/>
          <a:ext cx="5576608" cy="138058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glow rad="139700">
            <a:schemeClr val="accent5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marR="0" lvl="1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Char char="••"/>
            <a:tabLst/>
            <a:defRPr/>
          </a:pPr>
          <a:r>
            <a:rPr lang="ru-RU" sz="1500" kern="1200" dirty="0" smtClean="0"/>
            <a:t>сплочение общества вокруг призыва «мочить в сортире»;</a:t>
          </a:r>
        </a:p>
        <a:p>
          <a:pPr marL="0" marR="0" lvl="1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Char char="••"/>
            <a:tabLst/>
            <a:defRPr/>
          </a:pPr>
          <a:r>
            <a:rPr lang="ru-RU" sz="1500" kern="1200" dirty="0" smtClean="0"/>
            <a:t>любой новый теракт  - оправдание «борьбы с экстремизмом» и усиление власти силовых структур в стране.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ru-RU" sz="1500" kern="1200" dirty="0" smtClean="0"/>
        </a:p>
      </dsp:txBody>
      <dsp:txXfrm>
        <a:off x="2628294" y="1998486"/>
        <a:ext cx="5576608" cy="1380585"/>
      </dsp:txXfrm>
    </dsp:sp>
    <dsp:sp modelId="{CCE0BC9F-F355-405E-9D3A-7C093CB05B58}">
      <dsp:nvSpPr>
        <dsp:cNvPr id="0" name=""/>
        <dsp:cNvSpPr/>
      </dsp:nvSpPr>
      <dsp:spPr>
        <a:xfrm>
          <a:off x="4008" y="3945861"/>
          <a:ext cx="2050223" cy="315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38100" rIns="106680" bIns="38100" numCol="1" spcCol="1270" anchor="ctr" anchorCtr="0">
          <a:noAutofit/>
        </a:bodyPr>
        <a:lstStyle/>
        <a:p>
          <a:pPr lvl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/>
            <a:t>Внешняя политика</a:t>
          </a:r>
          <a:endParaRPr lang="ru-RU" sz="1500" kern="1200" dirty="0"/>
        </a:p>
      </dsp:txBody>
      <dsp:txXfrm>
        <a:off x="4008" y="3945861"/>
        <a:ext cx="2050223" cy="315562"/>
      </dsp:txXfrm>
    </dsp:sp>
    <dsp:sp modelId="{8AF40A4B-7DBA-4C2F-9549-46F6DE291491}">
      <dsp:nvSpPr>
        <dsp:cNvPr id="0" name=""/>
        <dsp:cNvSpPr/>
      </dsp:nvSpPr>
      <dsp:spPr>
        <a:xfrm>
          <a:off x="2054232" y="3433072"/>
          <a:ext cx="410044" cy="1341140"/>
        </a:xfrm>
        <a:prstGeom prst="leftBrace">
          <a:avLst>
            <a:gd name="adj1" fmla="val 35000"/>
            <a:gd name="adj2" fmla="val 50000"/>
          </a:avLst>
        </a:pr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C4D7B5-4EBB-4197-A3C2-AACCCCB489C2}">
      <dsp:nvSpPr>
        <dsp:cNvPr id="0" name=""/>
        <dsp:cNvSpPr/>
      </dsp:nvSpPr>
      <dsp:spPr>
        <a:xfrm>
          <a:off x="2628294" y="3433072"/>
          <a:ext cx="5576608" cy="134114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glow rad="139700">
            <a:schemeClr val="accent5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500" kern="1200" dirty="0" smtClean="0"/>
            <a:t>военная активность США на Ближнем Востоке и в Афганистане позволяет возродить внешнеполитическую доктрину позднего СССР о «вероятном противнике»;</a:t>
          </a:r>
          <a:endParaRPr lang="ru-RU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500" kern="1200" dirty="0" smtClean="0"/>
            <a:t>«оранжевые революции» трактуются как нарастание внешней угрозы стабильности российской жизни.</a:t>
          </a:r>
          <a:endParaRPr lang="ru-RU" sz="1500" kern="1200" dirty="0"/>
        </a:p>
      </dsp:txBody>
      <dsp:txXfrm>
        <a:off x="2628294" y="3433072"/>
        <a:ext cx="5576608" cy="13411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46529-A90B-4539-B40B-68C5166DC9B6}">
      <dsp:nvSpPr>
        <dsp:cNvPr id="0" name=""/>
        <dsp:cNvSpPr/>
      </dsp:nvSpPr>
      <dsp:spPr>
        <a:xfrm>
          <a:off x="3096025" y="2487136"/>
          <a:ext cx="2037549" cy="2037549"/>
        </a:xfrm>
        <a:prstGeom prst="ellipse">
          <a:avLst/>
        </a:prstGeom>
        <a:gradFill rotWithShape="1"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/>
        </a:scene3d>
        <a:sp3d>
          <a:bevelT w="152400" h="50800" prst="softRound"/>
        </a:sp3d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700" kern="1200" dirty="0" smtClean="0"/>
            <a:t>«Режим Путина»</a:t>
          </a:r>
          <a:endParaRPr lang="ru-RU" sz="2700" kern="1200" dirty="0"/>
        </a:p>
      </dsp:txBody>
      <dsp:txXfrm>
        <a:off x="3394417" y="2785528"/>
        <a:ext cx="1440765" cy="1440765"/>
      </dsp:txXfrm>
    </dsp:sp>
    <dsp:sp modelId="{F54F7C73-A07E-4418-B6F4-C9B662E3BDEB}">
      <dsp:nvSpPr>
        <dsp:cNvPr id="0" name=""/>
        <dsp:cNvSpPr/>
      </dsp:nvSpPr>
      <dsp:spPr>
        <a:xfrm rot="10800000">
          <a:off x="1029684" y="3215560"/>
          <a:ext cx="1952692" cy="580701"/>
        </a:xfrm>
        <a:prstGeom prst="lef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</dsp:sp>
    <dsp:sp modelId="{7D3336BA-A5A3-4E75-84B3-20D6EFF0F7E7}">
      <dsp:nvSpPr>
        <dsp:cNvPr id="0" name=""/>
        <dsp:cNvSpPr/>
      </dsp:nvSpPr>
      <dsp:spPr>
        <a:xfrm>
          <a:off x="316541" y="2935397"/>
          <a:ext cx="1426284" cy="114102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800" kern="1200" dirty="0" smtClean="0"/>
            <a:t>Развод В.В. Путина усиливает образ одинокого «отца нации»</a:t>
          </a:r>
          <a:endParaRPr lang="ru-RU" sz="800" kern="1200" dirty="0"/>
        </a:p>
      </dsp:txBody>
      <dsp:txXfrm>
        <a:off x="349961" y="2968817"/>
        <a:ext cx="1359444" cy="1074187"/>
      </dsp:txXfrm>
    </dsp:sp>
    <dsp:sp modelId="{36B7B1E1-8B0E-42F3-B8F6-84A9A91CC08A}">
      <dsp:nvSpPr>
        <dsp:cNvPr id="0" name=""/>
        <dsp:cNvSpPr/>
      </dsp:nvSpPr>
      <dsp:spPr>
        <a:xfrm rot="12960000">
          <a:off x="1432423" y="1976056"/>
          <a:ext cx="1952692" cy="580701"/>
        </a:xfrm>
        <a:prstGeom prst="lef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</dsp:sp>
    <dsp:sp modelId="{D4F447C9-12F6-4477-9333-E2ED8EB2DCE7}">
      <dsp:nvSpPr>
        <dsp:cNvPr id="0" name=""/>
        <dsp:cNvSpPr/>
      </dsp:nvSpPr>
      <dsp:spPr>
        <a:xfrm>
          <a:off x="905746" y="1122011"/>
          <a:ext cx="1426284" cy="114102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tint val="50000"/>
                <a:satMod val="300000"/>
              </a:schemeClr>
            </a:gs>
            <a:gs pos="35000">
              <a:schemeClr val="accent2">
                <a:tint val="37000"/>
                <a:satMod val="300000"/>
              </a:schemeClr>
            </a:gs>
            <a:gs pos="100000">
              <a:schemeClr val="accent2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800" kern="1200" dirty="0" smtClean="0"/>
            <a:t>Институализация «Народного фронта» снимает зависимость  режима от «партии власти».</a:t>
          </a:r>
          <a:endParaRPr lang="ru-RU" sz="800" kern="1200" dirty="0"/>
        </a:p>
      </dsp:txBody>
      <dsp:txXfrm>
        <a:off x="939166" y="1155431"/>
        <a:ext cx="1359444" cy="1074187"/>
      </dsp:txXfrm>
    </dsp:sp>
    <dsp:sp modelId="{008E3586-1650-4E45-80E3-CE85F2586EA5}">
      <dsp:nvSpPr>
        <dsp:cNvPr id="0" name=""/>
        <dsp:cNvSpPr/>
      </dsp:nvSpPr>
      <dsp:spPr>
        <a:xfrm rot="15120000">
          <a:off x="2486808" y="1210000"/>
          <a:ext cx="1952692" cy="580701"/>
        </a:xfrm>
        <a:prstGeom prst="lef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</dsp:sp>
    <dsp:sp modelId="{63CD9535-0436-43DB-AED3-7260363250E7}">
      <dsp:nvSpPr>
        <dsp:cNvPr id="0" name=""/>
        <dsp:cNvSpPr/>
      </dsp:nvSpPr>
      <dsp:spPr>
        <a:xfrm>
          <a:off x="2448304" y="1277"/>
          <a:ext cx="1426284" cy="114102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800" kern="1200" dirty="0" smtClean="0"/>
            <a:t>Усиление карательных санкций против оппозиции  позволяет устранить потенциальных кандидатов на руководство страной</a:t>
          </a:r>
          <a:endParaRPr lang="ru-RU" sz="800" kern="1200" dirty="0"/>
        </a:p>
      </dsp:txBody>
      <dsp:txXfrm>
        <a:off x="2481724" y="34697"/>
        <a:ext cx="1359444" cy="1074187"/>
      </dsp:txXfrm>
    </dsp:sp>
    <dsp:sp modelId="{4F53B9C5-F027-44BD-BA13-46817A55C16F}">
      <dsp:nvSpPr>
        <dsp:cNvPr id="0" name=""/>
        <dsp:cNvSpPr/>
      </dsp:nvSpPr>
      <dsp:spPr>
        <a:xfrm rot="17280000">
          <a:off x="3790099" y="1210000"/>
          <a:ext cx="1952692" cy="580701"/>
        </a:xfrm>
        <a:prstGeom prst="lef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</dsp:sp>
    <dsp:sp modelId="{5F25B654-F32E-4C08-9A9A-2AA15ACC3ADD}">
      <dsp:nvSpPr>
        <dsp:cNvPr id="0" name=""/>
        <dsp:cNvSpPr/>
      </dsp:nvSpPr>
      <dsp:spPr>
        <a:xfrm>
          <a:off x="4355010" y="1277"/>
          <a:ext cx="1426284" cy="114102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800" kern="1200" dirty="0" smtClean="0"/>
            <a:t>Усиление пропаганды антиамериканизма создает эффект сплочения народа вокруг лидера против внешней угрозы</a:t>
          </a:r>
          <a:endParaRPr lang="ru-RU" sz="800" kern="1200" dirty="0"/>
        </a:p>
      </dsp:txBody>
      <dsp:txXfrm>
        <a:off x="4388430" y="34697"/>
        <a:ext cx="1359444" cy="1074187"/>
      </dsp:txXfrm>
    </dsp:sp>
    <dsp:sp modelId="{BDFCFCB0-A0E4-459D-9104-CC23BB577E00}">
      <dsp:nvSpPr>
        <dsp:cNvPr id="0" name=""/>
        <dsp:cNvSpPr/>
      </dsp:nvSpPr>
      <dsp:spPr>
        <a:xfrm rot="19440000">
          <a:off x="4844484" y="1976056"/>
          <a:ext cx="1952692" cy="580701"/>
        </a:xfrm>
        <a:prstGeom prst="lef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</dsp:sp>
    <dsp:sp modelId="{EC0AA5AC-9592-40F3-B714-EA9E452D0363}">
      <dsp:nvSpPr>
        <dsp:cNvPr id="0" name=""/>
        <dsp:cNvSpPr/>
      </dsp:nvSpPr>
      <dsp:spPr>
        <a:xfrm>
          <a:off x="5897568" y="1122011"/>
          <a:ext cx="1426284" cy="114102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tint val="50000"/>
                <a:satMod val="300000"/>
              </a:schemeClr>
            </a:gs>
            <a:gs pos="35000">
              <a:schemeClr val="accent6">
                <a:tint val="37000"/>
                <a:satMod val="300000"/>
              </a:schemeClr>
            </a:gs>
            <a:gs pos="100000">
              <a:schemeClr val="accent6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800" kern="1200" dirty="0" smtClean="0"/>
            <a:t>Поиск враждебных народу меньшинств позволяет сплотить «</a:t>
          </a:r>
          <a:r>
            <a:rPr lang="ru-RU" sz="800" kern="1200" dirty="0" err="1" smtClean="0"/>
            <a:t>провластное</a:t>
          </a:r>
          <a:r>
            <a:rPr lang="ru-RU" sz="800" kern="1200" dirty="0" smtClean="0"/>
            <a:t> большинство»</a:t>
          </a:r>
          <a:endParaRPr lang="ru-RU" sz="800" kern="1200" dirty="0"/>
        </a:p>
      </dsp:txBody>
      <dsp:txXfrm>
        <a:off x="5930988" y="1155431"/>
        <a:ext cx="1359444" cy="1074187"/>
      </dsp:txXfrm>
    </dsp:sp>
    <dsp:sp modelId="{AA4DDEBD-52B6-4961-93AE-DC017053FF9B}">
      <dsp:nvSpPr>
        <dsp:cNvPr id="0" name=""/>
        <dsp:cNvSpPr/>
      </dsp:nvSpPr>
      <dsp:spPr>
        <a:xfrm>
          <a:off x="5250582" y="3166810"/>
          <a:ext cx="1952692" cy="580701"/>
        </a:xfrm>
        <a:prstGeom prst="lef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</dsp:sp>
    <dsp:sp modelId="{ECE95D29-9153-4E34-97BE-760B938F3AF8}">
      <dsp:nvSpPr>
        <dsp:cNvPr id="0" name=""/>
        <dsp:cNvSpPr/>
      </dsp:nvSpPr>
      <dsp:spPr>
        <a:xfrm>
          <a:off x="6486773" y="2935397"/>
          <a:ext cx="1426284" cy="1141027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800" kern="1200" dirty="0" smtClean="0"/>
            <a:t>Проведение подконтрольных, но честных выборов с заранее предсказуемым результатом снимает большую часть претензий к «недемократичности режима».</a:t>
          </a:r>
          <a:endParaRPr lang="ru-RU" sz="800" kern="1200" dirty="0"/>
        </a:p>
      </dsp:txBody>
      <dsp:txXfrm>
        <a:off x="6520193" y="2968817"/>
        <a:ext cx="1359444" cy="10741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BracketList+Icon">
  <dgm:title val="Список с вертикальной скобкой"/>
  <dgm:desc val="Служит для отображения сгруппированных блоков данных.  Хорошо подходит для размещения большого количества текста уровня 2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66D4D-A5EF-4D56-8EFE-2C88B0D9E856}" type="datetimeFigureOut">
              <a:rPr lang="ru-RU" smtClean="0"/>
              <a:t>16.12.2021</a:t>
            </a:fld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BCB364F-415C-4813-8602-E1774B6BEE79}" type="slidenum">
              <a:rPr lang="ru-RU" smtClean="0"/>
              <a:t>‹#›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66D4D-A5EF-4D56-8EFE-2C88B0D9E856}" type="datetimeFigureOut">
              <a:rPr lang="ru-RU" smtClean="0"/>
              <a:t>16.12.2021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B364F-415C-4813-8602-E1774B6BEE7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66D4D-A5EF-4D56-8EFE-2C88B0D9E856}" type="datetimeFigureOut">
              <a:rPr lang="ru-RU" smtClean="0"/>
              <a:t>16.12.2021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B364F-415C-4813-8602-E1774B6BEE7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66D4D-A5EF-4D56-8EFE-2C88B0D9E856}" type="datetimeFigureOut">
              <a:rPr lang="ru-RU" smtClean="0"/>
              <a:t>16.12.2021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B364F-415C-4813-8602-E1774B6BEE79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66D4D-A5EF-4D56-8EFE-2C88B0D9E856}" type="datetimeFigureOut">
              <a:rPr lang="ru-RU" smtClean="0"/>
              <a:t>16.12.2021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B364F-415C-4813-8602-E1774B6BEE79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66D4D-A5EF-4D56-8EFE-2C88B0D9E856}" type="datetimeFigureOut">
              <a:rPr lang="ru-RU" smtClean="0"/>
              <a:t>16.12.2021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B364F-415C-4813-8602-E1774B6BEE7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66D4D-A5EF-4D56-8EFE-2C88B0D9E856}" type="datetimeFigureOut">
              <a:rPr lang="ru-RU" smtClean="0"/>
              <a:t>16.12.2021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B364F-415C-4813-8602-E1774B6BEE7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66D4D-A5EF-4D56-8EFE-2C88B0D9E856}" type="datetimeFigureOut">
              <a:rPr lang="ru-RU" smtClean="0"/>
              <a:t>16.12.2021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B364F-415C-4813-8602-E1774B6BEE7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66D4D-A5EF-4D56-8EFE-2C88B0D9E856}" type="datetimeFigureOut">
              <a:rPr lang="ru-RU" smtClean="0"/>
              <a:t>16.12.2021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B364F-415C-4813-8602-E1774B6BEE7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66D4D-A5EF-4D56-8EFE-2C88B0D9E856}" type="datetimeFigureOut">
              <a:rPr lang="ru-RU" smtClean="0"/>
              <a:t>16.12.2021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B364F-415C-4813-8602-E1774B6BEE7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66D4D-A5EF-4D56-8EFE-2C88B0D9E856}" type="datetimeFigureOut">
              <a:rPr lang="ru-RU" smtClean="0"/>
              <a:t>16.12.2021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B364F-415C-4813-8602-E1774B6BEE7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1B766D4D-A5EF-4D56-8EFE-2C88B0D9E856}" type="datetimeFigureOut">
              <a:rPr lang="ru-RU" smtClean="0"/>
              <a:t>16.12.2021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ABCB364F-415C-4813-8602-E1774B6BEE7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2819399"/>
          </a:xfrm>
        </p:spPr>
        <p:txBody>
          <a:bodyPr>
            <a:normAutofit/>
          </a:bodyPr>
          <a:lstStyle/>
          <a:p>
            <a:r>
              <a:rPr lang="ru-RU" sz="4000" dirty="0" smtClean="0"/>
              <a:t>Российская Федерация конца </a:t>
            </a:r>
            <a:r>
              <a:rPr lang="en-US" sz="4000" dirty="0" smtClean="0"/>
              <a:t>XX – </a:t>
            </a:r>
            <a:r>
              <a:rPr lang="ru-RU" sz="4000" dirty="0" smtClean="0"/>
              <a:t>начала </a:t>
            </a:r>
            <a:r>
              <a:rPr lang="en-US" sz="4000" dirty="0" smtClean="0"/>
              <a:t>XXI </a:t>
            </a:r>
            <a:r>
              <a:rPr lang="ru-RU" sz="4000" dirty="0" smtClean="0"/>
              <a:t>вв.</a:t>
            </a:r>
            <a:endParaRPr lang="ru-RU" sz="4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Лекция 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574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663352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 smtClean="0"/>
              <a:t>Термидорианская политика (1991 – 1999)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176464"/>
          </a:xfrm>
        </p:spPr>
        <p:txBody>
          <a:bodyPr>
            <a:normAutofit fontScale="92500"/>
          </a:bodyPr>
          <a:lstStyle/>
          <a:p>
            <a:r>
              <a:rPr lang="ru-RU" dirty="0" smtClean="0"/>
              <a:t>Введение свободы слова и закрепление гражданских свобод.</a:t>
            </a:r>
          </a:p>
          <a:p>
            <a:r>
              <a:rPr lang="ru-RU" dirty="0" smtClean="0"/>
              <a:t>Ликвидация КПСС (при сохранении КПРФ) и закрепление свободы политической деятельности.</a:t>
            </a:r>
          </a:p>
          <a:p>
            <a:r>
              <a:rPr lang="ru-RU" dirty="0" smtClean="0"/>
              <a:t>Федерализация системы управления. Формирование региональных элит (политической и экономической).</a:t>
            </a:r>
          </a:p>
          <a:p>
            <a:r>
              <a:rPr lang="ru-RU" dirty="0" smtClean="0"/>
              <a:t>Ликвидация «железного занавеса».</a:t>
            </a:r>
          </a:p>
          <a:p>
            <a:r>
              <a:rPr lang="ru-RU" dirty="0" smtClean="0"/>
              <a:t>Установление партнерских отношений со станами Запада.</a:t>
            </a:r>
          </a:p>
          <a:p>
            <a:r>
              <a:rPr lang="ru-RU" dirty="0" smtClean="0"/>
              <a:t>Борьба с вооруженным сепаратизмом на Кавказе.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2862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663352"/>
          </a:xfrm>
        </p:spPr>
        <p:txBody>
          <a:bodyPr>
            <a:noAutofit/>
          </a:bodyPr>
          <a:lstStyle/>
          <a:p>
            <a:pPr algn="ctr"/>
            <a:r>
              <a:rPr lang="ru-RU" sz="3200" dirty="0" smtClean="0"/>
              <a:t>Термидорианская экономика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3888432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Либерализация цен (гиперинфляция).</a:t>
            </a:r>
          </a:p>
          <a:p>
            <a:r>
              <a:rPr lang="ru-RU" dirty="0" smtClean="0"/>
              <a:t>Ваучерная приватизация.</a:t>
            </a:r>
          </a:p>
          <a:p>
            <a:r>
              <a:rPr lang="ru-RU" dirty="0" smtClean="0"/>
              <a:t>Политика подавления инфляции (с 1993 г.)</a:t>
            </a:r>
          </a:p>
          <a:p>
            <a:r>
              <a:rPr lang="ru-RU" dirty="0" smtClean="0"/>
              <a:t>Воздействие </a:t>
            </a:r>
            <a:r>
              <a:rPr lang="ru-RU" dirty="0"/>
              <a:t>на экономическую политику интересов «семьи» (камарильи) </a:t>
            </a:r>
            <a:r>
              <a:rPr lang="ru-RU" dirty="0" smtClean="0"/>
              <a:t>Ельцина</a:t>
            </a:r>
            <a:r>
              <a:rPr lang="ru-RU" dirty="0"/>
              <a:t> </a:t>
            </a:r>
            <a:r>
              <a:rPr lang="ru-RU" dirty="0" smtClean="0"/>
              <a:t>(с 1996 г.).</a:t>
            </a:r>
          </a:p>
          <a:p>
            <a:r>
              <a:rPr lang="ru-RU" dirty="0" smtClean="0"/>
              <a:t>Формирование «естественных монополий» (Газпром, РЖД).</a:t>
            </a:r>
          </a:p>
          <a:p>
            <a:r>
              <a:rPr lang="ru-RU" dirty="0" smtClean="0"/>
              <a:t>Формирование слоя новых собственников («красные директора» + новые предприниматели +  криминальные элементы).</a:t>
            </a:r>
          </a:p>
          <a:p>
            <a:r>
              <a:rPr lang="ru-RU" dirty="0" smtClean="0"/>
              <a:t>Резкое расслоение общества на бедных и богатых.</a:t>
            </a:r>
          </a:p>
          <a:p>
            <a:r>
              <a:rPr lang="ru-RU" dirty="0" smtClean="0"/>
              <a:t>Рост экономической и социальной мобильности населения. </a:t>
            </a:r>
          </a:p>
          <a:p>
            <a:r>
              <a:rPr lang="ru-RU" dirty="0" smtClean="0"/>
              <a:t>Широкое распространение криминально-коррупционных связей в экономике.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979712" y="5229200"/>
            <a:ext cx="5976664" cy="108012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prstClr val="black"/>
                </a:solidFill>
              </a:rPr>
              <a:t>Кто после термидорианцев?</a:t>
            </a:r>
          </a:p>
        </p:txBody>
      </p:sp>
    </p:spTree>
    <p:extLst>
      <p:ext uri="{BB962C8B-B14F-4D97-AF65-F5344CB8AC3E}">
        <p14:creationId xmlns:p14="http://schemas.microsoft.com/office/powerpoint/2010/main" val="370759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92088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/>
              <a:t>Кромвель (лорд-протектор</a:t>
            </a:r>
            <a:r>
              <a:rPr lang="ru-RU" sz="3200" dirty="0" smtClean="0"/>
              <a:t>)</a:t>
            </a:r>
            <a:endParaRPr lang="ru-RU" sz="3200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57200" y="1600200"/>
            <a:ext cx="5482952" cy="4493096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Упразднил верхнюю палату парламента, заменив ее советом соратников.</a:t>
            </a:r>
          </a:p>
          <a:p>
            <a:r>
              <a:rPr lang="ru-RU" dirty="0" smtClean="0"/>
              <a:t>Создал систему полицейского управления Англией и Уэльсом, разделив их на 11 административных округов.</a:t>
            </a:r>
          </a:p>
          <a:p>
            <a:r>
              <a:rPr lang="ru-RU" dirty="0" smtClean="0"/>
              <a:t>Ввел в стране цензуру и запрет на политическую деятельность.</a:t>
            </a:r>
          </a:p>
          <a:p>
            <a:r>
              <a:rPr lang="ru-RU" dirty="0" smtClean="0"/>
              <a:t>Ввел свободу вероисповедания.</a:t>
            </a:r>
          </a:p>
          <a:p>
            <a:r>
              <a:rPr lang="ru-RU" dirty="0" smtClean="0"/>
              <a:t>Содействовал свободе предпринимательства.</a:t>
            </a:r>
          </a:p>
          <a:p>
            <a:r>
              <a:rPr lang="ru-RU" dirty="0" smtClean="0"/>
              <a:t>Не смог справиться с экономическим кризисом и инфляцией.</a:t>
            </a:r>
          </a:p>
          <a:p>
            <a:r>
              <a:rPr lang="ru-RU" dirty="0" smtClean="0"/>
              <a:t>Подавил восстание в Шотландии и захватил Ирландию (уничтожив треть населения).</a:t>
            </a:r>
          </a:p>
          <a:p>
            <a:r>
              <a:rPr lang="ru-RU" dirty="0" smtClean="0"/>
              <a:t>Вел войну с Испанией.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423" y="1628800"/>
            <a:ext cx="2700300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2689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008112"/>
          </a:xfrm>
        </p:spPr>
        <p:txBody>
          <a:bodyPr>
            <a:normAutofit/>
          </a:bodyPr>
          <a:lstStyle/>
          <a:p>
            <a:r>
              <a:rPr lang="ru-RU" sz="3200" dirty="0"/>
              <a:t>Наполеон Бонапарт (император</a:t>
            </a:r>
            <a:r>
              <a:rPr lang="ru-RU" sz="3200" dirty="0" smtClean="0"/>
              <a:t>)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5266928" cy="4876800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Ввел полицейское административное управление (префектов).</a:t>
            </a:r>
          </a:p>
          <a:p>
            <a:r>
              <a:rPr lang="ru-RU" dirty="0"/>
              <a:t>Закрыл 160 из 173 газет. </a:t>
            </a:r>
          </a:p>
          <a:p>
            <a:r>
              <a:rPr lang="ru-RU" dirty="0"/>
              <a:t>Сохранил и укрепил свободу вероисповедания.</a:t>
            </a:r>
          </a:p>
          <a:p>
            <a:r>
              <a:rPr lang="ru-RU" dirty="0"/>
              <a:t>Создал Французский банк (эмиссия) и заменил бумажные деньги серебряными.</a:t>
            </a:r>
          </a:p>
          <a:p>
            <a:r>
              <a:rPr lang="ru-RU" dirty="0"/>
              <a:t>Утвердил «Кодекс Наполеона» – базовый свод законов буржуазного государства.</a:t>
            </a:r>
          </a:p>
          <a:p>
            <a:r>
              <a:rPr lang="ru-RU" dirty="0"/>
              <a:t>Создал систему среднего образования.</a:t>
            </a:r>
          </a:p>
          <a:p>
            <a:r>
              <a:rPr lang="ru-RU" dirty="0"/>
              <a:t>Жестко проводил политику «протекционизма».</a:t>
            </a:r>
          </a:p>
          <a:p>
            <a:r>
              <a:rPr lang="ru-RU" dirty="0"/>
              <a:t>Вел войны за господство в Европе, «назначая» своих братьев и маршалов королями.</a:t>
            </a:r>
          </a:p>
          <a:p>
            <a:endParaRPr lang="ru-R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307" y="1844824"/>
            <a:ext cx="2676877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4390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ru-RU" sz="3200" dirty="0" smtClean="0"/>
              <a:t>Порфирио Диас («порфириат»)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96752"/>
            <a:ext cx="5482952" cy="4929411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Избран президентом Мексики в 1877 г. и переизбирался до 1911 ( с перерывом на 1880-1884 гг.).</a:t>
            </a:r>
          </a:p>
          <a:p>
            <a:r>
              <a:rPr lang="ru-RU" dirty="0" smtClean="0"/>
              <a:t>Ввел систему жесткого контроля над выборами и манипуляции голосами избирателей.</a:t>
            </a:r>
          </a:p>
          <a:p>
            <a:r>
              <a:rPr lang="ru-RU" dirty="0" smtClean="0"/>
              <a:t>Установил полный контроль над прессой.</a:t>
            </a:r>
          </a:p>
          <a:p>
            <a:r>
              <a:rPr lang="ru-RU" dirty="0" smtClean="0"/>
              <a:t>Устранял политических противников.</a:t>
            </a:r>
          </a:p>
          <a:p>
            <a:r>
              <a:rPr lang="ru-RU" dirty="0" smtClean="0"/>
              <a:t>Увеличил президентский срок с 4 до 6 лет.</a:t>
            </a:r>
          </a:p>
          <a:p>
            <a:r>
              <a:rPr lang="ru-RU" dirty="0" smtClean="0"/>
              <a:t>В 10 раз увеличил численность жандармерии.</a:t>
            </a:r>
          </a:p>
          <a:p>
            <a:r>
              <a:rPr lang="ru-RU" dirty="0" smtClean="0"/>
              <a:t>Проводил политику привлечения иностранного капитал в экономику страны.</a:t>
            </a:r>
          </a:p>
          <a:p>
            <a:r>
              <a:rPr lang="ru-RU" dirty="0" smtClean="0"/>
              <a:t>Сформировал группу близких ему олигархов, в результате чего резко увеличился разрыв между богатыми и бедными.</a:t>
            </a:r>
          </a:p>
          <a:p>
            <a:r>
              <a:rPr lang="ru-RU" dirty="0" smtClean="0"/>
              <a:t>Проводил аграрную политику в пользу крупных землевладельцев </a:t>
            </a:r>
          </a:p>
          <a:p>
            <a:r>
              <a:rPr lang="ru-RU" dirty="0" smtClean="0"/>
              <a:t>Сократил расходы бюджета на образование.</a:t>
            </a:r>
          </a:p>
          <a:p>
            <a:r>
              <a:rPr lang="ru-RU" dirty="0" smtClean="0"/>
              <a:t>Игнорировал проблемы высокой заболеваемости и смертности в стране.</a:t>
            </a:r>
          </a:p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1124744"/>
            <a:ext cx="2667000" cy="349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1539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 smtClean="0"/>
              <a:t>Авторитарные послереволюционные режимы ХХ века:</a:t>
            </a:r>
            <a:endParaRPr lang="ru-RU" sz="36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56792"/>
            <a:ext cx="1672779" cy="2595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Скругленный прямоугольник 4"/>
          <p:cNvSpPr/>
          <p:nvPr/>
        </p:nvSpPr>
        <p:spPr>
          <a:xfrm>
            <a:off x="539552" y="4365104"/>
            <a:ext cx="1584176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prstClr val="black"/>
                </a:solidFill>
              </a:rPr>
              <a:t>Финляндия 1918-1919 гг.</a:t>
            </a:r>
          </a:p>
          <a:p>
            <a:pPr algn="ctr"/>
            <a:r>
              <a:rPr lang="ru-RU" dirty="0">
                <a:solidFill>
                  <a:prstClr val="black"/>
                </a:solidFill>
              </a:rPr>
              <a:t>Маршал Маннергейм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611944"/>
            <a:ext cx="1917700" cy="2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Скругленный прямоугольник 5"/>
          <p:cNvSpPr/>
          <p:nvPr/>
        </p:nvSpPr>
        <p:spPr>
          <a:xfrm>
            <a:off x="2369431" y="4365104"/>
            <a:ext cx="1917700" cy="108012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prstClr val="black"/>
                </a:solidFill>
              </a:rPr>
              <a:t>Турция</a:t>
            </a:r>
          </a:p>
          <a:p>
            <a:pPr algn="ctr"/>
            <a:r>
              <a:rPr lang="ru-RU" dirty="0">
                <a:solidFill>
                  <a:prstClr val="black"/>
                </a:solidFill>
              </a:rPr>
              <a:t>1923 – 1938 гг.</a:t>
            </a:r>
          </a:p>
          <a:p>
            <a:pPr algn="ctr"/>
            <a:r>
              <a:rPr lang="ru-RU" dirty="0">
                <a:solidFill>
                  <a:prstClr val="black"/>
                </a:solidFill>
              </a:rPr>
              <a:t>Ататюрк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313" y="1611943"/>
            <a:ext cx="1868603" cy="2539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Скругленный прямоугольник 6"/>
          <p:cNvSpPr/>
          <p:nvPr/>
        </p:nvSpPr>
        <p:spPr>
          <a:xfrm>
            <a:off x="4499992" y="4365104"/>
            <a:ext cx="1838924" cy="108012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prstClr val="black"/>
                </a:solidFill>
              </a:rPr>
              <a:t>Испания</a:t>
            </a:r>
          </a:p>
          <a:p>
            <a:pPr algn="ctr"/>
            <a:r>
              <a:rPr lang="ru-RU" dirty="0">
                <a:solidFill>
                  <a:prstClr val="black"/>
                </a:solidFill>
              </a:rPr>
              <a:t>1939-1975 гг.</a:t>
            </a:r>
          </a:p>
          <a:p>
            <a:pPr algn="ctr"/>
            <a:r>
              <a:rPr lang="ru-RU" dirty="0">
                <a:solidFill>
                  <a:prstClr val="black"/>
                </a:solidFill>
              </a:rPr>
              <a:t>Генерал Франко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611944"/>
            <a:ext cx="1642019" cy="2539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Скругленный прямоугольник 7"/>
          <p:cNvSpPr/>
          <p:nvPr/>
        </p:nvSpPr>
        <p:spPr>
          <a:xfrm>
            <a:off x="6516215" y="4365104"/>
            <a:ext cx="1642019" cy="108012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prstClr val="black"/>
                </a:solidFill>
              </a:rPr>
              <a:t>Чили </a:t>
            </a:r>
          </a:p>
          <a:p>
            <a:pPr algn="ctr"/>
            <a:r>
              <a:rPr lang="ru-RU" dirty="0">
                <a:solidFill>
                  <a:prstClr val="black"/>
                </a:solidFill>
              </a:rPr>
              <a:t>1973-1990 гг.</a:t>
            </a:r>
          </a:p>
          <a:p>
            <a:pPr algn="ctr"/>
            <a:r>
              <a:rPr lang="ru-RU" dirty="0">
                <a:solidFill>
                  <a:prstClr val="black"/>
                </a:solidFill>
              </a:rPr>
              <a:t>Генерал Пиночет</a:t>
            </a:r>
          </a:p>
        </p:txBody>
      </p:sp>
    </p:spTree>
    <p:extLst>
      <p:ext uri="{BB962C8B-B14F-4D97-AF65-F5344CB8AC3E}">
        <p14:creationId xmlns:p14="http://schemas.microsoft.com/office/powerpoint/2010/main" val="3028962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500" dirty="0">
                <a:solidFill>
                  <a:schemeClr val="accent1">
                    <a:lumMod val="75000"/>
                  </a:schemeClr>
                </a:solidFill>
              </a:rPr>
              <a:t>Что бывает, если «полицейское государство» не складывается?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26" name="Picture 2" descr="D:\Pictures\Picasa\Screen Captures\Лекция10.pptx - Microsoft PowerPoint некоммерческое использование 01.05.2017 143752.bm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12776"/>
            <a:ext cx="8198319" cy="4758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431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792088"/>
          </a:xfrm>
        </p:spPr>
        <p:txBody>
          <a:bodyPr>
            <a:noAutofit/>
          </a:bodyPr>
          <a:lstStyle/>
          <a:p>
            <a:r>
              <a:rPr lang="ru-RU" sz="3200" dirty="0"/>
              <a:t>Россия 2000 – 2014. </a:t>
            </a:r>
            <a:r>
              <a:rPr lang="ru-RU" sz="3200" dirty="0" smtClean="0"/>
              <a:t>Государство.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196752"/>
            <a:ext cx="8219256" cy="4392488"/>
          </a:xfrm>
        </p:spPr>
        <p:txBody>
          <a:bodyPr>
            <a:noAutofit/>
          </a:bodyPr>
          <a:lstStyle/>
          <a:p>
            <a:r>
              <a:rPr lang="ru-RU" sz="2400" dirty="0"/>
              <a:t>Создание «вертикали власти»: 7 федеральных округов во главе с представителями президента (2000 г.).</a:t>
            </a:r>
          </a:p>
          <a:p>
            <a:r>
              <a:rPr lang="ru-RU" sz="2400" dirty="0"/>
              <a:t>Реформа Совета Федерации.</a:t>
            </a:r>
          </a:p>
          <a:p>
            <a:r>
              <a:rPr lang="ru-RU" sz="2400" dirty="0"/>
              <a:t>Административная реформа – попытка </a:t>
            </a:r>
            <a:r>
              <a:rPr lang="ru-RU" sz="2400" dirty="0" smtClean="0"/>
              <a:t>создания </a:t>
            </a:r>
            <a:r>
              <a:rPr lang="ru-RU" sz="2400" dirty="0"/>
              <a:t>эффективного государственного управления.</a:t>
            </a:r>
          </a:p>
          <a:p>
            <a:r>
              <a:rPr lang="ru-RU" sz="2400" dirty="0"/>
              <a:t>Резкое сокращение числа партий. </a:t>
            </a:r>
            <a:r>
              <a:rPr lang="ru-RU" sz="2400" dirty="0" smtClean="0"/>
              <a:t>Введение </a:t>
            </a:r>
            <a:r>
              <a:rPr lang="ru-RU" sz="2400" dirty="0"/>
              <a:t>ряда барьеров для участия в выборах. (Последний – муниципальный фильтр</a:t>
            </a:r>
            <a:r>
              <a:rPr lang="ru-RU" sz="2400" dirty="0" smtClean="0"/>
              <a:t>). </a:t>
            </a:r>
            <a:endParaRPr lang="ru-RU" sz="2400" dirty="0"/>
          </a:p>
          <a:p>
            <a:r>
              <a:rPr lang="ru-RU" sz="2400" dirty="0"/>
              <a:t>Отмена выборности губернаторов (возвращена – с ограничениями – в 2012 г</a:t>
            </a:r>
            <a:r>
              <a:rPr lang="ru-RU" sz="2400" dirty="0" smtClean="0"/>
              <a:t>.).</a:t>
            </a:r>
          </a:p>
        </p:txBody>
      </p:sp>
    </p:spTree>
    <p:extLst>
      <p:ext uri="{BB962C8B-B14F-4D97-AF65-F5344CB8AC3E}">
        <p14:creationId xmlns:p14="http://schemas.microsoft.com/office/powerpoint/2010/main" val="1690736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1933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3200" dirty="0" smtClean="0"/>
              <a:t>Россия 2000 – 2014. Общество.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464496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Военное подавление сепаратизма на </a:t>
            </a:r>
            <a:r>
              <a:rPr lang="ru-RU" dirty="0" smtClean="0"/>
              <a:t>Кавказе,  сочетании с политикой вербовки союзников из </a:t>
            </a:r>
            <a:r>
              <a:rPr lang="ru-RU" dirty="0" err="1" smtClean="0"/>
              <a:t>чисоа</a:t>
            </a:r>
            <a:r>
              <a:rPr lang="ru-RU" dirty="0" smtClean="0"/>
              <a:t> </a:t>
            </a:r>
            <a:r>
              <a:rPr lang="ru-RU" dirty="0" err="1" smtClean="0"/>
              <a:t>сепартаистов</a:t>
            </a:r>
            <a:r>
              <a:rPr lang="ru-RU" dirty="0" smtClean="0"/>
              <a:t>.</a:t>
            </a:r>
            <a:endParaRPr lang="ru-RU" dirty="0" smtClean="0"/>
          </a:p>
          <a:p>
            <a:r>
              <a:rPr lang="ru-RU" dirty="0" smtClean="0"/>
              <a:t>Установление жесткого контроля государства над телевидением («разгром НТВ» - 2003 г.).</a:t>
            </a:r>
          </a:p>
          <a:p>
            <a:r>
              <a:rPr lang="ru-RU" dirty="0" smtClean="0"/>
              <a:t>Установление контроля государства над судами (через систему льгот и усиление роли назначаемых председателей судов).</a:t>
            </a:r>
          </a:p>
          <a:p>
            <a:r>
              <a:rPr lang="ru-RU" dirty="0" smtClean="0"/>
              <a:t>Резкое усиление роли силовых структур в управлении обществом.</a:t>
            </a:r>
          </a:p>
          <a:p>
            <a:r>
              <a:rPr lang="ru-RU" dirty="0" smtClean="0"/>
              <a:t>Введение ограничений на проявление гражданской активности (в форме «согласования</a:t>
            </a:r>
            <a:r>
              <a:rPr lang="ru-RU" dirty="0" smtClean="0"/>
              <a:t>» любых мероприятий).</a:t>
            </a:r>
            <a:endParaRPr lang="ru-RU" dirty="0" smtClean="0"/>
          </a:p>
          <a:p>
            <a:r>
              <a:rPr lang="ru-RU" dirty="0" smtClean="0"/>
              <a:t>Жесткий контроль государства над НКО</a:t>
            </a:r>
            <a:r>
              <a:rPr lang="ru-RU" dirty="0" smtClean="0"/>
              <a:t>. Введение института «иностранных агентов».</a:t>
            </a:r>
            <a:endParaRPr lang="ru-RU" dirty="0" smtClean="0"/>
          </a:p>
          <a:p>
            <a:r>
              <a:rPr lang="ru-RU" dirty="0" smtClean="0"/>
              <a:t>Особая роль РПЦ в обществе и государстве.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3485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91344"/>
          </a:xfrm>
        </p:spPr>
        <p:txBody>
          <a:bodyPr>
            <a:noAutofit/>
          </a:bodyPr>
          <a:lstStyle/>
          <a:p>
            <a:r>
              <a:rPr lang="ru-RU" sz="3200" dirty="0"/>
              <a:t>Россия 2000 – 2014. </a:t>
            </a:r>
            <a:r>
              <a:rPr lang="ru-RU" sz="3200" dirty="0" smtClean="0"/>
              <a:t>Экономика.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1556792"/>
            <a:ext cx="8229600" cy="4320480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Использование «нефтяной ренты» для ликвидации государственного долга и постепенного повышения пенсий и зарплат.</a:t>
            </a:r>
          </a:p>
          <a:p>
            <a:r>
              <a:rPr lang="ru-RU" dirty="0" smtClean="0"/>
              <a:t>Реприватизация («дело ЮКОСА» и др.).</a:t>
            </a:r>
          </a:p>
          <a:p>
            <a:r>
              <a:rPr lang="ru-RU" dirty="0" smtClean="0"/>
              <a:t>Создание государственных корпораций в ключевых сферах экономики.</a:t>
            </a:r>
          </a:p>
          <a:p>
            <a:r>
              <a:rPr lang="ru-RU" dirty="0" smtClean="0"/>
              <a:t>Усиление роли представителей силовых структур в экономике.</a:t>
            </a:r>
          </a:p>
          <a:p>
            <a:r>
              <a:rPr lang="ru-RU" dirty="0" smtClean="0"/>
              <a:t>Подавление активности не аффилированных с государством бизнес-структур.</a:t>
            </a:r>
          </a:p>
          <a:p>
            <a:r>
              <a:rPr lang="ru-RU" dirty="0" smtClean="0"/>
              <a:t>Резкий рост «коррупционного налога» на бизнес.</a:t>
            </a:r>
          </a:p>
          <a:p>
            <a:r>
              <a:rPr lang="ru-RU" dirty="0" smtClean="0"/>
              <a:t>Сохранение «офшорного» характера владения бизнесом и вывода капитала.</a:t>
            </a:r>
          </a:p>
          <a:p>
            <a:r>
              <a:rPr lang="ru-RU" dirty="0" smtClean="0"/>
              <a:t>Усиление «сырьевого» характера экономики.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2847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Факторы становления «путинского большинства» 2000-х гг.</a:t>
            </a:r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201560987"/>
              </p:ext>
            </p:extLst>
          </p:nvPr>
        </p:nvGraphicFramePr>
        <p:xfrm>
          <a:off x="395536" y="1556792"/>
          <a:ext cx="8208912" cy="4968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2674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sz="3200" dirty="0" smtClean="0"/>
              <a:t>Политика:</a:t>
            </a:r>
            <a:endParaRPr lang="ru-RU" sz="3200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395536" y="1052736"/>
            <a:ext cx="3931920" cy="456456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Президентские выборы - 2004</a:t>
            </a: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>
          <a:xfrm>
            <a:off x="4716016" y="1124744"/>
            <a:ext cx="3931920" cy="384448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Президентские выборы - 2012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quarter" idx="13"/>
          </p:nvPr>
        </p:nvSpPr>
        <p:spPr>
          <a:xfrm>
            <a:off x="251520" y="1772816"/>
            <a:ext cx="4104456" cy="4176464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Глазьев </a:t>
            </a:r>
            <a:r>
              <a:rPr lang="ru-RU" dirty="0"/>
              <a:t>Сергей </a:t>
            </a:r>
            <a:r>
              <a:rPr lang="ru-RU" dirty="0" smtClean="0"/>
              <a:t>– сопредседатель </a:t>
            </a:r>
            <a:r>
              <a:rPr lang="ru-RU" dirty="0"/>
              <a:t>фракции «Родина» (Народно-Патриотический Союз в </a:t>
            </a:r>
            <a:r>
              <a:rPr lang="ru-RU" dirty="0" smtClean="0"/>
              <a:t>Думе </a:t>
            </a:r>
            <a:r>
              <a:rPr lang="ru-RU" dirty="0"/>
              <a:t>IV </a:t>
            </a:r>
            <a:r>
              <a:rPr lang="ru-RU" dirty="0" smtClean="0"/>
              <a:t>созыва);</a:t>
            </a:r>
          </a:p>
          <a:p>
            <a:r>
              <a:rPr lang="ru-RU" dirty="0" smtClean="0"/>
              <a:t>Малышкин Олег, </a:t>
            </a:r>
            <a:r>
              <a:rPr lang="ru-RU" dirty="0"/>
              <a:t>член высшего совета ЛДПР</a:t>
            </a:r>
            <a:r>
              <a:rPr lang="ru-RU" dirty="0" smtClean="0"/>
              <a:t>;</a:t>
            </a:r>
            <a:endParaRPr lang="ru-RU" dirty="0"/>
          </a:p>
          <a:p>
            <a:r>
              <a:rPr lang="ru-RU" dirty="0" smtClean="0"/>
              <a:t>Миронов</a:t>
            </a:r>
            <a:r>
              <a:rPr lang="ru-RU" dirty="0"/>
              <a:t>, Сергей </a:t>
            </a:r>
            <a:r>
              <a:rPr lang="ru-RU" dirty="0" smtClean="0"/>
              <a:t>– Председатель </a:t>
            </a:r>
            <a:r>
              <a:rPr lang="ru-RU" dirty="0"/>
              <a:t>Совета Федерации России, лидер РПЖ</a:t>
            </a:r>
            <a:r>
              <a:rPr lang="ru-RU" dirty="0" smtClean="0"/>
              <a:t>;</a:t>
            </a:r>
            <a:endParaRPr lang="ru-RU" dirty="0"/>
          </a:p>
          <a:p>
            <a:r>
              <a:rPr lang="ru-RU" dirty="0" smtClean="0"/>
              <a:t>Путин </a:t>
            </a:r>
            <a:r>
              <a:rPr lang="ru-RU" dirty="0"/>
              <a:t>Владимир </a:t>
            </a:r>
            <a:r>
              <a:rPr lang="ru-RU" dirty="0" smtClean="0"/>
              <a:t>-  Президент </a:t>
            </a:r>
            <a:r>
              <a:rPr lang="ru-RU" dirty="0"/>
              <a:t>Российской Федерации</a:t>
            </a:r>
            <a:r>
              <a:rPr lang="ru-RU" dirty="0" smtClean="0"/>
              <a:t>;</a:t>
            </a:r>
            <a:endParaRPr lang="ru-RU" dirty="0"/>
          </a:p>
          <a:p>
            <a:r>
              <a:rPr lang="ru-RU" dirty="0" smtClean="0"/>
              <a:t>Хакамада </a:t>
            </a:r>
            <a:r>
              <a:rPr lang="ru-RU" dirty="0"/>
              <a:t>Ирина </a:t>
            </a:r>
            <a:r>
              <a:rPr lang="ru-RU" dirty="0" smtClean="0"/>
              <a:t>– политический </a:t>
            </a:r>
            <a:r>
              <a:rPr lang="ru-RU" dirty="0"/>
              <a:t>и общественный деятель</a:t>
            </a:r>
            <a:r>
              <a:rPr lang="ru-RU" dirty="0" smtClean="0"/>
              <a:t>;</a:t>
            </a:r>
            <a:endParaRPr lang="ru-RU" dirty="0"/>
          </a:p>
          <a:p>
            <a:r>
              <a:rPr lang="ru-RU" dirty="0" smtClean="0"/>
              <a:t>Харитонов </a:t>
            </a:r>
            <a:r>
              <a:rPr lang="ru-RU" dirty="0"/>
              <a:t>Николай </a:t>
            </a:r>
            <a:r>
              <a:rPr lang="ru-RU" dirty="0" smtClean="0"/>
              <a:t>– депутат Госдумы </a:t>
            </a:r>
            <a:r>
              <a:rPr lang="ru-RU" dirty="0"/>
              <a:t>IV созыва от фракции КПРФ, член Аграрной партии </a:t>
            </a:r>
            <a:r>
              <a:rPr lang="ru-RU" dirty="0" smtClean="0"/>
              <a:t>России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sz="quarter" idx="14"/>
          </p:nvPr>
        </p:nvSpPr>
        <p:spPr>
          <a:xfrm>
            <a:off x="4754880" y="1772816"/>
            <a:ext cx="4137600" cy="4104456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Владимир Жириновский – председатель ЛДПР, депутат Госдумы,</a:t>
            </a:r>
          </a:p>
          <a:p>
            <a:r>
              <a:rPr lang="ru-RU" dirty="0"/>
              <a:t>Геннадий Зюганов – председатель ЦК КПРФ, депутат Госдумы,</a:t>
            </a:r>
          </a:p>
          <a:p>
            <a:r>
              <a:rPr lang="ru-RU" dirty="0"/>
              <a:t>Сергей Миронов – председатель партии «Справедливая Россия», депутат Госдумы,</a:t>
            </a:r>
          </a:p>
          <a:p>
            <a:r>
              <a:rPr lang="ru-RU" dirty="0"/>
              <a:t>Михаил Прохоров – президент ООО «Группа ОНЭКСИМ»,</a:t>
            </a:r>
          </a:p>
          <a:p>
            <a:r>
              <a:rPr lang="ru-RU" dirty="0"/>
              <a:t>Владимир Путин – председатель Правительства Российской Федерации, председатель партии «Единая Россия»,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5974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395536" y="274638"/>
            <a:ext cx="8291264" cy="70609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400" dirty="0" err="1" smtClean="0">
                <a:solidFill>
                  <a:schemeClr val="accent1">
                    <a:lumMod val="75000"/>
                  </a:schemeClr>
                </a:solidFill>
              </a:rPr>
              <a:t>Легитимационный</a:t>
            </a:r>
            <a:r>
              <a:rPr lang="ru-RU" sz="2400" dirty="0" smtClean="0">
                <a:solidFill>
                  <a:schemeClr val="accent1">
                    <a:lumMod val="75000"/>
                  </a:schemeClr>
                </a:solidFill>
              </a:rPr>
              <a:t> (президентский) </a:t>
            </a:r>
            <a:r>
              <a:rPr lang="ru-RU" sz="2400" dirty="0">
                <a:solidFill>
                  <a:schemeClr val="accent1">
                    <a:lumMod val="75000"/>
                  </a:schemeClr>
                </a:solidFill>
              </a:rPr>
              <a:t>трюк 2008 - 2012 гг.</a:t>
            </a:r>
          </a:p>
        </p:txBody>
      </p:sp>
      <p:pic>
        <p:nvPicPr>
          <p:cNvPr id="3074" name="Picture 2" descr="D:\Pictures\Picasa\Screen Captures\Лекция10.pptx - Microsoft PowerPoint некоммерческое использование 01.05.2017 144321.bm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28" y="1196752"/>
            <a:ext cx="8515334" cy="5228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428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792088"/>
          </a:xfrm>
        </p:spPr>
        <p:txBody>
          <a:bodyPr>
            <a:noAutofit/>
          </a:bodyPr>
          <a:lstStyle/>
          <a:p>
            <a:r>
              <a:rPr lang="ru-RU" sz="3200" dirty="0" smtClean="0"/>
              <a:t>Легализация «президентского трюка»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sz="half" idx="2"/>
          </p:nvPr>
        </p:nvSpPr>
        <p:spPr>
          <a:xfrm>
            <a:off x="179512" y="1340768"/>
            <a:ext cx="4244280" cy="504056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400" b="1" dirty="0" smtClean="0"/>
              <a:t>Пояснительная </a:t>
            </a:r>
            <a:r>
              <a:rPr lang="ru-RU" sz="1400" b="1" dirty="0"/>
              <a:t>записка к проекту федерального закона "О внесении изменения в пункт 1 статьи 81 Конституции Российской Федерации" (в части увеличения срока полномочий Президента Российской Федерации</a:t>
            </a:r>
            <a:r>
              <a:rPr lang="ru-RU" sz="1400" b="1" dirty="0" smtClean="0"/>
              <a:t>)</a:t>
            </a:r>
          </a:p>
          <a:p>
            <a:pPr marL="0" indent="0">
              <a:buNone/>
            </a:pPr>
            <a:r>
              <a:rPr lang="ru-RU" sz="1400" dirty="0" smtClean="0"/>
              <a:t>Предлагаемый </a:t>
            </a:r>
            <a:r>
              <a:rPr lang="ru-RU" sz="1400" dirty="0"/>
              <a:t>законопроект предусматривает увеличение президентского срока с четырех до шести лет</a:t>
            </a:r>
            <a:r>
              <a:rPr lang="ru-RU" sz="1400" dirty="0" smtClean="0"/>
              <a:t>.</a:t>
            </a:r>
            <a:endParaRPr lang="ru-RU" sz="1400" dirty="0"/>
          </a:p>
          <a:p>
            <a:pPr marL="0" indent="0" algn="ctr">
              <a:buNone/>
            </a:pPr>
            <a:r>
              <a:rPr lang="ru-RU" sz="1400" dirty="0"/>
              <a:t>Данный законопроект необходим по следующим основаниям</a:t>
            </a:r>
            <a:r>
              <a:rPr lang="ru-RU" sz="1400" dirty="0" smtClean="0"/>
              <a:t>:</a:t>
            </a:r>
            <a:endParaRPr lang="ru-RU" sz="1400" dirty="0"/>
          </a:p>
          <a:p>
            <a:pPr marL="0" indent="0">
              <a:buNone/>
            </a:pPr>
            <a:r>
              <a:rPr lang="ru-RU" sz="1400" dirty="0"/>
              <a:t>1. Увеличение президентского срока внесет стабильность в обществе. Страну не будет лихорадить постоянными предвыборными кампаниями</a:t>
            </a:r>
            <a:r>
              <a:rPr lang="ru-RU" sz="1400" dirty="0" smtClean="0"/>
              <a:t>.</a:t>
            </a:r>
            <a:endParaRPr lang="ru-RU" sz="1400" dirty="0"/>
          </a:p>
          <a:p>
            <a:pPr marL="0" indent="0">
              <a:buNone/>
            </a:pPr>
            <a:r>
              <a:rPr lang="ru-RU" sz="1400" dirty="0"/>
              <a:t>2. При 6-летнем сроке правления можно будет реализовать долгосрочные экономические программы</a:t>
            </a:r>
            <a:r>
              <a:rPr lang="ru-RU" sz="1400" dirty="0" smtClean="0"/>
              <a:t>.</a:t>
            </a:r>
            <a:endParaRPr lang="ru-RU" sz="1400" dirty="0"/>
          </a:p>
          <a:p>
            <a:pPr marL="0" indent="0">
              <a:buNone/>
            </a:pPr>
            <a:r>
              <a:rPr lang="ru-RU" sz="1400" dirty="0"/>
              <a:t>3. Увеличение срока президентского правления сэкономит значительные государственные средства.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644008" y="1268760"/>
            <a:ext cx="4244280" cy="499600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sz="1600" b="1" dirty="0" smtClean="0"/>
              <a:t>Конституция РФ.  Статья </a:t>
            </a:r>
            <a:r>
              <a:rPr lang="ru-RU" sz="1600" b="1" dirty="0"/>
              <a:t>81 </a:t>
            </a:r>
          </a:p>
          <a:p>
            <a:endParaRPr lang="ru-RU" sz="1600" dirty="0"/>
          </a:p>
          <a:p>
            <a:pPr marL="0" indent="0">
              <a:buNone/>
            </a:pPr>
            <a:r>
              <a:rPr lang="ru-RU" sz="1600" dirty="0"/>
              <a:t>1. Президент Российской Федерации избирается сроком на шесть лет гражданами Российской Федерации на основе всеобщего равного и прямого избирательного права при тайном голосовании. </a:t>
            </a:r>
          </a:p>
          <a:p>
            <a:pPr marL="0" indent="0">
              <a:buNone/>
            </a:pPr>
            <a:r>
              <a:rPr lang="ru-RU" sz="1600" dirty="0"/>
              <a:t>2. Президентом Российской Федерации может быть избран гражданин Российской Федерации не моложе 35 лет, постоянно проживающий в Российской Федерации не менее 10 лет. </a:t>
            </a:r>
          </a:p>
          <a:p>
            <a:pPr marL="0" indent="0">
              <a:buNone/>
            </a:pPr>
            <a:r>
              <a:rPr lang="ru-RU" sz="1600" dirty="0"/>
              <a:t>3. Одно и то же лицо не может занимать должность Президента Российской Федерации более двух сроков подряд. </a:t>
            </a:r>
          </a:p>
          <a:p>
            <a:pPr marL="0" indent="0">
              <a:buNone/>
            </a:pPr>
            <a:r>
              <a:rPr lang="ru-RU" sz="1600" dirty="0"/>
              <a:t>4. Порядок выборов Президента Российской Федерации определяется федеральным законом. </a:t>
            </a:r>
          </a:p>
        </p:txBody>
      </p:sp>
    </p:spTree>
    <p:extLst>
      <p:ext uri="{BB962C8B-B14F-4D97-AF65-F5344CB8AC3E}">
        <p14:creationId xmlns:p14="http://schemas.microsoft.com/office/powerpoint/2010/main" val="2470491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Новая политическая реальность: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0960270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2450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Новая экономическая реальность: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Резкое падение (более чем в 2 раза) цен на нефть.</a:t>
            </a:r>
          </a:p>
          <a:p>
            <a:r>
              <a:rPr lang="ru-RU" dirty="0" smtClean="0"/>
              <a:t>Ликвидация монополии России на углеводороды в Европе.</a:t>
            </a:r>
          </a:p>
          <a:p>
            <a:r>
              <a:rPr lang="ru-RU" dirty="0" smtClean="0"/>
              <a:t>Уровень экономического расслоения населения на уровне Англии </a:t>
            </a:r>
            <a:r>
              <a:rPr lang="en-US" dirty="0" smtClean="0"/>
              <a:t>XVII </a:t>
            </a:r>
            <a:r>
              <a:rPr lang="ru-RU" dirty="0" smtClean="0"/>
              <a:t>и Франции </a:t>
            </a:r>
            <a:r>
              <a:rPr lang="en-US" dirty="0" smtClean="0"/>
              <a:t>XVIII </a:t>
            </a:r>
            <a:r>
              <a:rPr lang="ru-RU" dirty="0" smtClean="0"/>
              <a:t>вв.</a:t>
            </a:r>
          </a:p>
          <a:p>
            <a:r>
              <a:rPr lang="ru-RU" dirty="0" smtClean="0"/>
              <a:t>Экономические санкции усиливают экономические противоречия в элите.</a:t>
            </a:r>
          </a:p>
          <a:p>
            <a:r>
              <a:rPr lang="ru-RU" dirty="0" smtClean="0"/>
              <a:t>Экономические «</a:t>
            </a:r>
            <a:r>
              <a:rPr lang="ru-RU" dirty="0" err="1" smtClean="0"/>
              <a:t>контрсанкции</a:t>
            </a:r>
            <a:r>
              <a:rPr lang="ru-RU" dirty="0" smtClean="0"/>
              <a:t>» снижают уровень жизни в средних и нижних слоях общества.  </a:t>
            </a:r>
          </a:p>
          <a:p>
            <a:r>
              <a:rPr lang="ru-RU" dirty="0" smtClean="0"/>
              <a:t>Экономическая политика 1916 – 1917 гг. ведет к дополнительному перераспределению доходов от бедных и средних слоев к богатым («Платон», «реновации», освобождение «</a:t>
            </a:r>
            <a:r>
              <a:rPr lang="ru-RU" dirty="0" err="1" smtClean="0"/>
              <a:t>санкционных</a:t>
            </a:r>
            <a:r>
              <a:rPr lang="ru-RU" dirty="0" smtClean="0"/>
              <a:t>» экономических агентов от налогов).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5228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</a:rPr>
              <a:t>Будущее: вариант 1. Бонапартизм</a:t>
            </a:r>
            <a:endParaRPr lang="ru-RU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24744"/>
            <a:ext cx="6563072" cy="5184576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В 1814 г. череда европейских войн закончилась победой антинаполеоновской коалиции.</a:t>
            </a:r>
          </a:p>
          <a:p>
            <a:r>
              <a:rPr lang="ru-RU" dirty="0" smtClean="0"/>
              <a:t>1815 – «100 дней» Бонапарта – попытка восстановить империю. Ссылка на о. Св. Елены.</a:t>
            </a:r>
          </a:p>
          <a:p>
            <a:r>
              <a:rPr lang="ru-RU" dirty="0" smtClean="0"/>
              <a:t>1815 – 1830 во Франции правит восстановленная династия Бурбонов (конституционная монархия)</a:t>
            </a:r>
          </a:p>
          <a:p>
            <a:r>
              <a:rPr lang="ru-RU" dirty="0" smtClean="0"/>
              <a:t>1830 г. – революция и формирование Июльской монархии Луи-Филипа Орлеанского («короля лавочников»).</a:t>
            </a:r>
          </a:p>
          <a:p>
            <a:r>
              <a:rPr lang="ru-RU" dirty="0" smtClean="0"/>
              <a:t>1848 г. Революция. Избрание президентом Луи Наполеона.</a:t>
            </a:r>
          </a:p>
          <a:p>
            <a:r>
              <a:rPr lang="ru-RU" dirty="0" smtClean="0"/>
              <a:t>1851 г. Государственный переворот. Луи Наполеон – пожизненный президент.</a:t>
            </a:r>
          </a:p>
          <a:p>
            <a:r>
              <a:rPr lang="ru-RU" dirty="0" smtClean="0"/>
              <a:t>1852 – Луи Наполеон объявлен императором Наполеоном </a:t>
            </a:r>
            <a:r>
              <a:rPr lang="en-US" dirty="0" smtClean="0"/>
              <a:t>III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580" y="2636912"/>
            <a:ext cx="1348514" cy="1624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865" y="908720"/>
            <a:ext cx="1269083" cy="1603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4958" y="4437112"/>
            <a:ext cx="1240136" cy="1837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2379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sz="3200" dirty="0" smtClean="0"/>
              <a:t>Будущее: вариант 2. </a:t>
            </a:r>
            <a:r>
              <a:rPr lang="ru-RU" sz="3200" dirty="0"/>
              <a:t>Наполеон </a:t>
            </a:r>
            <a:r>
              <a:rPr lang="en-US" sz="3200" dirty="0" smtClean="0"/>
              <a:t>III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r>
              <a:rPr lang="ru-RU" dirty="0" smtClean="0"/>
              <a:t>Вторая империя участвует в Крымской войне и </a:t>
            </a:r>
            <a:r>
              <a:rPr lang="en-US" dirty="0" smtClean="0"/>
              <a:t>II </a:t>
            </a:r>
            <a:r>
              <a:rPr lang="ru-RU" dirty="0" smtClean="0"/>
              <a:t>опиумной войне; вторгается в Корею и претендует на Люксембург.</a:t>
            </a:r>
          </a:p>
          <a:p>
            <a:r>
              <a:rPr lang="ru-RU" dirty="0" smtClean="0"/>
              <a:t>1870 г. - начало Франко-Прусской войны.</a:t>
            </a:r>
          </a:p>
          <a:p>
            <a:r>
              <a:rPr lang="ru-RU" dirty="0" smtClean="0"/>
              <a:t>Сентябрь 1870 г. Наполеон </a:t>
            </a:r>
            <a:r>
              <a:rPr lang="en-US" dirty="0" smtClean="0"/>
              <a:t>III </a:t>
            </a:r>
            <a:r>
              <a:rPr lang="ru-RU" dirty="0" smtClean="0"/>
              <a:t>попадает в плен.</a:t>
            </a:r>
          </a:p>
          <a:p>
            <a:r>
              <a:rPr lang="ru-RU" dirty="0" smtClean="0"/>
              <a:t>1870-1871 гг.  Революционные события и «Парижская коммуна».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65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04664"/>
            <a:ext cx="5810250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2924944"/>
            <a:ext cx="4170040" cy="2799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838818"/>
            <a:ext cx="3696072" cy="2772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9207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200" dirty="0" smtClean="0"/>
              <a:t>Будущее: вариант 3. </a:t>
            </a:r>
            <a:r>
              <a:rPr lang="ru-RU" sz="3200" dirty="0" err="1" smtClean="0"/>
              <a:t>Порфирио</a:t>
            </a:r>
            <a:r>
              <a:rPr lang="ru-RU" sz="3200" dirty="0" smtClean="0"/>
              <a:t> Диас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/>
          <a:p>
            <a:r>
              <a:rPr lang="ru-RU" dirty="0" smtClean="0"/>
              <a:t>В 1910 г. было торжественно отмечено 100-летие Мексиканской независимости.</a:t>
            </a:r>
          </a:p>
          <a:p>
            <a:r>
              <a:rPr lang="ru-RU" dirty="0" smtClean="0"/>
              <a:t>1910 Диас переизбран на очередной срок. Его соперник Франсиско Мадеро обвинил Диаса в подтасовках и призвал страну к неповиновению.</a:t>
            </a:r>
          </a:p>
          <a:p>
            <a:r>
              <a:rPr lang="ru-RU" dirty="0" smtClean="0"/>
              <a:t>В ноябре 1910 начали массовые народные выступления.</a:t>
            </a:r>
          </a:p>
          <a:p>
            <a:r>
              <a:rPr lang="ru-RU" dirty="0" smtClean="0"/>
              <a:t>В мае 1911 Диас покинул страну.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8914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836712"/>
            <a:ext cx="3150085" cy="19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692894"/>
            <a:ext cx="1724025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40" y="3140968"/>
            <a:ext cx="3770102" cy="242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233328"/>
            <a:ext cx="3347137" cy="2363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836713"/>
            <a:ext cx="2687089" cy="202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222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Autofit/>
          </a:bodyPr>
          <a:lstStyle/>
          <a:p>
            <a:r>
              <a:rPr lang="ru-RU" sz="2800" dirty="0" smtClean="0"/>
              <a:t>Будущее: вариант </a:t>
            </a:r>
            <a:r>
              <a:rPr lang="ru-RU" sz="2800" dirty="0"/>
              <a:t>4</a:t>
            </a:r>
            <a:r>
              <a:rPr lang="ru-RU" sz="2800" dirty="0" smtClean="0"/>
              <a:t>. Франко.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r>
              <a:rPr lang="ru-RU" dirty="0" smtClean="0"/>
              <a:t>После смерти Франко (1975) король Хуан Карлос назначает переходное правительство.</a:t>
            </a:r>
          </a:p>
          <a:p>
            <a:r>
              <a:rPr lang="ru-RU" dirty="0" smtClean="0"/>
              <a:t>1976 – начало реформ по демократизации страны.</a:t>
            </a:r>
          </a:p>
          <a:p>
            <a:r>
              <a:rPr lang="ru-RU" dirty="0" smtClean="0"/>
              <a:t>1977 – пакт Монклоа – договорённость всех политических сил о постепенном переходе к демократии.</a:t>
            </a:r>
          </a:p>
          <a:p>
            <a:r>
              <a:rPr lang="ru-RU" dirty="0" smtClean="0"/>
              <a:t>1978 – принятие Конституции.</a:t>
            </a:r>
          </a:p>
          <a:p>
            <a:r>
              <a:rPr lang="ru-RU" dirty="0" smtClean="0"/>
              <a:t>1979 – выборы в парламент.</a:t>
            </a:r>
          </a:p>
          <a:p>
            <a:r>
              <a:rPr lang="ru-RU" dirty="0" smtClean="0"/>
              <a:t>1981 – попытка военного переворота (провалилась).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2389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32656"/>
            <a:ext cx="584835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140968"/>
            <a:ext cx="4940399" cy="3282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4435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Autofit/>
          </a:bodyPr>
          <a:lstStyle/>
          <a:p>
            <a:r>
              <a:rPr lang="ru-RU" sz="3200" dirty="0"/>
              <a:t>Будущее: вариант </a:t>
            </a:r>
            <a:r>
              <a:rPr lang="ru-RU" sz="3200" dirty="0" smtClean="0"/>
              <a:t>5. Ататюрк.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328592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После смерти Ататюрка в стране установился республиканский светский режим под контролем армии.</a:t>
            </a:r>
          </a:p>
          <a:p>
            <a:r>
              <a:rPr lang="ru-RU" dirty="0" smtClean="0"/>
              <a:t>1950 г. – первые альтернативные президентские выборы.</a:t>
            </a:r>
          </a:p>
          <a:p>
            <a:r>
              <a:rPr lang="ru-RU" dirty="0" smtClean="0"/>
              <a:t>1960 г. – военный переворот с передачей власти гражданскому правительству.</a:t>
            </a:r>
          </a:p>
          <a:p>
            <a:r>
              <a:rPr lang="ru-RU" dirty="0" smtClean="0"/>
              <a:t>1971 г. – военный переворот с передачей власти новому гражданскому кабинету.</a:t>
            </a:r>
          </a:p>
          <a:p>
            <a:r>
              <a:rPr lang="ru-RU" dirty="0" smtClean="0"/>
              <a:t>1980 г. – военный переворот, роспуск политических партий и разработка новой Конституции.</a:t>
            </a:r>
          </a:p>
          <a:p>
            <a:r>
              <a:rPr lang="ru-RU" dirty="0" smtClean="0"/>
              <a:t>1997 г. «постмодернистский» военный переворот.</a:t>
            </a:r>
          </a:p>
          <a:p>
            <a:r>
              <a:rPr lang="ru-RU" dirty="0" smtClean="0"/>
              <a:t>2002 г. – победа на выборах партии Эрдогана. Начало поворота к исламизации.</a:t>
            </a:r>
          </a:p>
          <a:p>
            <a:r>
              <a:rPr lang="ru-RU" dirty="0" smtClean="0"/>
              <a:t>2014 г. Эрдоган избран Президентом Турции. Начало авторитарного поворота религиозно-патриархального толка.</a:t>
            </a:r>
          </a:p>
          <a:p>
            <a:r>
              <a:rPr lang="ru-RU" dirty="0" smtClean="0"/>
              <a:t>2016 г. – попытка военного переворота и свержения Эрдогана (неудачная).</a:t>
            </a:r>
          </a:p>
          <a:p>
            <a:r>
              <a:rPr lang="ru-RU" dirty="0" smtClean="0"/>
              <a:t>2017 г. – референдум о переходе к президентской системе правления. Победа Эрдогана, переход к авторитарному политическому режиму 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3384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ru-RU" sz="2800" dirty="0"/>
              <a:t>Будущее: вариант </a:t>
            </a:r>
            <a:r>
              <a:rPr lang="ru-RU" sz="2800" dirty="0" smtClean="0"/>
              <a:t> 6. Пиночет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96752"/>
            <a:ext cx="5698976" cy="4929411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1978 – референдум о доверии Пиночету. 75 % - за</a:t>
            </a:r>
          </a:p>
          <a:p>
            <a:r>
              <a:rPr lang="ru-RU" dirty="0" smtClean="0"/>
              <a:t>1980 – референдум о новой конституции с 8-летним сроком президентства Пиночета.</a:t>
            </a:r>
          </a:p>
          <a:p>
            <a:r>
              <a:rPr lang="ru-RU" dirty="0" smtClean="0"/>
              <a:t>1988 – промежуточный референдум о новом 8-летнем сроке. 55% - против</a:t>
            </a:r>
          </a:p>
          <a:p>
            <a:r>
              <a:rPr lang="ru-RU" dirty="0" smtClean="0"/>
              <a:t>1990 – создание переходного правительства</a:t>
            </a:r>
          </a:p>
          <a:p>
            <a:r>
              <a:rPr lang="ru-RU" dirty="0" smtClean="0"/>
              <a:t>1998 – уход Пиночета с поста главнокомандующего сухопутными силами.</a:t>
            </a:r>
          </a:p>
          <a:p>
            <a:r>
              <a:rPr lang="ru-RU" dirty="0" smtClean="0"/>
              <a:t>1998 – 2006 – череда обвинений Пиночета в убийствах, нарушении прав человека, коррупции (Чили, Великобритания, Испания)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980728"/>
            <a:ext cx="1929944" cy="2632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 descr="http://1576.com.ua/images/bf/30/bf30a69caf8cd017d2b3902a8994013c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3789040"/>
            <a:ext cx="2688297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808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208</TotalTime>
  <Words>1793</Words>
  <Application>Microsoft Office PowerPoint</Application>
  <PresentationFormat>Экран (4:3)</PresentationFormat>
  <Paragraphs>185</Paragraphs>
  <Slides>26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27" baseType="lpstr">
      <vt:lpstr>Исполнительная</vt:lpstr>
      <vt:lpstr>Российская Федерация конца XX – начала XXI вв.</vt:lpstr>
      <vt:lpstr>Термидорианская политика (1991 – 1999)</vt:lpstr>
      <vt:lpstr>Термидорианская экономика</vt:lpstr>
      <vt:lpstr>Кромвель (лорд-протектор)</vt:lpstr>
      <vt:lpstr>Наполеон Бонапарт (император)</vt:lpstr>
      <vt:lpstr>Порфирио Диас («порфириат»)</vt:lpstr>
      <vt:lpstr>Авторитарные послереволюционные режимы ХХ века:</vt:lpstr>
      <vt:lpstr>Что бывает, если «полицейское государство» не складывается?</vt:lpstr>
      <vt:lpstr>Россия 2000 – 2014. Государство.</vt:lpstr>
      <vt:lpstr>Россия 2000 – 2014. Общество.</vt:lpstr>
      <vt:lpstr>Россия 2000 – 2014. Экономика.</vt:lpstr>
      <vt:lpstr>Факторы становления «путинского большинства» 2000-х гг.</vt:lpstr>
      <vt:lpstr>Политика:</vt:lpstr>
      <vt:lpstr>Легитимационный (президентский) трюк 2008 - 2012 гг.</vt:lpstr>
      <vt:lpstr>Легализация «президентского трюка»</vt:lpstr>
      <vt:lpstr>Новая политическая реальность:</vt:lpstr>
      <vt:lpstr>Новая экономическая реальность:</vt:lpstr>
      <vt:lpstr>Будущее: вариант 1. Бонапартизм</vt:lpstr>
      <vt:lpstr>Будущее: вариант 2. Наполеон III</vt:lpstr>
      <vt:lpstr>Презентация PowerPoint</vt:lpstr>
      <vt:lpstr>Будущее: вариант 3. Порфирио Диас</vt:lpstr>
      <vt:lpstr>Презентация PowerPoint</vt:lpstr>
      <vt:lpstr>Будущее: вариант 4. Франко.</vt:lpstr>
      <vt:lpstr>Презентация PowerPoint</vt:lpstr>
      <vt:lpstr>Будущее: вариант 5. Ататюрк.</vt:lpstr>
      <vt:lpstr>Будущее: вариант  6. Пиночет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Российской Федерации конца XX – начал XXI вв.: </dc:title>
  <dc:creator>User</dc:creator>
  <cp:lastModifiedBy>User</cp:lastModifiedBy>
  <cp:revision>12</cp:revision>
  <dcterms:created xsi:type="dcterms:W3CDTF">2017-05-05T08:55:08Z</dcterms:created>
  <dcterms:modified xsi:type="dcterms:W3CDTF">2021-12-16T07:28:51Z</dcterms:modified>
</cp:coreProperties>
</file>