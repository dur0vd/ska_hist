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8" r:id="rId9"/>
    <p:sldId id="269" r:id="rId10"/>
    <p:sldId id="270" r:id="rId11"/>
    <p:sldId id="261" r:id="rId12"/>
    <p:sldId id="262" r:id="rId13"/>
    <p:sldId id="277" r:id="rId14"/>
    <p:sldId id="263" r:id="rId15"/>
    <p:sldId id="264" r:id="rId16"/>
    <p:sldId id="265" r:id="rId17"/>
    <p:sldId id="272" r:id="rId18"/>
    <p:sldId id="271" r:id="rId19"/>
    <p:sldId id="273" r:id="rId20"/>
    <p:sldId id="274" r:id="rId21"/>
    <p:sldId id="275" r:id="rId22"/>
    <p:sldId id="276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63801B-3FFC-4B37-887F-04DAEBFF6295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B6F29D2-6E12-4017-976C-69C596DD7F33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700" dirty="0" smtClean="0"/>
            <a:t>Экономи-ческое</a:t>
          </a:r>
        </a:p>
        <a:p>
          <a:r>
            <a:rPr lang="ru-RU" sz="1700" dirty="0" smtClean="0"/>
            <a:t>развитие </a:t>
          </a:r>
          <a:endParaRPr lang="ru-RU" sz="1700" dirty="0"/>
        </a:p>
      </dgm:t>
    </dgm:pt>
    <dgm:pt modelId="{0A800151-B982-45FD-8339-CC644DC1E8EB}" type="parTrans" cxnId="{6D3F3CC2-8F6F-409D-B4D5-129A8F0A4FDD}">
      <dgm:prSet/>
      <dgm:spPr/>
      <dgm:t>
        <a:bodyPr/>
        <a:lstStyle/>
        <a:p>
          <a:endParaRPr lang="ru-RU"/>
        </a:p>
      </dgm:t>
    </dgm:pt>
    <dgm:pt modelId="{6E35A29E-D643-4E98-B462-E797C1316902}" type="sibTrans" cxnId="{6D3F3CC2-8F6F-409D-B4D5-129A8F0A4FDD}">
      <dgm:prSet/>
      <dgm:spPr/>
      <dgm:t>
        <a:bodyPr/>
        <a:lstStyle/>
        <a:p>
          <a:endParaRPr lang="ru-RU"/>
        </a:p>
      </dgm:t>
    </dgm:pt>
    <dgm:pt modelId="{A00835EF-1219-40B0-864C-6A57BB18FB8F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700" dirty="0" smtClean="0"/>
            <a:t>Рынок капи-талов</a:t>
          </a:r>
          <a:endParaRPr lang="ru-RU" sz="1700" dirty="0"/>
        </a:p>
      </dgm:t>
    </dgm:pt>
    <dgm:pt modelId="{9CB28122-788B-42A3-BF54-5CD3581B9E30}" type="parTrans" cxnId="{416BF4E2-6979-480A-92FA-C1A356938CF5}">
      <dgm:prSet/>
      <dgm:spPr/>
      <dgm:t>
        <a:bodyPr/>
        <a:lstStyle/>
        <a:p>
          <a:endParaRPr lang="ru-RU"/>
        </a:p>
      </dgm:t>
    </dgm:pt>
    <dgm:pt modelId="{E616FFA2-0980-478E-BA31-3C00768BE918}" type="sibTrans" cxnId="{416BF4E2-6979-480A-92FA-C1A356938CF5}">
      <dgm:prSet/>
      <dgm:spPr/>
      <dgm:t>
        <a:bodyPr/>
        <a:lstStyle/>
        <a:p>
          <a:endParaRPr lang="ru-RU"/>
        </a:p>
      </dgm:t>
    </dgm:pt>
    <dgm:pt modelId="{539C5923-FB16-4068-9129-730F327FABBB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700" dirty="0" smtClean="0"/>
            <a:t>Рынок ресурсов</a:t>
          </a:r>
          <a:endParaRPr lang="ru-RU" sz="1700" dirty="0"/>
        </a:p>
      </dgm:t>
    </dgm:pt>
    <dgm:pt modelId="{F6DC0722-4EC9-49D8-A358-F06A3C258680}" type="parTrans" cxnId="{D2E4E743-7D0E-44A0-938B-09031315724B}">
      <dgm:prSet/>
      <dgm:spPr/>
      <dgm:t>
        <a:bodyPr/>
        <a:lstStyle/>
        <a:p>
          <a:endParaRPr lang="ru-RU"/>
        </a:p>
      </dgm:t>
    </dgm:pt>
    <dgm:pt modelId="{EAFB5076-0C25-4FAE-B2EF-CDFB814FC58D}" type="sibTrans" cxnId="{D2E4E743-7D0E-44A0-938B-09031315724B}">
      <dgm:prSet/>
      <dgm:spPr/>
      <dgm:t>
        <a:bodyPr/>
        <a:lstStyle/>
        <a:p>
          <a:endParaRPr lang="ru-RU"/>
        </a:p>
      </dgm:t>
    </dgm:pt>
    <dgm:pt modelId="{86F4D9C6-C112-4D7F-AAA2-527434A07181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700" dirty="0" smtClean="0"/>
            <a:t>Рынок труда</a:t>
          </a:r>
          <a:endParaRPr lang="ru-RU" sz="1700" dirty="0"/>
        </a:p>
      </dgm:t>
    </dgm:pt>
    <dgm:pt modelId="{CB384566-6FDE-4AEB-9F2B-632FF75FEBB4}" type="parTrans" cxnId="{F25EB8E8-E20C-403A-A365-D327EC03EC12}">
      <dgm:prSet/>
      <dgm:spPr/>
      <dgm:t>
        <a:bodyPr/>
        <a:lstStyle/>
        <a:p>
          <a:endParaRPr lang="ru-RU"/>
        </a:p>
      </dgm:t>
    </dgm:pt>
    <dgm:pt modelId="{DA41424D-DAF3-4233-BB58-4EEDAF783B47}" type="sibTrans" cxnId="{F25EB8E8-E20C-403A-A365-D327EC03EC12}">
      <dgm:prSet/>
      <dgm:spPr/>
      <dgm:t>
        <a:bodyPr/>
        <a:lstStyle/>
        <a:p>
          <a:endParaRPr lang="ru-RU"/>
        </a:p>
      </dgm:t>
    </dgm:pt>
    <dgm:pt modelId="{01FD0500-C50B-415D-9CBF-A6857E1D4EBF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700" dirty="0" smtClean="0"/>
            <a:t>Рынок потре-бления</a:t>
          </a:r>
          <a:endParaRPr lang="ru-RU" sz="1700" dirty="0"/>
        </a:p>
      </dgm:t>
    </dgm:pt>
    <dgm:pt modelId="{C0847C9F-A8F6-4EFD-82AA-72104BBC8612}" type="parTrans" cxnId="{67B1B1ED-A525-4617-9091-9DA13177BD78}">
      <dgm:prSet/>
      <dgm:spPr/>
      <dgm:t>
        <a:bodyPr/>
        <a:lstStyle/>
        <a:p>
          <a:endParaRPr lang="ru-RU"/>
        </a:p>
      </dgm:t>
    </dgm:pt>
    <dgm:pt modelId="{2E66E61E-DF65-4827-AE23-5AE0D0525509}" type="sibTrans" cxnId="{67B1B1ED-A525-4617-9091-9DA13177BD78}">
      <dgm:prSet/>
      <dgm:spPr/>
      <dgm:t>
        <a:bodyPr/>
        <a:lstStyle/>
        <a:p>
          <a:endParaRPr lang="ru-RU"/>
        </a:p>
      </dgm:t>
    </dgm:pt>
    <dgm:pt modelId="{2FD8E422-9930-4964-BBE4-07352F9D0DF6}" type="pres">
      <dgm:prSet presAssocID="{2063801B-3FFC-4B37-887F-04DAEBFF6295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77222F1-2B69-4627-BBF5-5910BC0A1E60}" type="pres">
      <dgm:prSet presAssocID="{5B6F29D2-6E12-4017-976C-69C596DD7F33}" presName="centerShape" presStyleLbl="node0" presStyleIdx="0" presStyleCnt="1" custScaleX="111524" custScaleY="115778"/>
      <dgm:spPr/>
      <dgm:t>
        <a:bodyPr/>
        <a:lstStyle/>
        <a:p>
          <a:endParaRPr lang="ru-RU"/>
        </a:p>
      </dgm:t>
    </dgm:pt>
    <dgm:pt modelId="{49CE9B55-C8CF-4014-9BDA-412069A605D4}" type="pres">
      <dgm:prSet presAssocID="{A00835EF-1219-40B0-864C-6A57BB18FB8F}" presName="node" presStyleLbl="node1" presStyleIdx="0" presStyleCnt="4" custScaleX="111524" custScaleY="11577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721D895-FDD4-4A7A-8332-946C8EC13D29}" type="pres">
      <dgm:prSet presAssocID="{A00835EF-1219-40B0-864C-6A57BB18FB8F}" presName="dummy" presStyleCnt="0"/>
      <dgm:spPr/>
    </dgm:pt>
    <dgm:pt modelId="{D058150E-11F1-4FA4-B1BE-877CF3659003}" type="pres">
      <dgm:prSet presAssocID="{E616FFA2-0980-478E-BA31-3C00768BE918}" presName="sibTrans" presStyleLbl="sibTrans2D1" presStyleIdx="0" presStyleCnt="4"/>
      <dgm:spPr/>
      <dgm:t>
        <a:bodyPr/>
        <a:lstStyle/>
        <a:p>
          <a:endParaRPr lang="ru-RU"/>
        </a:p>
      </dgm:t>
    </dgm:pt>
    <dgm:pt modelId="{97130D9B-9109-41C7-8A6D-E84B5C503B0A}" type="pres">
      <dgm:prSet presAssocID="{539C5923-FB16-4068-9129-730F327FABBB}" presName="node" presStyleLbl="node1" presStyleIdx="1" presStyleCnt="4" custScaleX="111524" custScaleY="11577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8EC67B-DF3E-4882-B014-86548E5F4E2B}" type="pres">
      <dgm:prSet presAssocID="{539C5923-FB16-4068-9129-730F327FABBB}" presName="dummy" presStyleCnt="0"/>
      <dgm:spPr/>
    </dgm:pt>
    <dgm:pt modelId="{E439D18F-8FD1-4E30-BD0A-BB74ECFEFD4F}" type="pres">
      <dgm:prSet presAssocID="{EAFB5076-0C25-4FAE-B2EF-CDFB814FC58D}" presName="sibTrans" presStyleLbl="sibTrans2D1" presStyleIdx="1" presStyleCnt="4"/>
      <dgm:spPr/>
      <dgm:t>
        <a:bodyPr/>
        <a:lstStyle/>
        <a:p>
          <a:endParaRPr lang="ru-RU"/>
        </a:p>
      </dgm:t>
    </dgm:pt>
    <dgm:pt modelId="{6949BF4C-2161-49D4-9411-A661EED1ACB3}" type="pres">
      <dgm:prSet presAssocID="{86F4D9C6-C112-4D7F-AAA2-527434A07181}" presName="node" presStyleLbl="node1" presStyleIdx="2" presStyleCnt="4" custScaleX="111524" custScaleY="11577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AE6F4F4-C44B-475A-9B66-7C488BFD4300}" type="pres">
      <dgm:prSet presAssocID="{86F4D9C6-C112-4D7F-AAA2-527434A07181}" presName="dummy" presStyleCnt="0"/>
      <dgm:spPr/>
    </dgm:pt>
    <dgm:pt modelId="{FA97C502-F3FA-496B-B97F-387651D59580}" type="pres">
      <dgm:prSet presAssocID="{DA41424D-DAF3-4233-BB58-4EEDAF783B47}" presName="sibTrans" presStyleLbl="sibTrans2D1" presStyleIdx="2" presStyleCnt="4"/>
      <dgm:spPr/>
      <dgm:t>
        <a:bodyPr/>
        <a:lstStyle/>
        <a:p>
          <a:endParaRPr lang="ru-RU"/>
        </a:p>
      </dgm:t>
    </dgm:pt>
    <dgm:pt modelId="{7327C3A3-0308-4F6B-9826-DAB02A584159}" type="pres">
      <dgm:prSet presAssocID="{01FD0500-C50B-415D-9CBF-A6857E1D4EBF}" presName="node" presStyleLbl="node1" presStyleIdx="3" presStyleCnt="4" custScaleX="111524" custScaleY="11577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A5EC0D9-165B-4CB9-AD61-B5774C6A21E0}" type="pres">
      <dgm:prSet presAssocID="{01FD0500-C50B-415D-9CBF-A6857E1D4EBF}" presName="dummy" presStyleCnt="0"/>
      <dgm:spPr/>
    </dgm:pt>
    <dgm:pt modelId="{DA00C5CF-6D3D-4225-BDC6-25234F2D9C36}" type="pres">
      <dgm:prSet presAssocID="{2E66E61E-DF65-4827-AE23-5AE0D0525509}" presName="sibTrans" presStyleLbl="sibTrans2D1" presStyleIdx="3" presStyleCnt="4"/>
      <dgm:spPr/>
      <dgm:t>
        <a:bodyPr/>
        <a:lstStyle/>
        <a:p>
          <a:endParaRPr lang="ru-RU"/>
        </a:p>
      </dgm:t>
    </dgm:pt>
  </dgm:ptLst>
  <dgm:cxnLst>
    <dgm:cxn modelId="{EC5104C8-D78F-4748-ABC3-26A828DF847C}" type="presOf" srcId="{EAFB5076-0C25-4FAE-B2EF-CDFB814FC58D}" destId="{E439D18F-8FD1-4E30-BD0A-BB74ECFEFD4F}" srcOrd="0" destOrd="0" presId="urn:microsoft.com/office/officeart/2005/8/layout/radial6"/>
    <dgm:cxn modelId="{DE4888DE-9EA0-461C-910E-054FD42F3476}" type="presOf" srcId="{DA41424D-DAF3-4233-BB58-4EEDAF783B47}" destId="{FA97C502-F3FA-496B-B97F-387651D59580}" srcOrd="0" destOrd="0" presId="urn:microsoft.com/office/officeart/2005/8/layout/radial6"/>
    <dgm:cxn modelId="{8DC5FE2A-5B27-47BE-BE0D-79869543E9E1}" type="presOf" srcId="{86F4D9C6-C112-4D7F-AAA2-527434A07181}" destId="{6949BF4C-2161-49D4-9411-A661EED1ACB3}" srcOrd="0" destOrd="0" presId="urn:microsoft.com/office/officeart/2005/8/layout/radial6"/>
    <dgm:cxn modelId="{E7A7B0D3-7ECA-417B-A29B-91291C1597C3}" type="presOf" srcId="{539C5923-FB16-4068-9129-730F327FABBB}" destId="{97130D9B-9109-41C7-8A6D-E84B5C503B0A}" srcOrd="0" destOrd="0" presId="urn:microsoft.com/office/officeart/2005/8/layout/radial6"/>
    <dgm:cxn modelId="{6D3F3CC2-8F6F-409D-B4D5-129A8F0A4FDD}" srcId="{2063801B-3FFC-4B37-887F-04DAEBFF6295}" destId="{5B6F29D2-6E12-4017-976C-69C596DD7F33}" srcOrd="0" destOrd="0" parTransId="{0A800151-B982-45FD-8339-CC644DC1E8EB}" sibTransId="{6E35A29E-D643-4E98-B462-E797C1316902}"/>
    <dgm:cxn modelId="{9994E219-77BE-4153-A203-AF9750E96126}" type="presOf" srcId="{2E66E61E-DF65-4827-AE23-5AE0D0525509}" destId="{DA00C5CF-6D3D-4225-BDC6-25234F2D9C36}" srcOrd="0" destOrd="0" presId="urn:microsoft.com/office/officeart/2005/8/layout/radial6"/>
    <dgm:cxn modelId="{4C3D279F-26F3-4234-9F0F-78129F4BE0C1}" type="presOf" srcId="{5B6F29D2-6E12-4017-976C-69C596DD7F33}" destId="{077222F1-2B69-4627-BBF5-5910BC0A1E60}" srcOrd="0" destOrd="0" presId="urn:microsoft.com/office/officeart/2005/8/layout/radial6"/>
    <dgm:cxn modelId="{F25EB8E8-E20C-403A-A365-D327EC03EC12}" srcId="{5B6F29D2-6E12-4017-976C-69C596DD7F33}" destId="{86F4D9C6-C112-4D7F-AAA2-527434A07181}" srcOrd="2" destOrd="0" parTransId="{CB384566-6FDE-4AEB-9F2B-632FF75FEBB4}" sibTransId="{DA41424D-DAF3-4233-BB58-4EEDAF783B47}"/>
    <dgm:cxn modelId="{67B1B1ED-A525-4617-9091-9DA13177BD78}" srcId="{5B6F29D2-6E12-4017-976C-69C596DD7F33}" destId="{01FD0500-C50B-415D-9CBF-A6857E1D4EBF}" srcOrd="3" destOrd="0" parTransId="{C0847C9F-A8F6-4EFD-82AA-72104BBC8612}" sibTransId="{2E66E61E-DF65-4827-AE23-5AE0D0525509}"/>
    <dgm:cxn modelId="{416BF4E2-6979-480A-92FA-C1A356938CF5}" srcId="{5B6F29D2-6E12-4017-976C-69C596DD7F33}" destId="{A00835EF-1219-40B0-864C-6A57BB18FB8F}" srcOrd="0" destOrd="0" parTransId="{9CB28122-788B-42A3-BF54-5CD3581B9E30}" sibTransId="{E616FFA2-0980-478E-BA31-3C00768BE918}"/>
    <dgm:cxn modelId="{00BE8DF3-DAE1-41EC-A2EE-6E9924E08904}" type="presOf" srcId="{A00835EF-1219-40B0-864C-6A57BB18FB8F}" destId="{49CE9B55-C8CF-4014-9BDA-412069A605D4}" srcOrd="0" destOrd="0" presId="urn:microsoft.com/office/officeart/2005/8/layout/radial6"/>
    <dgm:cxn modelId="{4F6E42E6-2CB0-49C6-8B50-2B0977E7A43F}" type="presOf" srcId="{E616FFA2-0980-478E-BA31-3C00768BE918}" destId="{D058150E-11F1-4FA4-B1BE-877CF3659003}" srcOrd="0" destOrd="0" presId="urn:microsoft.com/office/officeart/2005/8/layout/radial6"/>
    <dgm:cxn modelId="{6F1BAF32-B26A-43A4-95D9-C5D0E980ABF2}" type="presOf" srcId="{2063801B-3FFC-4B37-887F-04DAEBFF6295}" destId="{2FD8E422-9930-4964-BBE4-07352F9D0DF6}" srcOrd="0" destOrd="0" presId="urn:microsoft.com/office/officeart/2005/8/layout/radial6"/>
    <dgm:cxn modelId="{D2E4E743-7D0E-44A0-938B-09031315724B}" srcId="{5B6F29D2-6E12-4017-976C-69C596DD7F33}" destId="{539C5923-FB16-4068-9129-730F327FABBB}" srcOrd="1" destOrd="0" parTransId="{F6DC0722-4EC9-49D8-A358-F06A3C258680}" sibTransId="{EAFB5076-0C25-4FAE-B2EF-CDFB814FC58D}"/>
    <dgm:cxn modelId="{C6C9C12E-C095-4000-A98C-5498F7A0CEB8}" type="presOf" srcId="{01FD0500-C50B-415D-9CBF-A6857E1D4EBF}" destId="{7327C3A3-0308-4F6B-9826-DAB02A584159}" srcOrd="0" destOrd="0" presId="urn:microsoft.com/office/officeart/2005/8/layout/radial6"/>
    <dgm:cxn modelId="{6A7E8800-25B8-4326-AD79-58FBE208879D}" type="presParOf" srcId="{2FD8E422-9930-4964-BBE4-07352F9D0DF6}" destId="{077222F1-2B69-4627-BBF5-5910BC0A1E60}" srcOrd="0" destOrd="0" presId="urn:microsoft.com/office/officeart/2005/8/layout/radial6"/>
    <dgm:cxn modelId="{A8231AD1-5DBA-4BAD-8195-142E274CF34C}" type="presParOf" srcId="{2FD8E422-9930-4964-BBE4-07352F9D0DF6}" destId="{49CE9B55-C8CF-4014-9BDA-412069A605D4}" srcOrd="1" destOrd="0" presId="urn:microsoft.com/office/officeart/2005/8/layout/radial6"/>
    <dgm:cxn modelId="{F54EB91B-F755-4C50-B17B-AA7D23DE5456}" type="presParOf" srcId="{2FD8E422-9930-4964-BBE4-07352F9D0DF6}" destId="{F721D895-FDD4-4A7A-8332-946C8EC13D29}" srcOrd="2" destOrd="0" presId="urn:microsoft.com/office/officeart/2005/8/layout/radial6"/>
    <dgm:cxn modelId="{7D5F285F-A490-46AE-B251-43D9AFB88C4E}" type="presParOf" srcId="{2FD8E422-9930-4964-BBE4-07352F9D0DF6}" destId="{D058150E-11F1-4FA4-B1BE-877CF3659003}" srcOrd="3" destOrd="0" presId="urn:microsoft.com/office/officeart/2005/8/layout/radial6"/>
    <dgm:cxn modelId="{6C49876C-CDD7-4957-8744-75847DF162A2}" type="presParOf" srcId="{2FD8E422-9930-4964-BBE4-07352F9D0DF6}" destId="{97130D9B-9109-41C7-8A6D-E84B5C503B0A}" srcOrd="4" destOrd="0" presId="urn:microsoft.com/office/officeart/2005/8/layout/radial6"/>
    <dgm:cxn modelId="{97D60864-BB06-4E88-B5F2-B3306BDE33D7}" type="presParOf" srcId="{2FD8E422-9930-4964-BBE4-07352F9D0DF6}" destId="{278EC67B-DF3E-4882-B014-86548E5F4E2B}" srcOrd="5" destOrd="0" presId="urn:microsoft.com/office/officeart/2005/8/layout/radial6"/>
    <dgm:cxn modelId="{BB9A0562-B1AF-4DE9-B39C-DBE3FA8945D9}" type="presParOf" srcId="{2FD8E422-9930-4964-BBE4-07352F9D0DF6}" destId="{E439D18F-8FD1-4E30-BD0A-BB74ECFEFD4F}" srcOrd="6" destOrd="0" presId="urn:microsoft.com/office/officeart/2005/8/layout/radial6"/>
    <dgm:cxn modelId="{05B18582-46D2-4A8F-8796-75F0F34B4EF4}" type="presParOf" srcId="{2FD8E422-9930-4964-BBE4-07352F9D0DF6}" destId="{6949BF4C-2161-49D4-9411-A661EED1ACB3}" srcOrd="7" destOrd="0" presId="urn:microsoft.com/office/officeart/2005/8/layout/radial6"/>
    <dgm:cxn modelId="{48C480D8-6BC0-40D5-97E9-D62843AE42A0}" type="presParOf" srcId="{2FD8E422-9930-4964-BBE4-07352F9D0DF6}" destId="{5AE6F4F4-C44B-475A-9B66-7C488BFD4300}" srcOrd="8" destOrd="0" presId="urn:microsoft.com/office/officeart/2005/8/layout/radial6"/>
    <dgm:cxn modelId="{D70E89AB-D149-40C3-B5EA-E48EEEF0467C}" type="presParOf" srcId="{2FD8E422-9930-4964-BBE4-07352F9D0DF6}" destId="{FA97C502-F3FA-496B-B97F-387651D59580}" srcOrd="9" destOrd="0" presId="urn:microsoft.com/office/officeart/2005/8/layout/radial6"/>
    <dgm:cxn modelId="{41DB2248-AD2B-411F-AA53-B4445A13D072}" type="presParOf" srcId="{2FD8E422-9930-4964-BBE4-07352F9D0DF6}" destId="{7327C3A3-0308-4F6B-9826-DAB02A584159}" srcOrd="10" destOrd="0" presId="urn:microsoft.com/office/officeart/2005/8/layout/radial6"/>
    <dgm:cxn modelId="{5D644D6B-51DF-4537-BFEB-A3A5C2B0990B}" type="presParOf" srcId="{2FD8E422-9930-4964-BBE4-07352F9D0DF6}" destId="{1A5EC0D9-165B-4CB9-AD61-B5774C6A21E0}" srcOrd="11" destOrd="0" presId="urn:microsoft.com/office/officeart/2005/8/layout/radial6"/>
    <dgm:cxn modelId="{5EF144BC-A539-4ADC-B074-C235C244AE2C}" type="presParOf" srcId="{2FD8E422-9930-4964-BBE4-07352F9D0DF6}" destId="{DA00C5CF-6D3D-4225-BDC6-25234F2D9C36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E846F7-A7AB-4843-9F4E-C05E921E1915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F2EA8AA-E43E-45A6-A1EA-432A6880F187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100" b="1" dirty="0" smtClean="0"/>
            <a:t>М.П. Погодин (охранитель</a:t>
          </a:r>
          <a:r>
            <a:rPr lang="ru-RU" sz="1100" dirty="0" smtClean="0"/>
            <a:t>)</a:t>
          </a:r>
        </a:p>
        <a:p>
          <a:r>
            <a:rPr lang="ru-RU" sz="1100" dirty="0" smtClean="0"/>
            <a:t>Мирабо для нас не страшен, но для нас страшен Емелька Пугачев. Лендрю Ролен со всеми коммунистами не найдут у нас себе приверженцев, а перед Никитой Пустосвятом разинет рот любая деревня. На сторону Мадзини не перешатнется никто, а Стенька Разин лишь кликни клич. Вот где кроется наша революция, вот откуда грозят нам опасности «(Историко-политические письма»)</a:t>
          </a:r>
          <a:endParaRPr lang="ru-RU" sz="1100" dirty="0"/>
        </a:p>
      </dgm:t>
    </dgm:pt>
    <dgm:pt modelId="{2F415CF6-6657-42FF-8C6E-DE12E33EB2D1}" type="parTrans" cxnId="{C6459D01-3334-4D14-9A1D-2332E610A24B}">
      <dgm:prSet/>
      <dgm:spPr/>
      <dgm:t>
        <a:bodyPr/>
        <a:lstStyle/>
        <a:p>
          <a:endParaRPr lang="ru-RU"/>
        </a:p>
      </dgm:t>
    </dgm:pt>
    <dgm:pt modelId="{2053BA2F-DC43-402F-8AF1-B699DADEB4EF}" type="sibTrans" cxnId="{C6459D01-3334-4D14-9A1D-2332E610A24B}">
      <dgm:prSet/>
      <dgm:spPr/>
      <dgm:t>
        <a:bodyPr/>
        <a:lstStyle/>
        <a:p>
          <a:endParaRPr lang="ru-RU"/>
        </a:p>
      </dgm:t>
    </dgm:pt>
    <dgm:pt modelId="{2F45E810-C077-465B-9FB9-2E1C2DCA0851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100" b="1" dirty="0" smtClean="0"/>
            <a:t>К.С. Аксаков (консерватор)</a:t>
          </a:r>
        </a:p>
        <a:p>
          <a:r>
            <a:rPr lang="ru-RU" sz="1100" dirty="0" smtClean="0"/>
            <a:t>Есть в России отдельные внутренние язвы, требующие особых усилий для исцеления. Таковы раскол, крепостное состояние, взяточничество. Я не предлагаю здесь о том своих мыслей, ибо это не было моей целью при сочинении этой записки. Я указываю здесь на самые основы внутреннего состояния России, на то, что составляет главный вопрос и имеет важнейшее общее действие на всю Россию. (Записка “О внутреннем состоянии России”, предоставленная Государю Императору Александру II)</a:t>
          </a:r>
          <a:endParaRPr lang="ru-RU" sz="1100" dirty="0"/>
        </a:p>
      </dgm:t>
    </dgm:pt>
    <dgm:pt modelId="{DC267FF1-4C05-4622-B966-4B1C0B4C99E5}" type="parTrans" cxnId="{997CD0EB-6C9A-46A4-8AA2-D11F560F7EAD}">
      <dgm:prSet/>
      <dgm:spPr/>
      <dgm:t>
        <a:bodyPr/>
        <a:lstStyle/>
        <a:p>
          <a:endParaRPr lang="ru-RU"/>
        </a:p>
      </dgm:t>
    </dgm:pt>
    <dgm:pt modelId="{11EF3421-8EB7-4EF0-A444-5BB94969F6C0}" type="sibTrans" cxnId="{997CD0EB-6C9A-46A4-8AA2-D11F560F7EAD}">
      <dgm:prSet/>
      <dgm:spPr/>
      <dgm:t>
        <a:bodyPr/>
        <a:lstStyle/>
        <a:p>
          <a:endParaRPr lang="ru-RU"/>
        </a:p>
      </dgm:t>
    </dgm:pt>
    <dgm:pt modelId="{98EBC06A-977D-44DB-9603-AB2BE9F1D654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100" b="1" dirty="0" smtClean="0"/>
            <a:t>А.И. Герцен (демократ)</a:t>
          </a:r>
        </a:p>
        <a:p>
          <a:r>
            <a:rPr lang="ru-RU" sz="1100" dirty="0" smtClean="0"/>
            <a:t>Отец ваш, умирая (не бойтесь, я знаю, что говорю с сыном), признался, что он не успел сделать всего, что хотел, для своих подданных… крепостное состояние явилось как угрызение совести в последнюю минуту. Он не успел в 30 лет освободить крестьян. Торопитесь, спасайте крестьянина от будущих злодейств, спасайте его от крови, которую он должен будет пролить! (Письмо Александру </a:t>
          </a:r>
          <a:r>
            <a:rPr lang="en-US" sz="1100" dirty="0" smtClean="0"/>
            <a:t>II </a:t>
          </a:r>
          <a:r>
            <a:rPr lang="ru-RU" sz="1100" dirty="0" smtClean="0"/>
            <a:t>от 10 марта 1856 г.)</a:t>
          </a:r>
          <a:endParaRPr lang="ru-RU" sz="1100" dirty="0"/>
        </a:p>
      </dgm:t>
    </dgm:pt>
    <dgm:pt modelId="{EF2117A5-9883-42A8-BF22-D9CD0A5E6431}" type="parTrans" cxnId="{E2589301-2D43-4C5D-B6CC-03D1965A28B3}">
      <dgm:prSet/>
      <dgm:spPr/>
      <dgm:t>
        <a:bodyPr/>
        <a:lstStyle/>
        <a:p>
          <a:endParaRPr lang="ru-RU"/>
        </a:p>
      </dgm:t>
    </dgm:pt>
    <dgm:pt modelId="{F8613B30-3815-4219-A871-0AF3485A52E5}" type="sibTrans" cxnId="{E2589301-2D43-4C5D-B6CC-03D1965A28B3}">
      <dgm:prSet/>
      <dgm:spPr/>
      <dgm:t>
        <a:bodyPr/>
        <a:lstStyle/>
        <a:p>
          <a:endParaRPr lang="ru-RU"/>
        </a:p>
      </dgm:t>
    </dgm:pt>
    <dgm:pt modelId="{B41A6B63-F861-46E0-9241-CC397B9FD256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100" b="1" dirty="0" smtClean="0"/>
            <a:t>Б.Н. Чичерин  (либерал)</a:t>
          </a:r>
        </a:p>
        <a:p>
          <a:r>
            <a:rPr lang="ru-RU" sz="1100" dirty="0" smtClean="0"/>
            <a:t>Крепостное состояние отвлекает от производительного труда значительную часть народных сил, и представляет преграду всякому улучшению земледелия; финансовая система всею тяжестию лежит на низших сословиях, подавление народной деятельности и самостоятельности убивает в нем промышленный дух. (Современные задачи русской жизни (1855г. )  </a:t>
          </a:r>
          <a:endParaRPr lang="ru-RU" sz="1100" dirty="0"/>
        </a:p>
      </dgm:t>
    </dgm:pt>
    <dgm:pt modelId="{4D9331F0-289C-48EA-BCA1-99AAA8960B2E}" type="parTrans" cxnId="{6F3CA172-2F03-4475-931A-1D2A7A59D762}">
      <dgm:prSet/>
      <dgm:spPr/>
      <dgm:t>
        <a:bodyPr/>
        <a:lstStyle/>
        <a:p>
          <a:endParaRPr lang="ru-RU"/>
        </a:p>
      </dgm:t>
    </dgm:pt>
    <dgm:pt modelId="{760431B2-CD22-41AD-B961-08621EFDAA7D}" type="sibTrans" cxnId="{6F3CA172-2F03-4475-931A-1D2A7A59D762}">
      <dgm:prSet/>
      <dgm:spPr/>
      <dgm:t>
        <a:bodyPr/>
        <a:lstStyle/>
        <a:p>
          <a:endParaRPr lang="ru-RU"/>
        </a:p>
      </dgm:t>
    </dgm:pt>
    <dgm:pt modelId="{D0FDD6A6-95D6-452C-BC53-26DFD6D63C90}" type="pres">
      <dgm:prSet presAssocID="{EBE846F7-A7AB-4843-9F4E-C05E921E1915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6BC599A-CCA3-484E-AACD-9C283F37EAD8}" type="pres">
      <dgm:prSet presAssocID="{CF2EA8AA-E43E-45A6-A1EA-432A6880F187}" presName="comp" presStyleCnt="0"/>
      <dgm:spPr/>
    </dgm:pt>
    <dgm:pt modelId="{69957487-8F81-4239-A14C-7E4BDD8ABFAF}" type="pres">
      <dgm:prSet presAssocID="{CF2EA8AA-E43E-45A6-A1EA-432A6880F187}" presName="box" presStyleLbl="node1" presStyleIdx="0" presStyleCnt="4"/>
      <dgm:spPr/>
      <dgm:t>
        <a:bodyPr/>
        <a:lstStyle/>
        <a:p>
          <a:endParaRPr lang="ru-RU"/>
        </a:p>
      </dgm:t>
    </dgm:pt>
    <dgm:pt modelId="{1B51AD3C-17FB-480F-8E9F-1CDF6AE8A16E}" type="pres">
      <dgm:prSet presAssocID="{CF2EA8AA-E43E-45A6-A1EA-432A6880F187}" presName="img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4000" b="-54000"/>
          </a:stretch>
        </a:blipFill>
      </dgm:spPr>
      <dgm:t>
        <a:bodyPr/>
        <a:lstStyle/>
        <a:p>
          <a:endParaRPr lang="ru-RU"/>
        </a:p>
      </dgm:t>
    </dgm:pt>
    <dgm:pt modelId="{69BA142D-709A-43AE-88F2-999E252C38EE}" type="pres">
      <dgm:prSet presAssocID="{CF2EA8AA-E43E-45A6-A1EA-432A6880F187}" presName="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C8E7177-783C-4E84-A0FC-0346CC96DA2A}" type="pres">
      <dgm:prSet presAssocID="{2053BA2F-DC43-402F-8AF1-B699DADEB4EF}" presName="spacer" presStyleCnt="0"/>
      <dgm:spPr/>
    </dgm:pt>
    <dgm:pt modelId="{73B12A72-1ECD-4969-B481-D00F8301E0B3}" type="pres">
      <dgm:prSet presAssocID="{2F45E810-C077-465B-9FB9-2E1C2DCA0851}" presName="comp" presStyleCnt="0"/>
      <dgm:spPr/>
    </dgm:pt>
    <dgm:pt modelId="{1D5E762A-C0E3-4F41-A930-D664909F98A0}" type="pres">
      <dgm:prSet presAssocID="{2F45E810-C077-465B-9FB9-2E1C2DCA0851}" presName="box" presStyleLbl="node1" presStyleIdx="1" presStyleCnt="4" custScaleY="127084"/>
      <dgm:spPr/>
      <dgm:t>
        <a:bodyPr/>
        <a:lstStyle/>
        <a:p>
          <a:endParaRPr lang="ru-RU"/>
        </a:p>
      </dgm:t>
    </dgm:pt>
    <dgm:pt modelId="{E4E34BC7-A0F7-48DE-994B-66C66CCD558C}" type="pres">
      <dgm:prSet presAssocID="{2F45E810-C077-465B-9FB9-2E1C2DCA0851}" presName="img" presStyleLbl="fgImgPlace1" presStyleIdx="1" presStyleCnt="4" custScaleY="12074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2000" b="-22000"/>
          </a:stretch>
        </a:blipFill>
      </dgm:spPr>
      <dgm:t>
        <a:bodyPr/>
        <a:lstStyle/>
        <a:p>
          <a:endParaRPr lang="ru-RU"/>
        </a:p>
      </dgm:t>
    </dgm:pt>
    <dgm:pt modelId="{AFE96CFE-9695-46F4-B4F4-C680D9143934}" type="pres">
      <dgm:prSet presAssocID="{2F45E810-C077-465B-9FB9-2E1C2DCA0851}" presName="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9C54E6-3D05-48FD-99AD-1D306ED54187}" type="pres">
      <dgm:prSet presAssocID="{11EF3421-8EB7-4EF0-A444-5BB94969F6C0}" presName="spacer" presStyleCnt="0"/>
      <dgm:spPr/>
    </dgm:pt>
    <dgm:pt modelId="{CDEA4C8F-FD0F-4942-9E06-8399D9A07C4F}" type="pres">
      <dgm:prSet presAssocID="{B41A6B63-F861-46E0-9241-CC397B9FD256}" presName="comp" presStyleCnt="0"/>
      <dgm:spPr/>
    </dgm:pt>
    <dgm:pt modelId="{D24C1A01-D59B-4831-AC26-055FCCD4DF0A}" type="pres">
      <dgm:prSet presAssocID="{B41A6B63-F861-46E0-9241-CC397B9FD256}" presName="box" presStyleLbl="node1" presStyleIdx="2" presStyleCnt="4"/>
      <dgm:spPr/>
      <dgm:t>
        <a:bodyPr/>
        <a:lstStyle/>
        <a:p>
          <a:endParaRPr lang="ru-RU"/>
        </a:p>
      </dgm:t>
    </dgm:pt>
    <dgm:pt modelId="{FDD7D4EE-EED4-4375-9C3E-5ABA39FD7B95}" type="pres">
      <dgm:prSet presAssocID="{B41A6B63-F861-46E0-9241-CC397B9FD256}" presName="img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9000" b="-29000"/>
          </a:stretch>
        </a:blipFill>
      </dgm:spPr>
      <dgm:t>
        <a:bodyPr/>
        <a:lstStyle/>
        <a:p>
          <a:endParaRPr lang="ru-RU"/>
        </a:p>
      </dgm:t>
    </dgm:pt>
    <dgm:pt modelId="{5B490E3F-9BDA-4C15-9FA4-46689D425124}" type="pres">
      <dgm:prSet presAssocID="{B41A6B63-F861-46E0-9241-CC397B9FD256}" presName="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607BA11-19BC-42C3-9AA1-8EC329C159FB}" type="pres">
      <dgm:prSet presAssocID="{760431B2-CD22-41AD-B961-08621EFDAA7D}" presName="spacer" presStyleCnt="0"/>
      <dgm:spPr/>
    </dgm:pt>
    <dgm:pt modelId="{06F097EB-250B-43BB-BDCD-80E3BC524A48}" type="pres">
      <dgm:prSet presAssocID="{98EBC06A-977D-44DB-9603-AB2BE9F1D654}" presName="comp" presStyleCnt="0"/>
      <dgm:spPr/>
    </dgm:pt>
    <dgm:pt modelId="{7C381EF7-9848-4CB2-953E-2706D4C90F7B}" type="pres">
      <dgm:prSet presAssocID="{98EBC06A-977D-44DB-9603-AB2BE9F1D654}" presName="box" presStyleLbl="node1" presStyleIdx="3" presStyleCnt="4"/>
      <dgm:spPr/>
      <dgm:t>
        <a:bodyPr/>
        <a:lstStyle/>
        <a:p>
          <a:endParaRPr lang="ru-RU"/>
        </a:p>
      </dgm:t>
    </dgm:pt>
    <dgm:pt modelId="{B17201D4-0616-4F31-B7CD-2630DAB972BA}" type="pres">
      <dgm:prSet presAssocID="{98EBC06A-977D-44DB-9603-AB2BE9F1D654}" presName="img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5000" b="-105000"/>
          </a:stretch>
        </a:blipFill>
      </dgm:spPr>
      <dgm:t>
        <a:bodyPr/>
        <a:lstStyle/>
        <a:p>
          <a:endParaRPr lang="ru-RU"/>
        </a:p>
      </dgm:t>
    </dgm:pt>
    <dgm:pt modelId="{C1D8A7AF-6FCB-4391-900E-C06CD086ADA8}" type="pres">
      <dgm:prSet presAssocID="{98EBC06A-977D-44DB-9603-AB2BE9F1D654}" presName="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F3CA172-2F03-4475-931A-1D2A7A59D762}" srcId="{EBE846F7-A7AB-4843-9F4E-C05E921E1915}" destId="{B41A6B63-F861-46E0-9241-CC397B9FD256}" srcOrd="2" destOrd="0" parTransId="{4D9331F0-289C-48EA-BCA1-99AAA8960B2E}" sibTransId="{760431B2-CD22-41AD-B961-08621EFDAA7D}"/>
    <dgm:cxn modelId="{141231EC-089E-4EE3-B0E6-E474884FB6F6}" type="presOf" srcId="{98EBC06A-977D-44DB-9603-AB2BE9F1D654}" destId="{7C381EF7-9848-4CB2-953E-2706D4C90F7B}" srcOrd="0" destOrd="0" presId="urn:microsoft.com/office/officeart/2005/8/layout/vList4"/>
    <dgm:cxn modelId="{939584D1-690E-4B65-B56F-2B95623F9729}" type="presOf" srcId="{B41A6B63-F861-46E0-9241-CC397B9FD256}" destId="{5B490E3F-9BDA-4C15-9FA4-46689D425124}" srcOrd="1" destOrd="0" presId="urn:microsoft.com/office/officeart/2005/8/layout/vList4"/>
    <dgm:cxn modelId="{C6459D01-3334-4D14-9A1D-2332E610A24B}" srcId="{EBE846F7-A7AB-4843-9F4E-C05E921E1915}" destId="{CF2EA8AA-E43E-45A6-A1EA-432A6880F187}" srcOrd="0" destOrd="0" parTransId="{2F415CF6-6657-42FF-8C6E-DE12E33EB2D1}" sibTransId="{2053BA2F-DC43-402F-8AF1-B699DADEB4EF}"/>
    <dgm:cxn modelId="{E2589301-2D43-4C5D-B6CC-03D1965A28B3}" srcId="{EBE846F7-A7AB-4843-9F4E-C05E921E1915}" destId="{98EBC06A-977D-44DB-9603-AB2BE9F1D654}" srcOrd="3" destOrd="0" parTransId="{EF2117A5-9883-42A8-BF22-D9CD0A5E6431}" sibTransId="{F8613B30-3815-4219-A871-0AF3485A52E5}"/>
    <dgm:cxn modelId="{C6CB5812-A354-4BF9-8F97-8CD75BF9994D}" type="presOf" srcId="{CF2EA8AA-E43E-45A6-A1EA-432A6880F187}" destId="{69957487-8F81-4239-A14C-7E4BDD8ABFAF}" srcOrd="0" destOrd="0" presId="urn:microsoft.com/office/officeart/2005/8/layout/vList4"/>
    <dgm:cxn modelId="{C5D8E13E-6109-4AC0-BF80-3EA0746A5DCB}" type="presOf" srcId="{2F45E810-C077-465B-9FB9-2E1C2DCA0851}" destId="{1D5E762A-C0E3-4F41-A930-D664909F98A0}" srcOrd="0" destOrd="0" presId="urn:microsoft.com/office/officeart/2005/8/layout/vList4"/>
    <dgm:cxn modelId="{0F3C9B81-A7BE-4477-B8EA-EF8C1E564561}" type="presOf" srcId="{EBE846F7-A7AB-4843-9F4E-C05E921E1915}" destId="{D0FDD6A6-95D6-452C-BC53-26DFD6D63C90}" srcOrd="0" destOrd="0" presId="urn:microsoft.com/office/officeart/2005/8/layout/vList4"/>
    <dgm:cxn modelId="{D0ED0495-6414-40B4-85D6-0EDC9FDC155A}" type="presOf" srcId="{2F45E810-C077-465B-9FB9-2E1C2DCA0851}" destId="{AFE96CFE-9695-46F4-B4F4-C680D9143934}" srcOrd="1" destOrd="0" presId="urn:microsoft.com/office/officeart/2005/8/layout/vList4"/>
    <dgm:cxn modelId="{9FD9F6EF-4416-4849-8301-7A9C0E0D3009}" type="presOf" srcId="{98EBC06A-977D-44DB-9603-AB2BE9F1D654}" destId="{C1D8A7AF-6FCB-4391-900E-C06CD086ADA8}" srcOrd="1" destOrd="0" presId="urn:microsoft.com/office/officeart/2005/8/layout/vList4"/>
    <dgm:cxn modelId="{997CD0EB-6C9A-46A4-8AA2-D11F560F7EAD}" srcId="{EBE846F7-A7AB-4843-9F4E-C05E921E1915}" destId="{2F45E810-C077-465B-9FB9-2E1C2DCA0851}" srcOrd="1" destOrd="0" parTransId="{DC267FF1-4C05-4622-B966-4B1C0B4C99E5}" sibTransId="{11EF3421-8EB7-4EF0-A444-5BB94969F6C0}"/>
    <dgm:cxn modelId="{0CA3B796-469C-42CB-94AC-0DBE62CB7D89}" type="presOf" srcId="{B41A6B63-F861-46E0-9241-CC397B9FD256}" destId="{D24C1A01-D59B-4831-AC26-055FCCD4DF0A}" srcOrd="0" destOrd="0" presId="urn:microsoft.com/office/officeart/2005/8/layout/vList4"/>
    <dgm:cxn modelId="{C93320B1-200A-4E52-BE86-2237C304A4B3}" type="presOf" srcId="{CF2EA8AA-E43E-45A6-A1EA-432A6880F187}" destId="{69BA142D-709A-43AE-88F2-999E252C38EE}" srcOrd="1" destOrd="0" presId="urn:microsoft.com/office/officeart/2005/8/layout/vList4"/>
    <dgm:cxn modelId="{82DB498D-E8A9-4C66-9385-E9225A6809B2}" type="presParOf" srcId="{D0FDD6A6-95D6-452C-BC53-26DFD6D63C90}" destId="{46BC599A-CCA3-484E-AACD-9C283F37EAD8}" srcOrd="0" destOrd="0" presId="urn:microsoft.com/office/officeart/2005/8/layout/vList4"/>
    <dgm:cxn modelId="{FD41D531-13D1-4433-B0E8-112AD73D3905}" type="presParOf" srcId="{46BC599A-CCA3-484E-AACD-9C283F37EAD8}" destId="{69957487-8F81-4239-A14C-7E4BDD8ABFAF}" srcOrd="0" destOrd="0" presId="urn:microsoft.com/office/officeart/2005/8/layout/vList4"/>
    <dgm:cxn modelId="{886C121D-24DB-49D0-B159-682112A0B238}" type="presParOf" srcId="{46BC599A-CCA3-484E-AACD-9C283F37EAD8}" destId="{1B51AD3C-17FB-480F-8E9F-1CDF6AE8A16E}" srcOrd="1" destOrd="0" presId="urn:microsoft.com/office/officeart/2005/8/layout/vList4"/>
    <dgm:cxn modelId="{582AC7AB-2DD2-4C48-B6F9-D38CD527A282}" type="presParOf" srcId="{46BC599A-CCA3-484E-AACD-9C283F37EAD8}" destId="{69BA142D-709A-43AE-88F2-999E252C38EE}" srcOrd="2" destOrd="0" presId="urn:microsoft.com/office/officeart/2005/8/layout/vList4"/>
    <dgm:cxn modelId="{314C6AEA-2E75-411D-85BA-0F331A854784}" type="presParOf" srcId="{D0FDD6A6-95D6-452C-BC53-26DFD6D63C90}" destId="{4C8E7177-783C-4E84-A0FC-0346CC96DA2A}" srcOrd="1" destOrd="0" presId="urn:microsoft.com/office/officeart/2005/8/layout/vList4"/>
    <dgm:cxn modelId="{39F61340-CF3B-4F9D-A87E-BF9FB3C48F8D}" type="presParOf" srcId="{D0FDD6A6-95D6-452C-BC53-26DFD6D63C90}" destId="{73B12A72-1ECD-4969-B481-D00F8301E0B3}" srcOrd="2" destOrd="0" presId="urn:microsoft.com/office/officeart/2005/8/layout/vList4"/>
    <dgm:cxn modelId="{FFF5424C-B2F8-447B-9978-66338E67EAA3}" type="presParOf" srcId="{73B12A72-1ECD-4969-B481-D00F8301E0B3}" destId="{1D5E762A-C0E3-4F41-A930-D664909F98A0}" srcOrd="0" destOrd="0" presId="urn:microsoft.com/office/officeart/2005/8/layout/vList4"/>
    <dgm:cxn modelId="{5CD8DCD4-39AB-429D-B0C7-F51EAFC11B3A}" type="presParOf" srcId="{73B12A72-1ECD-4969-B481-D00F8301E0B3}" destId="{E4E34BC7-A0F7-48DE-994B-66C66CCD558C}" srcOrd="1" destOrd="0" presId="urn:microsoft.com/office/officeart/2005/8/layout/vList4"/>
    <dgm:cxn modelId="{D4885381-E07F-4E43-9465-11B3DDC0DA53}" type="presParOf" srcId="{73B12A72-1ECD-4969-B481-D00F8301E0B3}" destId="{AFE96CFE-9695-46F4-B4F4-C680D9143934}" srcOrd="2" destOrd="0" presId="urn:microsoft.com/office/officeart/2005/8/layout/vList4"/>
    <dgm:cxn modelId="{CFFD2673-50F8-4085-9D4B-2E9957BACD3E}" type="presParOf" srcId="{D0FDD6A6-95D6-452C-BC53-26DFD6D63C90}" destId="{D19C54E6-3D05-48FD-99AD-1D306ED54187}" srcOrd="3" destOrd="0" presId="urn:microsoft.com/office/officeart/2005/8/layout/vList4"/>
    <dgm:cxn modelId="{F163F09A-D5EE-4106-B770-305AD071BA91}" type="presParOf" srcId="{D0FDD6A6-95D6-452C-BC53-26DFD6D63C90}" destId="{CDEA4C8F-FD0F-4942-9E06-8399D9A07C4F}" srcOrd="4" destOrd="0" presId="urn:microsoft.com/office/officeart/2005/8/layout/vList4"/>
    <dgm:cxn modelId="{E2045C61-4166-4D24-8841-2C8E9BA09A38}" type="presParOf" srcId="{CDEA4C8F-FD0F-4942-9E06-8399D9A07C4F}" destId="{D24C1A01-D59B-4831-AC26-055FCCD4DF0A}" srcOrd="0" destOrd="0" presId="urn:microsoft.com/office/officeart/2005/8/layout/vList4"/>
    <dgm:cxn modelId="{6F7F76B3-8CA1-46E1-895B-BEE857EACAB4}" type="presParOf" srcId="{CDEA4C8F-FD0F-4942-9E06-8399D9A07C4F}" destId="{FDD7D4EE-EED4-4375-9C3E-5ABA39FD7B95}" srcOrd="1" destOrd="0" presId="urn:microsoft.com/office/officeart/2005/8/layout/vList4"/>
    <dgm:cxn modelId="{CA4BC749-A76C-4D5A-B482-446A7961B875}" type="presParOf" srcId="{CDEA4C8F-FD0F-4942-9E06-8399D9A07C4F}" destId="{5B490E3F-9BDA-4C15-9FA4-46689D425124}" srcOrd="2" destOrd="0" presId="urn:microsoft.com/office/officeart/2005/8/layout/vList4"/>
    <dgm:cxn modelId="{DF590306-B48C-4FFB-A8F9-C20D38DCA35F}" type="presParOf" srcId="{D0FDD6A6-95D6-452C-BC53-26DFD6D63C90}" destId="{8607BA11-19BC-42C3-9AA1-8EC329C159FB}" srcOrd="5" destOrd="0" presId="urn:microsoft.com/office/officeart/2005/8/layout/vList4"/>
    <dgm:cxn modelId="{DF644E70-E4B7-4897-958D-474F94E720E9}" type="presParOf" srcId="{D0FDD6A6-95D6-452C-BC53-26DFD6D63C90}" destId="{06F097EB-250B-43BB-BDCD-80E3BC524A48}" srcOrd="6" destOrd="0" presId="urn:microsoft.com/office/officeart/2005/8/layout/vList4"/>
    <dgm:cxn modelId="{B6ECBF8F-0690-470F-A6D3-444F6C1433EF}" type="presParOf" srcId="{06F097EB-250B-43BB-BDCD-80E3BC524A48}" destId="{7C381EF7-9848-4CB2-953E-2706D4C90F7B}" srcOrd="0" destOrd="0" presId="urn:microsoft.com/office/officeart/2005/8/layout/vList4"/>
    <dgm:cxn modelId="{4AA8310E-F6A8-4C5B-A6D5-52C1FD3EF1E5}" type="presParOf" srcId="{06F097EB-250B-43BB-BDCD-80E3BC524A48}" destId="{B17201D4-0616-4F31-B7CD-2630DAB972BA}" srcOrd="1" destOrd="0" presId="urn:microsoft.com/office/officeart/2005/8/layout/vList4"/>
    <dgm:cxn modelId="{BA22E838-3AA4-4B5A-BD77-3123B5B0C90A}" type="presParOf" srcId="{06F097EB-250B-43BB-BDCD-80E3BC524A48}" destId="{C1D8A7AF-6FCB-4391-900E-C06CD086ADA8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289E47-822A-4CC6-B130-C37687245272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DBFDD24-AFC9-4581-BCBE-ACE5148BD561}">
      <dgm:prSet phldrT="[Текст]"/>
      <dgm:spPr/>
      <dgm:t>
        <a:bodyPr/>
        <a:lstStyle/>
        <a:p>
          <a:r>
            <a:rPr lang="ru-RU" dirty="0" smtClean="0"/>
            <a:t>Члены императорской фамилии</a:t>
          </a:r>
          <a:endParaRPr lang="ru-RU" dirty="0"/>
        </a:p>
      </dgm:t>
    </dgm:pt>
    <dgm:pt modelId="{3B5583EE-1F21-4435-8D3C-0C69860DAC0A}" type="parTrans" cxnId="{CC345AEA-FCD8-43F4-B100-883D8FAEB5C8}">
      <dgm:prSet/>
      <dgm:spPr/>
      <dgm:t>
        <a:bodyPr/>
        <a:lstStyle/>
        <a:p>
          <a:endParaRPr lang="ru-RU"/>
        </a:p>
      </dgm:t>
    </dgm:pt>
    <dgm:pt modelId="{2D7F0AB9-4702-4AB4-99D0-86BF66DFDF8E}" type="sibTrans" cxnId="{CC345AEA-FCD8-43F4-B100-883D8FAEB5C8}">
      <dgm:prSet/>
      <dgm:spPr/>
      <dgm:t>
        <a:bodyPr/>
        <a:lstStyle/>
        <a:p>
          <a:endParaRPr lang="ru-RU"/>
        </a:p>
      </dgm:t>
    </dgm:pt>
    <dgm:pt modelId="{8B49D46D-5796-4A8D-90D1-1633F658026D}">
      <dgm:prSet phldrT="[Текст]"/>
      <dgm:spPr/>
      <dgm:t>
        <a:bodyPr/>
        <a:lstStyle/>
        <a:p>
          <a:r>
            <a:rPr lang="ru-RU" dirty="0" smtClean="0"/>
            <a:t>«Николаевские» бюрократы</a:t>
          </a:r>
          <a:endParaRPr lang="ru-RU" dirty="0"/>
        </a:p>
      </dgm:t>
    </dgm:pt>
    <dgm:pt modelId="{9D996BD5-47D9-486C-9CFD-B133C4D11B01}" type="parTrans" cxnId="{B703FE9E-0FC7-4E73-85CC-8D9614814F01}">
      <dgm:prSet/>
      <dgm:spPr/>
      <dgm:t>
        <a:bodyPr/>
        <a:lstStyle/>
        <a:p>
          <a:endParaRPr lang="ru-RU"/>
        </a:p>
      </dgm:t>
    </dgm:pt>
    <dgm:pt modelId="{EC2C2645-B9DA-4884-ACA3-4338D1AAF787}" type="sibTrans" cxnId="{B703FE9E-0FC7-4E73-85CC-8D9614814F01}">
      <dgm:prSet/>
      <dgm:spPr/>
      <dgm:t>
        <a:bodyPr/>
        <a:lstStyle/>
        <a:p>
          <a:endParaRPr lang="ru-RU"/>
        </a:p>
      </dgm:t>
    </dgm:pt>
    <dgm:pt modelId="{456D8118-CAB5-4B30-BDCD-86A9CA6E41D4}">
      <dgm:prSet phldrT="[Текст]"/>
      <dgm:spPr/>
      <dgm:t>
        <a:bodyPr/>
        <a:lstStyle/>
        <a:p>
          <a:r>
            <a:rPr lang="ru-RU" dirty="0" smtClean="0"/>
            <a:t>«Либеральные» бюрократы</a:t>
          </a:r>
          <a:endParaRPr lang="ru-RU" dirty="0"/>
        </a:p>
      </dgm:t>
    </dgm:pt>
    <dgm:pt modelId="{CDA711C4-DDA8-4BDA-9D65-ED2BFCE7803E}" type="parTrans" cxnId="{CD6330C3-D3B8-412C-B325-0591612E5061}">
      <dgm:prSet/>
      <dgm:spPr/>
      <dgm:t>
        <a:bodyPr/>
        <a:lstStyle/>
        <a:p>
          <a:endParaRPr lang="ru-RU"/>
        </a:p>
      </dgm:t>
    </dgm:pt>
    <dgm:pt modelId="{6C4A0398-CD85-4AEE-B6E1-4E3F57D84311}" type="sibTrans" cxnId="{CD6330C3-D3B8-412C-B325-0591612E5061}">
      <dgm:prSet/>
      <dgm:spPr/>
      <dgm:t>
        <a:bodyPr/>
        <a:lstStyle/>
        <a:p>
          <a:endParaRPr lang="ru-RU"/>
        </a:p>
      </dgm:t>
    </dgm:pt>
    <dgm:pt modelId="{E3662945-E8A4-41D7-B431-DD184BFDC551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 smtClean="0"/>
            <a:t>В.к. Елена Павловна – тетка царя. </a:t>
          </a:r>
          <a:endParaRPr lang="ru-RU" sz="1400" dirty="0"/>
        </a:p>
      </dgm:t>
    </dgm:pt>
    <dgm:pt modelId="{0F8F0F06-5532-4C4F-ACDB-0571D694FAE6}" type="parTrans" cxnId="{7469DEA8-B607-469A-993B-C1F8469495C1}">
      <dgm:prSet/>
      <dgm:spPr/>
      <dgm:t>
        <a:bodyPr/>
        <a:lstStyle/>
        <a:p>
          <a:endParaRPr lang="ru-RU"/>
        </a:p>
      </dgm:t>
    </dgm:pt>
    <dgm:pt modelId="{3CE7DEA0-4AF1-4055-AF1A-09E3B625A606}" type="sibTrans" cxnId="{7469DEA8-B607-469A-993B-C1F8469495C1}">
      <dgm:prSet/>
      <dgm:spPr/>
      <dgm:t>
        <a:bodyPr/>
        <a:lstStyle/>
        <a:p>
          <a:endParaRPr lang="ru-RU"/>
        </a:p>
      </dgm:t>
    </dgm:pt>
    <dgm:pt modelId="{2F299ABF-697E-4374-AF01-24CCE53D78BC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 smtClean="0"/>
            <a:t>В.к. Константин Николаевич, брат царя, морской министр, неофициальный лидер «либеральных бюрократов».</a:t>
          </a:r>
          <a:endParaRPr lang="ru-RU" sz="1200" dirty="0"/>
        </a:p>
      </dgm:t>
    </dgm:pt>
    <dgm:pt modelId="{8BAAFD57-6380-4ADF-9F6A-9C503E699363}" type="parTrans" cxnId="{859B8F6E-A547-46AB-87AC-2FBFE99FD8ED}">
      <dgm:prSet/>
      <dgm:spPr/>
      <dgm:t>
        <a:bodyPr/>
        <a:lstStyle/>
        <a:p>
          <a:endParaRPr lang="ru-RU"/>
        </a:p>
      </dgm:t>
    </dgm:pt>
    <dgm:pt modelId="{AB3E3151-F877-4956-A37A-0825129641DD}" type="sibTrans" cxnId="{859B8F6E-A547-46AB-87AC-2FBFE99FD8ED}">
      <dgm:prSet/>
      <dgm:spPr/>
      <dgm:t>
        <a:bodyPr/>
        <a:lstStyle/>
        <a:p>
          <a:endParaRPr lang="ru-RU"/>
        </a:p>
      </dgm:t>
    </dgm:pt>
    <dgm:pt modelId="{3C318921-88AE-4CA7-ACD5-3142BFDDB205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dirty="0" smtClean="0"/>
            <a:t>Генерал Я. И. Ростовцев, нач. штаба военно-учебных заведений, наставник» Александра II (бывший участник движения декабристов)</a:t>
          </a:r>
          <a:endParaRPr lang="ru-RU" sz="1000" dirty="0"/>
        </a:p>
      </dgm:t>
    </dgm:pt>
    <dgm:pt modelId="{BEB42B50-4D1B-4567-ACDB-66A05397C318}" type="parTrans" cxnId="{6C233D8C-2A85-4E7C-86DD-2CF8CE6A2F3B}">
      <dgm:prSet/>
      <dgm:spPr/>
      <dgm:t>
        <a:bodyPr/>
        <a:lstStyle/>
        <a:p>
          <a:endParaRPr lang="ru-RU"/>
        </a:p>
      </dgm:t>
    </dgm:pt>
    <dgm:pt modelId="{CF8307C1-A21E-4CD4-BCE8-DF83A9D3AAC0}" type="sibTrans" cxnId="{6C233D8C-2A85-4E7C-86DD-2CF8CE6A2F3B}">
      <dgm:prSet/>
      <dgm:spPr/>
      <dgm:t>
        <a:bodyPr/>
        <a:lstStyle/>
        <a:p>
          <a:endParaRPr lang="ru-RU"/>
        </a:p>
      </dgm:t>
    </dgm:pt>
    <dgm:pt modelId="{6067BE69-429E-4178-AD4D-A293B72B2B7D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dirty="0" smtClean="0"/>
            <a:t>Блудов Д.Н., президент Академии наук, председатель Госсовета и Комитета министров (член «Арзамаса», «наследство Карамзина»).</a:t>
          </a:r>
          <a:endParaRPr lang="ru-RU" sz="1000" dirty="0"/>
        </a:p>
      </dgm:t>
    </dgm:pt>
    <dgm:pt modelId="{23A07C9D-3278-4011-8A7C-A73A2B52D40F}" type="parTrans" cxnId="{0B368C09-8F78-4585-8AA8-111332A9524C}">
      <dgm:prSet/>
      <dgm:spPr/>
      <dgm:t>
        <a:bodyPr/>
        <a:lstStyle/>
        <a:p>
          <a:endParaRPr lang="ru-RU"/>
        </a:p>
      </dgm:t>
    </dgm:pt>
    <dgm:pt modelId="{077013B1-1709-411E-A072-0EFA664B8256}" type="sibTrans" cxnId="{0B368C09-8F78-4585-8AA8-111332A9524C}">
      <dgm:prSet/>
      <dgm:spPr/>
      <dgm:t>
        <a:bodyPr/>
        <a:lstStyle/>
        <a:p>
          <a:endParaRPr lang="ru-RU"/>
        </a:p>
      </dgm:t>
    </dgm:pt>
    <dgm:pt modelId="{3516A0CD-9A42-4F4D-9EEF-1493CA236DEA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dirty="0" smtClean="0"/>
            <a:t>Н.А. Милютин, товарищ министра внутренних дел, секретарь «редакционных комиссий».</a:t>
          </a:r>
          <a:endParaRPr lang="ru-RU" sz="1000" dirty="0"/>
        </a:p>
      </dgm:t>
    </dgm:pt>
    <dgm:pt modelId="{84A1A90A-9BDF-4D2C-A42F-126008A579E3}" type="parTrans" cxnId="{1D287E63-CEA1-47B4-8A62-2ACDB0C3CA65}">
      <dgm:prSet/>
      <dgm:spPr/>
      <dgm:t>
        <a:bodyPr/>
        <a:lstStyle/>
        <a:p>
          <a:endParaRPr lang="ru-RU"/>
        </a:p>
      </dgm:t>
    </dgm:pt>
    <dgm:pt modelId="{10B958C5-07E2-4389-B5F4-272551F15F02}" type="sibTrans" cxnId="{1D287E63-CEA1-47B4-8A62-2ACDB0C3CA65}">
      <dgm:prSet/>
      <dgm:spPr/>
      <dgm:t>
        <a:bodyPr/>
        <a:lstStyle/>
        <a:p>
          <a:endParaRPr lang="ru-RU"/>
        </a:p>
      </dgm:t>
    </dgm:pt>
    <dgm:pt modelId="{C4E8C6FB-14F5-47AE-B5FF-BF5B263ECC9D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dirty="0" smtClean="0"/>
            <a:t>А. В. Головнин, секретарь в.к. Константина.</a:t>
          </a:r>
          <a:endParaRPr lang="ru-RU" sz="1000" dirty="0"/>
        </a:p>
      </dgm:t>
    </dgm:pt>
    <dgm:pt modelId="{4EFE09E7-59B8-4BBB-B37D-BEBBA29F9AC6}" type="parTrans" cxnId="{FE95F784-B9E7-49E1-A1BB-56DDEC797E33}">
      <dgm:prSet/>
      <dgm:spPr/>
      <dgm:t>
        <a:bodyPr/>
        <a:lstStyle/>
        <a:p>
          <a:endParaRPr lang="ru-RU"/>
        </a:p>
      </dgm:t>
    </dgm:pt>
    <dgm:pt modelId="{53D2A99B-6691-4DD9-BB12-B34B0A4A47CD}" type="sibTrans" cxnId="{FE95F784-B9E7-49E1-A1BB-56DDEC797E33}">
      <dgm:prSet/>
      <dgm:spPr/>
      <dgm:t>
        <a:bodyPr/>
        <a:lstStyle/>
        <a:p>
          <a:endParaRPr lang="ru-RU"/>
        </a:p>
      </dgm:t>
    </dgm:pt>
    <dgm:pt modelId="{9EBCFBDD-A60B-4A18-A97B-575B3C78B878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dirty="0" smtClean="0"/>
            <a:t>Н.Х. Бунге – экономист, ректор Императорского университета Св. Владимира, затем – министр финансов</a:t>
          </a:r>
          <a:endParaRPr lang="ru-RU" sz="1000" dirty="0"/>
        </a:p>
      </dgm:t>
    </dgm:pt>
    <dgm:pt modelId="{DF777149-8FFA-473B-9D2F-9795A17B524C}" type="parTrans" cxnId="{74500811-A44D-4A87-BAB4-C49A37D3F498}">
      <dgm:prSet/>
      <dgm:spPr/>
      <dgm:t>
        <a:bodyPr/>
        <a:lstStyle/>
        <a:p>
          <a:endParaRPr lang="ru-RU"/>
        </a:p>
      </dgm:t>
    </dgm:pt>
    <dgm:pt modelId="{6A09937F-7F9A-4F88-B725-0C68D006BA44}" type="sibTrans" cxnId="{74500811-A44D-4A87-BAB4-C49A37D3F498}">
      <dgm:prSet/>
      <dgm:spPr/>
      <dgm:t>
        <a:bodyPr/>
        <a:lstStyle/>
        <a:p>
          <a:endParaRPr lang="ru-RU"/>
        </a:p>
      </dgm:t>
    </dgm:pt>
    <dgm:pt modelId="{A6ABCA64-E53B-46D7-A37A-76E088F1470F}" type="pres">
      <dgm:prSet presAssocID="{34289E47-822A-4CC6-B130-C37687245272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F443CD9-609E-4563-BA9F-BC095BE3BED2}" type="pres">
      <dgm:prSet presAssocID="{ADBFDD24-AFC9-4581-BCBE-ACE5148BD561}" presName="compNode" presStyleCnt="0"/>
      <dgm:spPr/>
    </dgm:pt>
    <dgm:pt modelId="{AC1B5D24-4542-4EFA-AF26-4660EEA72162}" type="pres">
      <dgm:prSet presAssocID="{ADBFDD24-AFC9-4581-BCBE-ACE5148BD561}" presName="aNode" presStyleLbl="bgShp" presStyleIdx="0" presStyleCnt="3"/>
      <dgm:spPr/>
      <dgm:t>
        <a:bodyPr/>
        <a:lstStyle/>
        <a:p>
          <a:endParaRPr lang="ru-RU"/>
        </a:p>
      </dgm:t>
    </dgm:pt>
    <dgm:pt modelId="{F754B58A-0F09-441D-A9DC-9187D00D9D0F}" type="pres">
      <dgm:prSet presAssocID="{ADBFDD24-AFC9-4581-BCBE-ACE5148BD561}" presName="textNode" presStyleLbl="bgShp" presStyleIdx="0" presStyleCnt="3"/>
      <dgm:spPr/>
      <dgm:t>
        <a:bodyPr/>
        <a:lstStyle/>
        <a:p>
          <a:endParaRPr lang="ru-RU"/>
        </a:p>
      </dgm:t>
    </dgm:pt>
    <dgm:pt modelId="{A9474279-DC6C-4CB1-AAAA-F9DB98658406}" type="pres">
      <dgm:prSet presAssocID="{ADBFDD24-AFC9-4581-BCBE-ACE5148BD561}" presName="compChildNode" presStyleCnt="0"/>
      <dgm:spPr/>
    </dgm:pt>
    <dgm:pt modelId="{569886BF-7696-4F20-BF5D-5ABAC9DC6C08}" type="pres">
      <dgm:prSet presAssocID="{ADBFDD24-AFC9-4581-BCBE-ACE5148BD561}" presName="theInnerList" presStyleCnt="0"/>
      <dgm:spPr/>
    </dgm:pt>
    <dgm:pt modelId="{6D8B8F81-4707-4591-96F9-D4A1B1E88855}" type="pres">
      <dgm:prSet presAssocID="{E3662945-E8A4-41D7-B431-DD184BFDC551}" presName="childNode" presStyleLbl="node1" presStyleIdx="0" presStyleCnt="7" custScaleX="62076" custScaleY="72913" custLinFactNeighborX="-27615" custLinFactNeighborY="-3854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59E3129-7DCF-4C33-9B05-A15077519960}" type="pres">
      <dgm:prSet presAssocID="{E3662945-E8A4-41D7-B431-DD184BFDC551}" presName="aSpace2" presStyleCnt="0"/>
      <dgm:spPr/>
    </dgm:pt>
    <dgm:pt modelId="{97C5C1F1-9D97-4512-A117-506E8AAC807B}" type="pres">
      <dgm:prSet presAssocID="{2F299ABF-697E-4374-AF01-24CCE53D78BC}" presName="childNode" presStyleLbl="node1" presStyleIdx="1" presStyleCnt="7" custScaleX="69181" custScaleY="92837" custLinFactNeighborX="-27615" custLinFactNeighborY="-553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CAC60F1-ADCE-40EA-93C0-B60DFE934495}" type="pres">
      <dgm:prSet presAssocID="{ADBFDD24-AFC9-4581-BCBE-ACE5148BD561}" presName="aSpace" presStyleCnt="0"/>
      <dgm:spPr/>
    </dgm:pt>
    <dgm:pt modelId="{A2170C3A-6FA8-4D59-A731-C4F8E2BB7D7D}" type="pres">
      <dgm:prSet presAssocID="{8B49D46D-5796-4A8D-90D1-1633F658026D}" presName="compNode" presStyleCnt="0"/>
      <dgm:spPr/>
    </dgm:pt>
    <dgm:pt modelId="{D03D3FCE-D094-4686-A602-7759285F5088}" type="pres">
      <dgm:prSet presAssocID="{8B49D46D-5796-4A8D-90D1-1633F658026D}" presName="aNode" presStyleLbl="bgShp" presStyleIdx="1" presStyleCnt="3"/>
      <dgm:spPr/>
      <dgm:t>
        <a:bodyPr/>
        <a:lstStyle/>
        <a:p>
          <a:endParaRPr lang="ru-RU"/>
        </a:p>
      </dgm:t>
    </dgm:pt>
    <dgm:pt modelId="{0729BF7D-8EE2-4694-9DB7-F0E86F92CDAA}" type="pres">
      <dgm:prSet presAssocID="{8B49D46D-5796-4A8D-90D1-1633F658026D}" presName="textNode" presStyleLbl="bgShp" presStyleIdx="1" presStyleCnt="3"/>
      <dgm:spPr/>
      <dgm:t>
        <a:bodyPr/>
        <a:lstStyle/>
        <a:p>
          <a:endParaRPr lang="ru-RU"/>
        </a:p>
      </dgm:t>
    </dgm:pt>
    <dgm:pt modelId="{4FE63A09-3830-422C-B084-E4FA42F24588}" type="pres">
      <dgm:prSet presAssocID="{8B49D46D-5796-4A8D-90D1-1633F658026D}" presName="compChildNode" presStyleCnt="0"/>
      <dgm:spPr/>
    </dgm:pt>
    <dgm:pt modelId="{45A17CB4-B983-48E4-B3F2-FF5E02192B42}" type="pres">
      <dgm:prSet presAssocID="{8B49D46D-5796-4A8D-90D1-1633F658026D}" presName="theInnerList" presStyleCnt="0"/>
      <dgm:spPr/>
    </dgm:pt>
    <dgm:pt modelId="{E28758BF-9F50-4ED0-887E-DB3D22691BF1}" type="pres">
      <dgm:prSet presAssocID="{3C318921-88AE-4CA7-ACD5-3142BFDDB205}" presName="childNode" presStyleLbl="node1" presStyleIdx="2" presStyleCnt="7" custScaleX="68922" custScaleY="120536" custLinFactNeighborX="-27569" custLinFactNeighborY="-5552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3F4E719-8350-4636-A94A-D3DFDEC71BBC}" type="pres">
      <dgm:prSet presAssocID="{3C318921-88AE-4CA7-ACD5-3142BFDDB205}" presName="aSpace2" presStyleCnt="0"/>
      <dgm:spPr/>
    </dgm:pt>
    <dgm:pt modelId="{B575E6B6-23A7-44B1-8387-A93408B19CEF}" type="pres">
      <dgm:prSet presAssocID="{6067BE69-429E-4178-AD4D-A293B72B2B7D}" presName="childNode" presStyleLbl="node1" presStyleIdx="3" presStyleCnt="7" custScaleX="68922" custLinFactNeighborX="-27569" custLinFactNeighborY="-8983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019B5E-A4C2-48EA-AC1F-DF3F8548498C}" type="pres">
      <dgm:prSet presAssocID="{8B49D46D-5796-4A8D-90D1-1633F658026D}" presName="aSpace" presStyleCnt="0"/>
      <dgm:spPr/>
    </dgm:pt>
    <dgm:pt modelId="{54918F7D-B67F-4853-AB69-FB6C3A80738E}" type="pres">
      <dgm:prSet presAssocID="{456D8118-CAB5-4B30-BDCD-86A9CA6E41D4}" presName="compNode" presStyleCnt="0"/>
      <dgm:spPr/>
    </dgm:pt>
    <dgm:pt modelId="{D2F710EA-0DF2-4ECF-A33E-2F63E7E189AB}" type="pres">
      <dgm:prSet presAssocID="{456D8118-CAB5-4B30-BDCD-86A9CA6E41D4}" presName="aNode" presStyleLbl="bgShp" presStyleIdx="2" presStyleCnt="3"/>
      <dgm:spPr/>
      <dgm:t>
        <a:bodyPr/>
        <a:lstStyle/>
        <a:p>
          <a:endParaRPr lang="ru-RU"/>
        </a:p>
      </dgm:t>
    </dgm:pt>
    <dgm:pt modelId="{402EF4FF-E004-4BD0-8AD3-A42109A5A17F}" type="pres">
      <dgm:prSet presAssocID="{456D8118-CAB5-4B30-BDCD-86A9CA6E41D4}" presName="textNode" presStyleLbl="bgShp" presStyleIdx="2" presStyleCnt="3"/>
      <dgm:spPr/>
      <dgm:t>
        <a:bodyPr/>
        <a:lstStyle/>
        <a:p>
          <a:endParaRPr lang="ru-RU"/>
        </a:p>
      </dgm:t>
    </dgm:pt>
    <dgm:pt modelId="{149A7290-8815-4438-B268-51755B906059}" type="pres">
      <dgm:prSet presAssocID="{456D8118-CAB5-4B30-BDCD-86A9CA6E41D4}" presName="compChildNode" presStyleCnt="0"/>
      <dgm:spPr/>
    </dgm:pt>
    <dgm:pt modelId="{BF00BF38-ECE3-4C26-80C6-98083F4FD9D8}" type="pres">
      <dgm:prSet presAssocID="{456D8118-CAB5-4B30-BDCD-86A9CA6E41D4}" presName="theInnerList" presStyleCnt="0"/>
      <dgm:spPr/>
    </dgm:pt>
    <dgm:pt modelId="{145AB06A-298B-4B23-A028-9B5D4F526DF7}" type="pres">
      <dgm:prSet presAssocID="{3516A0CD-9A42-4F4D-9EEF-1493CA236DEA}" presName="childNode" presStyleLbl="node1" presStyleIdx="4" presStyleCnt="7" custScaleX="61982" custScaleY="2000000" custLinFactY="-163133" custLinFactNeighborX="-30968" custLinFactNeighborY="-20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A0388D4-909C-46F1-898B-ACFF23659752}" type="pres">
      <dgm:prSet presAssocID="{3516A0CD-9A42-4F4D-9EEF-1493CA236DEA}" presName="aSpace2" presStyleCnt="0"/>
      <dgm:spPr/>
    </dgm:pt>
    <dgm:pt modelId="{FE3D23C5-35FF-4F62-B907-62A09F9AE472}" type="pres">
      <dgm:prSet presAssocID="{C4E8C6FB-14F5-47AE-B5FF-BF5B263ECC9D}" presName="childNode" presStyleLbl="node1" presStyleIdx="5" presStyleCnt="7" custScaleX="61984" custScaleY="1166460" custLinFactNeighborX="-30969" custLinFactNeighborY="-5207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6FCB853-2412-4FDD-86CA-4D1DD5E10ECE}" type="pres">
      <dgm:prSet presAssocID="{C4E8C6FB-14F5-47AE-B5FF-BF5B263ECC9D}" presName="aSpace2" presStyleCnt="0"/>
      <dgm:spPr/>
    </dgm:pt>
    <dgm:pt modelId="{4BEA2999-1FB2-460D-BEB5-F666F9269B51}" type="pres">
      <dgm:prSet presAssocID="{9EBCFBDD-A60B-4A18-A97B-575B3C78B878}" presName="childNode" presStyleLbl="node1" presStyleIdx="6" presStyleCnt="7" custScaleX="68967" custScaleY="2000000" custLinFactY="96855" custLinFactNeighborX="-27523" custLinFactNeighborY="10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7B7DBE5-CF2A-40C9-8E2E-902897D1C06C}" type="presOf" srcId="{3C318921-88AE-4CA7-ACD5-3142BFDDB205}" destId="{E28758BF-9F50-4ED0-887E-DB3D22691BF1}" srcOrd="0" destOrd="0" presId="urn:microsoft.com/office/officeart/2005/8/layout/lProcess2"/>
    <dgm:cxn modelId="{CD6330C3-D3B8-412C-B325-0591612E5061}" srcId="{34289E47-822A-4CC6-B130-C37687245272}" destId="{456D8118-CAB5-4B30-BDCD-86A9CA6E41D4}" srcOrd="2" destOrd="0" parTransId="{CDA711C4-DDA8-4BDA-9D65-ED2BFCE7803E}" sibTransId="{6C4A0398-CD85-4AEE-B6E1-4E3F57D84311}"/>
    <dgm:cxn modelId="{CC345AEA-FCD8-43F4-B100-883D8FAEB5C8}" srcId="{34289E47-822A-4CC6-B130-C37687245272}" destId="{ADBFDD24-AFC9-4581-BCBE-ACE5148BD561}" srcOrd="0" destOrd="0" parTransId="{3B5583EE-1F21-4435-8D3C-0C69860DAC0A}" sibTransId="{2D7F0AB9-4702-4AB4-99D0-86BF66DFDF8E}"/>
    <dgm:cxn modelId="{6874A317-5F98-4648-8ADC-D33E407F2A31}" type="presOf" srcId="{C4E8C6FB-14F5-47AE-B5FF-BF5B263ECC9D}" destId="{FE3D23C5-35FF-4F62-B907-62A09F9AE472}" srcOrd="0" destOrd="0" presId="urn:microsoft.com/office/officeart/2005/8/layout/lProcess2"/>
    <dgm:cxn modelId="{17E1C046-EE0B-42C1-B375-F526AC65E1EC}" type="presOf" srcId="{ADBFDD24-AFC9-4581-BCBE-ACE5148BD561}" destId="{AC1B5D24-4542-4EFA-AF26-4660EEA72162}" srcOrd="0" destOrd="0" presId="urn:microsoft.com/office/officeart/2005/8/layout/lProcess2"/>
    <dgm:cxn modelId="{74500811-A44D-4A87-BAB4-C49A37D3F498}" srcId="{456D8118-CAB5-4B30-BDCD-86A9CA6E41D4}" destId="{9EBCFBDD-A60B-4A18-A97B-575B3C78B878}" srcOrd="2" destOrd="0" parTransId="{DF777149-8FFA-473B-9D2F-9795A17B524C}" sibTransId="{6A09937F-7F9A-4F88-B725-0C68D006BA44}"/>
    <dgm:cxn modelId="{1D287E63-CEA1-47B4-8A62-2ACDB0C3CA65}" srcId="{456D8118-CAB5-4B30-BDCD-86A9CA6E41D4}" destId="{3516A0CD-9A42-4F4D-9EEF-1493CA236DEA}" srcOrd="0" destOrd="0" parTransId="{84A1A90A-9BDF-4D2C-A42F-126008A579E3}" sibTransId="{10B958C5-07E2-4389-B5F4-272551F15F02}"/>
    <dgm:cxn modelId="{6C233D8C-2A85-4E7C-86DD-2CF8CE6A2F3B}" srcId="{8B49D46D-5796-4A8D-90D1-1633F658026D}" destId="{3C318921-88AE-4CA7-ACD5-3142BFDDB205}" srcOrd="0" destOrd="0" parTransId="{BEB42B50-4D1B-4567-ACDB-66A05397C318}" sibTransId="{CF8307C1-A21E-4CD4-BCE8-DF83A9D3AAC0}"/>
    <dgm:cxn modelId="{9CD1EA84-DB47-4A36-846C-41130B0F9ABD}" type="presOf" srcId="{456D8118-CAB5-4B30-BDCD-86A9CA6E41D4}" destId="{D2F710EA-0DF2-4ECF-A33E-2F63E7E189AB}" srcOrd="0" destOrd="0" presId="urn:microsoft.com/office/officeart/2005/8/layout/lProcess2"/>
    <dgm:cxn modelId="{B703FE9E-0FC7-4E73-85CC-8D9614814F01}" srcId="{34289E47-822A-4CC6-B130-C37687245272}" destId="{8B49D46D-5796-4A8D-90D1-1633F658026D}" srcOrd="1" destOrd="0" parTransId="{9D996BD5-47D9-486C-9CFD-B133C4D11B01}" sibTransId="{EC2C2645-B9DA-4884-ACA3-4338D1AAF787}"/>
    <dgm:cxn modelId="{859B8F6E-A547-46AB-87AC-2FBFE99FD8ED}" srcId="{ADBFDD24-AFC9-4581-BCBE-ACE5148BD561}" destId="{2F299ABF-697E-4374-AF01-24CCE53D78BC}" srcOrd="1" destOrd="0" parTransId="{8BAAFD57-6380-4ADF-9F6A-9C503E699363}" sibTransId="{AB3E3151-F877-4956-A37A-0825129641DD}"/>
    <dgm:cxn modelId="{7EF1E7A1-31BC-4E95-B2E1-61F3154CC717}" type="presOf" srcId="{2F299ABF-697E-4374-AF01-24CCE53D78BC}" destId="{97C5C1F1-9D97-4512-A117-506E8AAC807B}" srcOrd="0" destOrd="0" presId="urn:microsoft.com/office/officeart/2005/8/layout/lProcess2"/>
    <dgm:cxn modelId="{B327E9A3-1A36-43B6-A4AC-EAB963094416}" type="presOf" srcId="{9EBCFBDD-A60B-4A18-A97B-575B3C78B878}" destId="{4BEA2999-1FB2-460D-BEB5-F666F9269B51}" srcOrd="0" destOrd="0" presId="urn:microsoft.com/office/officeart/2005/8/layout/lProcess2"/>
    <dgm:cxn modelId="{0B368C09-8F78-4585-8AA8-111332A9524C}" srcId="{8B49D46D-5796-4A8D-90D1-1633F658026D}" destId="{6067BE69-429E-4178-AD4D-A293B72B2B7D}" srcOrd="1" destOrd="0" parTransId="{23A07C9D-3278-4011-8A7C-A73A2B52D40F}" sibTransId="{077013B1-1709-411E-A072-0EFA664B8256}"/>
    <dgm:cxn modelId="{C540B7F1-E704-42BA-9689-1936E41D777E}" type="presOf" srcId="{8B49D46D-5796-4A8D-90D1-1633F658026D}" destId="{0729BF7D-8EE2-4694-9DB7-F0E86F92CDAA}" srcOrd="1" destOrd="0" presId="urn:microsoft.com/office/officeart/2005/8/layout/lProcess2"/>
    <dgm:cxn modelId="{311C0AEA-1796-4DBB-9802-0D6CFA90CA67}" type="presOf" srcId="{E3662945-E8A4-41D7-B431-DD184BFDC551}" destId="{6D8B8F81-4707-4591-96F9-D4A1B1E88855}" srcOrd="0" destOrd="0" presId="urn:microsoft.com/office/officeart/2005/8/layout/lProcess2"/>
    <dgm:cxn modelId="{7469DEA8-B607-469A-993B-C1F8469495C1}" srcId="{ADBFDD24-AFC9-4581-BCBE-ACE5148BD561}" destId="{E3662945-E8A4-41D7-B431-DD184BFDC551}" srcOrd="0" destOrd="0" parTransId="{0F8F0F06-5532-4C4F-ACDB-0571D694FAE6}" sibTransId="{3CE7DEA0-4AF1-4055-AF1A-09E3B625A606}"/>
    <dgm:cxn modelId="{89C4811E-1205-4B7C-8C32-09051370BC07}" type="presOf" srcId="{ADBFDD24-AFC9-4581-BCBE-ACE5148BD561}" destId="{F754B58A-0F09-441D-A9DC-9187D00D9D0F}" srcOrd="1" destOrd="0" presId="urn:microsoft.com/office/officeart/2005/8/layout/lProcess2"/>
    <dgm:cxn modelId="{DF160C98-26C4-42EB-89B7-CF517AF9C079}" type="presOf" srcId="{6067BE69-429E-4178-AD4D-A293B72B2B7D}" destId="{B575E6B6-23A7-44B1-8387-A93408B19CEF}" srcOrd="0" destOrd="0" presId="urn:microsoft.com/office/officeart/2005/8/layout/lProcess2"/>
    <dgm:cxn modelId="{ACE502BE-328E-46E5-8AF6-709BF12ACCC5}" type="presOf" srcId="{456D8118-CAB5-4B30-BDCD-86A9CA6E41D4}" destId="{402EF4FF-E004-4BD0-8AD3-A42109A5A17F}" srcOrd="1" destOrd="0" presId="urn:microsoft.com/office/officeart/2005/8/layout/lProcess2"/>
    <dgm:cxn modelId="{B11BBB93-21F0-492D-8A12-D128520EEF64}" type="presOf" srcId="{3516A0CD-9A42-4F4D-9EEF-1493CA236DEA}" destId="{145AB06A-298B-4B23-A028-9B5D4F526DF7}" srcOrd="0" destOrd="0" presId="urn:microsoft.com/office/officeart/2005/8/layout/lProcess2"/>
    <dgm:cxn modelId="{31EAABF7-94BF-4C45-8DE5-A60F4BA9E661}" type="presOf" srcId="{34289E47-822A-4CC6-B130-C37687245272}" destId="{A6ABCA64-E53B-46D7-A37A-76E088F1470F}" srcOrd="0" destOrd="0" presId="urn:microsoft.com/office/officeart/2005/8/layout/lProcess2"/>
    <dgm:cxn modelId="{F6BBD677-9A37-4270-ADFD-E029C9CAF061}" type="presOf" srcId="{8B49D46D-5796-4A8D-90D1-1633F658026D}" destId="{D03D3FCE-D094-4686-A602-7759285F5088}" srcOrd="0" destOrd="0" presId="urn:microsoft.com/office/officeart/2005/8/layout/lProcess2"/>
    <dgm:cxn modelId="{FE95F784-B9E7-49E1-A1BB-56DDEC797E33}" srcId="{456D8118-CAB5-4B30-BDCD-86A9CA6E41D4}" destId="{C4E8C6FB-14F5-47AE-B5FF-BF5B263ECC9D}" srcOrd="1" destOrd="0" parTransId="{4EFE09E7-59B8-4BBB-B37D-BEBBA29F9AC6}" sibTransId="{53D2A99B-6691-4DD9-BB12-B34B0A4A47CD}"/>
    <dgm:cxn modelId="{51710EAD-5CE6-4366-9347-07810617F145}" type="presParOf" srcId="{A6ABCA64-E53B-46D7-A37A-76E088F1470F}" destId="{1F443CD9-609E-4563-BA9F-BC095BE3BED2}" srcOrd="0" destOrd="0" presId="urn:microsoft.com/office/officeart/2005/8/layout/lProcess2"/>
    <dgm:cxn modelId="{F4119A10-C480-4BB0-8048-B80B2CBE8B8C}" type="presParOf" srcId="{1F443CD9-609E-4563-BA9F-BC095BE3BED2}" destId="{AC1B5D24-4542-4EFA-AF26-4660EEA72162}" srcOrd="0" destOrd="0" presId="urn:microsoft.com/office/officeart/2005/8/layout/lProcess2"/>
    <dgm:cxn modelId="{308F122C-280A-46CF-9B69-FFD6BA32C136}" type="presParOf" srcId="{1F443CD9-609E-4563-BA9F-BC095BE3BED2}" destId="{F754B58A-0F09-441D-A9DC-9187D00D9D0F}" srcOrd="1" destOrd="0" presId="urn:microsoft.com/office/officeart/2005/8/layout/lProcess2"/>
    <dgm:cxn modelId="{1E9D5497-C528-457A-9AD4-DEB4631C2870}" type="presParOf" srcId="{1F443CD9-609E-4563-BA9F-BC095BE3BED2}" destId="{A9474279-DC6C-4CB1-AAAA-F9DB98658406}" srcOrd="2" destOrd="0" presId="urn:microsoft.com/office/officeart/2005/8/layout/lProcess2"/>
    <dgm:cxn modelId="{52540310-04F9-471A-B580-118290C1BEC6}" type="presParOf" srcId="{A9474279-DC6C-4CB1-AAAA-F9DB98658406}" destId="{569886BF-7696-4F20-BF5D-5ABAC9DC6C08}" srcOrd="0" destOrd="0" presId="urn:microsoft.com/office/officeart/2005/8/layout/lProcess2"/>
    <dgm:cxn modelId="{A26AC845-DA5F-4D04-AF16-D6447635EA9E}" type="presParOf" srcId="{569886BF-7696-4F20-BF5D-5ABAC9DC6C08}" destId="{6D8B8F81-4707-4591-96F9-D4A1B1E88855}" srcOrd="0" destOrd="0" presId="urn:microsoft.com/office/officeart/2005/8/layout/lProcess2"/>
    <dgm:cxn modelId="{5C363362-9F78-4257-9A3F-F480B19FE137}" type="presParOf" srcId="{569886BF-7696-4F20-BF5D-5ABAC9DC6C08}" destId="{859E3129-7DCF-4C33-9B05-A15077519960}" srcOrd="1" destOrd="0" presId="urn:microsoft.com/office/officeart/2005/8/layout/lProcess2"/>
    <dgm:cxn modelId="{3E0E96A6-07AA-487A-B7A1-86258ADCDC41}" type="presParOf" srcId="{569886BF-7696-4F20-BF5D-5ABAC9DC6C08}" destId="{97C5C1F1-9D97-4512-A117-506E8AAC807B}" srcOrd="2" destOrd="0" presId="urn:microsoft.com/office/officeart/2005/8/layout/lProcess2"/>
    <dgm:cxn modelId="{CC66A9B4-8626-455A-AB23-B7A7AF8FAE89}" type="presParOf" srcId="{A6ABCA64-E53B-46D7-A37A-76E088F1470F}" destId="{ACAC60F1-ADCE-40EA-93C0-B60DFE934495}" srcOrd="1" destOrd="0" presId="urn:microsoft.com/office/officeart/2005/8/layout/lProcess2"/>
    <dgm:cxn modelId="{5F53A3B8-EB9F-49DD-A9AA-A36778713020}" type="presParOf" srcId="{A6ABCA64-E53B-46D7-A37A-76E088F1470F}" destId="{A2170C3A-6FA8-4D59-A731-C4F8E2BB7D7D}" srcOrd="2" destOrd="0" presId="urn:microsoft.com/office/officeart/2005/8/layout/lProcess2"/>
    <dgm:cxn modelId="{45C5A6AC-7E00-4025-8CF7-7A1BB9AF27FB}" type="presParOf" srcId="{A2170C3A-6FA8-4D59-A731-C4F8E2BB7D7D}" destId="{D03D3FCE-D094-4686-A602-7759285F5088}" srcOrd="0" destOrd="0" presId="urn:microsoft.com/office/officeart/2005/8/layout/lProcess2"/>
    <dgm:cxn modelId="{22A4CF60-672A-4EFD-8512-3C43EAD5235F}" type="presParOf" srcId="{A2170C3A-6FA8-4D59-A731-C4F8E2BB7D7D}" destId="{0729BF7D-8EE2-4694-9DB7-F0E86F92CDAA}" srcOrd="1" destOrd="0" presId="urn:microsoft.com/office/officeart/2005/8/layout/lProcess2"/>
    <dgm:cxn modelId="{2395E592-8A7B-4345-8F52-D81D49A46670}" type="presParOf" srcId="{A2170C3A-6FA8-4D59-A731-C4F8E2BB7D7D}" destId="{4FE63A09-3830-422C-B084-E4FA42F24588}" srcOrd="2" destOrd="0" presId="urn:microsoft.com/office/officeart/2005/8/layout/lProcess2"/>
    <dgm:cxn modelId="{211BC722-9F7D-4A5E-9E28-462E683EAD6A}" type="presParOf" srcId="{4FE63A09-3830-422C-B084-E4FA42F24588}" destId="{45A17CB4-B983-48E4-B3F2-FF5E02192B42}" srcOrd="0" destOrd="0" presId="urn:microsoft.com/office/officeart/2005/8/layout/lProcess2"/>
    <dgm:cxn modelId="{A7D1C651-B143-4723-B497-5542403C63B3}" type="presParOf" srcId="{45A17CB4-B983-48E4-B3F2-FF5E02192B42}" destId="{E28758BF-9F50-4ED0-887E-DB3D22691BF1}" srcOrd="0" destOrd="0" presId="urn:microsoft.com/office/officeart/2005/8/layout/lProcess2"/>
    <dgm:cxn modelId="{C0A0FBCE-68F7-4FC1-97E0-5EE252A10DBE}" type="presParOf" srcId="{45A17CB4-B983-48E4-B3F2-FF5E02192B42}" destId="{63F4E719-8350-4636-A94A-D3DFDEC71BBC}" srcOrd="1" destOrd="0" presId="urn:microsoft.com/office/officeart/2005/8/layout/lProcess2"/>
    <dgm:cxn modelId="{1ECDF154-4A97-44AC-A3FD-BFDA42BC03B9}" type="presParOf" srcId="{45A17CB4-B983-48E4-B3F2-FF5E02192B42}" destId="{B575E6B6-23A7-44B1-8387-A93408B19CEF}" srcOrd="2" destOrd="0" presId="urn:microsoft.com/office/officeart/2005/8/layout/lProcess2"/>
    <dgm:cxn modelId="{22E361A2-978B-44D9-BD62-B8B93122DA22}" type="presParOf" srcId="{A6ABCA64-E53B-46D7-A37A-76E088F1470F}" destId="{B0019B5E-A4C2-48EA-AC1F-DF3F8548498C}" srcOrd="3" destOrd="0" presId="urn:microsoft.com/office/officeart/2005/8/layout/lProcess2"/>
    <dgm:cxn modelId="{C7435058-FEE9-406A-A37C-B702735BB1CD}" type="presParOf" srcId="{A6ABCA64-E53B-46D7-A37A-76E088F1470F}" destId="{54918F7D-B67F-4853-AB69-FB6C3A80738E}" srcOrd="4" destOrd="0" presId="urn:microsoft.com/office/officeart/2005/8/layout/lProcess2"/>
    <dgm:cxn modelId="{70AD4516-D812-4E3A-BF17-0E8A42EC264F}" type="presParOf" srcId="{54918F7D-B67F-4853-AB69-FB6C3A80738E}" destId="{D2F710EA-0DF2-4ECF-A33E-2F63E7E189AB}" srcOrd="0" destOrd="0" presId="urn:microsoft.com/office/officeart/2005/8/layout/lProcess2"/>
    <dgm:cxn modelId="{DCC65C7F-F1B8-4D4D-ACC7-40D46C027F23}" type="presParOf" srcId="{54918F7D-B67F-4853-AB69-FB6C3A80738E}" destId="{402EF4FF-E004-4BD0-8AD3-A42109A5A17F}" srcOrd="1" destOrd="0" presId="urn:microsoft.com/office/officeart/2005/8/layout/lProcess2"/>
    <dgm:cxn modelId="{49C410CD-6CE1-4AC0-896D-E6F08C89AE05}" type="presParOf" srcId="{54918F7D-B67F-4853-AB69-FB6C3A80738E}" destId="{149A7290-8815-4438-B268-51755B906059}" srcOrd="2" destOrd="0" presId="urn:microsoft.com/office/officeart/2005/8/layout/lProcess2"/>
    <dgm:cxn modelId="{3D5E146D-3BE9-49B4-A6D3-ECCCE45C6F63}" type="presParOf" srcId="{149A7290-8815-4438-B268-51755B906059}" destId="{BF00BF38-ECE3-4C26-80C6-98083F4FD9D8}" srcOrd="0" destOrd="0" presId="urn:microsoft.com/office/officeart/2005/8/layout/lProcess2"/>
    <dgm:cxn modelId="{972FCDD4-80C9-49AA-B04E-42BC67CC782B}" type="presParOf" srcId="{BF00BF38-ECE3-4C26-80C6-98083F4FD9D8}" destId="{145AB06A-298B-4B23-A028-9B5D4F526DF7}" srcOrd="0" destOrd="0" presId="urn:microsoft.com/office/officeart/2005/8/layout/lProcess2"/>
    <dgm:cxn modelId="{4B9C6F20-F9AD-462B-8D69-CFCBD38C13E2}" type="presParOf" srcId="{BF00BF38-ECE3-4C26-80C6-98083F4FD9D8}" destId="{8A0388D4-909C-46F1-898B-ACFF23659752}" srcOrd="1" destOrd="0" presId="urn:microsoft.com/office/officeart/2005/8/layout/lProcess2"/>
    <dgm:cxn modelId="{3E301A5E-E3D8-47F1-A211-5E45AC5436B6}" type="presParOf" srcId="{BF00BF38-ECE3-4C26-80C6-98083F4FD9D8}" destId="{FE3D23C5-35FF-4F62-B907-62A09F9AE472}" srcOrd="2" destOrd="0" presId="urn:microsoft.com/office/officeart/2005/8/layout/lProcess2"/>
    <dgm:cxn modelId="{706B8A37-279F-4F0B-8BDE-872D1CDE10F9}" type="presParOf" srcId="{BF00BF38-ECE3-4C26-80C6-98083F4FD9D8}" destId="{D6FCB853-2412-4FDD-86CA-4D1DD5E10ECE}" srcOrd="3" destOrd="0" presId="urn:microsoft.com/office/officeart/2005/8/layout/lProcess2"/>
    <dgm:cxn modelId="{42AA9C03-C75C-405C-8698-8E841DF2369C}" type="presParOf" srcId="{BF00BF38-ECE3-4C26-80C6-98083F4FD9D8}" destId="{4BEA2999-1FB2-460D-BEB5-F666F9269B51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7F782B-1DD5-4964-B01F-6227409519A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8F8C23A-72D0-4251-AAF1-489C507F3811}">
      <dgm:prSet phldrT="[Текст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xfrm>
          <a:off x="539238" y="489654"/>
          <a:ext cx="1395099" cy="489654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1856</a:t>
          </a:r>
          <a:endParaRPr lang="ru-RU" sz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gm:t>
    </dgm:pt>
    <dgm:pt modelId="{6F436F97-499C-4145-8A09-E33FB1252AC2}" type="parTrans" cxnId="{77E95365-EC41-41BE-8E50-32924BA47652}">
      <dgm:prSet/>
      <dgm:spPr/>
      <dgm:t>
        <a:bodyPr/>
        <a:lstStyle/>
        <a:p>
          <a:endParaRPr lang="ru-RU"/>
        </a:p>
      </dgm:t>
    </dgm:pt>
    <dgm:pt modelId="{ED9BA835-861C-4B39-93E3-D1769FB5409E}" type="sibTrans" cxnId="{77E95365-EC41-41BE-8E50-32924BA47652}">
      <dgm:prSet/>
      <dgm:spPr/>
      <dgm:t>
        <a:bodyPr/>
        <a:lstStyle/>
        <a:p>
          <a:endParaRPr lang="ru-RU"/>
        </a:p>
      </dgm:t>
    </dgm:pt>
    <dgm:pt modelId="{A8C0ED87-2C29-44B8-8295-851B5807AE61}">
      <dgm:prSet phldrT="[Текст]" custT="1"/>
      <dgm:spPr>
        <a:xfrm>
          <a:off x="539238" y="979308"/>
          <a:ext cx="1395099" cy="2937926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ru-RU" sz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Секретный комитет</a:t>
          </a:r>
        </a:p>
        <a:p>
          <a:r>
            <a:rPr lang="ru-RU" sz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"для обсуждения мер по устройству быта помещичьих крестьян".</a:t>
          </a:r>
        </a:p>
        <a:p>
          <a:r>
            <a:rPr lang="ru-RU" sz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Результата нет из-за внутренних противоречий</a:t>
          </a:r>
          <a:endParaRPr lang="ru-RU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4A27DECA-BCB4-438F-AC07-AC02A50F230D}" type="parTrans" cxnId="{37946F4A-A2F7-4205-A4F2-9A5C0D05D41E}">
      <dgm:prSet/>
      <dgm:spPr/>
      <dgm:t>
        <a:bodyPr/>
        <a:lstStyle/>
        <a:p>
          <a:endParaRPr lang="ru-RU"/>
        </a:p>
      </dgm:t>
    </dgm:pt>
    <dgm:pt modelId="{E9BA7E1C-3205-4A84-87D2-BFBD99679A68}" type="sibTrans" cxnId="{37946F4A-A2F7-4205-A4F2-9A5C0D05D41E}">
      <dgm:prSet/>
      <dgm:spPr/>
      <dgm:t>
        <a:bodyPr/>
        <a:lstStyle/>
        <a:p>
          <a:endParaRPr lang="ru-RU"/>
        </a:p>
      </dgm:t>
    </dgm:pt>
    <dgm:pt modelId="{82195F77-84B2-4B8B-A0A1-29B35D1AADDF}">
      <dgm:prSet phldrT="[Текст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xfrm>
          <a:off x="1944217" y="367240"/>
          <a:ext cx="1669939" cy="612068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1856</a:t>
          </a:r>
          <a:endParaRPr lang="ru-RU" sz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gm:t>
    </dgm:pt>
    <dgm:pt modelId="{16E0A5A2-D0A5-4D37-865D-0A1206897BF4}" type="parTrans" cxnId="{A200EFC6-3DD8-465D-8D3E-05911D45FFE6}">
      <dgm:prSet/>
      <dgm:spPr/>
      <dgm:t>
        <a:bodyPr/>
        <a:lstStyle/>
        <a:p>
          <a:endParaRPr lang="ru-RU"/>
        </a:p>
      </dgm:t>
    </dgm:pt>
    <dgm:pt modelId="{E7C6CA69-54F2-4B11-B932-AFB0D35C0DD3}" type="sibTrans" cxnId="{A200EFC6-3DD8-465D-8D3E-05911D45FFE6}">
      <dgm:prSet/>
      <dgm:spPr/>
      <dgm:t>
        <a:bodyPr/>
        <a:lstStyle/>
        <a:p>
          <a:endParaRPr lang="ru-RU"/>
        </a:p>
      </dgm:t>
    </dgm:pt>
    <dgm:pt modelId="{12911EDF-7F07-4988-9222-8B73A19C0203}">
      <dgm:prSet phldrT="[Текст]" custT="1"/>
      <dgm:spPr>
        <a:xfrm>
          <a:off x="1907392" y="1008112"/>
          <a:ext cx="1743589" cy="3125145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ru-RU" sz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Речь императора перед дворянством Московской губернии</a:t>
          </a:r>
          <a:endParaRPr lang="ru-RU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0FB3600E-1761-4C0D-830F-B5497923E28E}" type="parTrans" cxnId="{78B7E4FA-0C9B-445D-B3EE-318567F920A1}">
      <dgm:prSet/>
      <dgm:spPr/>
      <dgm:t>
        <a:bodyPr/>
        <a:lstStyle/>
        <a:p>
          <a:endParaRPr lang="ru-RU"/>
        </a:p>
      </dgm:t>
    </dgm:pt>
    <dgm:pt modelId="{95A9EB50-E1E5-44D4-8DD7-3A7A6696AD47}" type="sibTrans" cxnId="{78B7E4FA-0C9B-445D-B3EE-318567F920A1}">
      <dgm:prSet/>
      <dgm:spPr/>
      <dgm:t>
        <a:bodyPr/>
        <a:lstStyle/>
        <a:p>
          <a:endParaRPr lang="ru-RU"/>
        </a:p>
      </dgm:t>
    </dgm:pt>
    <dgm:pt modelId="{DB203160-23D7-4B10-8B27-8C88F8A390E8}">
      <dgm:prSet phldrT="[Текст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xfrm>
          <a:off x="3550386" y="248744"/>
          <a:ext cx="1542398" cy="734481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1857 (январь-июль)</a:t>
          </a:r>
          <a:endParaRPr lang="ru-RU" sz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gm:t>
    </dgm:pt>
    <dgm:pt modelId="{286ED422-611D-4655-BF31-278F4B98C5A4}" type="parTrans" cxnId="{4FEE32E4-48D9-46C0-931A-05424C88C8F2}">
      <dgm:prSet/>
      <dgm:spPr/>
      <dgm:t>
        <a:bodyPr/>
        <a:lstStyle/>
        <a:p>
          <a:endParaRPr lang="ru-RU"/>
        </a:p>
      </dgm:t>
    </dgm:pt>
    <dgm:pt modelId="{472A270A-2131-450E-893A-756F70DF99DE}" type="sibTrans" cxnId="{4FEE32E4-48D9-46C0-931A-05424C88C8F2}">
      <dgm:prSet/>
      <dgm:spPr/>
      <dgm:t>
        <a:bodyPr/>
        <a:lstStyle/>
        <a:p>
          <a:endParaRPr lang="ru-RU"/>
        </a:p>
      </dgm:t>
    </dgm:pt>
    <dgm:pt modelId="{0372F680-918B-4475-A483-CD7090F4C544}">
      <dgm:prSet phldrT="[Текст]" custT="1"/>
      <dgm:spPr>
        <a:xfrm>
          <a:off x="3550386" y="979308"/>
          <a:ext cx="1542398" cy="3427580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r>
            <a:rPr lang="ru-RU" sz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Второй Секретный комитет с преобладающим количеством сторонников реформы. </a:t>
          </a:r>
        </a:p>
        <a:p>
          <a:r>
            <a:rPr lang="ru-RU" sz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Результат: проект министра внутренних дел С.С. Ланского.</a:t>
          </a:r>
        </a:p>
        <a:p>
          <a:r>
            <a:rPr lang="ru-RU" sz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Заблокирован на этапе перехода проекта в Государственный совет. </a:t>
          </a:r>
          <a:endParaRPr lang="ru-RU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3B0A6CB3-892F-4ECC-9263-F9316CDBBD2D}" type="parTrans" cxnId="{A50DA337-C1CA-4092-B4D9-844755B37598}">
      <dgm:prSet/>
      <dgm:spPr/>
      <dgm:t>
        <a:bodyPr/>
        <a:lstStyle/>
        <a:p>
          <a:endParaRPr lang="ru-RU"/>
        </a:p>
      </dgm:t>
    </dgm:pt>
    <dgm:pt modelId="{360B557F-2490-4A4E-BE6A-68BA16030186}" type="sibTrans" cxnId="{A50DA337-C1CA-4092-B4D9-844755B37598}">
      <dgm:prSet/>
      <dgm:spPr/>
      <dgm:t>
        <a:bodyPr/>
        <a:lstStyle/>
        <a:p>
          <a:endParaRPr lang="ru-RU"/>
        </a:p>
      </dgm:t>
    </dgm:pt>
    <dgm:pt modelId="{4C9EA50E-D85D-4774-B5C0-8F0ADDC95FCE}">
      <dgm:prSet custT="1"/>
      <dgm:spPr>
        <a:xfrm>
          <a:off x="1907392" y="1008112"/>
          <a:ext cx="1743589" cy="3125145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ru-RU" sz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"Существующий порядок владения душами не может остаться неизменным. Лучше начать уничтожать крепостное право сверху, нежели дожидаться того времени, когда оно начнет само собой уничтожаться снизу".</a:t>
          </a:r>
          <a:endParaRPr lang="ru-RU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E3BA27F8-2578-4D34-B9B7-5EDCF764166D}" type="parTrans" cxnId="{8CCE7EBD-071D-45F4-9FA2-DD37CFC5AA81}">
      <dgm:prSet/>
      <dgm:spPr/>
      <dgm:t>
        <a:bodyPr/>
        <a:lstStyle/>
        <a:p>
          <a:endParaRPr lang="ru-RU"/>
        </a:p>
      </dgm:t>
    </dgm:pt>
    <dgm:pt modelId="{8CF7A60D-21FF-4941-8CF2-DEA700BA8CE9}" type="sibTrans" cxnId="{8CCE7EBD-071D-45F4-9FA2-DD37CFC5AA81}">
      <dgm:prSet/>
      <dgm:spPr/>
      <dgm:t>
        <a:bodyPr/>
        <a:lstStyle/>
        <a:p>
          <a:endParaRPr lang="ru-RU"/>
        </a:p>
      </dgm:t>
    </dgm:pt>
    <dgm:pt modelId="{B00749F9-E350-461D-869A-3724C2B88676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xfrm>
          <a:off x="5092785" y="122413"/>
          <a:ext cx="1542398" cy="856895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20 ноября 1857 </a:t>
          </a:r>
          <a:endParaRPr lang="ru-RU" sz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gm:t>
    </dgm:pt>
    <dgm:pt modelId="{7B8EA474-B237-4E59-88B7-114C12228DA6}" type="parTrans" cxnId="{D843ACD4-0CCE-47A4-B0F5-37F556F121DB}">
      <dgm:prSet/>
      <dgm:spPr/>
      <dgm:t>
        <a:bodyPr/>
        <a:lstStyle/>
        <a:p>
          <a:endParaRPr lang="ru-RU"/>
        </a:p>
      </dgm:t>
    </dgm:pt>
    <dgm:pt modelId="{C4C6B72C-D12F-4A1E-8C2B-81647777D320}" type="sibTrans" cxnId="{D843ACD4-0CCE-47A4-B0F5-37F556F121DB}">
      <dgm:prSet/>
      <dgm:spPr/>
      <dgm:t>
        <a:bodyPr/>
        <a:lstStyle/>
        <a:p>
          <a:endParaRPr lang="ru-RU"/>
        </a:p>
      </dgm:t>
    </dgm:pt>
    <dgm:pt modelId="{75118F30-8CA3-4178-8BDE-FF0A2FA18869}">
      <dgm:prSet custT="1"/>
      <dgm:spPr>
        <a:xfrm>
          <a:off x="5092785" y="979308"/>
          <a:ext cx="1542398" cy="3672408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r>
            <a:rPr lang="ru-RU" sz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Рескрипт Назимову: в ответ на обращение дворян Виленской губернии – повеление создать дворянские комитеты для обсуждения реформы (рескрипт подготовлен и разослан втайне от большинства членов государственного совета)</a:t>
          </a:r>
          <a:endParaRPr lang="ru-RU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539E15D2-B8ED-40E0-A8CC-3BE15374EBF3}" type="parTrans" cxnId="{C48DD740-04EC-4C8F-B827-8482F8C41308}">
      <dgm:prSet/>
      <dgm:spPr/>
      <dgm:t>
        <a:bodyPr/>
        <a:lstStyle/>
        <a:p>
          <a:endParaRPr lang="ru-RU"/>
        </a:p>
      </dgm:t>
    </dgm:pt>
    <dgm:pt modelId="{5AF78F0C-2149-4858-A997-2CBB021E67B2}" type="sibTrans" cxnId="{C48DD740-04EC-4C8F-B827-8482F8C41308}">
      <dgm:prSet/>
      <dgm:spPr/>
      <dgm:t>
        <a:bodyPr/>
        <a:lstStyle/>
        <a:p>
          <a:endParaRPr lang="ru-RU"/>
        </a:p>
      </dgm:t>
    </dgm:pt>
    <dgm:pt modelId="{E2B92C85-372C-45C9-9685-B89DE0414AB5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xfrm>
          <a:off x="6631330" y="0"/>
          <a:ext cx="1542398" cy="979308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1858</a:t>
          </a:r>
          <a:endParaRPr lang="ru-RU" sz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gm:t>
    </dgm:pt>
    <dgm:pt modelId="{8A4DDDE0-CAF8-4838-8A43-9F50131AB7ED}" type="parTrans" cxnId="{0FA4FD76-28DE-469E-A414-3E467CC74213}">
      <dgm:prSet/>
      <dgm:spPr/>
      <dgm:t>
        <a:bodyPr/>
        <a:lstStyle/>
        <a:p>
          <a:endParaRPr lang="ru-RU"/>
        </a:p>
      </dgm:t>
    </dgm:pt>
    <dgm:pt modelId="{90EAAF1F-3395-4416-8F1F-5E5389FC9BE3}" type="sibTrans" cxnId="{0FA4FD76-28DE-469E-A414-3E467CC74213}">
      <dgm:prSet/>
      <dgm:spPr/>
      <dgm:t>
        <a:bodyPr/>
        <a:lstStyle/>
        <a:p>
          <a:endParaRPr lang="ru-RU"/>
        </a:p>
      </dgm:t>
    </dgm:pt>
    <dgm:pt modelId="{C6340784-542B-437D-ACC0-C4A51B450568}">
      <dgm:prSet custT="1"/>
      <dgm:spPr>
        <a:xfrm>
          <a:off x="6631330" y="979308"/>
          <a:ext cx="1542398" cy="3917235"/>
        </a:xfrm>
        <a:prstGeom prst="wedgeRectCallout">
          <a:avLst>
            <a:gd name="adj1" fmla="val 0"/>
            <a:gd name="adj2" fmla="val 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r>
            <a:rPr lang="ru-RU" sz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Деятельность дворянских комитетов, подготовивших собственные программы реформы, условно разделяемые на три вида: консервативные, либеральные и демократически (Тверского дворянства)</a:t>
          </a:r>
        </a:p>
        <a:p>
          <a:r>
            <a:rPr lang="ru-RU" sz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Секретный комитет преобразован в Главный комитет по крестьянскому делу.</a:t>
          </a:r>
          <a:endParaRPr lang="ru-RU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gm:t>
    </dgm:pt>
    <dgm:pt modelId="{F5C2A0F6-CF60-4A92-AA46-4C4F43F044AD}" type="parTrans" cxnId="{1CA2BD76-2369-41B4-9979-880982B40C87}">
      <dgm:prSet/>
      <dgm:spPr/>
      <dgm:t>
        <a:bodyPr/>
        <a:lstStyle/>
        <a:p>
          <a:endParaRPr lang="ru-RU"/>
        </a:p>
      </dgm:t>
    </dgm:pt>
    <dgm:pt modelId="{64FF7138-7660-4940-A99D-9279DE388DFF}" type="sibTrans" cxnId="{1CA2BD76-2369-41B4-9979-880982B40C87}">
      <dgm:prSet/>
      <dgm:spPr/>
      <dgm:t>
        <a:bodyPr/>
        <a:lstStyle/>
        <a:p>
          <a:endParaRPr lang="ru-RU"/>
        </a:p>
      </dgm:t>
    </dgm:pt>
    <dgm:pt modelId="{9876EC69-7B0F-4ACF-ACE0-DB7AF0C61531}" type="pres">
      <dgm:prSet presAssocID="{E57F782B-1DD5-4964-B01F-6227409519A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BA81D3F4-BC81-4A59-84D1-E231400975C3}" type="pres">
      <dgm:prSet presAssocID="{E2B92C85-372C-45C9-9685-B89DE0414AB5}" presName="ChildAccent5" presStyleCnt="0"/>
      <dgm:spPr/>
    </dgm:pt>
    <dgm:pt modelId="{C5EA25E2-D9E4-447D-997A-E2C4A5D35DDC}" type="pres">
      <dgm:prSet presAssocID="{E2B92C85-372C-45C9-9685-B89DE0414AB5}" presName="ChildAccent" presStyleLbl="alignImgPlace1" presStyleIdx="0" presStyleCnt="5"/>
      <dgm:spPr/>
      <dgm:t>
        <a:bodyPr/>
        <a:lstStyle/>
        <a:p>
          <a:endParaRPr lang="ru-RU"/>
        </a:p>
      </dgm:t>
    </dgm:pt>
    <dgm:pt modelId="{AA81A4BA-4FB9-4A18-A980-0F405FE68717}" type="pres">
      <dgm:prSet presAssocID="{E2B92C85-372C-45C9-9685-B89DE0414AB5}" presName="Child5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968B12A-419A-4D80-939E-FA8880E55023}" type="pres">
      <dgm:prSet presAssocID="{E2B92C85-372C-45C9-9685-B89DE0414AB5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12F51B-ED53-443E-9DBB-17AD0CBA88DD}" type="pres">
      <dgm:prSet presAssocID="{B00749F9-E350-461D-869A-3724C2B88676}" presName="ChildAccent4" presStyleCnt="0"/>
      <dgm:spPr/>
    </dgm:pt>
    <dgm:pt modelId="{71B2CDA2-AAFF-434C-B546-FA8F01AEB3AD}" type="pres">
      <dgm:prSet presAssocID="{B00749F9-E350-461D-869A-3724C2B88676}" presName="ChildAccent" presStyleLbl="alignImgPlace1" presStyleIdx="1" presStyleCnt="5"/>
      <dgm:spPr/>
      <dgm:t>
        <a:bodyPr/>
        <a:lstStyle/>
        <a:p>
          <a:endParaRPr lang="ru-RU"/>
        </a:p>
      </dgm:t>
    </dgm:pt>
    <dgm:pt modelId="{69DA8EA3-5681-479B-8BB4-BED79746747A}" type="pres">
      <dgm:prSet presAssocID="{B00749F9-E350-461D-869A-3724C2B88676}" presName="Child4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5AB8CD-3BB6-4437-9514-43743DBD0116}" type="pres">
      <dgm:prSet presAssocID="{B00749F9-E350-461D-869A-3724C2B88676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1BC6CFE-D911-4CD1-8748-539576F0B87D}" type="pres">
      <dgm:prSet presAssocID="{DB203160-23D7-4B10-8B27-8C88F8A390E8}" presName="ChildAccent3" presStyleCnt="0"/>
      <dgm:spPr/>
    </dgm:pt>
    <dgm:pt modelId="{4A3085AD-6787-4CDA-A94B-AE06BB445B9B}" type="pres">
      <dgm:prSet presAssocID="{DB203160-23D7-4B10-8B27-8C88F8A390E8}" presName="ChildAccent" presStyleLbl="alignImgPlace1" presStyleIdx="2" presStyleCnt="5"/>
      <dgm:spPr/>
      <dgm:t>
        <a:bodyPr/>
        <a:lstStyle/>
        <a:p>
          <a:endParaRPr lang="ru-RU"/>
        </a:p>
      </dgm:t>
    </dgm:pt>
    <dgm:pt modelId="{752292D3-CF09-4C89-9C26-BA5B3EE1C3B2}" type="pres">
      <dgm:prSet presAssocID="{DB203160-23D7-4B10-8B27-8C88F8A390E8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F284E34-24DD-41C9-BF36-BAE99B09C050}" type="pres">
      <dgm:prSet presAssocID="{DB203160-23D7-4B10-8B27-8C88F8A390E8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5E81FD-84A4-421F-BE0C-4468A152A803}" type="pres">
      <dgm:prSet presAssocID="{82195F77-84B2-4B8B-A0A1-29B35D1AADDF}" presName="ChildAccent2" presStyleCnt="0"/>
      <dgm:spPr/>
    </dgm:pt>
    <dgm:pt modelId="{3015A14A-3254-4A8D-845F-CDBE84D56361}" type="pres">
      <dgm:prSet presAssocID="{82195F77-84B2-4B8B-A0A1-29B35D1AADDF}" presName="ChildAccent" presStyleLbl="alignImgPlace1" presStyleIdx="3" presStyleCnt="5" custScaleX="113044" custScaleY="98190"/>
      <dgm:spPr/>
      <dgm:t>
        <a:bodyPr/>
        <a:lstStyle/>
        <a:p>
          <a:endParaRPr lang="ru-RU"/>
        </a:p>
      </dgm:t>
    </dgm:pt>
    <dgm:pt modelId="{56FC8CCA-51AC-4296-8442-3D2579CE59B1}" type="pres">
      <dgm:prSet presAssocID="{82195F77-84B2-4B8B-A0A1-29B35D1AADDF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C114F36-D1A5-423C-8744-738DBF622978}" type="pres">
      <dgm:prSet presAssocID="{82195F77-84B2-4B8B-A0A1-29B35D1AADDF}" presName="Parent2" presStyleLbl="node1" presStyleIdx="3" presStyleCnt="5" custScaleX="108269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B2EDE9D-5483-4014-B762-0B50767298F0}" type="pres">
      <dgm:prSet presAssocID="{48F8C23A-72D0-4251-AAF1-489C507F3811}" presName="ChildAccent1" presStyleCnt="0"/>
      <dgm:spPr/>
    </dgm:pt>
    <dgm:pt modelId="{B1427D0F-2CC1-4A0B-A5DA-4FD2AE55170E}" type="pres">
      <dgm:prSet presAssocID="{48F8C23A-72D0-4251-AAF1-489C507F3811}" presName="ChildAccent" presStyleLbl="alignImgPlace1" presStyleIdx="4" presStyleCnt="5" custScaleX="90450"/>
      <dgm:spPr/>
      <dgm:t>
        <a:bodyPr/>
        <a:lstStyle/>
        <a:p>
          <a:endParaRPr lang="ru-RU"/>
        </a:p>
      </dgm:t>
    </dgm:pt>
    <dgm:pt modelId="{66E1699F-111E-4444-9832-A95A561DB949}" type="pres">
      <dgm:prSet presAssocID="{48F8C23A-72D0-4251-AAF1-489C507F3811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EA14CC5-617F-46CB-91BD-A933C882EC28}" type="pres">
      <dgm:prSet presAssocID="{48F8C23A-72D0-4251-AAF1-489C507F3811}" presName="Parent1" presStyleLbl="node1" presStyleIdx="4" presStyleCnt="5" custScaleX="90450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B3C42E0-28C0-4A5E-9B40-E6F7C5A874A9}" type="presOf" srcId="{4C9EA50E-D85D-4774-B5C0-8F0ADDC95FCE}" destId="{56FC8CCA-51AC-4296-8442-3D2579CE59B1}" srcOrd="1" destOrd="1" presId="urn:microsoft.com/office/officeart/2011/layout/InterconnectedBlockProcess"/>
    <dgm:cxn modelId="{8CCE7EBD-071D-45F4-9FA2-DD37CFC5AA81}" srcId="{82195F77-84B2-4B8B-A0A1-29B35D1AADDF}" destId="{4C9EA50E-D85D-4774-B5C0-8F0ADDC95FCE}" srcOrd="1" destOrd="0" parTransId="{E3BA27F8-2578-4D34-B9B7-5EDCF764166D}" sibTransId="{8CF7A60D-21FF-4941-8CF2-DEA700BA8CE9}"/>
    <dgm:cxn modelId="{0FA4FD76-28DE-469E-A414-3E467CC74213}" srcId="{E57F782B-1DD5-4964-B01F-6227409519A8}" destId="{E2B92C85-372C-45C9-9685-B89DE0414AB5}" srcOrd="4" destOrd="0" parTransId="{8A4DDDE0-CAF8-4838-8A43-9F50131AB7ED}" sibTransId="{90EAAF1F-3395-4416-8F1F-5E5389FC9BE3}"/>
    <dgm:cxn modelId="{4FEE32E4-48D9-46C0-931A-05424C88C8F2}" srcId="{E57F782B-1DD5-4964-B01F-6227409519A8}" destId="{DB203160-23D7-4B10-8B27-8C88F8A390E8}" srcOrd="2" destOrd="0" parTransId="{286ED422-611D-4655-BF31-278F4B98C5A4}" sibTransId="{472A270A-2131-450E-893A-756F70DF99DE}"/>
    <dgm:cxn modelId="{EEC31343-9144-43A6-92FD-9D694BD5C49A}" type="presOf" srcId="{DB203160-23D7-4B10-8B27-8C88F8A390E8}" destId="{1F284E34-24DD-41C9-BF36-BAE99B09C050}" srcOrd="0" destOrd="0" presId="urn:microsoft.com/office/officeart/2011/layout/InterconnectedBlockProcess"/>
    <dgm:cxn modelId="{14086DAD-5F52-4AED-93E2-69B36C53310A}" type="presOf" srcId="{82195F77-84B2-4B8B-A0A1-29B35D1AADDF}" destId="{8C114F36-D1A5-423C-8744-738DBF622978}" srcOrd="0" destOrd="0" presId="urn:microsoft.com/office/officeart/2011/layout/InterconnectedBlockProcess"/>
    <dgm:cxn modelId="{C48DD740-04EC-4C8F-B827-8482F8C41308}" srcId="{B00749F9-E350-461D-869A-3724C2B88676}" destId="{75118F30-8CA3-4178-8BDE-FF0A2FA18869}" srcOrd="0" destOrd="0" parTransId="{539E15D2-B8ED-40E0-A8CC-3BE15374EBF3}" sibTransId="{5AF78F0C-2149-4858-A997-2CBB021E67B2}"/>
    <dgm:cxn modelId="{F76E5F9E-9CAD-4504-BA57-21A663162ADB}" type="presOf" srcId="{75118F30-8CA3-4178-8BDE-FF0A2FA18869}" destId="{71B2CDA2-AAFF-434C-B546-FA8F01AEB3AD}" srcOrd="0" destOrd="0" presId="urn:microsoft.com/office/officeart/2011/layout/InterconnectedBlockProcess"/>
    <dgm:cxn modelId="{D5C45494-0A02-4133-8CC5-568B00D90E13}" type="presOf" srcId="{0372F680-918B-4475-A483-CD7090F4C544}" destId="{4A3085AD-6787-4CDA-A94B-AE06BB445B9B}" srcOrd="0" destOrd="0" presId="urn:microsoft.com/office/officeart/2011/layout/InterconnectedBlockProcess"/>
    <dgm:cxn modelId="{7F791033-4AE2-464C-8171-E938766A0BEF}" type="presOf" srcId="{75118F30-8CA3-4178-8BDE-FF0A2FA18869}" destId="{69DA8EA3-5681-479B-8BB4-BED79746747A}" srcOrd="1" destOrd="0" presId="urn:microsoft.com/office/officeart/2011/layout/InterconnectedBlockProcess"/>
    <dgm:cxn modelId="{B13F2B90-6B74-48E6-8F17-44C78511C695}" type="presOf" srcId="{4C9EA50E-D85D-4774-B5C0-8F0ADDC95FCE}" destId="{3015A14A-3254-4A8D-845F-CDBE84D56361}" srcOrd="0" destOrd="1" presId="urn:microsoft.com/office/officeart/2011/layout/InterconnectedBlockProcess"/>
    <dgm:cxn modelId="{1DC35ACF-2E21-4432-82FD-F0968841594B}" type="presOf" srcId="{A8C0ED87-2C29-44B8-8295-851B5807AE61}" destId="{B1427D0F-2CC1-4A0B-A5DA-4FD2AE55170E}" srcOrd="0" destOrd="0" presId="urn:microsoft.com/office/officeart/2011/layout/InterconnectedBlockProcess"/>
    <dgm:cxn modelId="{78B7E4FA-0C9B-445D-B3EE-318567F920A1}" srcId="{82195F77-84B2-4B8B-A0A1-29B35D1AADDF}" destId="{12911EDF-7F07-4988-9222-8B73A19C0203}" srcOrd="0" destOrd="0" parTransId="{0FB3600E-1761-4C0D-830F-B5497923E28E}" sibTransId="{95A9EB50-E1E5-44D4-8DD7-3A7A6696AD47}"/>
    <dgm:cxn modelId="{A14AF48E-45E2-4BE3-AC3D-560FCAA85537}" type="presOf" srcId="{C6340784-542B-437D-ACC0-C4A51B450568}" destId="{C5EA25E2-D9E4-447D-997A-E2C4A5D35DDC}" srcOrd="0" destOrd="0" presId="urn:microsoft.com/office/officeart/2011/layout/InterconnectedBlockProcess"/>
    <dgm:cxn modelId="{322E9066-DFB3-41EB-BD6E-3A6809AEB590}" type="presOf" srcId="{C6340784-542B-437D-ACC0-C4A51B450568}" destId="{AA81A4BA-4FB9-4A18-A980-0F405FE68717}" srcOrd="1" destOrd="0" presId="urn:microsoft.com/office/officeart/2011/layout/InterconnectedBlockProcess"/>
    <dgm:cxn modelId="{D843ACD4-0CCE-47A4-B0F5-37F556F121DB}" srcId="{E57F782B-1DD5-4964-B01F-6227409519A8}" destId="{B00749F9-E350-461D-869A-3724C2B88676}" srcOrd="3" destOrd="0" parTransId="{7B8EA474-B237-4E59-88B7-114C12228DA6}" sibTransId="{C4C6B72C-D12F-4A1E-8C2B-81647777D320}"/>
    <dgm:cxn modelId="{37946F4A-A2F7-4205-A4F2-9A5C0D05D41E}" srcId="{48F8C23A-72D0-4251-AAF1-489C507F3811}" destId="{A8C0ED87-2C29-44B8-8295-851B5807AE61}" srcOrd="0" destOrd="0" parTransId="{4A27DECA-BCB4-438F-AC07-AC02A50F230D}" sibTransId="{E9BA7E1C-3205-4A84-87D2-BFBD99679A68}"/>
    <dgm:cxn modelId="{A2B6ED87-21E6-4724-B0DE-38083556DF85}" type="presOf" srcId="{E57F782B-1DD5-4964-B01F-6227409519A8}" destId="{9876EC69-7B0F-4ACF-ACE0-DB7AF0C61531}" srcOrd="0" destOrd="0" presId="urn:microsoft.com/office/officeart/2011/layout/InterconnectedBlockProcess"/>
    <dgm:cxn modelId="{6F611A4E-DEED-4E2C-AC73-C73644067874}" type="presOf" srcId="{A8C0ED87-2C29-44B8-8295-851B5807AE61}" destId="{66E1699F-111E-4444-9832-A95A561DB949}" srcOrd="1" destOrd="0" presId="urn:microsoft.com/office/officeart/2011/layout/InterconnectedBlockProcess"/>
    <dgm:cxn modelId="{E6AF71CF-B4E2-4EFB-B481-64E0D9ABAFDE}" type="presOf" srcId="{B00749F9-E350-461D-869A-3724C2B88676}" destId="{835AB8CD-3BB6-4437-9514-43743DBD0116}" srcOrd="0" destOrd="0" presId="urn:microsoft.com/office/officeart/2011/layout/InterconnectedBlockProcess"/>
    <dgm:cxn modelId="{1F239953-30C5-4724-9319-861B469670C8}" type="presOf" srcId="{12911EDF-7F07-4988-9222-8B73A19C0203}" destId="{56FC8CCA-51AC-4296-8442-3D2579CE59B1}" srcOrd="1" destOrd="0" presId="urn:microsoft.com/office/officeart/2011/layout/InterconnectedBlockProcess"/>
    <dgm:cxn modelId="{A2E070D8-C8CA-476E-BD53-E33F1C0330E2}" type="presOf" srcId="{E2B92C85-372C-45C9-9685-B89DE0414AB5}" destId="{B968B12A-419A-4D80-939E-FA8880E55023}" srcOrd="0" destOrd="0" presId="urn:microsoft.com/office/officeart/2011/layout/InterconnectedBlockProcess"/>
    <dgm:cxn modelId="{77E95365-EC41-41BE-8E50-32924BA47652}" srcId="{E57F782B-1DD5-4964-B01F-6227409519A8}" destId="{48F8C23A-72D0-4251-AAF1-489C507F3811}" srcOrd="0" destOrd="0" parTransId="{6F436F97-499C-4145-8A09-E33FB1252AC2}" sibTransId="{ED9BA835-861C-4B39-93E3-D1769FB5409E}"/>
    <dgm:cxn modelId="{555C4031-318E-4001-AC3A-3CA52D3778B5}" type="presOf" srcId="{48F8C23A-72D0-4251-AAF1-489C507F3811}" destId="{AEA14CC5-617F-46CB-91BD-A933C882EC28}" srcOrd="0" destOrd="0" presId="urn:microsoft.com/office/officeart/2011/layout/InterconnectedBlockProcess"/>
    <dgm:cxn modelId="{A50DA337-C1CA-4092-B4D9-844755B37598}" srcId="{DB203160-23D7-4B10-8B27-8C88F8A390E8}" destId="{0372F680-918B-4475-A483-CD7090F4C544}" srcOrd="0" destOrd="0" parTransId="{3B0A6CB3-892F-4ECC-9263-F9316CDBBD2D}" sibTransId="{360B557F-2490-4A4E-BE6A-68BA16030186}"/>
    <dgm:cxn modelId="{0672E2E6-E212-4182-8385-44D08145C559}" type="presOf" srcId="{12911EDF-7F07-4988-9222-8B73A19C0203}" destId="{3015A14A-3254-4A8D-845F-CDBE84D56361}" srcOrd="0" destOrd="0" presId="urn:microsoft.com/office/officeart/2011/layout/InterconnectedBlockProcess"/>
    <dgm:cxn modelId="{1CA2BD76-2369-41B4-9979-880982B40C87}" srcId="{E2B92C85-372C-45C9-9685-B89DE0414AB5}" destId="{C6340784-542B-437D-ACC0-C4A51B450568}" srcOrd="0" destOrd="0" parTransId="{F5C2A0F6-CF60-4A92-AA46-4C4F43F044AD}" sibTransId="{64FF7138-7660-4940-A99D-9279DE388DFF}"/>
    <dgm:cxn modelId="{C9BF49F0-5E02-40DD-BBC5-432DA9F0DCAC}" type="presOf" srcId="{0372F680-918B-4475-A483-CD7090F4C544}" destId="{752292D3-CF09-4C89-9C26-BA5B3EE1C3B2}" srcOrd="1" destOrd="0" presId="urn:microsoft.com/office/officeart/2011/layout/InterconnectedBlockProcess"/>
    <dgm:cxn modelId="{A200EFC6-3DD8-465D-8D3E-05911D45FFE6}" srcId="{E57F782B-1DD5-4964-B01F-6227409519A8}" destId="{82195F77-84B2-4B8B-A0A1-29B35D1AADDF}" srcOrd="1" destOrd="0" parTransId="{16E0A5A2-D0A5-4D37-865D-0A1206897BF4}" sibTransId="{E7C6CA69-54F2-4B11-B932-AFB0D35C0DD3}"/>
    <dgm:cxn modelId="{0BF5E81C-57AC-4127-A59E-40A5919F9274}" type="presParOf" srcId="{9876EC69-7B0F-4ACF-ACE0-DB7AF0C61531}" destId="{BA81D3F4-BC81-4A59-84D1-E231400975C3}" srcOrd="0" destOrd="0" presId="urn:microsoft.com/office/officeart/2011/layout/InterconnectedBlockProcess"/>
    <dgm:cxn modelId="{70895824-63FD-48CA-B92E-11F52BDF6B6A}" type="presParOf" srcId="{BA81D3F4-BC81-4A59-84D1-E231400975C3}" destId="{C5EA25E2-D9E4-447D-997A-E2C4A5D35DDC}" srcOrd="0" destOrd="0" presId="urn:microsoft.com/office/officeart/2011/layout/InterconnectedBlockProcess"/>
    <dgm:cxn modelId="{F5D17F76-BA21-424C-B3CB-49C549A78DFF}" type="presParOf" srcId="{9876EC69-7B0F-4ACF-ACE0-DB7AF0C61531}" destId="{AA81A4BA-4FB9-4A18-A980-0F405FE68717}" srcOrd="1" destOrd="0" presId="urn:microsoft.com/office/officeart/2011/layout/InterconnectedBlockProcess"/>
    <dgm:cxn modelId="{DFC2C0E8-02D9-4082-B1EA-2136858F02C7}" type="presParOf" srcId="{9876EC69-7B0F-4ACF-ACE0-DB7AF0C61531}" destId="{B968B12A-419A-4D80-939E-FA8880E55023}" srcOrd="2" destOrd="0" presId="urn:microsoft.com/office/officeart/2011/layout/InterconnectedBlockProcess"/>
    <dgm:cxn modelId="{94240DE4-FCDD-47B4-8F52-76C354AD0D9F}" type="presParOf" srcId="{9876EC69-7B0F-4ACF-ACE0-DB7AF0C61531}" destId="{7012F51B-ED53-443E-9DBB-17AD0CBA88DD}" srcOrd="3" destOrd="0" presId="urn:microsoft.com/office/officeart/2011/layout/InterconnectedBlockProcess"/>
    <dgm:cxn modelId="{6BAF5ED2-72B1-461E-95BF-5985F8247CC9}" type="presParOf" srcId="{7012F51B-ED53-443E-9DBB-17AD0CBA88DD}" destId="{71B2CDA2-AAFF-434C-B546-FA8F01AEB3AD}" srcOrd="0" destOrd="0" presId="urn:microsoft.com/office/officeart/2011/layout/InterconnectedBlockProcess"/>
    <dgm:cxn modelId="{B5E4CAAA-EC32-4B64-8460-6857533BEB1B}" type="presParOf" srcId="{9876EC69-7B0F-4ACF-ACE0-DB7AF0C61531}" destId="{69DA8EA3-5681-479B-8BB4-BED79746747A}" srcOrd="4" destOrd="0" presId="urn:microsoft.com/office/officeart/2011/layout/InterconnectedBlockProcess"/>
    <dgm:cxn modelId="{524BE968-C1E2-4AD1-AE2B-B88AD8C0D9A9}" type="presParOf" srcId="{9876EC69-7B0F-4ACF-ACE0-DB7AF0C61531}" destId="{835AB8CD-3BB6-4437-9514-43743DBD0116}" srcOrd="5" destOrd="0" presId="urn:microsoft.com/office/officeart/2011/layout/InterconnectedBlockProcess"/>
    <dgm:cxn modelId="{CE775CA4-63E4-401A-A20B-7F9B180498DC}" type="presParOf" srcId="{9876EC69-7B0F-4ACF-ACE0-DB7AF0C61531}" destId="{41BC6CFE-D911-4CD1-8748-539576F0B87D}" srcOrd="6" destOrd="0" presId="urn:microsoft.com/office/officeart/2011/layout/InterconnectedBlockProcess"/>
    <dgm:cxn modelId="{1EF7BCC9-B590-4DD3-82C0-5A65778D1898}" type="presParOf" srcId="{41BC6CFE-D911-4CD1-8748-539576F0B87D}" destId="{4A3085AD-6787-4CDA-A94B-AE06BB445B9B}" srcOrd="0" destOrd="0" presId="urn:microsoft.com/office/officeart/2011/layout/InterconnectedBlockProcess"/>
    <dgm:cxn modelId="{B8219A1E-A008-4120-B7A2-8B529BB25BCD}" type="presParOf" srcId="{9876EC69-7B0F-4ACF-ACE0-DB7AF0C61531}" destId="{752292D3-CF09-4C89-9C26-BA5B3EE1C3B2}" srcOrd="7" destOrd="0" presId="urn:microsoft.com/office/officeart/2011/layout/InterconnectedBlockProcess"/>
    <dgm:cxn modelId="{355E2868-47E6-4553-B237-2E204A47FA6D}" type="presParOf" srcId="{9876EC69-7B0F-4ACF-ACE0-DB7AF0C61531}" destId="{1F284E34-24DD-41C9-BF36-BAE99B09C050}" srcOrd="8" destOrd="0" presId="urn:microsoft.com/office/officeart/2011/layout/InterconnectedBlockProcess"/>
    <dgm:cxn modelId="{C1466B8F-1585-40ED-AE51-15ABA40019B3}" type="presParOf" srcId="{9876EC69-7B0F-4ACF-ACE0-DB7AF0C61531}" destId="{245E81FD-84A4-421F-BE0C-4468A152A803}" srcOrd="9" destOrd="0" presId="urn:microsoft.com/office/officeart/2011/layout/InterconnectedBlockProcess"/>
    <dgm:cxn modelId="{C3B7227E-30ED-4782-BD83-EFA8176E27CA}" type="presParOf" srcId="{245E81FD-84A4-421F-BE0C-4468A152A803}" destId="{3015A14A-3254-4A8D-845F-CDBE84D56361}" srcOrd="0" destOrd="0" presId="urn:microsoft.com/office/officeart/2011/layout/InterconnectedBlockProcess"/>
    <dgm:cxn modelId="{53039FDB-D9AF-4FE7-A180-C9224067447E}" type="presParOf" srcId="{9876EC69-7B0F-4ACF-ACE0-DB7AF0C61531}" destId="{56FC8CCA-51AC-4296-8442-3D2579CE59B1}" srcOrd="10" destOrd="0" presId="urn:microsoft.com/office/officeart/2011/layout/InterconnectedBlockProcess"/>
    <dgm:cxn modelId="{C0E0F463-BAC2-498A-AEB4-0D45E0869E6F}" type="presParOf" srcId="{9876EC69-7B0F-4ACF-ACE0-DB7AF0C61531}" destId="{8C114F36-D1A5-423C-8744-738DBF622978}" srcOrd="11" destOrd="0" presId="urn:microsoft.com/office/officeart/2011/layout/InterconnectedBlockProcess"/>
    <dgm:cxn modelId="{CC7BDEF6-9467-416A-B546-F2A1C0BE547A}" type="presParOf" srcId="{9876EC69-7B0F-4ACF-ACE0-DB7AF0C61531}" destId="{9B2EDE9D-5483-4014-B762-0B50767298F0}" srcOrd="12" destOrd="0" presId="urn:microsoft.com/office/officeart/2011/layout/InterconnectedBlockProcess"/>
    <dgm:cxn modelId="{8FB8E6B9-B1D7-4E2E-A393-FD41BC18E465}" type="presParOf" srcId="{9B2EDE9D-5483-4014-B762-0B50767298F0}" destId="{B1427D0F-2CC1-4A0B-A5DA-4FD2AE55170E}" srcOrd="0" destOrd="0" presId="urn:microsoft.com/office/officeart/2011/layout/InterconnectedBlockProcess"/>
    <dgm:cxn modelId="{AFEADBF8-CFA9-4CE1-811E-390C9159103E}" type="presParOf" srcId="{9876EC69-7B0F-4ACF-ACE0-DB7AF0C61531}" destId="{66E1699F-111E-4444-9832-A95A561DB949}" srcOrd="13" destOrd="0" presId="urn:microsoft.com/office/officeart/2011/layout/InterconnectedBlockProcess"/>
    <dgm:cxn modelId="{C979A68A-29EE-4291-B69F-2599F3D9A5AE}" type="presParOf" srcId="{9876EC69-7B0F-4ACF-ACE0-DB7AF0C61531}" destId="{AEA14CC5-617F-46CB-91BD-A933C882EC2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00C5CF-6D3D-4225-BDC6-25234F2D9C36}">
      <dsp:nvSpPr>
        <dsp:cNvPr id="0" name=""/>
        <dsp:cNvSpPr/>
      </dsp:nvSpPr>
      <dsp:spPr>
        <a:xfrm>
          <a:off x="1262377" y="551425"/>
          <a:ext cx="3678276" cy="3678276"/>
        </a:xfrm>
        <a:prstGeom prst="blockArc">
          <a:avLst>
            <a:gd name="adj1" fmla="val 10800000"/>
            <a:gd name="adj2" fmla="val 162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97C502-F3FA-496B-B97F-387651D59580}">
      <dsp:nvSpPr>
        <dsp:cNvPr id="0" name=""/>
        <dsp:cNvSpPr/>
      </dsp:nvSpPr>
      <dsp:spPr>
        <a:xfrm>
          <a:off x="1262377" y="551425"/>
          <a:ext cx="3678276" cy="3678276"/>
        </a:xfrm>
        <a:prstGeom prst="blockArc">
          <a:avLst>
            <a:gd name="adj1" fmla="val 5400000"/>
            <a:gd name="adj2" fmla="val 108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9D18F-8FD1-4E30-BD0A-BB74ECFEFD4F}">
      <dsp:nvSpPr>
        <dsp:cNvPr id="0" name=""/>
        <dsp:cNvSpPr/>
      </dsp:nvSpPr>
      <dsp:spPr>
        <a:xfrm>
          <a:off x="1262377" y="551425"/>
          <a:ext cx="3678276" cy="3678276"/>
        </a:xfrm>
        <a:prstGeom prst="blockArc">
          <a:avLst>
            <a:gd name="adj1" fmla="val 0"/>
            <a:gd name="adj2" fmla="val 54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8150E-11F1-4FA4-B1BE-877CF3659003}">
      <dsp:nvSpPr>
        <dsp:cNvPr id="0" name=""/>
        <dsp:cNvSpPr/>
      </dsp:nvSpPr>
      <dsp:spPr>
        <a:xfrm>
          <a:off x="1262377" y="551425"/>
          <a:ext cx="3678276" cy="3678276"/>
        </a:xfrm>
        <a:prstGeom prst="blockArc">
          <a:avLst>
            <a:gd name="adj1" fmla="val 16200000"/>
            <a:gd name="adj2" fmla="val 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7222F1-2B69-4627-BBF5-5910BC0A1E60}">
      <dsp:nvSpPr>
        <dsp:cNvPr id="0" name=""/>
        <dsp:cNvSpPr/>
      </dsp:nvSpPr>
      <dsp:spPr>
        <a:xfrm>
          <a:off x="2157402" y="1410437"/>
          <a:ext cx="1888227" cy="1960252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Экономи-ческое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развитие </a:t>
          </a:r>
          <a:endParaRPr lang="ru-RU" sz="1700" kern="1200" dirty="0"/>
        </a:p>
      </dsp:txBody>
      <dsp:txXfrm>
        <a:off x="2433926" y="1697509"/>
        <a:ext cx="1335179" cy="1386108"/>
      </dsp:txXfrm>
    </dsp:sp>
    <dsp:sp modelId="{49CE9B55-C8CF-4014-9BDA-412069A605D4}">
      <dsp:nvSpPr>
        <dsp:cNvPr id="0" name=""/>
        <dsp:cNvSpPr/>
      </dsp:nvSpPr>
      <dsp:spPr>
        <a:xfrm>
          <a:off x="2440636" y="-91995"/>
          <a:ext cx="1321758" cy="1372176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Рынок капи-талов</a:t>
          </a:r>
          <a:endParaRPr lang="ru-RU" sz="1700" kern="1200" dirty="0"/>
        </a:p>
      </dsp:txBody>
      <dsp:txXfrm>
        <a:off x="2634203" y="108956"/>
        <a:ext cx="934624" cy="970274"/>
      </dsp:txXfrm>
    </dsp:sp>
    <dsp:sp modelId="{97130D9B-9109-41C7-8A6D-E84B5C503B0A}">
      <dsp:nvSpPr>
        <dsp:cNvPr id="0" name=""/>
        <dsp:cNvSpPr/>
      </dsp:nvSpPr>
      <dsp:spPr>
        <a:xfrm>
          <a:off x="4237108" y="1704475"/>
          <a:ext cx="1321758" cy="1372176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Рынок ресурсов</a:t>
          </a:r>
          <a:endParaRPr lang="ru-RU" sz="1700" kern="1200" dirty="0"/>
        </a:p>
      </dsp:txBody>
      <dsp:txXfrm>
        <a:off x="4430675" y="1905426"/>
        <a:ext cx="934624" cy="970274"/>
      </dsp:txXfrm>
    </dsp:sp>
    <dsp:sp modelId="{6949BF4C-2161-49D4-9411-A661EED1ACB3}">
      <dsp:nvSpPr>
        <dsp:cNvPr id="0" name=""/>
        <dsp:cNvSpPr/>
      </dsp:nvSpPr>
      <dsp:spPr>
        <a:xfrm>
          <a:off x="2440636" y="3500947"/>
          <a:ext cx="1321758" cy="1372176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Рынок труда</a:t>
          </a:r>
          <a:endParaRPr lang="ru-RU" sz="1700" kern="1200" dirty="0"/>
        </a:p>
      </dsp:txBody>
      <dsp:txXfrm>
        <a:off x="2634203" y="3701898"/>
        <a:ext cx="934624" cy="970274"/>
      </dsp:txXfrm>
    </dsp:sp>
    <dsp:sp modelId="{7327C3A3-0308-4F6B-9826-DAB02A584159}">
      <dsp:nvSpPr>
        <dsp:cNvPr id="0" name=""/>
        <dsp:cNvSpPr/>
      </dsp:nvSpPr>
      <dsp:spPr>
        <a:xfrm>
          <a:off x="644164" y="1704475"/>
          <a:ext cx="1321758" cy="1372176"/>
        </a:xfrm>
        <a:prstGeom prst="ellipse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Рынок потре-бления</a:t>
          </a:r>
          <a:endParaRPr lang="ru-RU" sz="1700" kern="1200" dirty="0"/>
        </a:p>
      </dsp:txBody>
      <dsp:txXfrm>
        <a:off x="837731" y="1905426"/>
        <a:ext cx="934624" cy="9702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957487-8F81-4239-A14C-7E4BDD8ABFAF}">
      <dsp:nvSpPr>
        <dsp:cNvPr id="0" name=""/>
        <dsp:cNvSpPr/>
      </dsp:nvSpPr>
      <dsp:spPr>
        <a:xfrm>
          <a:off x="0" y="0"/>
          <a:ext cx="8291264" cy="114987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1" kern="1200" dirty="0" smtClean="0"/>
            <a:t>М.П. Погодин (охранитель</a:t>
          </a:r>
          <a:r>
            <a:rPr lang="ru-RU" sz="1100" kern="1200" dirty="0" smtClean="0"/>
            <a:t>)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Мирабо для нас не страшен, но для нас страшен Емелька Пугачев. Лендрю Ролен со всеми коммунистами не найдут у нас себе приверженцев, а перед Никитой Пустосвятом разинет рот любая деревня. На сторону Мадзини не перешатнется никто, а Стенька Разин лишь кликни клич. Вот где кроется наша революция, вот откуда грозят нам опасности «(Историко-политические письма»)</a:t>
          </a:r>
          <a:endParaRPr lang="ru-RU" sz="1100" kern="1200" dirty="0"/>
        </a:p>
      </dsp:txBody>
      <dsp:txXfrm>
        <a:off x="1773240" y="0"/>
        <a:ext cx="6518023" cy="1149877"/>
      </dsp:txXfrm>
    </dsp:sp>
    <dsp:sp modelId="{1B51AD3C-17FB-480F-8E9F-1CDF6AE8A16E}">
      <dsp:nvSpPr>
        <dsp:cNvPr id="0" name=""/>
        <dsp:cNvSpPr/>
      </dsp:nvSpPr>
      <dsp:spPr>
        <a:xfrm>
          <a:off x="114987" y="114987"/>
          <a:ext cx="1658252" cy="91990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4000" b="-54000"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E762A-C0E3-4F41-A930-D664909F98A0}">
      <dsp:nvSpPr>
        <dsp:cNvPr id="0" name=""/>
        <dsp:cNvSpPr/>
      </dsp:nvSpPr>
      <dsp:spPr>
        <a:xfrm>
          <a:off x="0" y="1264865"/>
          <a:ext cx="8291264" cy="146131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1" kern="1200" dirty="0" smtClean="0"/>
            <a:t>К.С. Аксаков (консерватор)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Есть в России отдельные внутренние язвы, требующие особых усилий для исцеления. Таковы раскол, крепостное состояние, взяточничество. Я не предлагаю здесь о том своих мыслей, ибо это не было моей целью при сочинении этой записки. Я указываю здесь на самые основы внутреннего состояния России, на то, что составляет главный вопрос и имеет важнейшее общее действие на всю Россию. (Записка “О внутреннем состоянии России”, предоставленная Государю Императору Александру II)</a:t>
          </a:r>
          <a:endParaRPr lang="ru-RU" sz="1100" kern="1200" dirty="0"/>
        </a:p>
      </dsp:txBody>
      <dsp:txXfrm>
        <a:off x="1773240" y="1264865"/>
        <a:ext cx="6518023" cy="1461310"/>
      </dsp:txXfrm>
    </dsp:sp>
    <dsp:sp modelId="{E4E34BC7-A0F7-48DE-994B-66C66CCD558C}">
      <dsp:nvSpPr>
        <dsp:cNvPr id="0" name=""/>
        <dsp:cNvSpPr/>
      </dsp:nvSpPr>
      <dsp:spPr>
        <a:xfrm>
          <a:off x="114987" y="1440162"/>
          <a:ext cx="1658252" cy="111071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2000" b="-22000"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C1A01-D59B-4831-AC26-055FCCD4DF0A}">
      <dsp:nvSpPr>
        <dsp:cNvPr id="0" name=""/>
        <dsp:cNvSpPr/>
      </dsp:nvSpPr>
      <dsp:spPr>
        <a:xfrm>
          <a:off x="0" y="2841163"/>
          <a:ext cx="8291264" cy="114987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1" kern="1200" dirty="0" smtClean="0"/>
            <a:t>Б.Н. Чичерин  (либерал)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Крепостное состояние отвлекает от производительного труда значительную часть народных сил, и представляет преграду всякому улучшению земледелия; финансовая система всею тяжестию лежит на низших сословиях, подавление народной деятельности и самостоятельности убивает в нем промышленный дух. (Современные задачи русской жизни (1855г. )  </a:t>
          </a:r>
          <a:endParaRPr lang="ru-RU" sz="1100" kern="1200" dirty="0"/>
        </a:p>
      </dsp:txBody>
      <dsp:txXfrm>
        <a:off x="1773240" y="2841163"/>
        <a:ext cx="6518023" cy="1149877"/>
      </dsp:txXfrm>
    </dsp:sp>
    <dsp:sp modelId="{FDD7D4EE-EED4-4375-9C3E-5ABA39FD7B95}">
      <dsp:nvSpPr>
        <dsp:cNvPr id="0" name=""/>
        <dsp:cNvSpPr/>
      </dsp:nvSpPr>
      <dsp:spPr>
        <a:xfrm>
          <a:off x="114987" y="2956151"/>
          <a:ext cx="1658252" cy="91990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9000" b="-29000"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381EF7-9848-4CB2-953E-2706D4C90F7B}">
      <dsp:nvSpPr>
        <dsp:cNvPr id="0" name=""/>
        <dsp:cNvSpPr/>
      </dsp:nvSpPr>
      <dsp:spPr>
        <a:xfrm>
          <a:off x="0" y="4106029"/>
          <a:ext cx="8291264" cy="114987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1" kern="1200" dirty="0" smtClean="0"/>
            <a:t>А.И. Герцен (демократ)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Отец ваш, умирая (не бойтесь, я знаю, что говорю с сыном), признался, что он не успел сделать всего, что хотел, для своих подданных… крепостное состояние явилось как угрызение совести в последнюю минуту. Он не успел в 30 лет освободить крестьян. Торопитесь, спасайте крестьянина от будущих злодейств, спасайте его от крови, которую он должен будет пролить! (Письмо Александру </a:t>
          </a:r>
          <a:r>
            <a:rPr lang="en-US" sz="1100" kern="1200" dirty="0" smtClean="0"/>
            <a:t>II </a:t>
          </a:r>
          <a:r>
            <a:rPr lang="ru-RU" sz="1100" kern="1200" dirty="0" smtClean="0"/>
            <a:t>от 10 марта 1856 г.)</a:t>
          </a:r>
          <a:endParaRPr lang="ru-RU" sz="1100" kern="1200" dirty="0"/>
        </a:p>
      </dsp:txBody>
      <dsp:txXfrm>
        <a:off x="1773240" y="4106029"/>
        <a:ext cx="6518023" cy="1149877"/>
      </dsp:txXfrm>
    </dsp:sp>
    <dsp:sp modelId="{B17201D4-0616-4F31-B7CD-2630DAB972BA}">
      <dsp:nvSpPr>
        <dsp:cNvPr id="0" name=""/>
        <dsp:cNvSpPr/>
      </dsp:nvSpPr>
      <dsp:spPr>
        <a:xfrm>
          <a:off x="114987" y="4221017"/>
          <a:ext cx="1658252" cy="91990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5000" b="-105000"/>
          </a:stretch>
        </a:blip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1B5D24-4542-4EFA-AF26-4660EEA72162}">
      <dsp:nvSpPr>
        <dsp:cNvPr id="0" name=""/>
        <dsp:cNvSpPr/>
      </dsp:nvSpPr>
      <dsp:spPr>
        <a:xfrm>
          <a:off x="1004" y="0"/>
          <a:ext cx="2611933" cy="4525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Члены императорской фамилии</a:t>
          </a:r>
          <a:endParaRPr lang="ru-RU" sz="2400" kern="1200" dirty="0"/>
        </a:p>
      </dsp:txBody>
      <dsp:txXfrm>
        <a:off x="1004" y="0"/>
        <a:ext cx="2611933" cy="1357788"/>
      </dsp:txXfrm>
    </dsp:sp>
    <dsp:sp modelId="{6D8B8F81-4707-4591-96F9-D4A1B1E88855}">
      <dsp:nvSpPr>
        <dsp:cNvPr id="0" name=""/>
        <dsp:cNvSpPr/>
      </dsp:nvSpPr>
      <dsp:spPr>
        <a:xfrm>
          <a:off x="81389" y="1262387"/>
          <a:ext cx="1297107" cy="118352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/>
            <a:t>В.к. Елена Павловна – тетка царя. </a:t>
          </a:r>
          <a:endParaRPr lang="ru-RU" sz="1400" kern="1200" dirty="0"/>
        </a:p>
      </dsp:txBody>
      <dsp:txXfrm>
        <a:off x="116053" y="1297051"/>
        <a:ext cx="1227779" cy="1114198"/>
      </dsp:txXfrm>
    </dsp:sp>
    <dsp:sp modelId="{97C5C1F1-9D97-4512-A117-506E8AAC807B}">
      <dsp:nvSpPr>
        <dsp:cNvPr id="0" name=""/>
        <dsp:cNvSpPr/>
      </dsp:nvSpPr>
      <dsp:spPr>
        <a:xfrm>
          <a:off x="7158" y="2653578"/>
          <a:ext cx="1445569" cy="1506933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В.к. Константин Николаевич, брат царя, морской министр, неофициальный лидер «либеральных бюрократов».</a:t>
          </a:r>
          <a:endParaRPr lang="ru-RU" sz="1200" kern="1200" dirty="0"/>
        </a:p>
      </dsp:txBody>
      <dsp:txXfrm>
        <a:off x="49497" y="2695917"/>
        <a:ext cx="1360891" cy="1422255"/>
      </dsp:txXfrm>
    </dsp:sp>
    <dsp:sp modelId="{D03D3FCE-D094-4686-A602-7759285F5088}">
      <dsp:nvSpPr>
        <dsp:cNvPr id="0" name=""/>
        <dsp:cNvSpPr/>
      </dsp:nvSpPr>
      <dsp:spPr>
        <a:xfrm>
          <a:off x="2808833" y="0"/>
          <a:ext cx="2611933" cy="4525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«Николаевские» бюрократы</a:t>
          </a:r>
          <a:endParaRPr lang="ru-RU" sz="2400" kern="1200" dirty="0"/>
        </a:p>
      </dsp:txBody>
      <dsp:txXfrm>
        <a:off x="2808833" y="0"/>
        <a:ext cx="2611933" cy="1357788"/>
      </dsp:txXfrm>
    </dsp:sp>
    <dsp:sp modelId="{E28758BF-9F50-4ED0-887E-DB3D22691BF1}">
      <dsp:nvSpPr>
        <dsp:cNvPr id="0" name=""/>
        <dsp:cNvSpPr/>
      </dsp:nvSpPr>
      <dsp:spPr>
        <a:xfrm>
          <a:off x="2818654" y="1251436"/>
          <a:ext cx="1440157" cy="1502902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/>
            <a:t>Генерал Я. И. Ростовцев, нач. штаба военно-учебных заведений, наставник» Александра II (бывший участник движения декабристов)</a:t>
          </a:r>
          <a:endParaRPr lang="ru-RU" sz="1000" kern="1200" dirty="0"/>
        </a:p>
      </dsp:txBody>
      <dsp:txXfrm>
        <a:off x="2860835" y="1293617"/>
        <a:ext cx="1355795" cy="1418540"/>
      </dsp:txXfrm>
    </dsp:sp>
    <dsp:sp modelId="{B575E6B6-23A7-44B1-8387-A93408B19CEF}">
      <dsp:nvSpPr>
        <dsp:cNvPr id="0" name=""/>
        <dsp:cNvSpPr/>
      </dsp:nvSpPr>
      <dsp:spPr>
        <a:xfrm>
          <a:off x="2818654" y="2880336"/>
          <a:ext cx="1440157" cy="124684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/>
            <a:t>Блудов Д.Н., президент Академии наук, председатель Госсовета и Комитета министров (член «Арзамаса», «наследство Карамзина»).</a:t>
          </a:r>
          <a:endParaRPr lang="ru-RU" sz="1000" kern="1200" dirty="0"/>
        </a:p>
      </dsp:txBody>
      <dsp:txXfrm>
        <a:off x="2855173" y="2916855"/>
        <a:ext cx="1367119" cy="1173811"/>
      </dsp:txXfrm>
    </dsp:sp>
    <dsp:sp modelId="{D2F710EA-0DF2-4ECF-A33E-2F63E7E189AB}">
      <dsp:nvSpPr>
        <dsp:cNvPr id="0" name=""/>
        <dsp:cNvSpPr/>
      </dsp:nvSpPr>
      <dsp:spPr>
        <a:xfrm>
          <a:off x="5616661" y="0"/>
          <a:ext cx="2611933" cy="4525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«Либеральные» бюрократы</a:t>
          </a:r>
          <a:endParaRPr lang="ru-RU" sz="2400" kern="1200" dirty="0"/>
        </a:p>
      </dsp:txBody>
      <dsp:txXfrm>
        <a:off x="5616661" y="0"/>
        <a:ext cx="2611933" cy="1357788"/>
      </dsp:txXfrm>
    </dsp:sp>
    <dsp:sp modelId="{145AB06A-298B-4B23-A028-9B5D4F526DF7}">
      <dsp:nvSpPr>
        <dsp:cNvPr id="0" name=""/>
        <dsp:cNvSpPr/>
      </dsp:nvSpPr>
      <dsp:spPr>
        <a:xfrm>
          <a:off x="5627966" y="1249259"/>
          <a:ext cx="1295142" cy="113121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/>
            <a:t>Н.А. Милютин, товарищ министра внутренних дел, секретарь «редакционных комиссий».</a:t>
          </a:r>
          <a:endParaRPr lang="ru-RU" sz="1000" kern="1200" dirty="0"/>
        </a:p>
      </dsp:txBody>
      <dsp:txXfrm>
        <a:off x="5661098" y="1282391"/>
        <a:ext cx="1228878" cy="1064950"/>
      </dsp:txXfrm>
    </dsp:sp>
    <dsp:sp modelId="{FE3D23C5-35FF-4F62-B907-62A09F9AE472}">
      <dsp:nvSpPr>
        <dsp:cNvPr id="0" name=""/>
        <dsp:cNvSpPr/>
      </dsp:nvSpPr>
      <dsp:spPr>
        <a:xfrm>
          <a:off x="5627924" y="2494316"/>
          <a:ext cx="1295184" cy="65975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/>
            <a:t>А. В. Головнин, секретарь в.к. Константина.</a:t>
          </a:r>
          <a:endParaRPr lang="ru-RU" sz="1000" kern="1200" dirty="0"/>
        </a:p>
      </dsp:txBody>
      <dsp:txXfrm>
        <a:off x="5647248" y="2513640"/>
        <a:ext cx="1256536" cy="621110"/>
      </dsp:txXfrm>
    </dsp:sp>
    <dsp:sp modelId="{4BEA2999-1FB2-460D-BEB5-F666F9269B51}">
      <dsp:nvSpPr>
        <dsp:cNvPr id="0" name=""/>
        <dsp:cNvSpPr/>
      </dsp:nvSpPr>
      <dsp:spPr>
        <a:xfrm>
          <a:off x="5626973" y="3230791"/>
          <a:ext cx="1441097" cy="113121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/>
            <a:t>Н.Х. Бунге – экономист, ректор Императорского университета Св. Владимира, затем – министр финансов</a:t>
          </a:r>
          <a:endParaRPr lang="ru-RU" sz="1000" kern="1200" dirty="0"/>
        </a:p>
      </dsp:txBody>
      <dsp:txXfrm>
        <a:off x="5660105" y="3263923"/>
        <a:ext cx="1374833" cy="10649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EA25E2-D9E4-447D-997A-E2C4A5D35DDC}">
      <dsp:nvSpPr>
        <dsp:cNvPr id="0" name=""/>
        <dsp:cNvSpPr/>
      </dsp:nvSpPr>
      <dsp:spPr>
        <a:xfrm>
          <a:off x="6631330" y="979308"/>
          <a:ext cx="1542398" cy="3917235"/>
        </a:xfrm>
        <a:prstGeom prst="wedgeRectCallout">
          <a:avLst>
            <a:gd name="adj1" fmla="val 0"/>
            <a:gd name="adj2" fmla="val 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Деятельность дворянских комитетов, подготовивших собственные программы реформы, условно разделяемые на три вида: консервативные, либеральные и демократически (Тверского дворянства)</a:t>
          </a:r>
        </a:p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Секретный комитет преобразован в Главный комитет по крестьянскому делу.</a:t>
          </a:r>
          <a:endParaRPr lang="ru-RU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sp:txBody>
      <dsp:txXfrm>
        <a:off x="6827117" y="979308"/>
        <a:ext cx="1346611" cy="3917235"/>
      </dsp:txXfrm>
    </dsp:sp>
    <dsp:sp modelId="{B968B12A-419A-4D80-939E-FA8880E55023}">
      <dsp:nvSpPr>
        <dsp:cNvPr id="0" name=""/>
        <dsp:cNvSpPr/>
      </dsp:nvSpPr>
      <dsp:spPr>
        <a:xfrm>
          <a:off x="6631330" y="0"/>
          <a:ext cx="1542398" cy="979308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1858</a:t>
          </a:r>
          <a:endParaRPr lang="ru-RU" sz="1200" kern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sp:txBody>
      <dsp:txXfrm>
        <a:off x="6631330" y="0"/>
        <a:ext cx="1542398" cy="979308"/>
      </dsp:txXfrm>
    </dsp:sp>
    <dsp:sp modelId="{71B2CDA2-AAFF-434C-B546-FA8F01AEB3AD}">
      <dsp:nvSpPr>
        <dsp:cNvPr id="0" name=""/>
        <dsp:cNvSpPr/>
      </dsp:nvSpPr>
      <dsp:spPr>
        <a:xfrm>
          <a:off x="5092785" y="979308"/>
          <a:ext cx="1542398" cy="3672408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Рескрипт Назимову: в ответ на обращение дворян Виленской губернии – повеление создать дворянские комитеты для обсуждения реформы (рескрипт подготовлен и разослан втайне от большинства членов государственного совета)</a:t>
          </a:r>
          <a:endParaRPr lang="ru-RU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sp:txBody>
      <dsp:txXfrm>
        <a:off x="5288572" y="979308"/>
        <a:ext cx="1346611" cy="3672408"/>
      </dsp:txXfrm>
    </dsp:sp>
    <dsp:sp modelId="{835AB8CD-3BB6-4437-9514-43743DBD0116}">
      <dsp:nvSpPr>
        <dsp:cNvPr id="0" name=""/>
        <dsp:cNvSpPr/>
      </dsp:nvSpPr>
      <dsp:spPr>
        <a:xfrm>
          <a:off x="5092785" y="122413"/>
          <a:ext cx="1542398" cy="856895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20 ноября 1857 </a:t>
          </a:r>
          <a:endParaRPr lang="ru-RU" sz="1200" kern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sp:txBody>
      <dsp:txXfrm>
        <a:off x="5092785" y="122413"/>
        <a:ext cx="1542398" cy="856895"/>
      </dsp:txXfrm>
    </dsp:sp>
    <dsp:sp modelId="{4A3085AD-6787-4CDA-A94B-AE06BB445B9B}">
      <dsp:nvSpPr>
        <dsp:cNvPr id="0" name=""/>
        <dsp:cNvSpPr/>
      </dsp:nvSpPr>
      <dsp:spPr>
        <a:xfrm>
          <a:off x="3550386" y="979308"/>
          <a:ext cx="1542398" cy="3427580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Второй Секретный комитет с преобладающим количеством сторонников реформы. </a:t>
          </a:r>
        </a:p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Результат: проект министра внутренних дел С.С. Ланского.</a:t>
          </a:r>
        </a:p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Заблокирован на этапе перехода проекта в Государственный совет. </a:t>
          </a:r>
          <a:endParaRPr lang="ru-RU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sp:txBody>
      <dsp:txXfrm>
        <a:off x="3746173" y="979308"/>
        <a:ext cx="1346611" cy="3427580"/>
      </dsp:txXfrm>
    </dsp:sp>
    <dsp:sp modelId="{1F284E34-24DD-41C9-BF36-BAE99B09C050}">
      <dsp:nvSpPr>
        <dsp:cNvPr id="0" name=""/>
        <dsp:cNvSpPr/>
      </dsp:nvSpPr>
      <dsp:spPr>
        <a:xfrm>
          <a:off x="3550386" y="248744"/>
          <a:ext cx="1542398" cy="734481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1857 (январь-июль)</a:t>
          </a:r>
          <a:endParaRPr lang="ru-RU" sz="1200" kern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sp:txBody>
      <dsp:txXfrm>
        <a:off x="3550386" y="248744"/>
        <a:ext cx="1542398" cy="734481"/>
      </dsp:txXfrm>
    </dsp:sp>
    <dsp:sp modelId="{3015A14A-3254-4A8D-845F-CDBE84D56361}">
      <dsp:nvSpPr>
        <dsp:cNvPr id="0" name=""/>
        <dsp:cNvSpPr/>
      </dsp:nvSpPr>
      <dsp:spPr>
        <a:xfrm>
          <a:off x="1907392" y="1008112"/>
          <a:ext cx="1743589" cy="3125145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Речь императора перед дворянством Московской губернии</a:t>
          </a:r>
          <a:endParaRPr lang="ru-RU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"Существующий порядок владения душами не может остаться неизменным. Лучше начать уничтожать крепостное право сверху, нежели дожидаться того времени, когда оно начнет само собой уничтожаться снизу".</a:t>
          </a:r>
          <a:endParaRPr lang="ru-RU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sp:txBody>
      <dsp:txXfrm>
        <a:off x="2128718" y="1008112"/>
        <a:ext cx="1522264" cy="3125145"/>
      </dsp:txXfrm>
    </dsp:sp>
    <dsp:sp modelId="{8C114F36-D1A5-423C-8744-738DBF622978}">
      <dsp:nvSpPr>
        <dsp:cNvPr id="0" name=""/>
        <dsp:cNvSpPr/>
      </dsp:nvSpPr>
      <dsp:spPr>
        <a:xfrm>
          <a:off x="1944217" y="367240"/>
          <a:ext cx="1669939" cy="612068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1856</a:t>
          </a:r>
          <a:endParaRPr lang="ru-RU" sz="1200" kern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sp:txBody>
      <dsp:txXfrm>
        <a:off x="1944217" y="367240"/>
        <a:ext cx="1669939" cy="612068"/>
      </dsp:txXfrm>
    </dsp:sp>
    <dsp:sp modelId="{B1427D0F-2CC1-4A0B-A5DA-4FD2AE55170E}">
      <dsp:nvSpPr>
        <dsp:cNvPr id="0" name=""/>
        <dsp:cNvSpPr/>
      </dsp:nvSpPr>
      <dsp:spPr>
        <a:xfrm>
          <a:off x="539238" y="979308"/>
          <a:ext cx="1395099" cy="2937926"/>
        </a:xfrm>
        <a:prstGeom prst="wedgeRectCallout">
          <a:avLst>
            <a:gd name="adj1" fmla="val 62500"/>
            <a:gd name="adj2" fmla="val 20830"/>
          </a:avLst>
        </a:prstGeom>
        <a:solidFill>
          <a:srgbClr val="DDDDDD">
            <a:tint val="50000"/>
            <a:hueOff val="0"/>
            <a:satOff val="0"/>
            <a:lumOff val="0"/>
            <a:alphaOff val="0"/>
          </a:srgbClr>
        </a:solidFill>
        <a:ln w="2642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relaxedInse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Секретный комитет</a:t>
          </a:r>
        </a:p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"для обсуждения мер по устройству быта помещичьих крестьян".</a:t>
          </a:r>
        </a:p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Результата нет из-за внутренних противоречий</a:t>
          </a:r>
          <a:endParaRPr lang="ru-RU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/>
            <a:ea typeface="+mn-ea"/>
            <a:cs typeface="+mn-cs"/>
          </a:endParaRPr>
        </a:p>
      </dsp:txBody>
      <dsp:txXfrm>
        <a:off x="716328" y="979308"/>
        <a:ext cx="1218010" cy="2937926"/>
      </dsp:txXfrm>
    </dsp:sp>
    <dsp:sp modelId="{AEA14CC5-617F-46CB-91BD-A933C882EC28}">
      <dsp:nvSpPr>
        <dsp:cNvPr id="0" name=""/>
        <dsp:cNvSpPr/>
      </dsp:nvSpPr>
      <dsp:spPr>
        <a:xfrm>
          <a:off x="539238" y="489654"/>
          <a:ext cx="1395099" cy="489654"/>
        </a:xfrm>
        <a:prstGeom prst="rect">
          <a:avLst/>
        </a:prstGeom>
        <a:gradFill rotWithShape="1">
          <a:gsLst>
            <a:gs pos="0">
              <a:srgbClr val="B2B2B2">
                <a:tint val="50000"/>
                <a:shade val="86000"/>
                <a:satMod val="140000"/>
              </a:srgbClr>
            </a:gs>
            <a:gs pos="45000">
              <a:srgbClr val="B2B2B2">
                <a:tint val="48000"/>
                <a:satMod val="150000"/>
              </a:srgbClr>
            </a:gs>
            <a:gs pos="100000">
              <a:srgbClr val="B2B2B2">
                <a:tint val="28000"/>
                <a:satMod val="160000"/>
              </a:srgb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rgbClr val="B2B2B2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ysClr val="windowText" lastClr="000000"/>
              </a:solidFill>
              <a:latin typeface="Arial"/>
              <a:ea typeface="+mn-ea"/>
              <a:cs typeface="+mn-cs"/>
            </a:rPr>
            <a:t>1856</a:t>
          </a:r>
          <a:endParaRPr lang="ru-RU" sz="1200" kern="1200" dirty="0">
            <a:solidFill>
              <a:sysClr val="windowText" lastClr="000000"/>
            </a:solidFill>
            <a:latin typeface="Arial"/>
            <a:ea typeface="+mn-ea"/>
            <a:cs typeface="+mn-cs"/>
          </a:endParaRPr>
        </a:p>
      </dsp:txBody>
      <dsp:txXfrm>
        <a:off x="539238" y="489654"/>
        <a:ext cx="1395099" cy="48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Взаимосвязанный блочный процесс"/>
  <dgm:desc val="Используется для отображения последовательных этапов процесса. Рекомендуется использовать небольшие объемы текста уровня 1 и средние объемы текста уровня 2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24.09.2020</a:t>
            </a:fld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24.09.2020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24.09.2020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24.09.2020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24.09.2020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24.09.2020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24.09.2020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24.09.2020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24.09.2020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24.09.2020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CB659-6554-46E9-A9B1-405B81705A79}" type="datetimeFigureOut">
              <a:rPr lang="ru-RU" smtClean="0"/>
              <a:t>24.09.2020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E76CB659-6554-46E9-A9B1-405B81705A79}" type="datetimeFigureOut">
              <a:rPr lang="ru-RU" smtClean="0"/>
              <a:t>24.09.2020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86466135-D91F-4B65-B0DD-5E1767C03E7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3.xml"/><Relationship Id="rId10" Type="http://schemas.openxmlformats.org/officeDocument/2006/relationships/image" Target="../media/image9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2747391"/>
          </a:xfrm>
        </p:spPr>
        <p:txBody>
          <a:bodyPr/>
          <a:lstStyle/>
          <a:p>
            <a:r>
              <a:rPr lang="ru-RU" sz="4800" dirty="0" smtClean="0"/>
              <a:t>История России</a:t>
            </a:r>
            <a:endParaRPr lang="ru-RU" sz="4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03648" y="4077072"/>
            <a:ext cx="6400800" cy="1219200"/>
          </a:xfrm>
        </p:spPr>
        <p:txBody>
          <a:bodyPr/>
          <a:lstStyle/>
          <a:p>
            <a:r>
              <a:rPr lang="ru-RU" dirty="0" smtClean="0"/>
              <a:t>«Великие реформы» и контрреформы II половины XIX века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474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3200" dirty="0" smtClean="0"/>
              <a:t>Два пути становления успешных национальных государств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5536" y="1268760"/>
            <a:ext cx="4101852" cy="906115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Диверсификация ресурсов</a:t>
            </a:r>
          </a:p>
          <a:p>
            <a:r>
              <a:rPr lang="ru-RU" dirty="0" smtClean="0"/>
              <a:t>(на основе экономической свободы)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268760"/>
            <a:ext cx="4103439" cy="906115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Концентрация ресурсов</a:t>
            </a:r>
          </a:p>
          <a:p>
            <a:r>
              <a:rPr lang="ru-RU" dirty="0" smtClean="0"/>
              <a:t>(на основе государственных интересов)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2174875"/>
            <a:ext cx="4040188" cy="3486373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Голландия </a:t>
            </a:r>
            <a:r>
              <a:rPr lang="en-US" dirty="0" smtClean="0"/>
              <a:t>(XVII </a:t>
            </a:r>
            <a:r>
              <a:rPr lang="ru-RU" dirty="0" smtClean="0"/>
              <a:t>век): производство уникальных товаров + применение уникальных технологий + создание международной банковской системы + переселенческие колонии.</a:t>
            </a:r>
          </a:p>
          <a:p>
            <a:r>
              <a:rPr lang="ru-RU" dirty="0" smtClean="0"/>
              <a:t>Британия </a:t>
            </a:r>
            <a:r>
              <a:rPr lang="en-US" dirty="0" smtClean="0"/>
              <a:t>(XVIII </a:t>
            </a:r>
            <a:r>
              <a:rPr lang="ru-RU" dirty="0" smtClean="0"/>
              <a:t>век): использование новейших технологий + глобализация рынка сырья + работорговля + переселенческие колонии.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Германия </a:t>
            </a:r>
            <a:r>
              <a:rPr lang="en-US" dirty="0" smtClean="0"/>
              <a:t>(XIX </a:t>
            </a:r>
            <a:r>
              <a:rPr lang="ru-RU" dirty="0" smtClean="0"/>
              <a:t>век): создание единого государства в ходе франко-прусской войны + установление политической стабильности+ доминирование государственного (военного) заказа в экономике + бюрократизация экономической жизни.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54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521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200" dirty="0" smtClean="0"/>
              <a:t>Сер. </a:t>
            </a:r>
            <a:r>
              <a:rPr lang="en-US" sz="3200" dirty="0" smtClean="0"/>
              <a:t>XIX </a:t>
            </a:r>
            <a:r>
              <a:rPr lang="ru-RU" sz="3200" dirty="0" smtClean="0"/>
              <a:t>века: расширение пространства экономической свободы </a:t>
            </a:r>
            <a:endParaRPr lang="ru-RU" sz="3200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381719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ru-RU" b="1" dirty="0" smtClean="0"/>
              <a:t>США</a:t>
            </a:r>
            <a:endParaRPr lang="ru-RU" b="1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381719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ru-RU" b="1" dirty="0" smtClean="0"/>
              <a:t>Япония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457200" y="1916832"/>
            <a:ext cx="4040188" cy="4209331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 smtClean="0"/>
              <a:t>Гражданская война</a:t>
            </a:r>
          </a:p>
          <a:p>
            <a:pPr marL="0" indent="0" algn="ctr">
              <a:buNone/>
            </a:pPr>
            <a:r>
              <a:rPr lang="ru-RU" dirty="0" smtClean="0"/>
              <a:t>(1861 – 1865 гг.):</a:t>
            </a:r>
          </a:p>
          <a:p>
            <a:r>
              <a:rPr lang="ru-RU" dirty="0" smtClean="0"/>
              <a:t>Запрещение рабства было закреплено 13-й поправкой к Конституции США, вступившей в силу 18 декабря 1865 года.</a:t>
            </a:r>
          </a:p>
          <a:p>
            <a:r>
              <a:rPr lang="ru-RU" dirty="0" smtClean="0"/>
              <a:t>В стране были созданы условия для ускоренного развития промышленного и сельскохозяйственного производства, освоения западных земель, укрепления внутреннего рынка. 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4"/>
          </p:nvPr>
        </p:nvSpPr>
        <p:spPr>
          <a:xfrm>
            <a:off x="4645025" y="1916832"/>
            <a:ext cx="4041775" cy="4209331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dirty="0" smtClean="0"/>
              <a:t>Революция Мэйдзи</a:t>
            </a:r>
          </a:p>
          <a:p>
            <a:pPr marL="0" indent="0" algn="ctr">
              <a:buNone/>
            </a:pPr>
            <a:r>
              <a:rPr lang="ru-RU" dirty="0" smtClean="0"/>
              <a:t>(1868 – 1889):</a:t>
            </a:r>
          </a:p>
          <a:p>
            <a:r>
              <a:rPr lang="ru-RU" dirty="0" smtClean="0"/>
              <a:t>Ликвидация сёгуната.</a:t>
            </a:r>
          </a:p>
          <a:p>
            <a:r>
              <a:rPr lang="ru-RU" dirty="0" smtClean="0"/>
              <a:t>Открытие японских портов для международной торговли.</a:t>
            </a:r>
          </a:p>
          <a:p>
            <a:r>
              <a:rPr lang="ru-RU" dirty="0" smtClean="0"/>
              <a:t>Разрешение иностранцам пребывать в Японии + привлечение иностранных инвестиций</a:t>
            </a:r>
          </a:p>
          <a:p>
            <a:r>
              <a:rPr lang="ru-RU" dirty="0" smtClean="0"/>
              <a:t>Индустриализация, на основе западных технологий.</a:t>
            </a:r>
          </a:p>
          <a:p>
            <a:r>
              <a:rPr lang="ru-RU" dirty="0" smtClean="0"/>
              <a:t>Реформирование политической и системы и системы права.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899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00811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XIX </a:t>
            </a:r>
            <a:r>
              <a:rPr lang="ru-RU" sz="3200" dirty="0" smtClean="0"/>
              <a:t>век: колебания между принципами свободы и централизации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412777"/>
            <a:ext cx="4040188" cy="432048"/>
          </a:xfrm>
        </p:spPr>
        <p:txBody>
          <a:bodyPr>
            <a:normAutofit lnSpcReduction="10000"/>
          </a:bodyPr>
          <a:lstStyle/>
          <a:p>
            <a:r>
              <a:rPr lang="ru-RU" b="1" dirty="0" smtClean="0"/>
              <a:t>Франция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4008" y="1412776"/>
            <a:ext cx="4041775" cy="381719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 smtClean="0"/>
              <a:t>Испания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844824"/>
            <a:ext cx="4040188" cy="4392488"/>
          </a:xfrm>
        </p:spPr>
        <p:txBody>
          <a:bodyPr>
            <a:noAutofit/>
          </a:bodyPr>
          <a:lstStyle/>
          <a:p>
            <a:r>
              <a:rPr lang="ru-RU" sz="1500" dirty="0" smtClean="0"/>
              <a:t>Реставрация монархии Бурбонов 1814 г.</a:t>
            </a:r>
          </a:p>
          <a:p>
            <a:r>
              <a:rPr lang="ru-RU" sz="1500" b="1" dirty="0" smtClean="0"/>
              <a:t>Революция 1830 г. </a:t>
            </a:r>
            <a:r>
              <a:rPr lang="ru-RU" sz="1500" dirty="0" smtClean="0"/>
              <a:t>свержение Бурбонов.</a:t>
            </a:r>
          </a:p>
          <a:p>
            <a:r>
              <a:rPr lang="ru-RU" sz="1500" b="1" dirty="0" smtClean="0"/>
              <a:t>Революция 1848 г. </a:t>
            </a:r>
            <a:r>
              <a:rPr lang="ru-RU" sz="1500" dirty="0" smtClean="0"/>
              <a:t>Установление </a:t>
            </a:r>
            <a:r>
              <a:rPr lang="en-US" sz="1500" dirty="0" smtClean="0"/>
              <a:t>II </a:t>
            </a:r>
            <a:r>
              <a:rPr lang="ru-RU" sz="1500" dirty="0" smtClean="0"/>
              <a:t>республики.</a:t>
            </a:r>
          </a:p>
          <a:p>
            <a:r>
              <a:rPr lang="ru-RU" sz="1500" dirty="0" smtClean="0"/>
              <a:t>Государственный переворот 1851 г. </a:t>
            </a:r>
            <a:r>
              <a:rPr lang="en-US" sz="1500" dirty="0" smtClean="0"/>
              <a:t>II </a:t>
            </a:r>
            <a:r>
              <a:rPr lang="ru-RU" sz="1500" dirty="0" smtClean="0"/>
              <a:t>империя. Полицейское государство Наполеона </a:t>
            </a:r>
            <a:r>
              <a:rPr lang="en-US" sz="1500" dirty="0" smtClean="0"/>
              <a:t>III</a:t>
            </a:r>
            <a:r>
              <a:rPr lang="ru-RU" sz="1500" dirty="0" smtClean="0"/>
              <a:t>.</a:t>
            </a:r>
          </a:p>
          <a:p>
            <a:r>
              <a:rPr lang="ru-RU" sz="1500" b="1" dirty="0" smtClean="0"/>
              <a:t>Революция 1870 – 1871 г.</a:t>
            </a:r>
            <a:r>
              <a:rPr lang="ru-RU" sz="1500" dirty="0" smtClean="0"/>
              <a:t> первая попытка установления социалистического государства («Парижская коммуна»).</a:t>
            </a:r>
            <a:endParaRPr lang="en-US" sz="1500" dirty="0" smtClean="0"/>
          </a:p>
          <a:p>
            <a:r>
              <a:rPr lang="en-US" sz="1500" dirty="0" smtClean="0"/>
              <a:t>III </a:t>
            </a:r>
            <a:r>
              <a:rPr lang="ru-RU" sz="1500" dirty="0" smtClean="0"/>
              <a:t>республика с доминированием роялистов 1871–1879.</a:t>
            </a:r>
          </a:p>
          <a:p>
            <a:r>
              <a:rPr lang="en-US" sz="1500" dirty="0" smtClean="0"/>
              <a:t>III </a:t>
            </a:r>
            <a:r>
              <a:rPr lang="ru-RU" sz="1500" dirty="0" smtClean="0"/>
              <a:t>республика с доминированием  республиканцев 1879–1914.</a:t>
            </a:r>
            <a:endParaRPr lang="ru-RU" sz="1500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645025" y="1772816"/>
            <a:ext cx="4041775" cy="4353347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 smtClean="0"/>
              <a:t>Революция</a:t>
            </a:r>
            <a:r>
              <a:rPr lang="ru-RU" dirty="0" smtClean="0"/>
              <a:t> 1820 - 1823</a:t>
            </a:r>
          </a:p>
          <a:p>
            <a:r>
              <a:rPr lang="ru-RU" dirty="0" smtClean="0"/>
              <a:t>Абсолютизм 1823 – 1833</a:t>
            </a:r>
          </a:p>
          <a:p>
            <a:r>
              <a:rPr lang="ru-RU" dirty="0" smtClean="0"/>
              <a:t>Конституционная монархия 1834 – 1854</a:t>
            </a:r>
          </a:p>
          <a:p>
            <a:r>
              <a:rPr lang="ru-RU" b="1" dirty="0" smtClean="0"/>
              <a:t>Революция</a:t>
            </a:r>
            <a:r>
              <a:rPr lang="ru-RU" dirty="0" smtClean="0"/>
              <a:t> 1854 – 1856</a:t>
            </a:r>
          </a:p>
          <a:p>
            <a:r>
              <a:rPr lang="ru-RU" dirty="0" smtClean="0"/>
              <a:t>Абсолютизм 1856 – 1868</a:t>
            </a:r>
          </a:p>
          <a:p>
            <a:r>
              <a:rPr lang="ru-RU" b="1" dirty="0" smtClean="0"/>
              <a:t>Восстание флота </a:t>
            </a:r>
            <a:r>
              <a:rPr lang="ru-RU" dirty="0" smtClean="0"/>
              <a:t>1868-1869</a:t>
            </a:r>
          </a:p>
          <a:p>
            <a:r>
              <a:rPr lang="ru-RU" dirty="0" smtClean="0"/>
              <a:t> Абсолютизм 1869-1873</a:t>
            </a:r>
          </a:p>
          <a:p>
            <a:r>
              <a:rPr lang="ru-RU" b="1" dirty="0" smtClean="0"/>
              <a:t>Республика</a:t>
            </a:r>
            <a:r>
              <a:rPr lang="ru-RU" dirty="0" smtClean="0"/>
              <a:t> 1873 – 1874</a:t>
            </a:r>
          </a:p>
          <a:p>
            <a:r>
              <a:rPr lang="ru-RU" dirty="0" smtClean="0"/>
              <a:t>Полупарламентская монархия 1874 – 1890</a:t>
            </a:r>
          </a:p>
          <a:p>
            <a:r>
              <a:rPr lang="ru-RU" dirty="0" smtClean="0"/>
              <a:t>Парламентская монархия 1890 - 1923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106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/>
          <a:lstStyle/>
          <a:p>
            <a:r>
              <a:rPr lang="ru-RU" sz="3200" dirty="0" smtClean="0"/>
              <a:t>Россия в середине </a:t>
            </a:r>
            <a:r>
              <a:rPr lang="en-US" sz="3200" dirty="0" smtClean="0"/>
              <a:t>XIX </a:t>
            </a:r>
            <a:r>
              <a:rPr lang="ru-RU" sz="3200" dirty="0" smtClean="0"/>
              <a:t>века </a:t>
            </a:r>
            <a:endParaRPr lang="ru-RU" sz="3200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467544" y="1268760"/>
            <a:ext cx="4040188" cy="609600"/>
          </a:xfrm>
        </p:spPr>
        <p:txBody>
          <a:bodyPr/>
          <a:lstStyle/>
          <a:p>
            <a:r>
              <a:rPr lang="ru-RU" sz="2000" b="1" dirty="0" smtClean="0"/>
              <a:t>Причины поражения в Крымской войне</a:t>
            </a:r>
            <a:endParaRPr lang="ru-RU" sz="2000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16016" y="1196752"/>
            <a:ext cx="4041775" cy="609600"/>
          </a:xfrm>
        </p:spPr>
        <p:txBody>
          <a:bodyPr/>
          <a:lstStyle/>
          <a:p>
            <a:r>
              <a:rPr lang="ru-RU" b="1" dirty="0" smtClean="0"/>
              <a:t>Самооценка власти:</a:t>
            </a:r>
            <a:endParaRPr lang="ru-RU" b="1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3"/>
          </p:nvPr>
        </p:nvSpPr>
        <p:spPr>
          <a:xfrm>
            <a:off x="457200" y="1988840"/>
            <a:ext cx="4041648" cy="4137640"/>
          </a:xfrm>
        </p:spPr>
        <p:txBody>
          <a:bodyPr>
            <a:normAutofit fontScale="92500" lnSpcReduction="10000"/>
          </a:bodyPr>
          <a:lstStyle/>
          <a:p>
            <a:r>
              <a:rPr lang="ru-RU" sz="1800" dirty="0" smtClean="0">
                <a:solidFill>
                  <a:schemeClr val="tx1"/>
                </a:solidFill>
              </a:rPr>
              <a:t>Стратегический просчет в европейской политике при подготовке войны.</a:t>
            </a:r>
          </a:p>
          <a:p>
            <a:r>
              <a:rPr lang="ru-RU" sz="1800" dirty="0" smtClean="0">
                <a:solidFill>
                  <a:schemeClr val="tx1"/>
                </a:solidFill>
              </a:rPr>
              <a:t>Резкое отставание в системах вооружения.</a:t>
            </a:r>
          </a:p>
          <a:p>
            <a:r>
              <a:rPr lang="ru-RU" sz="1800" dirty="0" smtClean="0">
                <a:solidFill>
                  <a:schemeClr val="tx1"/>
                </a:solidFill>
              </a:rPr>
              <a:t>Отсутствие современной инфраструктуры (транспорт и связь).</a:t>
            </a:r>
          </a:p>
          <a:p>
            <a:r>
              <a:rPr lang="ru-RU" sz="1800" dirty="0" smtClean="0">
                <a:solidFill>
                  <a:schemeClr val="tx1"/>
                </a:solidFill>
              </a:rPr>
              <a:t>Коррупция в армии привела к невозможности ее эффективного снабжения.</a:t>
            </a:r>
          </a:p>
          <a:p>
            <a:r>
              <a:rPr lang="ru-RU" sz="1800" dirty="0" smtClean="0">
                <a:solidFill>
                  <a:schemeClr val="tx1"/>
                </a:solidFill>
              </a:rPr>
              <a:t>Режим личного управления, привел к «вымыванию» компетентных командиров.</a:t>
            </a:r>
          </a:p>
          <a:p>
            <a:r>
              <a:rPr lang="ru-RU" sz="1800" dirty="0" smtClean="0">
                <a:solidFill>
                  <a:schemeClr val="tx1"/>
                </a:solidFill>
              </a:rPr>
              <a:t>Рекрутская система не позволяла создать резервы.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7" name="Объект 6"/>
          <p:cNvSpPr>
            <a:spLocks noGrp="1"/>
          </p:cNvSpPr>
          <p:nvPr>
            <p:ph sz="quarter" idx="14"/>
          </p:nvPr>
        </p:nvSpPr>
        <p:spPr>
          <a:xfrm>
            <a:off x="4672584" y="1988840"/>
            <a:ext cx="4041648" cy="4137195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Clr>
                <a:srgbClr val="DDDDDD"/>
              </a:buClr>
              <a:buSzPct val="85000"/>
              <a:buNone/>
            </a:pPr>
            <a:r>
              <a:rPr lang="ru-RU" sz="2200" dirty="0">
                <a:solidFill>
                  <a:prstClr val="black"/>
                </a:solidFill>
                <a:latin typeface="Arial"/>
              </a:rPr>
              <a:t>Речь императора Александра </a:t>
            </a:r>
            <a:r>
              <a:rPr lang="en-US" sz="2200" dirty="0">
                <a:solidFill>
                  <a:prstClr val="black"/>
                </a:solidFill>
                <a:latin typeface="Arial"/>
              </a:rPr>
              <a:t>II </a:t>
            </a:r>
            <a:r>
              <a:rPr lang="ru-RU" sz="2200" dirty="0">
                <a:solidFill>
                  <a:prstClr val="black"/>
                </a:solidFill>
                <a:latin typeface="Arial"/>
              </a:rPr>
              <a:t>перед членами Государственного совета 19 февраля 1855 </a:t>
            </a:r>
            <a:r>
              <a:rPr lang="ru-RU" sz="2200" dirty="0" smtClean="0">
                <a:solidFill>
                  <a:prstClr val="black"/>
                </a:solidFill>
                <a:latin typeface="Arial"/>
              </a:rPr>
              <a:t>года: </a:t>
            </a:r>
            <a:r>
              <a:rPr lang="ru-RU" sz="2200" dirty="0">
                <a:solidFill>
                  <a:prstClr val="black"/>
                </a:solidFill>
                <a:latin typeface="Arial"/>
              </a:rPr>
              <a:t>«Мой незабвенный Родитель любил Россию и всю жизнь постоянно думал об одной только её пользе. &lt;…&gt; В постоянных и ежедневных трудах Его со Мною, Он говорил Мне: „хочу взять Себе всё неприятное и всё тяжкое, только бы передать Тебе Россию устроенною, счастливою и спокойною“. Провидение судило иначе, и покойный Государь, в последние часы своей жизни, сказал мне: „Сдаю Тебе Мою команду, но, к сожалению, не в таком порядке, как желал, оставляя Тебе много трудов и забот</a:t>
            </a:r>
            <a:r>
              <a:rPr lang="ru-RU" sz="2200" dirty="0" smtClean="0">
                <a:solidFill>
                  <a:prstClr val="black"/>
                </a:solidFill>
                <a:latin typeface="Arial"/>
              </a:rPr>
              <a:t>“».</a:t>
            </a:r>
            <a:endParaRPr lang="ru-RU" sz="22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893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0081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800" dirty="0" smtClean="0"/>
              <a:t>«Великие реформы» в России: экономическая свобода + диверсификация ресурсов</a:t>
            </a:r>
            <a:endParaRPr lang="ru-RU" sz="2800" dirty="0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881785"/>
              </p:ext>
            </p:extLst>
          </p:nvPr>
        </p:nvGraphicFramePr>
        <p:xfrm>
          <a:off x="457200" y="1600200"/>
          <a:ext cx="6203032" cy="4781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6804248" y="1772816"/>
            <a:ext cx="2088232" cy="42484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Крепостное право – непреодолимая преграда для развития этих рынков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273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64807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dirty="0" smtClean="0"/>
              <a:t>Новое для России: общественное мнение формирует</a:t>
            </a:r>
            <a:br>
              <a:rPr lang="ru-RU" sz="2000" dirty="0" smtClean="0"/>
            </a:br>
            <a:r>
              <a:rPr lang="ru-RU" sz="2000" dirty="0" smtClean="0"/>
              <a:t>«повестку дня» для государства</a:t>
            </a:r>
            <a:endParaRPr lang="ru-RU" sz="20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425760"/>
              </p:ext>
            </p:extLst>
          </p:nvPr>
        </p:nvGraphicFramePr>
        <p:xfrm>
          <a:off x="457200" y="1124744"/>
          <a:ext cx="8291264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526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/>
          <a:lstStyle/>
          <a:p>
            <a:r>
              <a:rPr lang="ru-RU" sz="2800" dirty="0" smtClean="0"/>
              <a:t>Деятели российской модернизации</a:t>
            </a:r>
            <a:endParaRPr lang="ru-RU" sz="2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6666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722" y="2852936"/>
            <a:ext cx="846139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722" y="4357688"/>
            <a:ext cx="872660" cy="1216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D:\Documents\ДЛЯ_УЧЕБЫ\ХИМИЧЕСКИЙ\Презентации\Первый семестр\фото\Ростовцев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514" y="2852936"/>
            <a:ext cx="976710" cy="121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621" y="4357688"/>
            <a:ext cx="923603" cy="1069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2850673"/>
            <a:ext cx="859375" cy="952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 descr="D:\Documents\ДЛЯ_УЧЕБЫ\ХИМИЧЕСКИЙ\Презентации\Первый семестр\фото\головин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876" y="3907063"/>
            <a:ext cx="911575" cy="98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:\Documents\ДЛЯ_УЧЕБЫ\ХИМИЧЕСКИЙ\Презентации\Первый семестр\фото\бунге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876" y="4989776"/>
            <a:ext cx="911575" cy="91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917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 smtClean="0"/>
              <a:t>Борьба модернизаторов с архаистами в правительстве</a:t>
            </a:r>
            <a:endParaRPr lang="ru-RU" sz="2800" dirty="0"/>
          </a:p>
        </p:txBody>
      </p:sp>
      <p:graphicFrame>
        <p:nvGraphicFramePr>
          <p:cNvPr id="4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3987171"/>
              </p:ext>
            </p:extLst>
          </p:nvPr>
        </p:nvGraphicFramePr>
        <p:xfrm>
          <a:off x="179512" y="1484784"/>
          <a:ext cx="8712968" cy="489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9132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648072"/>
          </a:xfrm>
        </p:spPr>
        <p:txBody>
          <a:bodyPr/>
          <a:lstStyle/>
          <a:p>
            <a:r>
              <a:rPr lang="ru-RU" sz="3600" dirty="0" smtClean="0"/>
              <a:t>Главная реформа: </a:t>
            </a:r>
            <a:endParaRPr lang="ru-RU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56" y="1268760"/>
            <a:ext cx="8255000" cy="516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090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76064"/>
          </a:xfrm>
        </p:spPr>
        <p:txBody>
          <a:bodyPr/>
          <a:lstStyle/>
          <a:p>
            <a:r>
              <a:rPr lang="ru-RU" sz="2400" dirty="0" smtClean="0"/>
              <a:t>Ликвидация крепостного права последствия: </a:t>
            </a:r>
            <a:endParaRPr lang="ru-RU" sz="24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980729"/>
            <a:ext cx="4040188" cy="648072"/>
          </a:xfrm>
        </p:spPr>
        <p:txBody>
          <a:bodyPr>
            <a:normAutofit/>
          </a:bodyPr>
          <a:lstStyle/>
          <a:p>
            <a:r>
              <a:rPr lang="ru-RU" dirty="0" smtClean="0"/>
              <a:t>Принцип: «свобода»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4008" y="1196752"/>
            <a:ext cx="4041775" cy="576064"/>
          </a:xfrm>
        </p:spPr>
        <p:txBody>
          <a:bodyPr/>
          <a:lstStyle/>
          <a:p>
            <a:r>
              <a:rPr lang="ru-RU" dirty="0" smtClean="0"/>
              <a:t>Принцип «централизация»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916832"/>
            <a:ext cx="4040188" cy="4209331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ru-RU" b="1" dirty="0" smtClean="0"/>
              <a:t>Начало развития рынков, необходимых для индустриализации страны</a:t>
            </a:r>
            <a:r>
              <a:rPr lang="ru-RU" dirty="0" smtClean="0"/>
              <a:t>:</a:t>
            </a:r>
          </a:p>
          <a:p>
            <a:r>
              <a:rPr lang="ru-RU" dirty="0" smtClean="0"/>
              <a:t>Рынок земли (за счет помещичьих владений).</a:t>
            </a:r>
          </a:p>
          <a:p>
            <a:r>
              <a:rPr lang="ru-RU" dirty="0" smtClean="0"/>
              <a:t>Рынок труда (переселение крестьян в город) + батрачество.</a:t>
            </a:r>
          </a:p>
          <a:p>
            <a:r>
              <a:rPr lang="ru-RU" dirty="0" smtClean="0"/>
              <a:t>Рынок капиталов (из торговли – в с/х и промышленность).</a:t>
            </a:r>
          </a:p>
          <a:p>
            <a:r>
              <a:rPr lang="ru-RU" dirty="0" smtClean="0"/>
              <a:t>Рынок товаров (за счет ликвидации натурального хозяйства)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645025" y="1916832"/>
            <a:ext cx="4041775" cy="4209331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ru-RU" b="1" dirty="0" smtClean="0"/>
              <a:t>Механизмы, ставящие развитие экономики в зависимость от государства:</a:t>
            </a:r>
          </a:p>
          <a:p>
            <a:pPr marL="0" indent="0" algn="ctr">
              <a:buNone/>
            </a:pPr>
            <a:endParaRPr lang="ru-RU" b="1" dirty="0" smtClean="0"/>
          </a:p>
          <a:p>
            <a:r>
              <a:rPr lang="ru-RU" sz="2900" dirty="0" smtClean="0"/>
              <a:t>Государственные и удельные («царские») земли.</a:t>
            </a:r>
          </a:p>
          <a:p>
            <a:r>
              <a:rPr lang="ru-RU" sz="2900" dirty="0" smtClean="0"/>
              <a:t>Сохранение и максимальная гос. поддержка земель помещиков.</a:t>
            </a:r>
          </a:p>
          <a:p>
            <a:r>
              <a:rPr lang="ru-RU" sz="2900" dirty="0" smtClean="0"/>
              <a:t>Сохранение крестьянской общины.</a:t>
            </a:r>
          </a:p>
          <a:p>
            <a:r>
              <a:rPr lang="ru-RU" sz="2900" dirty="0" smtClean="0"/>
              <a:t>Строительство Ж\Д на за счет гос. бюджета (концессии). </a:t>
            </a:r>
          </a:p>
          <a:p>
            <a:r>
              <a:rPr lang="ru-RU" sz="2900" dirty="0" smtClean="0"/>
              <a:t>Влияние политики «русификации» на экономику страны.</a:t>
            </a:r>
            <a:endParaRPr lang="ru-RU" sz="2900" dirty="0"/>
          </a:p>
        </p:txBody>
      </p:sp>
    </p:spTree>
    <p:extLst>
      <p:ext uri="{BB962C8B-B14F-4D97-AF65-F5344CB8AC3E}">
        <p14:creationId xmlns:p14="http://schemas.microsoft.com/office/powerpoint/2010/main" val="233962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648072"/>
          </a:xfrm>
        </p:spPr>
        <p:txBody>
          <a:bodyPr>
            <a:noAutofit/>
          </a:bodyPr>
          <a:lstStyle/>
          <a:p>
            <a:r>
              <a:rPr lang="ru-RU" sz="3600" dirty="0" smtClean="0"/>
              <a:t>Судебные уставы (1864)</a:t>
            </a:r>
            <a:endParaRPr lang="ru-RU" sz="36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1268760"/>
            <a:ext cx="3931920" cy="43204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Принцип: «свобода»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8024" y="1196752"/>
            <a:ext cx="3931920" cy="639762"/>
          </a:xfrm>
        </p:spPr>
        <p:txBody>
          <a:bodyPr/>
          <a:lstStyle/>
          <a:p>
            <a:r>
              <a:rPr lang="ru-RU" dirty="0" smtClean="0"/>
              <a:t>Принцип «централизация»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67544" y="1916832"/>
            <a:ext cx="3931920" cy="3024336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Мировые суды – выборные судьи.</a:t>
            </a:r>
          </a:p>
          <a:p>
            <a:r>
              <a:rPr lang="ru-RU" dirty="0" smtClean="0"/>
              <a:t>Суд присяжных.</a:t>
            </a:r>
          </a:p>
          <a:p>
            <a:r>
              <a:rPr lang="ru-RU" dirty="0" smtClean="0"/>
              <a:t>Несменяемость судей.</a:t>
            </a:r>
          </a:p>
          <a:p>
            <a:r>
              <a:rPr lang="ru-RU" dirty="0" smtClean="0"/>
              <a:t>Судебное следствие.</a:t>
            </a:r>
          </a:p>
          <a:p>
            <a:r>
              <a:rPr lang="ru-RU" dirty="0" smtClean="0"/>
              <a:t>Устный состязательный процесс.</a:t>
            </a:r>
          </a:p>
          <a:p>
            <a:r>
              <a:rPr lang="ru-RU" dirty="0" smtClean="0"/>
              <a:t>Всесословный характер суда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54880" y="1916832"/>
            <a:ext cx="3931920" cy="3672408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Назначение судей императором.</a:t>
            </a:r>
          </a:p>
          <a:p>
            <a:r>
              <a:rPr lang="ru-RU" dirty="0" smtClean="0"/>
              <a:t>Особое присутствие Правительствующего Сената – по политическим делам (с 1872 г.)</a:t>
            </a:r>
          </a:p>
          <a:p>
            <a:r>
              <a:rPr lang="ru-RU" dirty="0" smtClean="0"/>
              <a:t>Передача суда по «государственным преступлениям» в военный суд (1878).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39552" y="5229200"/>
            <a:ext cx="3816424" cy="100811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prstClr val="black"/>
                </a:solidFill>
              </a:rPr>
              <a:t>Самое прогрессивное судопроизводство в Европе.</a:t>
            </a:r>
          </a:p>
        </p:txBody>
      </p:sp>
    </p:spTree>
    <p:extLst>
      <p:ext uri="{BB962C8B-B14F-4D97-AF65-F5344CB8AC3E}">
        <p14:creationId xmlns:p14="http://schemas.microsoft.com/office/powerpoint/2010/main" val="173417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avatars.mds.yandex.net/get-afishanew/23222/965c86086da48c53f7444156c9ec4095/or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98883"/>
            <a:ext cx="4866605" cy="3461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117" y="476672"/>
            <a:ext cx="4097553" cy="3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467544" y="1412776"/>
            <a:ext cx="3960440" cy="86409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Суд присяжных</a:t>
            </a:r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5724128" y="3861048"/>
            <a:ext cx="2808312" cy="936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Мировой суд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7435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2008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 smtClean="0"/>
              <a:t>Земская (1864) и городская (1870) реформы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17808" y="1052736"/>
            <a:ext cx="3931920" cy="576064"/>
          </a:xfrm>
        </p:spPr>
        <p:txBody>
          <a:bodyPr/>
          <a:lstStyle/>
          <a:p>
            <a:r>
              <a:rPr lang="ru-RU" dirty="0" smtClean="0"/>
              <a:t>Принцип: «свобода»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8024" y="1340768"/>
            <a:ext cx="3931920" cy="639762"/>
          </a:xfrm>
        </p:spPr>
        <p:txBody>
          <a:bodyPr/>
          <a:lstStyle/>
          <a:p>
            <a:r>
              <a:rPr lang="ru-RU" dirty="0" smtClean="0"/>
              <a:t>Принцип: «централизация»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700808"/>
            <a:ext cx="3931920" cy="3168352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Общесословный характер местной власти (три избирательные курии).</a:t>
            </a:r>
          </a:p>
          <a:p>
            <a:r>
              <a:rPr lang="ru-RU" dirty="0" smtClean="0"/>
              <a:t>Передача местных налогов в бюджет органов самоуправления. 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54880" y="1916832"/>
            <a:ext cx="3931920" cy="4472856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Создание земств только в губерниях с православным населением центральной России.</a:t>
            </a:r>
          </a:p>
          <a:p>
            <a:r>
              <a:rPr lang="ru-RU" dirty="0" smtClean="0"/>
              <a:t>Запрет на создание «общероссийского земства».</a:t>
            </a:r>
          </a:p>
          <a:p>
            <a:r>
              <a:rPr lang="ru-RU" dirty="0" smtClean="0"/>
              <a:t>Запрет на совместные действия земств или городских дум.</a:t>
            </a:r>
          </a:p>
          <a:p>
            <a:r>
              <a:rPr lang="ru-RU" dirty="0" smtClean="0"/>
              <a:t>Контроль над местными </a:t>
            </a:r>
            <a:r>
              <a:rPr lang="ru-RU" dirty="0" smtClean="0"/>
              <a:t>учреждениями </a:t>
            </a:r>
            <a:r>
              <a:rPr lang="ru-RU" dirty="0" smtClean="0"/>
              <a:t>со стороны губернатора и министерства внутренних дел.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11560" y="5013176"/>
            <a:ext cx="3744416" cy="1296144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prstClr val="black"/>
                </a:solidFill>
              </a:rPr>
              <a:t>Эффект : резкий рост инфраструктуры и социальных учреждений</a:t>
            </a:r>
          </a:p>
        </p:txBody>
      </p:sp>
    </p:spTree>
    <p:extLst>
      <p:ext uri="{BB962C8B-B14F-4D97-AF65-F5344CB8AC3E}">
        <p14:creationId xmlns:p14="http://schemas.microsoft.com/office/powerpoint/2010/main" val="9888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/>
          <a:lstStyle/>
          <a:p>
            <a:r>
              <a:rPr lang="ru-RU" sz="3200" dirty="0"/>
              <a:t>Реформы в сфере образования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412776"/>
            <a:ext cx="3931920" cy="43204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Принцип: </a:t>
            </a:r>
            <a:r>
              <a:rPr lang="ru-RU" dirty="0"/>
              <a:t>«свобода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54880" y="1484784"/>
            <a:ext cx="3931920" cy="36004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Принцип: «централизация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395536" y="1916832"/>
            <a:ext cx="3993584" cy="2880320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Всесословный принцип образования в средней и высшей школе.</a:t>
            </a:r>
          </a:p>
          <a:p>
            <a:r>
              <a:rPr lang="ru-RU" dirty="0" smtClean="0"/>
              <a:t>Реальные гимназии (1864) и реальные училища (1872)</a:t>
            </a:r>
          </a:p>
          <a:p>
            <a:r>
              <a:rPr lang="ru-RU" dirty="0" smtClean="0"/>
              <a:t>Начало женского высшего образования.</a:t>
            </a:r>
          </a:p>
          <a:p>
            <a:r>
              <a:rPr lang="ru-RU" dirty="0" smtClean="0"/>
              <a:t>Автономия университетов.</a:t>
            </a:r>
          </a:p>
          <a:p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54880" y="1916832"/>
            <a:ext cx="3931920" cy="4472856"/>
          </a:xfrm>
        </p:spPr>
        <p:txBody>
          <a:bodyPr/>
          <a:lstStyle/>
          <a:p>
            <a:r>
              <a:rPr lang="ru-RU" dirty="0" smtClean="0"/>
              <a:t>Отказ в праве создания студенческого самоуправления.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669" y="3789040"/>
            <a:ext cx="3096344" cy="2621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395536" y="4941169"/>
            <a:ext cx="4392488" cy="158417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Эффект 1. Образование становиться одним из главных «социальных лифтов».</a:t>
            </a:r>
          </a:p>
          <a:p>
            <a:pPr algn="ctr"/>
            <a:r>
              <a:rPr lang="ru-RU" sz="1600" dirty="0" smtClean="0"/>
              <a:t>Эффект 2. Студенчество – «питательная среда» для революционных организаций 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55184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20080"/>
          </a:xfrm>
        </p:spPr>
        <p:txBody>
          <a:bodyPr/>
          <a:lstStyle/>
          <a:p>
            <a:r>
              <a:rPr lang="ru-RU" sz="3200" dirty="0" smtClean="0"/>
              <a:t>Реформа прессы и книгоиздания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1340768"/>
            <a:ext cx="4040188" cy="609600"/>
          </a:xfrm>
        </p:spPr>
        <p:txBody>
          <a:bodyPr/>
          <a:lstStyle/>
          <a:p>
            <a:r>
              <a:rPr lang="ru-RU" dirty="0"/>
              <a:t>Принцип: «свобода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Принцип: «централизация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2728320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Замена предварительной цензуры на карательную.</a:t>
            </a:r>
          </a:p>
          <a:p>
            <a:r>
              <a:rPr lang="ru-RU" dirty="0" smtClean="0"/>
              <a:t>Освобождение от цензуры изданий на иностранных языках и книг большого объема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Введение системы «предупреждений» с правом МВД приостанавливать издание на 6 месяцев.</a:t>
            </a:r>
          </a:p>
          <a:p>
            <a:r>
              <a:rPr lang="ru-RU" dirty="0" smtClean="0"/>
              <a:t>Право императора закрывать любое периодическое издание.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67544" y="5157192"/>
            <a:ext cx="4032448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Эффект: наука России выходит на уровень передовых стран мира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4835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2241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600" dirty="0" smtClean="0"/>
              <a:t>Александр </a:t>
            </a:r>
            <a:r>
              <a:rPr lang="en-US" sz="3600" dirty="0" smtClean="0"/>
              <a:t>III</a:t>
            </a:r>
            <a:r>
              <a:rPr lang="ru-RU" sz="3600" dirty="0" smtClean="0"/>
              <a:t>.</a:t>
            </a:r>
            <a:r>
              <a:rPr lang="en-US" sz="3600" dirty="0" smtClean="0"/>
              <a:t> </a:t>
            </a:r>
            <a:r>
              <a:rPr lang="ru-RU" sz="3600" dirty="0" smtClean="0"/>
              <a:t>Новые ориентиры в политике и управлении.</a:t>
            </a:r>
            <a:endParaRPr lang="ru-RU" sz="3600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Ориентиры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2481416" cy="31244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Принципы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457200" y="2174875"/>
            <a:ext cx="4040188" cy="1686173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Национализм.</a:t>
            </a:r>
          </a:p>
          <a:p>
            <a:r>
              <a:rPr lang="ru-RU" dirty="0" smtClean="0"/>
              <a:t>Жесткая стратификация населения.</a:t>
            </a:r>
            <a:endParaRPr lang="ru-RU" dirty="0" smtClean="0"/>
          </a:p>
          <a:p>
            <a:r>
              <a:rPr lang="ru-RU" dirty="0" smtClean="0"/>
              <a:t>Патриархальность.</a:t>
            </a:r>
          </a:p>
          <a:p>
            <a:r>
              <a:rPr lang="ru-RU" dirty="0" smtClean="0"/>
              <a:t>Изоляционизм.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4"/>
          </p:nvPr>
        </p:nvSpPr>
        <p:spPr>
          <a:xfrm>
            <a:off x="4754880" y="1988840"/>
            <a:ext cx="3931920" cy="3960440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Русификация: только русский (православный) может обладать всем набором прав.</a:t>
            </a:r>
          </a:p>
          <a:p>
            <a:r>
              <a:rPr lang="ru-RU" dirty="0" smtClean="0"/>
              <a:t>Сословность: разным сословиям полагаются разные права.</a:t>
            </a:r>
          </a:p>
          <a:p>
            <a:r>
              <a:rPr lang="ru-RU" dirty="0" smtClean="0"/>
              <a:t>Централизация: власть лучше понимает потребности населения, чем оно само.</a:t>
            </a:r>
          </a:p>
          <a:p>
            <a:r>
              <a:rPr lang="ru-RU" dirty="0" smtClean="0"/>
              <a:t>Регулирование: контроль важнее инициативы.</a:t>
            </a:r>
          </a:p>
          <a:p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221088"/>
            <a:ext cx="232410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7409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Pictures\Picasa\Screen Captures\Легитистория12.pptx - Microsoft PowerPoint некоммерческое использование 29.10.2015 94250.bm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08720"/>
            <a:ext cx="8344913" cy="4824536"/>
          </a:xfrm>
          <a:prstGeom prst="rect">
            <a:avLst/>
          </a:prstGeom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316243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92088"/>
          </a:xfrm>
        </p:spPr>
        <p:txBody>
          <a:bodyPr>
            <a:noAutofit/>
          </a:bodyPr>
          <a:lstStyle/>
          <a:p>
            <a:r>
              <a:rPr lang="ru-RU" sz="3600" dirty="0" smtClean="0"/>
              <a:t>Русификация: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87680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Содействие переселение русских (православных) на окраины империи.</a:t>
            </a:r>
          </a:p>
          <a:p>
            <a:r>
              <a:rPr lang="ru-RU" dirty="0" smtClean="0"/>
              <a:t>Административные препятствия для «инородцев», которые хотели бы жить в центральной России.</a:t>
            </a:r>
          </a:p>
          <a:p>
            <a:r>
              <a:rPr lang="ru-RU" dirty="0" smtClean="0"/>
              <a:t>Администрирование и судебное производство исключительно на русском языке.</a:t>
            </a:r>
          </a:p>
          <a:p>
            <a:r>
              <a:rPr lang="ru-RU" dirty="0" smtClean="0"/>
              <a:t>Распространение образования на русском языке в «национальных» районах.</a:t>
            </a:r>
          </a:p>
          <a:p>
            <a:r>
              <a:rPr lang="ru-RU" dirty="0" smtClean="0"/>
              <a:t>Запретительные квоты для «инородцев» в системе высшего образования.</a:t>
            </a:r>
          </a:p>
          <a:p>
            <a:r>
              <a:rPr lang="ru-RU" dirty="0" smtClean="0"/>
              <a:t>Распространение православия (в том числе и насильственное) среди иноверцев.</a:t>
            </a:r>
          </a:p>
          <a:p>
            <a:r>
              <a:rPr lang="ru-RU" dirty="0" smtClean="0"/>
              <a:t>Создание препятствий для отправления нежелательных культов (католицизм, униатство, старообрядчество, анимистические религии жителей Сибири и Дальнего Востока.).</a:t>
            </a:r>
          </a:p>
          <a:p>
            <a:r>
              <a:rPr lang="ru-RU" dirty="0" smtClean="0"/>
              <a:t>Меры по экономической и административной интеграции Финляндии и Польши в состав России.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3972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>
            <a:noAutofit/>
          </a:bodyPr>
          <a:lstStyle/>
          <a:p>
            <a:r>
              <a:rPr lang="ru-RU" sz="3600" dirty="0" smtClean="0"/>
              <a:t>Сословность.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052736"/>
            <a:ext cx="6048672" cy="5256584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Восстановление особого суда для чиновников.</a:t>
            </a:r>
          </a:p>
          <a:p>
            <a:r>
              <a:rPr lang="ru-RU" dirty="0" smtClean="0"/>
              <a:t>Введение института «земских начальников», руководящих крестьянским самоуправлением  (1889).</a:t>
            </a:r>
          </a:p>
          <a:p>
            <a:r>
              <a:rPr lang="ru-RU" dirty="0" smtClean="0"/>
              <a:t>Расширение представительства дворян в Земстве и Городских думах (1890).</a:t>
            </a:r>
          </a:p>
          <a:p>
            <a:r>
              <a:rPr lang="ru-RU" dirty="0" smtClean="0"/>
              <a:t>Отстранение низших городских категорий населения (приказчиков и местных торговцев) от участия в городском самоуправлении (1892).</a:t>
            </a:r>
          </a:p>
          <a:p>
            <a:r>
              <a:rPr lang="ru-RU" dirty="0" smtClean="0"/>
              <a:t>«</a:t>
            </a:r>
            <a:r>
              <a:rPr lang="ru-RU" dirty="0"/>
              <a:t>Циркуляр о кухаркиных </a:t>
            </a:r>
            <a:r>
              <a:rPr lang="ru-RU" dirty="0" smtClean="0"/>
              <a:t>детях»: не </a:t>
            </a:r>
            <a:r>
              <a:rPr lang="ru-RU" dirty="0"/>
              <a:t>принимать в гимназию и прогимназию детей «кучеров, лакеев, прачек и тому подобных </a:t>
            </a:r>
            <a:r>
              <a:rPr lang="ru-RU" dirty="0" smtClean="0"/>
              <a:t>людей» (1887).</a:t>
            </a:r>
          </a:p>
          <a:p>
            <a:r>
              <a:rPr lang="ru-RU" dirty="0" smtClean="0"/>
              <a:t>Создание Крестьянского поземельного и Дворянского земельного банка.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099" name="Picture 3" descr="D:\Documents\ДЛЯ_УЧЕБЫ\ХИМИЧЕСКИЙ\Презентации\Первый семестр\фото\крестьянские дети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052736"/>
            <a:ext cx="1642791" cy="225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ocuments\ДЛЯ_УЧЕБЫ\ХИМИЧЕСКИЙ\Презентации\Первый семестр\фото\гимназист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758" y="3573015"/>
            <a:ext cx="1652289" cy="253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трелка вправо 3"/>
          <p:cNvSpPr/>
          <p:nvPr/>
        </p:nvSpPr>
        <p:spPr>
          <a:xfrm rot="18842245">
            <a:off x="5520960" y="3733697"/>
            <a:ext cx="1476960" cy="261464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7099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>
            <a:noAutofit/>
          </a:bodyPr>
          <a:lstStyle/>
          <a:p>
            <a:r>
              <a:rPr lang="ru-RU" sz="3600" dirty="0" smtClean="0"/>
              <a:t>Централизация: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876800"/>
          </a:xfrm>
        </p:spPr>
        <p:txBody>
          <a:bodyPr>
            <a:normAutofit/>
          </a:bodyPr>
          <a:lstStyle/>
          <a:p>
            <a:r>
              <a:rPr lang="ru-RU" dirty="0" smtClean="0"/>
              <a:t>Губернаторы получили права: арестовывать </a:t>
            </a:r>
            <a:r>
              <a:rPr lang="ru-RU" dirty="0"/>
              <a:t>«подозрительных лиц», без суда ссылать из на срок до пяти лет в любую местность и предавать военному суду</a:t>
            </a:r>
            <a:r>
              <a:rPr lang="ru-RU" dirty="0" smtClean="0"/>
              <a:t>,   </a:t>
            </a:r>
            <a:r>
              <a:rPr lang="ru-RU" dirty="0"/>
              <a:t>закрывать учебные заведения и органы печати</a:t>
            </a:r>
            <a:r>
              <a:rPr lang="ru-RU" dirty="0" smtClean="0"/>
              <a:t>,   </a:t>
            </a:r>
            <a:r>
              <a:rPr lang="ru-RU" dirty="0"/>
              <a:t>приостанавливать деятельность </a:t>
            </a:r>
            <a:r>
              <a:rPr lang="ru-RU" dirty="0" smtClean="0"/>
              <a:t>земств и городских дум (1881).</a:t>
            </a:r>
          </a:p>
          <a:p>
            <a:r>
              <a:rPr lang="ru-RU" dirty="0" smtClean="0"/>
              <a:t>Временные правила о печати, ужесточающие цензуру (1882).</a:t>
            </a:r>
          </a:p>
          <a:p>
            <a:r>
              <a:rPr lang="ru-RU" dirty="0" smtClean="0"/>
              <a:t>Ликвидация автономии университетов (1884).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3553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>
            <a:noAutofit/>
          </a:bodyPr>
          <a:lstStyle/>
          <a:p>
            <a:r>
              <a:rPr lang="ru-RU" sz="3600" dirty="0" smtClean="0"/>
              <a:t>Регулирование: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Перевод «обязанных крестьян» на выкуп.</a:t>
            </a:r>
          </a:p>
          <a:p>
            <a:r>
              <a:rPr lang="ru-RU" dirty="0" smtClean="0"/>
              <a:t>Ликвидация подушной подати.</a:t>
            </a:r>
          </a:p>
          <a:p>
            <a:r>
              <a:rPr lang="ru-RU" dirty="0" smtClean="0"/>
              <a:t>Меры по укреплению крестьянской общины (увеличение срока переделов, запрет аренды и продажи общинных земель).</a:t>
            </a:r>
          </a:p>
          <a:p>
            <a:r>
              <a:rPr lang="ru-RU" dirty="0" smtClean="0"/>
              <a:t>Введение золотого стандарта рубля (реформа Витте).</a:t>
            </a:r>
          </a:p>
          <a:p>
            <a:r>
              <a:rPr lang="ru-RU" dirty="0" smtClean="0"/>
              <a:t>Политика протекционизма.</a:t>
            </a:r>
          </a:p>
          <a:p>
            <a:r>
              <a:rPr lang="ru-RU" dirty="0" smtClean="0"/>
              <a:t>Поощрение иностранных инвестиций в добывающие и обрабатывающие отрасли российской экономики.</a:t>
            </a:r>
          </a:p>
          <a:p>
            <a:r>
              <a:rPr lang="ru-RU" dirty="0" smtClean="0"/>
              <a:t>Государственная политика строительства железных дорог.</a:t>
            </a:r>
          </a:p>
          <a:p>
            <a:r>
              <a:rPr lang="ru-RU" dirty="0" smtClean="0"/>
              <a:t>Повышение платы за обучение в университетах.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2717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86409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3200" dirty="0" smtClean="0"/>
              <a:t>Николай </a:t>
            </a:r>
            <a:r>
              <a:rPr lang="en-US" sz="3200" dirty="0" smtClean="0"/>
              <a:t>II</a:t>
            </a:r>
            <a:r>
              <a:rPr lang="ru-RU" sz="3200" dirty="0" smtClean="0"/>
              <a:t>. Стратегические решения начала царствования.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Предложения расширить пространство свободы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453727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Реакция императора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2174875"/>
            <a:ext cx="4040188" cy="21182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Предложения земств и городов: предоставить большую свободу местному самоуправлению и созвать общероссийское земство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16016" y="2060848"/>
            <a:ext cx="3931920" cy="38884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«Мне известно, что в последнее время слышались в некоторых земских собраниях голоса людей, увлекавшихся бессмысленными мечтаниями об участии представителей земства в делах внутреннего управления. Пусть все знают, что я, посвящая все свои силы благу народному, </a:t>
            </a:r>
            <a:r>
              <a:rPr lang="ru-RU" b="1" dirty="0"/>
              <a:t>буду охранять начало самодержавия </a:t>
            </a:r>
            <a:r>
              <a:rPr lang="ru-RU" dirty="0"/>
              <a:t>так же твёрдо и неуклонно, как охранял его мой незабвенный, покойный родитель».</a:t>
            </a: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293096"/>
            <a:ext cx="3168352" cy="2178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4644008" y="5661248"/>
            <a:ext cx="4104456" cy="10081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prstClr val="black"/>
                </a:solidFill>
              </a:rPr>
              <a:t>Речь </a:t>
            </a:r>
            <a:r>
              <a:rPr lang="ru-RU" sz="1400" dirty="0">
                <a:solidFill>
                  <a:prstClr val="black"/>
                </a:solidFill>
              </a:rPr>
              <a:t>к представителям дворянства, земств и городов, произнесенной в 1895 г.</a:t>
            </a:r>
          </a:p>
        </p:txBody>
      </p:sp>
    </p:spTree>
    <p:extLst>
      <p:ext uri="{BB962C8B-B14F-4D97-AF65-F5344CB8AC3E}">
        <p14:creationId xmlns:p14="http://schemas.microsoft.com/office/powerpoint/2010/main" val="3173902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2800" dirty="0"/>
              <a:t>Николай </a:t>
            </a:r>
            <a:r>
              <a:rPr lang="en-US" sz="2800" dirty="0"/>
              <a:t>II</a:t>
            </a:r>
            <a:r>
              <a:rPr lang="en-US" sz="2800" dirty="0" smtClean="0"/>
              <a:t>.</a:t>
            </a:r>
            <a:r>
              <a:rPr lang="ru-RU" sz="2800" dirty="0"/>
              <a:t> Стратегические решения начала царствования.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Предложения расширить пространство </a:t>
            </a:r>
            <a:r>
              <a:rPr lang="ru-RU" dirty="0" smtClean="0"/>
              <a:t>свободы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8024" y="1412776"/>
            <a:ext cx="3931920" cy="36004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Реакция </a:t>
            </a:r>
            <a:r>
              <a:rPr lang="ru-RU" dirty="0" smtClean="0"/>
              <a:t>императора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2438400"/>
            <a:ext cx="3931920" cy="2070720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Предложение С.Ю. Витте ликвидировать крестьянскую общину и создать слой самостоятельных хозяев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54880" y="1844824"/>
            <a:ext cx="3931920" cy="38884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Предначертанные нами труды по пересмотру законодательства о сельском </a:t>
            </a:r>
            <a:r>
              <a:rPr lang="ru-RU" dirty="0" smtClean="0"/>
              <a:t>состоянии … </a:t>
            </a:r>
            <a:r>
              <a:rPr lang="ru-RU" dirty="0"/>
              <a:t>передать на места для дальнейшей их разработки и согласования с местными особенностями в  губернских совещаниях, при ближайшем  участии достойнейших деятелей, доверием общественным облеченных. В основу сих трудов положить </a:t>
            </a:r>
            <a:r>
              <a:rPr lang="ru-RU" b="1" dirty="0"/>
              <a:t>неприкосновенность  общинного строя крестьянского землевладения</a:t>
            </a:r>
            <a:r>
              <a:rPr lang="ru-RU" dirty="0"/>
              <a:t>, изыскав одновременно способы к облегчению отдельным крестьянам выхода из общины.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755576" y="4797152"/>
            <a:ext cx="2448272" cy="1512168"/>
          </a:xfrm>
          <a:prstGeom prst="round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prstClr val="black"/>
                </a:solidFill>
              </a:rPr>
              <a:t>Стратегия: ничего не менять, «совершенствуя» то, что есть.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8" name="Стрелка вниз 7"/>
          <p:cNvSpPr/>
          <p:nvPr/>
        </p:nvSpPr>
        <p:spPr>
          <a:xfrm rot="5400000">
            <a:off x="3887924" y="4833156"/>
            <a:ext cx="432048" cy="1224136"/>
          </a:xfrm>
          <a:prstGeom prst="downArrow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5092304" y="5877272"/>
            <a:ext cx="3816424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prstClr val="black"/>
                </a:solidFill>
              </a:rPr>
              <a:t>Высочайший Манифест от 26 февраля 1903 года</a:t>
            </a:r>
          </a:p>
        </p:txBody>
      </p:sp>
    </p:spTree>
    <p:extLst>
      <p:ext uri="{BB962C8B-B14F-4D97-AF65-F5344CB8AC3E}">
        <p14:creationId xmlns:p14="http://schemas.microsoft.com/office/powerpoint/2010/main" val="2148062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>Последствия принятых стратегических решений: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908720"/>
            <a:ext cx="3931920" cy="43204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Приметы кризиса.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16016" y="980728"/>
            <a:ext cx="3931920" cy="36004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Реакция власти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412776"/>
            <a:ext cx="3931920" cy="4608512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Спад промышленного производства (первый мировой кризис перепроизводства) с 1899 г.</a:t>
            </a:r>
          </a:p>
          <a:p>
            <a:r>
              <a:rPr lang="ru-RU" dirty="0" smtClean="0"/>
              <a:t>Неурожай 1902-1903 гг.</a:t>
            </a:r>
          </a:p>
          <a:p>
            <a:r>
              <a:rPr lang="ru-RU" dirty="0" smtClean="0"/>
              <a:t>Захваты крестьянами пустующих помещичьих земель.</a:t>
            </a:r>
          </a:p>
          <a:p>
            <a:r>
              <a:rPr lang="ru-RU" dirty="0" smtClean="0"/>
              <a:t>Распространение политических лозунгов в забастовках.</a:t>
            </a:r>
          </a:p>
          <a:p>
            <a:r>
              <a:rPr lang="ru-RU" dirty="0" smtClean="0"/>
              <a:t>Борьба студентов за права самоуправления.</a:t>
            </a:r>
          </a:p>
          <a:p>
            <a:r>
              <a:rPr lang="ru-RU" dirty="0" smtClean="0"/>
              <a:t>«</a:t>
            </a:r>
            <a:r>
              <a:rPr lang="ru-RU" dirty="0"/>
              <a:t>Б</a:t>
            </a:r>
            <a:r>
              <a:rPr lang="ru-RU" dirty="0" smtClean="0"/>
              <a:t>анкетная кампания» 1904 г.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16016" y="1412776"/>
            <a:ext cx="3931920" cy="432048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Усиление государственных дотаций крупным предприятиям.</a:t>
            </a:r>
          </a:p>
          <a:p>
            <a:r>
              <a:rPr lang="ru-RU" dirty="0" smtClean="0"/>
              <a:t>Административные попытки сдержать рост цен.</a:t>
            </a:r>
          </a:p>
          <a:p>
            <a:r>
              <a:rPr lang="ru-RU" dirty="0" smtClean="0"/>
              <a:t>Защита прав землевладельцев с помощью армии.</a:t>
            </a:r>
          </a:p>
          <a:p>
            <a:r>
              <a:rPr lang="ru-RU" dirty="0" smtClean="0"/>
              <a:t>Полицейский социализм для рабочих.</a:t>
            </a:r>
          </a:p>
          <a:p>
            <a:r>
              <a:rPr lang="ru-RU" dirty="0" smtClean="0"/>
              <a:t>Отдача 183 киевских студентов в солдаты (1901 г.)</a:t>
            </a:r>
          </a:p>
          <a:p>
            <a:r>
              <a:rPr lang="ru-RU" dirty="0" smtClean="0"/>
              <a:t>«</a:t>
            </a:r>
            <a:r>
              <a:rPr lang="ru-RU" dirty="0"/>
              <a:t>М</a:t>
            </a:r>
            <a:r>
              <a:rPr lang="ru-RU" dirty="0" smtClean="0"/>
              <a:t>аленькая победоносная война» - русско-японская (с 27января 1904 г.)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3058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0081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dirty="0" smtClean="0"/>
              <a:t>Результат курса на консервацию политического и экономического режима: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989040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9 января 1905 г. – «Кровавое воскресенье» (прямое следствие политики «полицейского социализма»).</a:t>
            </a:r>
          </a:p>
          <a:p>
            <a:r>
              <a:rPr lang="ru-RU" dirty="0" smtClean="0"/>
              <a:t>Февраль – апрель: первая забастовочная волна.</a:t>
            </a:r>
          </a:p>
          <a:p>
            <a:r>
              <a:rPr lang="ru-RU" dirty="0" smtClean="0"/>
              <a:t>15 мая – первый совет рабочих депутатов (Иваново).</a:t>
            </a:r>
          </a:p>
          <a:p>
            <a:r>
              <a:rPr lang="ru-RU" dirty="0" smtClean="0"/>
              <a:t>Май - июль: массовые бунты крестьян с требованием передела земли.</a:t>
            </a:r>
          </a:p>
          <a:p>
            <a:r>
              <a:rPr lang="ru-RU" dirty="0" smtClean="0"/>
              <a:t>Июнь: восстание на броненосцах «</a:t>
            </a:r>
            <a:r>
              <a:rPr lang="ru-RU" dirty="0"/>
              <a:t>Григорий Потемкин» и </a:t>
            </a:r>
            <a:r>
              <a:rPr lang="ru-RU" dirty="0" smtClean="0"/>
              <a:t>«Георгий </a:t>
            </a:r>
            <a:r>
              <a:rPr lang="ru-RU" dirty="0"/>
              <a:t>Победоносец</a:t>
            </a:r>
            <a:r>
              <a:rPr lang="ru-RU" dirty="0" smtClean="0"/>
              <a:t>».</a:t>
            </a:r>
          </a:p>
          <a:p>
            <a:r>
              <a:rPr lang="ru-RU" dirty="0" smtClean="0"/>
              <a:t>Сентябрь: первая общегородская политическая стачка в Москве.</a:t>
            </a:r>
          </a:p>
          <a:p>
            <a:r>
              <a:rPr lang="ru-RU" dirty="0" smtClean="0"/>
              <a:t>Октябрь: всероссийская политическая стачка.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6729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</p:spPr>
        <p:txBody>
          <a:bodyPr>
            <a:normAutofit fontScale="90000"/>
          </a:bodyPr>
          <a:lstStyle/>
          <a:p>
            <a:r>
              <a:rPr lang="ru-RU" sz="2600" dirty="0" smtClean="0"/>
              <a:t>Попытка эволюции самодержавного режима</a:t>
            </a:r>
            <a:endParaRPr lang="ru-RU" sz="26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1412776"/>
            <a:ext cx="3931920" cy="31244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Принцип: свобода (политика)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8024" y="1484784"/>
            <a:ext cx="3931920" cy="31244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Принцип централизация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988840"/>
            <a:ext cx="3931920" cy="345638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 smtClean="0"/>
              <a:t>Манифест 17 октября:</a:t>
            </a:r>
          </a:p>
          <a:p>
            <a:r>
              <a:rPr lang="ru-RU" dirty="0" smtClean="0"/>
              <a:t>Введение гражданских свобод.</a:t>
            </a:r>
          </a:p>
          <a:p>
            <a:r>
              <a:rPr lang="ru-RU" dirty="0" smtClean="0"/>
              <a:t>Разрешение политической деятельности.</a:t>
            </a:r>
          </a:p>
          <a:p>
            <a:r>
              <a:rPr lang="ru-RU" dirty="0" smtClean="0"/>
              <a:t>Преобразование объявленной законосовещательной думы в законодательную.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88024" y="1844824"/>
            <a:ext cx="3931920" cy="3600400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Сохранения за монархом права назначать правительство, руководить внешней и оборонной политикой.</a:t>
            </a:r>
          </a:p>
          <a:p>
            <a:r>
              <a:rPr lang="ru-RU" dirty="0" smtClean="0"/>
              <a:t>Подавление революционных выступлений вооруженной силой.</a:t>
            </a:r>
          </a:p>
          <a:p>
            <a:r>
              <a:rPr lang="ru-RU" dirty="0" smtClean="0"/>
              <a:t>Введение полевых судов.</a:t>
            </a:r>
          </a:p>
          <a:p>
            <a:r>
              <a:rPr lang="ru-RU" dirty="0" smtClean="0"/>
              <a:t>Право губернаторов на административную ссылку.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4932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04664"/>
            <a:ext cx="4666216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225" y="405099"/>
            <a:ext cx="1852108" cy="260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919" y="404664"/>
            <a:ext cx="1729466" cy="2607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048" y="3038054"/>
            <a:ext cx="3044304" cy="37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8192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2348</Words>
  <Application>Microsoft Office PowerPoint</Application>
  <PresentationFormat>Экран (4:3)</PresentationFormat>
  <Paragraphs>245</Paragraphs>
  <Slides>28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29" baseType="lpstr">
      <vt:lpstr>Исполнительная</vt:lpstr>
      <vt:lpstr>История России</vt:lpstr>
      <vt:lpstr>Два пути становления успешных национальных государств</vt:lpstr>
      <vt:lpstr>Сер. XIX века: расширение пространства экономической свободы </vt:lpstr>
      <vt:lpstr>XIX век: колебания между принципами свободы и централизации</vt:lpstr>
      <vt:lpstr>Россия в середине XIX века </vt:lpstr>
      <vt:lpstr>«Великие реформы» в России: экономическая свобода + диверсификация ресурсов</vt:lpstr>
      <vt:lpstr>Новое для России: общественное мнение формирует «повестку дня» для государства</vt:lpstr>
      <vt:lpstr>Деятели российской модернизации</vt:lpstr>
      <vt:lpstr>Борьба модернизаторов с архаистами в правительстве</vt:lpstr>
      <vt:lpstr>Главная реформа: </vt:lpstr>
      <vt:lpstr>Ликвидация крепостного права последствия: </vt:lpstr>
      <vt:lpstr>Судебные уставы (1864)</vt:lpstr>
      <vt:lpstr>Презентация PowerPoint</vt:lpstr>
      <vt:lpstr>Земская (1864) и городская (1870) реформы</vt:lpstr>
      <vt:lpstr>Реформы в сфере образования</vt:lpstr>
      <vt:lpstr>Реформа прессы и книгоиздания</vt:lpstr>
      <vt:lpstr>Александр III. Новые ориентиры в политике и управлении.</vt:lpstr>
      <vt:lpstr>Презентация PowerPoint</vt:lpstr>
      <vt:lpstr>Русификация:</vt:lpstr>
      <vt:lpstr>Сословность.</vt:lpstr>
      <vt:lpstr>Централизация:</vt:lpstr>
      <vt:lpstr>Регулирование:</vt:lpstr>
      <vt:lpstr>Николай II. Стратегические решения начала царствования.</vt:lpstr>
      <vt:lpstr>Николай II. Стратегические решения начала царствования.</vt:lpstr>
      <vt:lpstr>Последствия принятых стратегических решений:</vt:lpstr>
      <vt:lpstr>Результат курса на консервацию политического и экономического режима:</vt:lpstr>
      <vt:lpstr>Попытка эволюции самодержавного режима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России</dc:title>
  <dc:creator>User</dc:creator>
  <cp:lastModifiedBy>User</cp:lastModifiedBy>
  <cp:revision>21</cp:revision>
  <dcterms:created xsi:type="dcterms:W3CDTF">2017-08-09T07:08:28Z</dcterms:created>
  <dcterms:modified xsi:type="dcterms:W3CDTF">2020-09-24T05:52:06Z</dcterms:modified>
</cp:coreProperties>
</file>