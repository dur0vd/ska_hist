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788" y="90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3CCDD3-699C-41A8-8297-4CC008330E97}" type="doc">
      <dgm:prSet loTypeId="urn:microsoft.com/office/officeart/2005/8/layout/arrow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F9E6BB8-7151-4F7A-B383-D39F15F05F9F}">
      <dgm:prSet phldrT="[Текст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Великобритания: если не «закрыть» Афганистан с севера, российская армия может осуществить вторжение в Индию</a:t>
          </a:r>
        </a:p>
      </dgm:t>
    </dgm:pt>
    <dgm:pt modelId="{D3B270D3-D80C-4F6E-9818-4F4065C38AAD}" type="parTrans" cxnId="{6977D2C7-DCC7-4E2F-8FB2-97EBAF3A28D1}">
      <dgm:prSet/>
      <dgm:spPr/>
      <dgm:t>
        <a:bodyPr/>
        <a:lstStyle/>
        <a:p>
          <a:endParaRPr lang="ru-RU"/>
        </a:p>
      </dgm:t>
    </dgm:pt>
    <dgm:pt modelId="{173F99D7-A1A9-448E-AD55-8C9CC56002F8}" type="sibTrans" cxnId="{6977D2C7-DCC7-4E2F-8FB2-97EBAF3A28D1}">
      <dgm:prSet/>
      <dgm:spPr/>
      <dgm:t>
        <a:bodyPr/>
        <a:lstStyle/>
        <a:p>
          <a:endParaRPr lang="ru-RU"/>
        </a:p>
      </dgm:t>
    </dgm:pt>
    <dgm:pt modelId="{ADDB7FA1-3F37-4C14-A86B-BFFE328DEC74}">
      <dgm:prSet phldrT="[Текст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ru-RU" dirty="0"/>
            <a:t>Россия: если не подчинить государства Средней Азии, туда вскоре придут войска Великобритании </a:t>
          </a:r>
        </a:p>
      </dgm:t>
    </dgm:pt>
    <dgm:pt modelId="{8584C290-831C-4D90-A326-A404A6DCF1FA}" type="parTrans" cxnId="{001CC2D4-6CE6-475F-BF0D-F2274212B3EA}">
      <dgm:prSet/>
      <dgm:spPr/>
      <dgm:t>
        <a:bodyPr/>
        <a:lstStyle/>
        <a:p>
          <a:endParaRPr lang="ru-RU"/>
        </a:p>
      </dgm:t>
    </dgm:pt>
    <dgm:pt modelId="{BBB871E1-3D3A-4EDB-A613-059946EF6215}" type="sibTrans" cxnId="{001CC2D4-6CE6-475F-BF0D-F2274212B3EA}">
      <dgm:prSet/>
      <dgm:spPr/>
      <dgm:t>
        <a:bodyPr/>
        <a:lstStyle/>
        <a:p>
          <a:endParaRPr lang="ru-RU"/>
        </a:p>
      </dgm:t>
    </dgm:pt>
    <dgm:pt modelId="{12CA6C2A-2A9A-4667-BF05-61A21662FEDC}" type="pres">
      <dgm:prSet presAssocID="{9B3CCDD3-699C-41A8-8297-4CC008330E97}" presName="diagram" presStyleCnt="0">
        <dgm:presLayoutVars>
          <dgm:dir/>
          <dgm:resizeHandles val="exact"/>
        </dgm:presLayoutVars>
      </dgm:prSet>
      <dgm:spPr/>
    </dgm:pt>
    <dgm:pt modelId="{A1512318-100D-4FE7-A3EC-F60F73CE29D2}" type="pres">
      <dgm:prSet presAssocID="{5F9E6BB8-7151-4F7A-B383-D39F15F05F9F}" presName="arrow" presStyleLbl="node1" presStyleIdx="0" presStyleCnt="2">
        <dgm:presLayoutVars>
          <dgm:bulletEnabled val="1"/>
        </dgm:presLayoutVars>
      </dgm:prSet>
      <dgm:spPr/>
    </dgm:pt>
    <dgm:pt modelId="{99630D05-7EC8-4DB1-AF74-AC4DEA6EB873}" type="pres">
      <dgm:prSet presAssocID="{ADDB7FA1-3F37-4C14-A86B-BFFE328DEC74}" presName="arrow" presStyleLbl="node1" presStyleIdx="1" presStyleCnt="2">
        <dgm:presLayoutVars>
          <dgm:bulletEnabled val="1"/>
        </dgm:presLayoutVars>
      </dgm:prSet>
      <dgm:spPr/>
    </dgm:pt>
  </dgm:ptLst>
  <dgm:cxnLst>
    <dgm:cxn modelId="{71403C44-C515-4E73-B80C-E21714149D87}" type="presOf" srcId="{ADDB7FA1-3F37-4C14-A86B-BFFE328DEC74}" destId="{99630D05-7EC8-4DB1-AF74-AC4DEA6EB873}" srcOrd="0" destOrd="0" presId="urn:microsoft.com/office/officeart/2005/8/layout/arrow5"/>
    <dgm:cxn modelId="{7E21F366-D364-47BC-A655-04AD08F8B72F}" type="presOf" srcId="{5F9E6BB8-7151-4F7A-B383-D39F15F05F9F}" destId="{A1512318-100D-4FE7-A3EC-F60F73CE29D2}" srcOrd="0" destOrd="0" presId="urn:microsoft.com/office/officeart/2005/8/layout/arrow5"/>
    <dgm:cxn modelId="{CB2774AB-B845-496E-91D4-BEFEDE7D278D}" type="presOf" srcId="{9B3CCDD3-699C-41A8-8297-4CC008330E97}" destId="{12CA6C2A-2A9A-4667-BF05-61A21662FEDC}" srcOrd="0" destOrd="0" presId="urn:microsoft.com/office/officeart/2005/8/layout/arrow5"/>
    <dgm:cxn modelId="{6977D2C7-DCC7-4E2F-8FB2-97EBAF3A28D1}" srcId="{9B3CCDD3-699C-41A8-8297-4CC008330E97}" destId="{5F9E6BB8-7151-4F7A-B383-D39F15F05F9F}" srcOrd="0" destOrd="0" parTransId="{D3B270D3-D80C-4F6E-9818-4F4065C38AAD}" sibTransId="{173F99D7-A1A9-448E-AD55-8C9CC56002F8}"/>
    <dgm:cxn modelId="{001CC2D4-6CE6-475F-BF0D-F2274212B3EA}" srcId="{9B3CCDD3-699C-41A8-8297-4CC008330E97}" destId="{ADDB7FA1-3F37-4C14-A86B-BFFE328DEC74}" srcOrd="1" destOrd="0" parTransId="{8584C290-831C-4D90-A326-A404A6DCF1FA}" sibTransId="{BBB871E1-3D3A-4EDB-A613-059946EF6215}"/>
    <dgm:cxn modelId="{EAD88FBB-7F96-4F86-8925-08D83853F780}" type="presParOf" srcId="{12CA6C2A-2A9A-4667-BF05-61A21662FEDC}" destId="{A1512318-100D-4FE7-A3EC-F60F73CE29D2}" srcOrd="0" destOrd="0" presId="urn:microsoft.com/office/officeart/2005/8/layout/arrow5"/>
    <dgm:cxn modelId="{42F68380-6325-4B78-A086-2D744B53F80C}" type="presParOf" srcId="{12CA6C2A-2A9A-4667-BF05-61A21662FEDC}" destId="{99630D05-7EC8-4DB1-AF74-AC4DEA6EB873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12318-100D-4FE7-A3EC-F60F73CE29D2}">
      <dsp:nvSpPr>
        <dsp:cNvPr id="0" name=""/>
        <dsp:cNvSpPr/>
      </dsp:nvSpPr>
      <dsp:spPr>
        <a:xfrm rot="16200000">
          <a:off x="774" y="288248"/>
          <a:ext cx="4413014" cy="4413014"/>
        </a:xfrm>
        <a:prstGeom prst="downArrow">
          <a:avLst>
            <a:gd name="adj1" fmla="val 50000"/>
            <a:gd name="adj2" fmla="val 35000"/>
          </a:avLst>
        </a:prstGeom>
        <a:solidFill>
          <a:schemeClr val="lt1"/>
        </a:solidFill>
        <a:ln w="28575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Великобритания: если не «закрыть» Афганистан с севера, российская армия может осуществить вторжение в Индию</a:t>
          </a:r>
        </a:p>
      </dsp:txBody>
      <dsp:txXfrm rot="5400000">
        <a:off x="774" y="1391501"/>
        <a:ext cx="3640737" cy="2206507"/>
      </dsp:txXfrm>
    </dsp:sp>
    <dsp:sp modelId="{99630D05-7EC8-4DB1-AF74-AC4DEA6EB873}">
      <dsp:nvSpPr>
        <dsp:cNvPr id="0" name=""/>
        <dsp:cNvSpPr/>
      </dsp:nvSpPr>
      <dsp:spPr>
        <a:xfrm rot="5400000">
          <a:off x="4660360" y="288248"/>
          <a:ext cx="4413014" cy="4413014"/>
        </a:xfrm>
        <a:prstGeom prst="downArrow">
          <a:avLst>
            <a:gd name="adj1" fmla="val 50000"/>
            <a:gd name="adj2" fmla="val 35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Россия: если не подчинить государства Средней Азии, туда вскоре придут войска Великобритании </a:t>
          </a:r>
        </a:p>
      </dsp:txBody>
      <dsp:txXfrm rot="-5400000">
        <a:off x="5432637" y="1391502"/>
        <a:ext cx="3640737" cy="2206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30B26D5-3A19-4F59-A39D-CABB5DB6070F}" type="slidenum">
              <a:t>‹#›</a:t>
            </a:fld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98806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A040F64D-C496-456E-BB10-8169B7905FE3}" type="slidenum"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45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671972"/>
            <a:ext cx="8568531" cy="470379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5459765"/>
            <a:ext cx="7056438" cy="1343942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7978C7DA-F5C6-43AD-95AE-C94ED66BB7E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F21BC3-DAF0-4AF5-9D06-EC23629FD82D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1511936"/>
            <a:ext cx="8568531" cy="2761381"/>
          </a:xfrm>
        </p:spPr>
        <p:txBody>
          <a:bodyPr anchor="b"/>
          <a:lstStyle>
            <a:lvl1pPr algn="ctr" defTabSz="100794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3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4485058"/>
            <a:ext cx="8568531" cy="1247696"/>
          </a:xfrm>
        </p:spPr>
        <p:txBody>
          <a:bodyPr anchor="t"/>
          <a:lstStyle>
            <a:lvl1pPr marL="0" indent="0" algn="ct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998DC0-B253-451A-A3F9-C69E901D82D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956307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176821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736844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5"/>
            <a:ext cx="4452276" cy="4989036"/>
          </a:xfrm>
        </p:spPr>
        <p:txBody>
          <a:bodyPr/>
          <a:lstStyle>
            <a:lvl1pPr>
              <a:defRPr sz="2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929A3B-6B5E-4B05-83BF-28A010EC20E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3225" y="1763924"/>
            <a:ext cx="4455636" cy="49893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4454027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4318" y="1763924"/>
            <a:ext cx="4455776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6518460-CC13-4B32-AD98-52FDA0822C1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4031" y="2439255"/>
            <a:ext cx="4455636" cy="43140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51200" y="2439256"/>
            <a:ext cx="4455636" cy="43135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86DABD9-4C80-441A-A667-ED110D3734A9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D1F58F-84B1-4C68-92BC-FA9DADF9CEC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154" y="293987"/>
            <a:ext cx="3316456" cy="2309901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799" y="300988"/>
            <a:ext cx="5507592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2154" y="2687885"/>
            <a:ext cx="3316456" cy="406507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EB0B6B-356B-4221-8AA3-AF47002A3828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16" y="251989"/>
            <a:ext cx="6296889" cy="986958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2604" y="1259946"/>
            <a:ext cx="6674913" cy="5005660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16" y="6404725"/>
            <a:ext cx="6296889" cy="5879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658850-384D-45DD-8F4F-65686F36568A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09CF4D-DA61-45F8-B7A7-A32F5C050EF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3" y="302738"/>
            <a:ext cx="2268141" cy="6450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7742819-BB0C-474C-807D-0AC2AC4E0D91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0"/>
            <a:ext cx="9072563" cy="1763924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5"/>
            <a:ext cx="9072563" cy="4989036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15149" y="7006699"/>
            <a:ext cx="2299643" cy="402483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684" y="7006699"/>
            <a:ext cx="3139695" cy="402483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8371" y="7006699"/>
            <a:ext cx="619538" cy="402483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35D6CB5E-2462-4265-B370-4CB2C2194CC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324093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marL="0" algn="ctr" defTabSz="1007943" rtl="0" eaLnBrk="1" latinLnBrk="0" hangingPunct="1"/>
            <a:endParaRPr lang="en-US" sz="20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7414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007943" rtl="0" eaLnBrk="1" latinLnBrk="0" hangingPunct="1">
        <a:lnSpc>
          <a:spcPts val="6393"/>
        </a:lnSpc>
        <a:spcBef>
          <a:spcPct val="0"/>
        </a:spcBef>
        <a:buNone/>
        <a:defRPr sz="60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77979" indent="-377979" algn="l" defTabSz="1007943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818954" indent="-314982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259929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763900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267872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771844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275815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779787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283758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15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56047" y="1835621"/>
            <a:ext cx="8568531" cy="1656184"/>
          </a:xfrm>
        </p:spPr>
        <p:txBody>
          <a:bodyPr/>
          <a:lstStyle/>
          <a:p>
            <a:pPr lvl="0"/>
            <a:r>
              <a:rPr lang="ru-RU" sz="4400" dirty="0"/>
              <a:t>История России</a:t>
            </a:r>
          </a:p>
        </p:txBody>
      </p:sp>
      <p:sp>
        <p:nvSpPr>
          <p:cNvPr id="2" name="Подзаголовок 1"/>
          <p:cNvSpPr txBox="1">
            <a:spLocks noGrp="1"/>
          </p:cNvSpPr>
          <p:nvPr>
            <p:ph type="subTitle" idx="1"/>
          </p:nvPr>
        </p:nvSpPr>
        <p:spPr>
          <a:xfrm>
            <a:off x="1511920" y="4211885"/>
            <a:ext cx="7056438" cy="1343942"/>
          </a:xfrm>
        </p:spPr>
        <p:txBody>
          <a:bodyPr anchor="ctr">
            <a:normAutofit fontScale="77500" lnSpcReduction="2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ctr">
              <a:buNone/>
            </a:pPr>
            <a:r>
              <a:rPr lang="ru-RU" sz="3500" dirty="0"/>
              <a:t>Лекция 19 </a:t>
            </a:r>
          </a:p>
          <a:p>
            <a:pPr marL="0" lvl="0" indent="0" algn="ctr">
              <a:buNone/>
            </a:pPr>
            <a:r>
              <a:rPr lang="ru-RU" sz="3500" dirty="0"/>
              <a:t>Внешняя политика России</a:t>
            </a:r>
          </a:p>
          <a:p>
            <a:pPr marL="0" lvl="0" indent="0" algn="ctr">
              <a:buNone/>
            </a:pPr>
            <a:r>
              <a:rPr lang="ru-RU" sz="3500" dirty="0"/>
              <a:t>в XIX веке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75816" y="301626"/>
            <a:ext cx="8496747" cy="813916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Внешняя политика Александра I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4294967295"/>
          </p:nvPr>
        </p:nvSpPr>
        <p:spPr>
          <a:xfrm>
            <a:off x="647824" y="1187549"/>
            <a:ext cx="8496747" cy="4557712"/>
          </a:xfrm>
        </p:spPr>
        <p:txBody>
          <a:bodyPr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ctr">
              <a:buNone/>
            </a:pPr>
            <a:r>
              <a:rPr lang="ru-RU" dirty="0"/>
              <a:t>«Реактивная» внешняя политика. Логика:</a:t>
            </a:r>
          </a:p>
          <a:p>
            <a:pPr marL="0" lvl="0" indent="0" algn="ctr">
              <a:buNone/>
            </a:pPr>
            <a:r>
              <a:rPr lang="ru-RU" dirty="0"/>
              <a:t>Внешние условия:</a:t>
            </a:r>
          </a:p>
          <a:p>
            <a:pPr marL="0" lvl="0" indent="0" algn="l">
              <a:buSzPct val="100000"/>
              <a:buAutoNum type="arabicPeriod"/>
            </a:pPr>
            <a:r>
              <a:rPr lang="ru-RU" dirty="0"/>
              <a:t>«Революционная война», а затем экспансия наполеоновской Франции несет угрозу всем станам Европы.</a:t>
            </a:r>
          </a:p>
          <a:p>
            <a:pPr marL="0" lvl="0" indent="0" algn="l">
              <a:buSzPct val="100000"/>
              <a:buAutoNum type="arabicPeriod"/>
            </a:pPr>
            <a:r>
              <a:rPr lang="ru-RU" dirty="0"/>
              <a:t>Россия — европейская держава.</a:t>
            </a:r>
          </a:p>
          <a:p>
            <a:pPr marL="0" lvl="0" indent="0" algn="ctr">
              <a:buNone/>
            </a:pPr>
            <a:r>
              <a:rPr lang="ru-RU" dirty="0"/>
              <a:t>Реакция:</a:t>
            </a:r>
          </a:p>
          <a:p>
            <a:pPr marL="0" lvl="0" indent="0" algn="l"/>
            <a:r>
              <a:rPr lang="ru-RU" dirty="0"/>
              <a:t>Россия должна остановить Наполеона</a:t>
            </a:r>
          </a:p>
          <a:p>
            <a:pPr marL="0" lvl="0" indent="0" algn="l"/>
            <a:r>
              <a:rPr lang="ru-RU" dirty="0"/>
              <a:t>Она должна это сделать в союзе с другими европейскими державами.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64000" y="6012085"/>
            <a:ext cx="8424000" cy="1152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Реактивность в биологии — свойство организма отвечать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на изменение  внешних условий собственными изменениями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431800" y="301626"/>
            <a:ext cx="8640763" cy="74190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Проявления реактивной политики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03808" y="1331565"/>
            <a:ext cx="8568755" cy="3780185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1805 г. - III коалиция: Англия, Россия, Австрия, Швеция, Неаполь. 2.12.1805 — битва под Аустерлицем. Поражение.</a:t>
            </a:r>
          </a:p>
          <a:p>
            <a:pPr lvl="0"/>
            <a:r>
              <a:rPr lang="ru-RU" dirty="0"/>
              <a:t>1806-1807 -IV коалиция: Россия, Англия (Великобритания), Пруссия. 14.06. 1807 — битва под Фридландом. Поражение.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80000" y="5436021"/>
            <a:ext cx="7992000" cy="100799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Поражения в битвах заставляют изменить внешнюю политику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19832" y="301625"/>
            <a:ext cx="8495606" cy="77787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Новый виток реактивности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15776" y="1622426"/>
            <a:ext cx="4464496" cy="3093515"/>
          </a:xfrm>
        </p:spPr>
        <p:txBody>
          <a:bodyPr>
            <a:normAutofit fontScale="77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algn="ctr">
              <a:buNone/>
            </a:pPr>
            <a:r>
              <a:rPr lang="ru-RU" sz="2200" dirty="0"/>
              <a:t>Т</a:t>
            </a:r>
            <a:r>
              <a:rPr lang="ru-RU" sz="2200" b="1" dirty="0"/>
              <a:t>ильзитский мир (июнь 1807):</a:t>
            </a:r>
          </a:p>
          <a:p>
            <a:pPr lvl="0"/>
            <a:r>
              <a:rPr lang="ru-RU" sz="2200" dirty="0"/>
              <a:t>Россия признает завоевания Наполеона и созданные им государственные образования.</a:t>
            </a:r>
          </a:p>
          <a:p>
            <a:pPr lvl="0"/>
            <a:r>
              <a:rPr lang="ru-RU" sz="2200" dirty="0"/>
              <a:t>Россия присоединяется к «континентальной блокаде» Великобритании.</a:t>
            </a:r>
          </a:p>
          <a:p>
            <a:pPr lvl="0"/>
            <a:r>
              <a:rPr lang="ru-RU" sz="2200" dirty="0"/>
              <a:t>Создано Герцогство Варшавское.</a:t>
            </a:r>
          </a:p>
          <a:p>
            <a:pPr lvl="0"/>
            <a:r>
              <a:rPr lang="ru-RU" sz="2200" dirty="0"/>
              <a:t>Взяты обязательства взаимной помощи в войнах (или же благожелательного нейтралитета).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292001" y="1768475"/>
            <a:ext cx="4356824" cy="4989513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Война с Турцией 1806 — 1812 и Бухарестский мирный договор. Перенесение границы на реку Прут.</a:t>
            </a:r>
          </a:p>
          <a:p>
            <a:pPr lvl="0"/>
            <a:r>
              <a:rPr lang="ru-RU" sz="2400" dirty="0"/>
              <a:t>Война с Персией 1804 — 18013. Присоединение к России  Имеретии, Гурии, Менгрелии и Абхазии.</a:t>
            </a:r>
          </a:p>
          <a:p>
            <a:pPr lvl="0"/>
            <a:r>
              <a:rPr lang="ru-RU" sz="2400" dirty="0"/>
              <a:t>Война со Швецией 1808 — 1809 гг. Присоединение Финляндии.</a:t>
            </a:r>
          </a:p>
        </p:txBody>
      </p:sp>
      <p:sp>
        <p:nvSpPr>
          <p:cNvPr id="5" name="Полилиния 4"/>
          <p:cNvSpPr/>
          <p:nvPr/>
        </p:nvSpPr>
        <p:spPr>
          <a:xfrm>
            <a:off x="4176000" y="1224000"/>
            <a:ext cx="2232000" cy="545040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1026" name="Picture 2" descr="https://pbs.twimg.com/media/Cmu8P-dXgAAU8t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48" y="4893998"/>
            <a:ext cx="3595276" cy="204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431800" y="301626"/>
            <a:ext cx="8640763" cy="8859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1812 г. Два принципа ведения войны: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87784" y="1768475"/>
            <a:ext cx="2664966" cy="3602038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«Суворовский»: за счет быстрых маневров навязывать свою инициативу противнику, разбивать его войска по частям.</a:t>
            </a:r>
          </a:p>
          <a:p>
            <a:pPr lvl="0"/>
            <a:r>
              <a:rPr lang="ru-RU" sz="2000" dirty="0"/>
              <a:t>Лидер: командующий II армией, кн. П.И. Багратион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7456488" y="1768475"/>
            <a:ext cx="2624137" cy="3316288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«Скифский»: отступая в глубь станы, уравнять силы, после чего возможно дать генеральное сражение.</a:t>
            </a:r>
          </a:p>
          <a:p>
            <a:pPr lvl="0"/>
            <a:r>
              <a:rPr lang="ru-RU" sz="2000" dirty="0"/>
              <a:t>Инициатор: командующий I армией М.Б. Барклай де Толли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13704" y="1769041"/>
            <a:ext cx="1930296" cy="295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302640" y="1769040"/>
            <a:ext cx="1849319" cy="2953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Скругленный прямоугольник 8"/>
          <p:cNvSpPr/>
          <p:nvPr/>
        </p:nvSpPr>
        <p:spPr>
          <a:xfrm>
            <a:off x="791840" y="5364013"/>
            <a:ext cx="3600400" cy="158417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hangingPunct="0"/>
            <a:r>
              <a:rPr lang="ru-RU" sz="1600" b="1" dirty="0">
                <a:latin typeface="Arial" pitchFamily="18"/>
                <a:ea typeface="Microsoft YaHei" pitchFamily="2"/>
                <a:cs typeface="Mangal" pitchFamily="2"/>
              </a:rPr>
              <a:t>Проблема</a:t>
            </a:r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: Наполеон перенял ряд элементов суворовской тактики, добавив свои. То, что работало против  турок, не действует против «Великой армии»</a:t>
            </a:r>
            <a:endParaRPr lang="ru-RU" sz="16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544368" y="5442120"/>
            <a:ext cx="4032448" cy="143406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hangingPunct="0"/>
            <a:r>
              <a:rPr lang="ru-RU" b="1" dirty="0">
                <a:latin typeface="Arial" pitchFamily="18"/>
                <a:ea typeface="Microsoft YaHei" pitchFamily="2"/>
                <a:cs typeface="Mangal" pitchFamily="2"/>
              </a:rPr>
              <a:t>Проблема:</a:t>
            </a:r>
            <a:r>
              <a:rPr lang="ru-RU" dirty="0">
                <a:latin typeface="Arial" pitchFamily="18"/>
                <a:ea typeface="Microsoft YaHei" pitchFamily="2"/>
                <a:cs typeface="Mangal" pitchFamily="2"/>
              </a:rPr>
              <a:t> эта тактика вступает</a:t>
            </a:r>
          </a:p>
          <a:p>
            <a:pPr lvl="0" algn="ctr" hangingPunct="0"/>
            <a:r>
              <a:rPr lang="ru-RU" dirty="0">
                <a:latin typeface="Arial" pitchFamily="18"/>
                <a:ea typeface="Microsoft YaHei" pitchFamily="2"/>
                <a:cs typeface="Mangal" pitchFamily="2"/>
              </a:rPr>
              <a:t>в противоречие с настроением</a:t>
            </a:r>
          </a:p>
          <a:p>
            <a:pPr lvl="0" algn="ctr" hangingPunct="0"/>
            <a:r>
              <a:rPr lang="ru-RU" dirty="0">
                <a:latin typeface="Arial" pitchFamily="18"/>
                <a:ea typeface="Microsoft YaHei" pitchFamily="2"/>
                <a:cs typeface="Mangal" pitchFamily="2"/>
              </a:rPr>
              <a:t>армии и «общества»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647824" y="301625"/>
            <a:ext cx="8424739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600" dirty="0"/>
              <a:t>Бородинское сражение — новый вариант традиционной тактики русских войск.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07864" y="1573918"/>
            <a:ext cx="8424936" cy="5579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647823" y="121791"/>
            <a:ext cx="8424739" cy="1209774"/>
          </a:xfrm>
        </p:spPr>
        <p:txBody>
          <a:bodyPr wrap="square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400" dirty="0"/>
              <a:t>М.И. Кутузов. Новый вариант тактики российской армии: победа без генерального сражения (а лучше совсем без сражений)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03999" y="1440000"/>
            <a:ext cx="6912000" cy="55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488000" y="1872000"/>
            <a:ext cx="2232000" cy="38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863848" y="477025"/>
            <a:ext cx="8208715" cy="1086663"/>
          </a:xfrm>
        </p:spPr>
        <p:txBody>
          <a:bodyPr wrap="square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Замена принципа реактивности принципом легитимизма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768475"/>
            <a:ext cx="8712771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Россия во главе новой антинаполеоновской коалиции (1813-1814), с участием Великобритании, Австрии, Пруссии и Швеции. Цель: восстановить в Европе дореволюционный порядок.</a:t>
            </a:r>
          </a:p>
          <a:p>
            <a:pPr lvl="0"/>
            <a:r>
              <a:rPr lang="ru-RU" sz="2400" dirty="0"/>
              <a:t>Венский конгресс и «Венская система»: возвращение «законных монархов на утраченные ими троны». «Священный союз» (российского, австрийского и прусского монархов) как залог мира и безопасности в Европе.</a:t>
            </a:r>
          </a:p>
          <a:p>
            <a:pPr lvl="0"/>
            <a:r>
              <a:rPr lang="ru-RU" sz="2400" dirty="0"/>
              <a:t>Конгрессы «Священного союза» в 1820-х гг. решают вопросы борьбы с революционными силами в странах Европы.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951824" y="301626"/>
            <a:ext cx="8120739" cy="110194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4000" dirty="0"/>
              <a:t>Николай I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03808" y="1768475"/>
            <a:ext cx="8568755" cy="3198813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600" dirty="0"/>
              <a:t>Принцип легитимизма: Россия не допустит революционных преобразований, в какой бы части Европы они ни начинались .</a:t>
            </a:r>
          </a:p>
          <a:p>
            <a:pPr lvl="0"/>
            <a:r>
              <a:rPr lang="ru-RU" sz="2600" dirty="0"/>
              <a:t>Принцип доминирования: Россия не отвечает на изменения внешних условий, она действует исходя из собственных интересов, признавая чужие интересы только там и тогда, где и когда ей это выгодно.</a:t>
            </a:r>
          </a:p>
        </p:txBody>
      </p:sp>
      <p:sp>
        <p:nvSpPr>
          <p:cNvPr id="4" name="Полилиния 3"/>
          <p:cNvSpPr/>
          <p:nvPr/>
        </p:nvSpPr>
        <p:spPr>
          <a:xfrm>
            <a:off x="951824" y="5219997"/>
            <a:ext cx="8208000" cy="1512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il" t="it" r="ir" b="ib"/>
            <a:pathLst>
              <a:path>
                <a:moveTo>
                  <a:pt x="l" y="vc"/>
                </a:moveTo>
                <a:arcTo wR="wd2" hR="hd2" stAng="cd2" swAng="cd4"/>
                <a:arcTo wR="wd2" hR="hd2" stAng="3cd4" swAng="cd4"/>
                <a:arcTo wR="wd2" hR="hd2" stAng="0" swAng="cd4"/>
                <a:arcTo wR="wd2" hR="hd2" stAng="cd4" swAng="cd4"/>
                <a:close/>
              </a:path>
            </a:pathLst>
          </a:cu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Под «российскими интересами» понимается,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в первую очередь, возможность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дальнейшего расширения  территории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75816" y="301626"/>
            <a:ext cx="8496747" cy="8859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Реализация базовых принципов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31800" y="1547589"/>
            <a:ext cx="8640763" cy="5210399"/>
          </a:xfrm>
        </p:spPr>
        <p:txBody>
          <a:bodyPr>
            <a:normAutofit fontScale="925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Направление — Юг. Противник — Персия.</a:t>
            </a:r>
          </a:p>
          <a:p>
            <a:pPr lvl="0"/>
            <a:r>
              <a:rPr lang="ru-RU" dirty="0"/>
              <a:t>Время 1826 -1828.</a:t>
            </a:r>
          </a:p>
          <a:p>
            <a:pPr lvl="0"/>
            <a:r>
              <a:rPr lang="ru-RU" dirty="0"/>
              <a:t>События: нападение Персии на российские владения в Закавказье. Русско-персидская война, захват русскими войсками закавказских владений Персии.</a:t>
            </a:r>
          </a:p>
          <a:p>
            <a:pPr lvl="0"/>
            <a:r>
              <a:rPr lang="ru-RU" dirty="0"/>
              <a:t>Итог: Туркманчайский мирный договор и создание Восточной Армении в составе России.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75816" y="301626"/>
            <a:ext cx="8496747" cy="957932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 </a:t>
            </a:r>
            <a:r>
              <a:rPr lang="ru-RU" sz="3600" dirty="0"/>
              <a:t>Реализация базовых принципов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31800" y="1475581"/>
            <a:ext cx="9217024" cy="5072063"/>
          </a:xfrm>
        </p:spPr>
        <p:txBody>
          <a:bodyPr>
            <a:norm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Направление — Запад. Противник — революционное движение.</a:t>
            </a:r>
          </a:p>
          <a:p>
            <a:pPr lvl="0"/>
            <a:r>
              <a:rPr lang="ru-RU" sz="2400" dirty="0"/>
              <a:t>События:</a:t>
            </a:r>
          </a:p>
          <a:p>
            <a:pPr lvl="0">
              <a:buChar char="✔"/>
            </a:pPr>
            <a:r>
              <a:rPr lang="ru-RU" sz="2400" dirty="0"/>
              <a:t>1830 — подготовка экспедиционного корпуса для подавления восстания в Бельгии (не отправлен из-за восстания в Польше).</a:t>
            </a:r>
          </a:p>
          <a:p>
            <a:pPr lvl="0">
              <a:buChar char="✔"/>
            </a:pPr>
            <a:r>
              <a:rPr lang="ru-RU" sz="2400" dirty="0"/>
              <a:t>1848 г. подавление революционных выступлений в Молдавии и Валахии (совместно с Турцией)</a:t>
            </a:r>
          </a:p>
          <a:p>
            <a:pPr lvl="0">
              <a:buChar char="✔"/>
            </a:pPr>
            <a:r>
              <a:rPr lang="ru-RU" sz="2400" dirty="0"/>
              <a:t>1849 г. - подавление восстаний в Венгрии и Трансильвании.</a:t>
            </a:r>
          </a:p>
          <a:p>
            <a:pPr lvl="0"/>
            <a:r>
              <a:rPr lang="ru-RU" sz="2400" dirty="0"/>
              <a:t>Итог: Российская империя получает неофициальный статус: «Жандарм Европы».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792" y="301625"/>
            <a:ext cx="8712771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Направление — юго-запад</a:t>
            </a:r>
            <a:br>
              <a:rPr lang="ru-RU" sz="3200" dirty="0"/>
            </a:br>
            <a:r>
              <a:rPr lang="ru-RU" sz="3200" dirty="0"/>
              <a:t>(Восточный вопрос)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03808" y="1835621"/>
            <a:ext cx="9072563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1827 г. - военный союз России, Великобритании и Франции, направленный на прекращение геноцида в Греции. Уничтожение турецкого флота в Наваринской бухте.</a:t>
            </a:r>
          </a:p>
          <a:p>
            <a:pPr lvl="0"/>
            <a:r>
              <a:rPr lang="ru-RU" sz="2200" dirty="0"/>
              <a:t>1827-1828 г. — война с Турцией на балканском  и кавказском театре военных действий. Адрианопольский мирный договор, переход к России черноморского побережья Кавказа.</a:t>
            </a:r>
          </a:p>
          <a:p>
            <a:pPr lvl="0"/>
            <a:r>
              <a:rPr lang="ru-RU" sz="2200" dirty="0"/>
              <a:t>1833 г. - Восстание султана Египта Магомеда Али. Российская военная помощь и Ункяр-Искелесийский мирный договор, по которому Турция обязалась не допускать в Черное море военные суда без разрешения России.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19832" y="323453"/>
            <a:ext cx="9072563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Восточная (Крымская) война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75816" y="1835621"/>
            <a:ext cx="9072563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600" dirty="0"/>
              <a:t>Цель — решить восточный вопрос.</a:t>
            </a:r>
          </a:p>
          <a:p>
            <a:pPr lvl="0"/>
            <a:r>
              <a:rPr lang="ru-RU" sz="2600" dirty="0"/>
              <a:t>Предлог — спор о том, кто должен управлять храмами в Иерусалиме (Турция передала управление католикам).</a:t>
            </a:r>
          </a:p>
          <a:p>
            <a:pPr lvl="0"/>
            <a:r>
              <a:rPr lang="ru-RU" sz="2600" dirty="0"/>
              <a:t>Требования России — право защиты православных на всем пространстве Османской империи.</a:t>
            </a:r>
          </a:p>
          <a:p>
            <a:pPr lvl="0"/>
            <a:r>
              <a:rPr lang="ru-RU" sz="2600" dirty="0"/>
              <a:t>Первое сражение — разгром турецкой эскадры черноморским флотом (П.С. Нахимов) 18.11.1853.</a:t>
            </a:r>
          </a:p>
          <a:p>
            <a:pPr lvl="0"/>
            <a:r>
              <a:rPr lang="ru-RU" sz="2600" dirty="0"/>
              <a:t>Перемена характера войны — март 1854 — вступление в войну Англии и Франции.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70643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Дипломатическое поражение Николая I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934681"/>
              </p:ext>
            </p:extLst>
          </p:nvPr>
        </p:nvGraphicFramePr>
        <p:xfrm>
          <a:off x="431800" y="1043534"/>
          <a:ext cx="9145015" cy="6252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r>
                        <a:rPr lang="ru-RU" sz="1400" dirty="0"/>
                        <a:t>Страна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Представления Николая </a:t>
                      </a:r>
                      <a:r>
                        <a:rPr lang="en-US" sz="1400" dirty="0"/>
                        <a:t>I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Реальность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022">
                <a:tc>
                  <a:txBody>
                    <a:bodyPr/>
                    <a:lstStyle/>
                    <a:p>
                      <a:r>
                        <a:rPr lang="ru-RU" sz="1400" dirty="0"/>
                        <a:t>Великобритания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Заинтересована в расчленении</a:t>
                      </a:r>
                      <a:r>
                        <a:rPr lang="ru-RU" sz="1400" baseline="0" dirty="0"/>
                        <a:t> Османской империи и получении части ее территорий (Египет и острова)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Для британской политики </a:t>
                      </a:r>
                      <a:r>
                        <a:rPr lang="en-US" sz="1400" dirty="0"/>
                        <a:t>XIX</a:t>
                      </a:r>
                      <a:r>
                        <a:rPr lang="en-US" sz="1400" baseline="0" dirty="0"/>
                        <a:t> </a:t>
                      </a:r>
                      <a:r>
                        <a:rPr lang="ru-RU" sz="1400" baseline="0" dirty="0"/>
                        <a:t>в. один из главных приоритетов – не пустить Россию в Средиземное море. А провести раздел  Турции можно и без России.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r>
                        <a:rPr lang="ru-RU" sz="1400" dirty="0"/>
                        <a:t>Франция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Ослаблена революцией</a:t>
                      </a:r>
                      <a:r>
                        <a:rPr lang="ru-RU" sz="1400" baseline="0" dirty="0"/>
                        <a:t> 1848 г. и госпереворотом 1851 г. Легитимность Наполеона </a:t>
                      </a:r>
                      <a:r>
                        <a:rPr lang="en-US" sz="1400" baseline="0" dirty="0"/>
                        <a:t>III </a:t>
                      </a:r>
                      <a:r>
                        <a:rPr lang="ru-RU" sz="1400" baseline="0" dirty="0"/>
                        <a:t>под сомнением, ему не до внешней политики.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Победа над Россией поможет Наполеону </a:t>
                      </a:r>
                      <a:r>
                        <a:rPr lang="en-US" sz="1400" dirty="0"/>
                        <a:t>III</a:t>
                      </a:r>
                      <a:r>
                        <a:rPr lang="en-US" sz="1400" baseline="0" dirty="0"/>
                        <a:t> </a:t>
                      </a:r>
                      <a:r>
                        <a:rPr lang="ru-RU" sz="1400" baseline="0" dirty="0"/>
                        <a:t>добиться высшего уровня легитимности.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r>
                        <a:rPr lang="ru-RU" sz="1400" dirty="0"/>
                        <a:t>Австрия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Должна быть благодарна Николаю</a:t>
                      </a:r>
                      <a:r>
                        <a:rPr lang="ru-RU" sz="1400" baseline="0" dirty="0"/>
                        <a:t> </a:t>
                      </a:r>
                      <a:r>
                        <a:rPr lang="en-US" sz="1400" baseline="0" dirty="0"/>
                        <a:t>I </a:t>
                      </a:r>
                      <a:r>
                        <a:rPr lang="ru-RU" sz="1400" baseline="0" dirty="0"/>
                        <a:t>за спасение монархии в 1849 г.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Благодарность в политике – это что?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992">
                <a:tc>
                  <a:txBody>
                    <a:bodyPr/>
                    <a:lstStyle/>
                    <a:p>
                      <a:r>
                        <a:rPr lang="ru-RU" sz="1400" dirty="0"/>
                        <a:t>Пруссия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Николай </a:t>
                      </a:r>
                      <a:r>
                        <a:rPr lang="en-US" sz="1400" dirty="0"/>
                        <a:t>I</a:t>
                      </a:r>
                      <a:r>
                        <a:rPr lang="en-US" sz="1400" baseline="0" dirty="0"/>
                        <a:t> </a:t>
                      </a:r>
                      <a:r>
                        <a:rPr lang="ru-RU" sz="1400" baseline="0" dirty="0"/>
                        <a:t>женат на прусской принцессе. Пруссия зависит от России в противостоянии с Францией и Австрией.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Если России будет помогать так, как Турции в 1833 г.</a:t>
                      </a:r>
                      <a:r>
                        <a:rPr lang="ru-RU" sz="1400" baseline="0" dirty="0"/>
                        <a:t> и Австрии в 1849, то лучше не надо. Действия России в Польше подрывают легитимность владения Пруссией частью польских земель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r>
                        <a:rPr lang="ru-RU" sz="1600" dirty="0"/>
                        <a:t>Другие государства Европы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Их можно не брать в расчёт.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Король Сардинии Виктор Эммануил </a:t>
                      </a:r>
                      <a:r>
                        <a:rPr lang="en-US" sz="1600" dirty="0"/>
                        <a:t>II</a:t>
                      </a:r>
                      <a:r>
                        <a:rPr lang="en-US" sz="1600" baseline="0" dirty="0"/>
                        <a:t> </a:t>
                      </a:r>
                      <a:r>
                        <a:rPr lang="ru-RU" sz="1600" baseline="0" dirty="0"/>
                        <a:t>стремится стать королем объединенной Италии. Ему нужен политический вес. Победа над Россией даст ему необходимый статус.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54478" y="251445"/>
            <a:ext cx="9072563" cy="70643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Центральное событие войны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21520" y="1115541"/>
            <a:ext cx="8538480" cy="5770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792" y="251445"/>
            <a:ext cx="9072563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600" dirty="0"/>
              <a:t>Итоги войны</a:t>
            </a:r>
            <a:br>
              <a:rPr lang="ru-RU" sz="3600" dirty="0"/>
            </a:br>
            <a:r>
              <a:rPr lang="ru-RU" sz="3600" dirty="0"/>
              <a:t>(Парижский договор 13.05.1855)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835621"/>
            <a:ext cx="9072563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Обмен захваченными в войне территориями (Севастополь — Карс).</a:t>
            </a:r>
          </a:p>
          <a:p>
            <a:pPr lvl="0"/>
            <a:r>
              <a:rPr lang="ru-RU" sz="2400" dirty="0"/>
              <a:t>Запрет России и Турции  держать военный флот и арсеналы в Черном море.</a:t>
            </a:r>
          </a:p>
          <a:p>
            <a:pPr lvl="0"/>
            <a:r>
              <a:rPr lang="ru-RU" sz="2400" dirty="0"/>
              <a:t>Свобода для торгового судоходства в проливах, Черном море и на Дунае.</a:t>
            </a:r>
          </a:p>
          <a:p>
            <a:pPr lvl="0"/>
            <a:r>
              <a:rPr lang="ru-RU" sz="2400" dirty="0"/>
              <a:t>Перенос российской границы от Дуная.</a:t>
            </a:r>
          </a:p>
          <a:p>
            <a:pPr lvl="0"/>
            <a:r>
              <a:rPr lang="ru-RU" sz="2400" dirty="0"/>
              <a:t>Россия лишилась права «покровительства» народам Молдавии и Валахии.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431800" y="301626"/>
            <a:ext cx="8640763" cy="8859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Внешняя политика Александра II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31800" y="1512000"/>
            <a:ext cx="6335713" cy="4154488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1800" dirty="0"/>
              <a:t>Доктрина: </a:t>
            </a:r>
            <a:r>
              <a:rPr lang="ru-RU" sz="1800" b="1" dirty="0"/>
              <a:t>изоляционизм</a:t>
            </a:r>
            <a:r>
              <a:rPr lang="ru-RU" sz="1800" dirty="0"/>
              <a:t>, в сочетании с «блоковой политикой».</a:t>
            </a:r>
          </a:p>
          <a:p>
            <a:pPr lvl="0"/>
            <a:r>
              <a:rPr lang="ru-RU" sz="1800" dirty="0"/>
              <a:t>Руководитель внешней политики: А.М. Горчаков.</a:t>
            </a:r>
          </a:p>
          <a:p>
            <a:pPr lvl="0"/>
            <a:r>
              <a:rPr lang="ru-RU" sz="1800" dirty="0"/>
              <a:t>Девиз: «Россию упрекают в том, что она изолируется и молчит перед лицом таких фактов, которые не гармонируют ни с правом, ни со справедливостью. Говорят, что Россия сердится. Россия не сердится, Россия сосредотачивается» (депеша послам 1856 г.)</a:t>
            </a:r>
          </a:p>
          <a:p>
            <a:pPr lvl="0"/>
            <a:r>
              <a:rPr lang="ru-RU" sz="1800" dirty="0"/>
              <a:t>Периоды:</a:t>
            </a:r>
          </a:p>
          <a:p>
            <a:pPr lvl="0"/>
            <a:r>
              <a:rPr lang="ru-RU" sz="1800" dirty="0"/>
              <a:t>1856 — 1859 — строгий изоляционизм.</a:t>
            </a:r>
          </a:p>
          <a:p>
            <a:pPr lvl="0"/>
            <a:r>
              <a:rPr lang="ru-RU" sz="1800" dirty="0"/>
              <a:t> 1859 — 1870 — умеренный изоляционизм</a:t>
            </a:r>
          </a:p>
          <a:p>
            <a:pPr lvl="0"/>
            <a:r>
              <a:rPr lang="ru-RU" sz="1800" dirty="0"/>
              <a:t>1870 — 1881 — политика «блокирования с сильным».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056000" y="1512000"/>
            <a:ext cx="2614680" cy="3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Скругленный прямоугольник 6"/>
          <p:cNvSpPr/>
          <p:nvPr/>
        </p:nvSpPr>
        <p:spPr>
          <a:xfrm>
            <a:off x="503808" y="5796061"/>
            <a:ext cx="6336704" cy="12241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Изоляционизм — направление во внешней политике стран,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заключающееся в ориентации в основном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 на собственные силы и ограничении внешних связей.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Словарь по географии. 2015.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247216" y="4902540"/>
            <a:ext cx="2232248" cy="90009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ru-RU" dirty="0">
                <a:latin typeface="Arial" pitchFamily="18"/>
                <a:ea typeface="Microsoft YaHei" pitchFamily="2"/>
                <a:cs typeface="Mangal" pitchFamily="2"/>
              </a:rPr>
              <a:t>Князь</a:t>
            </a:r>
          </a:p>
          <a:p>
            <a:pPr lvl="0" algn="ctr"/>
            <a:r>
              <a:rPr lang="ru-RU" dirty="0">
                <a:latin typeface="Arial" pitchFamily="18"/>
                <a:ea typeface="Microsoft YaHei" pitchFamily="2"/>
                <a:cs typeface="Mangal" pitchFamily="2"/>
              </a:rPr>
              <a:t>А. М. Горчаков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03808" y="323453"/>
            <a:ext cx="9072563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Стратегия возвращения в «большую политику» 1850-е гг.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75816" y="1763613"/>
            <a:ext cx="8712771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Главное международное событие: «итальянский кризис» (вытеснение Австрии из Италии союзом Франции и Сардинии).</a:t>
            </a:r>
          </a:p>
          <a:p>
            <a:pPr lvl="0"/>
            <a:r>
              <a:rPr lang="ru-RU" dirty="0"/>
              <a:t>Действия России: дружественный нейтралитет по отношению к Франции и Сардинии.</a:t>
            </a:r>
          </a:p>
          <a:p>
            <a:pPr lvl="0"/>
            <a:r>
              <a:rPr lang="ru-RU" dirty="0"/>
              <a:t>Итог: раскол коалиции «Крымской войны», резкое ослабление Австрии.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007864" y="301626"/>
            <a:ext cx="8064699" cy="66990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Военная реформа 1860-х —  1870-х гг.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87784" y="1379538"/>
            <a:ext cx="5544691" cy="5316537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Замена рекрутского набора всеобщей воинской повинностью.</a:t>
            </a:r>
          </a:p>
          <a:p>
            <a:pPr lvl="0"/>
            <a:r>
              <a:rPr lang="ru-RU" sz="2400" dirty="0"/>
              <a:t>Создание Главного штаба, военных округов и постепенная замена «николаевского» генералитета новым поколением.</a:t>
            </a:r>
          </a:p>
          <a:p>
            <a:pPr lvl="0"/>
            <a:r>
              <a:rPr lang="ru-RU" sz="2400" dirty="0"/>
              <a:t>Создание юнкерских училищ — приход в армию нового поколения офицеров</a:t>
            </a:r>
          </a:p>
          <a:p>
            <a:pPr lvl="0"/>
            <a:r>
              <a:rPr lang="ru-RU" sz="2400" dirty="0"/>
              <a:t>Новые военные уставы и современная система подготовки солдат.</a:t>
            </a:r>
          </a:p>
          <a:p>
            <a:pPr lvl="0"/>
            <a:r>
              <a:rPr lang="ru-RU" sz="2400" dirty="0"/>
              <a:t>Отмена телесных наказаний.</a:t>
            </a:r>
          </a:p>
          <a:p>
            <a:pPr lvl="0"/>
            <a:r>
              <a:rPr lang="ru-RU" sz="2400" dirty="0"/>
              <a:t>Начало перевооружения армии.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552000" y="1296000"/>
            <a:ext cx="1860479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97400" y="4597200"/>
            <a:ext cx="1794600" cy="21610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Скругленный прямоугольник 7"/>
          <p:cNvSpPr/>
          <p:nvPr/>
        </p:nvSpPr>
        <p:spPr>
          <a:xfrm>
            <a:off x="6552000" y="3572545"/>
            <a:ext cx="2088712" cy="6393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Военный министр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Д.А. Милютин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208665" y="4931965"/>
            <a:ext cx="1512168" cy="151216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Генерал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М.И. Драгомиров</a:t>
            </a:r>
            <a:endParaRPr lang="ru-RU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03808" y="301625"/>
            <a:ext cx="8568755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Стратегия возвращения в «большую политику»  I половина1860-х гг.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647824" y="1763613"/>
            <a:ext cx="6264275" cy="4989513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600" dirty="0"/>
              <a:t>Главные европейские события: процесс создания единых государств Италии и Германии.</a:t>
            </a:r>
          </a:p>
          <a:p>
            <a:pPr lvl="0"/>
            <a:r>
              <a:rPr lang="ru-RU" sz="2600" dirty="0"/>
              <a:t>Россия постепенно отходит от поддержки Франции (ставшей чересчур сильной) в пользу союза с Пруссией.</a:t>
            </a:r>
          </a:p>
          <a:p>
            <a:pPr lvl="0"/>
            <a:r>
              <a:rPr lang="ru-RU" sz="2600" dirty="0"/>
              <a:t>Итог: все внимание дипломатии европейских стран переключилось на Пруссию  и ее стремление починить себе германские государства.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560590" y="1619597"/>
            <a:ext cx="1943407" cy="26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Скругленный прямоугольник 5"/>
          <p:cNvSpPr/>
          <p:nvPr/>
        </p:nvSpPr>
        <p:spPr>
          <a:xfrm>
            <a:off x="7560591" y="4499917"/>
            <a:ext cx="1943407" cy="201622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Отто фон Бисмарк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Посол Пруссии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В России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Затем премьер-</a:t>
            </a:r>
          </a:p>
          <a:p>
            <a:pPr lvl="0" algn="ctr" hangingPunct="0"/>
            <a:r>
              <a:rPr lang="ru-RU" sz="1600" dirty="0">
                <a:latin typeface="Arial" pitchFamily="18"/>
                <a:ea typeface="Microsoft YaHei" pitchFamily="2"/>
                <a:cs typeface="Mangal" pitchFamily="2"/>
              </a:rPr>
              <a:t>Министр Пруссии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03999" y="301626"/>
            <a:ext cx="8568564" cy="102994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Стратегия возвращения в «большую» политику. II половина 1860-х гг.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768475"/>
            <a:ext cx="8712771" cy="3311525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600" dirty="0"/>
              <a:t>Главные европейские события: создание Германской империи в войнах Пруссии с Австрией (1866) и Францией (1870-1871).</a:t>
            </a:r>
          </a:p>
          <a:p>
            <a:pPr lvl="0"/>
            <a:r>
              <a:rPr lang="ru-RU" sz="2600" dirty="0"/>
              <a:t>Позиция России: дипломатическая поддержка Пруссии — Германии.</a:t>
            </a:r>
          </a:p>
          <a:p>
            <a:pPr lvl="0"/>
            <a:r>
              <a:rPr lang="ru-RU" sz="2600" dirty="0"/>
              <a:t>Итоги (для России): Австрия в кризисе, Франция разрушена, Великобритания осталась без возможности заключить союз против России.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03999" y="5472000"/>
            <a:ext cx="9144000" cy="1512000"/>
          </a:xfrm>
          <a:prstGeom prst="rect">
            <a:avLst/>
          </a:prstGeom>
          <a:solidFill>
            <a:srgbClr val="CFE7F5"/>
          </a:solidFill>
          <a:ln w="0">
            <a:solidFill>
              <a:srgbClr val="80808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В 1870 г. Россия отказывается от Парижского мирного договора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В 1871 г. Лондонская конвенция подтверждает право России на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Военный флот на Черном море.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935856" y="301625"/>
            <a:ext cx="8136707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Стратегия возвращения в большую политику. 1870-е гг.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647824" y="1768476"/>
            <a:ext cx="8424739" cy="3091482"/>
          </a:xfrm>
        </p:spPr>
        <p:txBody>
          <a:bodyPr>
            <a:noAutofit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Главное событие: русско-турецкая война 1877 — 1878 гг.</a:t>
            </a:r>
          </a:p>
          <a:p>
            <a:pPr lvl="0"/>
            <a:r>
              <a:rPr lang="ru-RU" sz="2200" dirty="0"/>
              <a:t>Повод: восстания в Боснии, Герцеговине, Болгарии,  объявление Сербией и Черногорией войны Турции (1875-1876).</a:t>
            </a:r>
          </a:p>
          <a:p>
            <a:pPr lvl="0"/>
            <a:r>
              <a:rPr lang="ru-RU" sz="2200" dirty="0"/>
              <a:t>Главная цель России — вернуться к решению «Восточного вопроса».</a:t>
            </a:r>
          </a:p>
          <a:p>
            <a:pPr lvl="0"/>
            <a:r>
              <a:rPr lang="ru-RU" sz="2200" dirty="0"/>
              <a:t>Противники (помимо Турции): Великобритания и Австрия.</a:t>
            </a:r>
          </a:p>
        </p:txBody>
      </p:sp>
      <p:pic>
        <p:nvPicPr>
          <p:cNvPr id="2050" name="Picture 2" descr="http://2.bp.blogspot.com/-kUKLDR9VINc/VQyk6yoSSXI/AAAAAAAACh0/RL0-3boVGHk/s1600/Russian%2Bcrossing%2Bof%2Bthe%2BDanube%2C%2BJune%2B1877.%2B(Painting%2Bby%2BNikolai%2BDmitriev-Orenburgsky%2C%2B188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000" y="4859957"/>
            <a:ext cx="586173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000" y="360000"/>
            <a:ext cx="9347399" cy="6862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647824" y="301626"/>
            <a:ext cx="8424739" cy="813916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Результаты войны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31800" y="1763613"/>
            <a:ext cx="4427538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000" b="1" dirty="0"/>
              <a:t>Сан-</a:t>
            </a:r>
            <a:r>
              <a:rPr lang="ru-RU" sz="2000" b="1" dirty="0" err="1"/>
              <a:t>Стефанский</a:t>
            </a:r>
            <a:r>
              <a:rPr lang="ru-RU" sz="2000" b="1" dirty="0"/>
              <a:t> мирный договор 19.02.1878</a:t>
            </a:r>
          </a:p>
          <a:p>
            <a:pPr lvl="0"/>
            <a:r>
              <a:rPr lang="ru-RU" sz="2000" dirty="0"/>
              <a:t>Румыния, Сербия, Черногория становятся независимыми.</a:t>
            </a:r>
          </a:p>
          <a:p>
            <a:pPr lvl="0"/>
            <a:r>
              <a:rPr lang="ru-RU" sz="2000" dirty="0"/>
              <a:t>Болгария — автономия в составе Турции.</a:t>
            </a:r>
          </a:p>
          <a:p>
            <a:pPr lvl="0"/>
            <a:r>
              <a:rPr lang="ru-RU" sz="2000" dirty="0"/>
              <a:t>Закавказские города: Ардаган, Карс, Батум, Баязет</a:t>
            </a:r>
          </a:p>
          <a:p>
            <a:pPr lvl="0"/>
            <a:r>
              <a:rPr lang="ru-RU" sz="2000" dirty="0"/>
              <a:t>Устанавливался российский контроль над устьем Дуная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4968304" y="1763613"/>
            <a:ext cx="4427537" cy="4989513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None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414"/>
              </a:spcAft>
              <a:buSzPct val="45000"/>
              <a:buFont typeface="StarSymbol"/>
              <a:buChar char="●"/>
              <a:defRPr lang="ru-RU" sz="32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000" b="1" dirty="0"/>
              <a:t>Берлинский трактат (1.07.1878)</a:t>
            </a:r>
          </a:p>
          <a:p>
            <a:pPr lvl="0"/>
            <a:r>
              <a:rPr lang="ru-RU" sz="1800" dirty="0"/>
              <a:t>Независимость Румынии, Сербии, Черногории подтверждена.</a:t>
            </a:r>
          </a:p>
          <a:p>
            <a:pPr lvl="0"/>
            <a:r>
              <a:rPr lang="ru-RU" sz="1800" dirty="0"/>
              <a:t>Болгария разделена на три автономные провинции с разным статусом.</a:t>
            </a:r>
          </a:p>
          <a:p>
            <a:pPr lvl="0"/>
            <a:r>
              <a:rPr lang="ru-RU" sz="1800" dirty="0"/>
              <a:t>Сербия получала часть территории, на которую претендовала Болгария.</a:t>
            </a:r>
          </a:p>
          <a:p>
            <a:pPr lvl="0"/>
            <a:r>
              <a:rPr lang="ru-RU" sz="1800" dirty="0"/>
              <a:t>Россия не получила Баязет, но ей была передана Южная Бессарабия</a:t>
            </a:r>
          </a:p>
          <a:p>
            <a:pPr lvl="0"/>
            <a:r>
              <a:rPr lang="ru-RU" sz="1800" dirty="0"/>
              <a:t>Босния и Герцеговина передавались Австро-Венгрии</a:t>
            </a:r>
          </a:p>
          <a:p>
            <a:pPr lvl="0"/>
            <a:r>
              <a:rPr lang="ru-RU" sz="1800" dirty="0"/>
              <a:t>Вводился международный режим свободного мореходства по Дунаю и на Черном море.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251445"/>
            <a:ext cx="9072563" cy="936104"/>
          </a:xfrm>
        </p:spPr>
        <p:txBody>
          <a:bodyPr/>
          <a:lstStyle/>
          <a:p>
            <a:r>
              <a:rPr lang="ru-RU" sz="3200" dirty="0"/>
              <a:t>Экспансия в Средней Азии: предыстория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4031" y="1403573"/>
            <a:ext cx="9072563" cy="5349388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1838 – 1842 – попытка Великобритании захватить Афганистан (Первая Англо-Афганская война). Главная цель – «закрыть» Индию от вторжения из России. Неудача.</a:t>
            </a:r>
          </a:p>
          <a:p>
            <a:r>
              <a:rPr lang="ru-RU" sz="2400" dirty="0"/>
              <a:t>1840-е 1850-е гг. – соперничество России и Великобритании определят характер событий на Ближнем Востоке.</a:t>
            </a:r>
          </a:p>
          <a:p>
            <a:r>
              <a:rPr lang="ru-RU" sz="2400" dirty="0"/>
              <a:t>1856 – 1857 гг. Англо-Персидская война за город Герат и контроль над Афганистаном.  Итог: Персия вернула Герат Афганистану, но английские войска ушли в Индию</a:t>
            </a:r>
          </a:p>
          <a:p>
            <a:r>
              <a:rPr lang="ru-RU" sz="2400" dirty="0"/>
              <a:t>1878 – 1880 гг. – вторая Англо-Афганская война. Результат: Афганистан становится протекторатом Великобритании.</a:t>
            </a:r>
          </a:p>
        </p:txBody>
      </p:sp>
    </p:spTree>
    <p:extLst>
      <p:ext uri="{BB962C8B-B14F-4D97-AF65-F5344CB8AC3E}">
        <p14:creationId xmlns:p14="http://schemas.microsoft.com/office/powerpoint/2010/main" val="531356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808" y="251446"/>
            <a:ext cx="9072563" cy="1008112"/>
          </a:xfrm>
        </p:spPr>
        <p:txBody>
          <a:bodyPr/>
          <a:lstStyle/>
          <a:p>
            <a:r>
              <a:rPr lang="ru-RU" sz="3200" dirty="0">
                <a:solidFill>
                  <a:srgbClr val="2F5897"/>
                </a:solidFill>
              </a:rPr>
              <a:t>Экспансия в Средней Азии: логика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269583"/>
              </p:ext>
            </p:extLst>
          </p:nvPr>
        </p:nvGraphicFramePr>
        <p:xfrm>
          <a:off x="503238" y="1763713"/>
          <a:ext cx="9074150" cy="498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https://www.syl.ru/misc/i/ai/178098/70949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17" y="1619597"/>
            <a:ext cx="1255100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zemlyanka-war.com/sites/default/files/images/products/6325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309" y="1797815"/>
            <a:ext cx="1333950" cy="13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permnod.ru/files/2015/11/alexandr_v1fPDEQ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672" y="1797815"/>
            <a:ext cx="1268488" cy="13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687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s00.yaplakal.com/pics/pics_original/4/4/3/593934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84" y="323453"/>
            <a:ext cx="9217024" cy="708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724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488</TotalTime>
  <Words>1762</Words>
  <Application>Microsoft Office PowerPoint</Application>
  <PresentationFormat>Произвольный</PresentationFormat>
  <Paragraphs>167</Paragraphs>
  <Slides>27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Arial</vt:lpstr>
      <vt:lpstr>Calibri</vt:lpstr>
      <vt:lpstr>Century Gothic</vt:lpstr>
      <vt:lpstr>Courier New</vt:lpstr>
      <vt:lpstr>Palatino Linotype</vt:lpstr>
      <vt:lpstr>StarSymbol</vt:lpstr>
      <vt:lpstr>Times New Roman</vt:lpstr>
      <vt:lpstr>Исполнительная</vt:lpstr>
      <vt:lpstr>История России</vt:lpstr>
      <vt:lpstr>Внешняя политика Александра I</vt:lpstr>
      <vt:lpstr>Проявления реактивной политики</vt:lpstr>
      <vt:lpstr>Новый виток реактивности</vt:lpstr>
      <vt:lpstr>1812 г. Два принципа ведения войны:</vt:lpstr>
      <vt:lpstr>Бородинское сражение — новый вариант традиционной тактики русских войск.</vt:lpstr>
      <vt:lpstr>М.И. Кутузов. Новый вариант тактики российской армии: победа без генерального сражения (а лучше совсем без сражений)</vt:lpstr>
      <vt:lpstr>Замена принципа реактивности принципом легитимизма</vt:lpstr>
      <vt:lpstr>Николай I</vt:lpstr>
      <vt:lpstr>Реализация базовых принципов</vt:lpstr>
      <vt:lpstr> Реализация базовых принципов</vt:lpstr>
      <vt:lpstr>Направление — юго-запад (Восточный вопрос)</vt:lpstr>
      <vt:lpstr>Восточная (Крымская) война</vt:lpstr>
      <vt:lpstr>Дипломатическое поражение Николая I</vt:lpstr>
      <vt:lpstr>Центральное событие войны</vt:lpstr>
      <vt:lpstr>Итоги войны (Парижский договор 13.05.1855)</vt:lpstr>
      <vt:lpstr>Внешняя политика Александра II</vt:lpstr>
      <vt:lpstr>Стратегия возвращения в «большую политику» 1850-е гг.</vt:lpstr>
      <vt:lpstr>Военная реформа 1860-х —  1870-х гг.</vt:lpstr>
      <vt:lpstr>Стратегия возвращения в «большую политику»  I половина1860-х гг.</vt:lpstr>
      <vt:lpstr>Стратегия возвращения в «большую» политику. II половина 1860-х гг.</vt:lpstr>
      <vt:lpstr>Стратегия возвращения в большую политику. 1870-е гг.</vt:lpstr>
      <vt:lpstr>Презентация PowerPoint</vt:lpstr>
      <vt:lpstr>Результаты войны</vt:lpstr>
      <vt:lpstr>Экспансия в Средней Азии: предыстория</vt:lpstr>
      <vt:lpstr>Экспансия в Средней Азии: логика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Соловьев</dc:creator>
  <cp:lastModifiedBy>Константин Соловьев</cp:lastModifiedBy>
  <cp:revision>26</cp:revision>
  <dcterms:created xsi:type="dcterms:W3CDTF">2017-08-16T15:52:39Z</dcterms:created>
  <dcterms:modified xsi:type="dcterms:W3CDTF">2023-08-24T12:42:16Z</dcterms:modified>
</cp:coreProperties>
</file>