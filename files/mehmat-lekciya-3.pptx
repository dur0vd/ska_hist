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71" r:id="rId3"/>
    <p:sldId id="272" r:id="rId4"/>
    <p:sldId id="273" r:id="rId5"/>
    <p:sldId id="295" r:id="rId6"/>
    <p:sldId id="282" r:id="rId7"/>
    <p:sldId id="283" r:id="rId8"/>
    <p:sldId id="284" r:id="rId9"/>
    <p:sldId id="285" r:id="rId10"/>
    <p:sldId id="286" r:id="rId11"/>
    <p:sldId id="281" r:id="rId12"/>
    <p:sldId id="296" r:id="rId13"/>
    <p:sldId id="297" r:id="rId14"/>
    <p:sldId id="298" r:id="rId15"/>
    <p:sldId id="299" r:id="rId16"/>
    <p:sldId id="300" r:id="rId17"/>
    <p:sldId id="287" r:id="rId18"/>
    <p:sldId id="274" r:id="rId19"/>
    <p:sldId id="275" r:id="rId20"/>
    <p:sldId id="309" r:id="rId21"/>
    <p:sldId id="301" r:id="rId22"/>
    <p:sldId id="302" r:id="rId23"/>
    <p:sldId id="307" r:id="rId24"/>
    <p:sldId id="308" r:id="rId25"/>
    <p:sldId id="304" r:id="rId26"/>
    <p:sldId id="310" r:id="rId27"/>
    <p:sldId id="305" r:id="rId28"/>
    <p:sldId id="311" r:id="rId2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DBBC-CE9B-42BA-BF5F-CC536D727818}" type="datetimeFigureOut">
              <a:rPr lang="ru-RU" smtClean="0"/>
              <a:t>07.10.2021</a:t>
            </a:fld>
            <a:endParaRPr lang="ru-RU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CDF3A-EB65-4009-AF34-787D2B6E206A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DBBC-CE9B-42BA-BF5F-CC536D727818}" type="datetimeFigureOut">
              <a:rPr lang="ru-RU" smtClean="0"/>
              <a:t>07.10.2021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CDF3A-EB65-4009-AF34-787D2B6E206A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DBBC-CE9B-42BA-BF5F-CC536D727818}" type="datetimeFigureOut">
              <a:rPr lang="ru-RU" smtClean="0"/>
              <a:t>07.10.2021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CDF3A-EB65-4009-AF34-787D2B6E206A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DBBC-CE9B-42BA-BF5F-CC536D727818}" type="datetimeFigureOut">
              <a:rPr lang="ru-RU" smtClean="0"/>
              <a:t>07.10.2021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CDF3A-EB65-4009-AF34-787D2B6E206A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DBBC-CE9B-42BA-BF5F-CC536D727818}" type="datetimeFigureOut">
              <a:rPr lang="ru-RU" smtClean="0"/>
              <a:t>07.10.2021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CDF3A-EB65-4009-AF34-787D2B6E206A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DBBC-CE9B-42BA-BF5F-CC536D727818}" type="datetimeFigureOut">
              <a:rPr lang="ru-RU" smtClean="0"/>
              <a:t>07.10.2021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CDF3A-EB65-4009-AF34-787D2B6E206A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DBBC-CE9B-42BA-BF5F-CC536D727818}" type="datetimeFigureOut">
              <a:rPr lang="ru-RU" smtClean="0"/>
              <a:t>07.10.2021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CDF3A-EB65-4009-AF34-787D2B6E206A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DBBC-CE9B-42BA-BF5F-CC536D727818}" type="datetimeFigureOut">
              <a:rPr lang="ru-RU" smtClean="0"/>
              <a:t>07.10.2021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CDF3A-EB65-4009-AF34-787D2B6E206A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DBBC-CE9B-42BA-BF5F-CC536D727818}" type="datetimeFigureOut">
              <a:rPr lang="ru-RU" smtClean="0"/>
              <a:t>07.10.2021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CDF3A-EB65-4009-AF34-787D2B6E206A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DBBC-CE9B-42BA-BF5F-CC536D727818}" type="datetimeFigureOut">
              <a:rPr lang="ru-RU" smtClean="0"/>
              <a:t>07.10.2021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CDF3A-EB65-4009-AF34-787D2B6E206A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8DBBC-CE9B-42BA-BF5F-CC536D727818}" type="datetimeFigureOut">
              <a:rPr lang="ru-RU" smtClean="0"/>
              <a:t>07.10.2021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CDF3A-EB65-4009-AF34-787D2B6E206A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A158DBBC-CE9B-42BA-BF5F-CC536D727818}" type="datetimeFigureOut">
              <a:rPr lang="ru-RU" smtClean="0"/>
              <a:t>07.10.2021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4C5CDF3A-EB65-4009-AF34-787D2B6E206A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836712"/>
            <a:ext cx="7774632" cy="3096343"/>
          </a:xfrm>
        </p:spPr>
        <p:txBody>
          <a:bodyPr>
            <a:noAutofit/>
          </a:bodyPr>
          <a:lstStyle/>
          <a:p>
            <a:r>
              <a:rPr lang="ru-RU" sz="4000" dirty="0" smtClean="0"/>
              <a:t>Эволюция абсолютной монархии в России в нач. </a:t>
            </a:r>
            <a:r>
              <a:rPr lang="en-US" sz="4000" dirty="0" smtClean="0"/>
              <a:t>XX </a:t>
            </a:r>
            <a:r>
              <a:rPr lang="ru-RU" sz="4000" dirty="0" smtClean="0"/>
              <a:t>вв.</a:t>
            </a:r>
            <a:endParaRPr lang="ru-RU" sz="4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59632" y="4077072"/>
            <a:ext cx="6400800" cy="1104528"/>
          </a:xfrm>
        </p:spPr>
        <p:txBody>
          <a:bodyPr/>
          <a:lstStyle/>
          <a:p>
            <a:r>
              <a:rPr lang="ru-RU" dirty="0" smtClean="0"/>
              <a:t>Лекция 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4618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936104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ru-RU" sz="3600" dirty="0" smtClean="0"/>
              <a:t>Николай </a:t>
            </a:r>
            <a:r>
              <a:rPr lang="en-US" sz="3600" dirty="0" smtClean="0"/>
              <a:t>II</a:t>
            </a:r>
            <a:r>
              <a:rPr lang="ru-RU" sz="3600" dirty="0" smtClean="0"/>
              <a:t>. Стратегические решения начала царствования.</a:t>
            </a:r>
            <a:endParaRPr lang="ru-RU" sz="36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 smtClean="0"/>
              <a:t>Предложения расширить пространство свободы</a:t>
            </a:r>
            <a:endParaRPr lang="ru-RU" b="1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453727"/>
          </a:xfrm>
        </p:spPr>
        <p:txBody>
          <a:bodyPr>
            <a:normAutofit lnSpcReduction="10000"/>
          </a:bodyPr>
          <a:lstStyle/>
          <a:p>
            <a:r>
              <a:rPr lang="ru-RU" b="1" dirty="0" smtClean="0"/>
              <a:t>Реакция императора</a:t>
            </a:r>
            <a:endParaRPr lang="ru-RU" b="1" dirty="0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457200" y="2174875"/>
            <a:ext cx="4040188" cy="211822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 smtClean="0"/>
              <a:t>Предложения земств и городов: предоставить большую свободу местному самоуправлению и созвать общероссийское земство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14"/>
          </p:nvPr>
        </p:nvSpPr>
        <p:spPr>
          <a:xfrm>
            <a:off x="4716016" y="2060848"/>
            <a:ext cx="3931920" cy="388843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«Мне известно, что в последнее время слышались в некоторых земских собраниях голоса людей, увлекавшихся бессмысленными мечтаниями об участии представителей земства в делах внутреннего управления. Пусть все знают, что я, посвящая все свои силы благу народному, </a:t>
            </a:r>
            <a:r>
              <a:rPr lang="ru-RU" b="1" dirty="0"/>
              <a:t>буду охранять начало самодержавия </a:t>
            </a:r>
            <a:r>
              <a:rPr lang="ru-RU" dirty="0"/>
              <a:t>так же твёрдо и неуклонно, как охранял его мой незабвенный, покойный родитель».</a:t>
            </a:r>
          </a:p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293096"/>
            <a:ext cx="3168352" cy="2178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Скругленный прямоугольник 6"/>
          <p:cNvSpPr/>
          <p:nvPr/>
        </p:nvSpPr>
        <p:spPr>
          <a:xfrm>
            <a:off x="4788024" y="5733256"/>
            <a:ext cx="3960440" cy="93610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Речь </a:t>
            </a:r>
            <a:r>
              <a:rPr lang="ru-RU" sz="1400" dirty="0"/>
              <a:t>к представителям дворянства, земств и городов, произнесенной в 1895 г.</a:t>
            </a:r>
          </a:p>
        </p:txBody>
      </p:sp>
    </p:spTree>
    <p:extLst>
      <p:ext uri="{BB962C8B-B14F-4D97-AF65-F5344CB8AC3E}">
        <p14:creationId xmlns:p14="http://schemas.microsoft.com/office/powerpoint/2010/main" val="502843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864096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800" dirty="0"/>
              <a:t>Николай </a:t>
            </a:r>
            <a:r>
              <a:rPr lang="en-US" sz="2800" dirty="0"/>
              <a:t>II</a:t>
            </a:r>
            <a:r>
              <a:rPr lang="en-US" sz="2800" dirty="0" smtClean="0"/>
              <a:t>.</a:t>
            </a:r>
            <a:r>
              <a:rPr lang="ru-RU" sz="2800" dirty="0"/>
              <a:t> Стратегические решения начала царствования.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/>
              <a:t>Предложения расширить пространство </a:t>
            </a:r>
            <a:r>
              <a:rPr lang="ru-RU" b="1" dirty="0" smtClean="0"/>
              <a:t>свободы</a:t>
            </a:r>
            <a:endParaRPr lang="ru-RU" b="1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788024" y="1412776"/>
            <a:ext cx="3931920" cy="360040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Реакция </a:t>
            </a:r>
            <a:r>
              <a:rPr lang="ru-RU" b="1" dirty="0" smtClean="0"/>
              <a:t>императора</a:t>
            </a:r>
            <a:endParaRPr lang="ru-RU" b="1" dirty="0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457200" y="2438400"/>
            <a:ext cx="3931920" cy="2070720"/>
          </a:xfrm>
        </p:spPr>
        <p:txBody>
          <a:bodyPr>
            <a:normAutofit fontScale="92500"/>
          </a:bodyPr>
          <a:lstStyle/>
          <a:p>
            <a:r>
              <a:rPr lang="ru-RU" dirty="0" smtClean="0"/>
              <a:t>Предложение С.Ю. Витте ликвидировать крестьянскую общину и создать слой самостоятельных хозяев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14"/>
          </p:nvPr>
        </p:nvSpPr>
        <p:spPr>
          <a:xfrm>
            <a:off x="4754880" y="1844824"/>
            <a:ext cx="3931920" cy="388843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Предначертанные нами труды по пересмотру законодательства о сельском </a:t>
            </a:r>
            <a:r>
              <a:rPr lang="ru-RU" dirty="0" smtClean="0"/>
              <a:t>состоянии … </a:t>
            </a:r>
            <a:r>
              <a:rPr lang="ru-RU" dirty="0"/>
              <a:t>передать на места для дальнейшей их разработки и согласования с местными особенностями в  губернских совещаниях, при ближайшем  участии достойнейших деятелей, доверием общественным облеченных. В основу сих трудов положить </a:t>
            </a:r>
            <a:r>
              <a:rPr lang="ru-RU" b="1" dirty="0"/>
              <a:t>неприкосновенность  общинного строя крестьянского землевладения</a:t>
            </a:r>
            <a:r>
              <a:rPr lang="ru-RU" dirty="0"/>
              <a:t>, изыскав одновременно способы к облегчению отдельным крестьянам выхода из общины.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755576" y="4797152"/>
            <a:ext cx="2448272" cy="1512168"/>
          </a:xfrm>
          <a:prstGeom prst="roundRect">
            <a:avLst/>
          </a:prstGeom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Стратегия: ничего не менять, «совершенствуя» то, что есть.</a:t>
            </a:r>
            <a:endParaRPr lang="ru-RU" dirty="0"/>
          </a:p>
        </p:txBody>
      </p:sp>
      <p:sp>
        <p:nvSpPr>
          <p:cNvPr id="8" name="Стрелка вниз 7"/>
          <p:cNvSpPr/>
          <p:nvPr/>
        </p:nvSpPr>
        <p:spPr>
          <a:xfrm rot="5400000">
            <a:off x="3887924" y="4833156"/>
            <a:ext cx="432048" cy="1224136"/>
          </a:xfrm>
          <a:prstGeom prst="downArrow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5092304" y="5877272"/>
            <a:ext cx="3816424" cy="64807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Высочайший Манифест </a:t>
            </a:r>
            <a:r>
              <a:rPr lang="ru-RU" dirty="0" smtClean="0"/>
              <a:t>от</a:t>
            </a:r>
          </a:p>
          <a:p>
            <a:pPr algn="ctr"/>
            <a:r>
              <a:rPr lang="ru-RU" dirty="0" smtClean="0"/>
              <a:t>26 </a:t>
            </a:r>
            <a:r>
              <a:rPr lang="ru-RU" dirty="0"/>
              <a:t>февраля 1903 года</a:t>
            </a:r>
          </a:p>
        </p:txBody>
      </p:sp>
    </p:spTree>
    <p:extLst>
      <p:ext uri="{BB962C8B-B14F-4D97-AF65-F5344CB8AC3E}">
        <p14:creationId xmlns:p14="http://schemas.microsoft.com/office/powerpoint/2010/main" val="2874222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720080"/>
          </a:xfrm>
        </p:spPr>
        <p:txBody>
          <a:bodyPr>
            <a:normAutofit fontScale="90000"/>
          </a:bodyPr>
          <a:lstStyle/>
          <a:p>
            <a:r>
              <a:rPr lang="ru-RU" sz="2800" dirty="0" smtClean="0"/>
              <a:t>Последствия принятых стратегических решений:</a:t>
            </a:r>
            <a:endParaRPr lang="ru-RU" sz="28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67544" y="908720"/>
            <a:ext cx="3931920" cy="432048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Приметы кризиса.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716016" y="980728"/>
            <a:ext cx="3931920" cy="360040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Реакция власти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457200" y="1412776"/>
            <a:ext cx="3931920" cy="4608512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Спад промышленного производства (первый мировой кризис перепроизводства) с 1899 г.</a:t>
            </a:r>
          </a:p>
          <a:p>
            <a:r>
              <a:rPr lang="ru-RU" dirty="0" smtClean="0"/>
              <a:t>Неурожай 1902-1903 гг.</a:t>
            </a:r>
          </a:p>
          <a:p>
            <a:r>
              <a:rPr lang="ru-RU" dirty="0" smtClean="0"/>
              <a:t>Захваты крестьянами пустующих помещичьих земель.</a:t>
            </a:r>
          </a:p>
          <a:p>
            <a:r>
              <a:rPr lang="ru-RU" dirty="0" smtClean="0"/>
              <a:t>Распространение политических лозунгов в забастовках.</a:t>
            </a:r>
          </a:p>
          <a:p>
            <a:r>
              <a:rPr lang="ru-RU" dirty="0" smtClean="0"/>
              <a:t>Борьба студентов за права самоуправления.</a:t>
            </a:r>
          </a:p>
          <a:p>
            <a:r>
              <a:rPr lang="ru-RU" dirty="0" smtClean="0"/>
              <a:t>«</a:t>
            </a:r>
            <a:r>
              <a:rPr lang="ru-RU" dirty="0"/>
              <a:t>Б</a:t>
            </a:r>
            <a:r>
              <a:rPr lang="ru-RU" dirty="0" smtClean="0"/>
              <a:t>анкетная кампания» 1904 г.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14"/>
          </p:nvPr>
        </p:nvSpPr>
        <p:spPr>
          <a:xfrm>
            <a:off x="4716016" y="1412776"/>
            <a:ext cx="3931920" cy="4320480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Усиление государственных дотаций крупным предприятиям.</a:t>
            </a:r>
          </a:p>
          <a:p>
            <a:r>
              <a:rPr lang="ru-RU" dirty="0" smtClean="0"/>
              <a:t>Административные попытки сдержать рост цен.</a:t>
            </a:r>
          </a:p>
          <a:p>
            <a:r>
              <a:rPr lang="ru-RU" dirty="0" smtClean="0"/>
              <a:t>Защита прав землевладельцев с помощью армии.</a:t>
            </a:r>
          </a:p>
          <a:p>
            <a:r>
              <a:rPr lang="ru-RU" dirty="0" smtClean="0"/>
              <a:t>Полицейский социализм для рабочих.</a:t>
            </a:r>
          </a:p>
          <a:p>
            <a:r>
              <a:rPr lang="ru-RU" dirty="0" smtClean="0"/>
              <a:t>Отдача 183 киевских студентов в солдаты (1901 г.)</a:t>
            </a:r>
          </a:p>
          <a:p>
            <a:r>
              <a:rPr lang="ru-RU" dirty="0" smtClean="0"/>
              <a:t>«</a:t>
            </a:r>
            <a:r>
              <a:rPr lang="ru-RU" dirty="0"/>
              <a:t>М</a:t>
            </a:r>
            <a:r>
              <a:rPr lang="ru-RU" dirty="0" smtClean="0"/>
              <a:t>аленькая победоносная война» - русско-японская (с 27января 1904 г.)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1835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72008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ru-RU" sz="3200" dirty="0" smtClean="0"/>
              <a:t>Начало периода империалистических войн</a:t>
            </a:r>
            <a:endParaRPr lang="ru-RU" sz="32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27584" y="1535113"/>
            <a:ext cx="3669804" cy="453727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Англо-бурская война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788024" y="1535113"/>
            <a:ext cx="3898776" cy="381719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Испано-Американская война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457200" y="2174875"/>
            <a:ext cx="4040188" cy="3774405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1867 – на границе Оранжевой республики и Капской колонии найдены алмазы. Создана компания Де </a:t>
            </a:r>
            <a:r>
              <a:rPr lang="ru-RU" dirty="0" err="1" smtClean="0"/>
              <a:t>Бирс</a:t>
            </a:r>
            <a:r>
              <a:rPr lang="ru-RU" dirty="0" smtClean="0"/>
              <a:t>.</a:t>
            </a:r>
          </a:p>
          <a:p>
            <a:r>
              <a:rPr lang="ru-RU" dirty="0" smtClean="0"/>
              <a:t>1886 в Трансваале найдено золото. Появление </a:t>
            </a:r>
            <a:r>
              <a:rPr lang="ru-RU" dirty="0" err="1" smtClean="0"/>
              <a:t>ойтлендеров</a:t>
            </a:r>
            <a:r>
              <a:rPr lang="ru-RU" dirty="0" smtClean="0"/>
              <a:t> – добытчиков золота.</a:t>
            </a:r>
          </a:p>
          <a:p>
            <a:r>
              <a:rPr lang="ru-RU" dirty="0" smtClean="0"/>
              <a:t>1899-1900 захват британцами Трансвааля и Оранжевой, создание концлагерей.</a:t>
            </a:r>
          </a:p>
          <a:p>
            <a:r>
              <a:rPr lang="ru-RU" dirty="0" smtClean="0"/>
              <a:t>Июнь 1900 – май 1902 – партизанская война буров.</a:t>
            </a:r>
          </a:p>
          <a:p>
            <a:r>
              <a:rPr lang="ru-RU" dirty="0" smtClean="0"/>
              <a:t>1910 – создание Южно-Африканского союза.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14"/>
          </p:nvPr>
        </p:nvSpPr>
        <p:spPr>
          <a:xfrm>
            <a:off x="4645025" y="2060849"/>
            <a:ext cx="4041775" cy="3888432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1895 – </a:t>
            </a:r>
            <a:r>
              <a:rPr lang="ru-RU" dirty="0" err="1" smtClean="0"/>
              <a:t>антииспанское</a:t>
            </a:r>
            <a:r>
              <a:rPr lang="ru-RU" dirty="0" smtClean="0"/>
              <a:t> восстание на Кубе, в 1896 – на Филиппинах.</a:t>
            </a:r>
          </a:p>
          <a:p>
            <a:r>
              <a:rPr lang="ru-RU" dirty="0" smtClean="0"/>
              <a:t>Февраль 1898 – подрыв американского броненосца «Мэн» у берегов Кубы, начало морской блокады Кубы.</a:t>
            </a:r>
          </a:p>
          <a:p>
            <a:r>
              <a:rPr lang="ru-RU" dirty="0" smtClean="0"/>
              <a:t>Весна – лето  1898 – захват Кубы, Филиппин, Гуама и Пуэрто-Рико.</a:t>
            </a:r>
          </a:p>
          <a:p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1115616" y="6093296"/>
            <a:ext cx="7344816" cy="57606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Содержание периода – насильственный передел мира с целью обеспечить благоприятные возможности для «вывоза капитала».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4278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sz="3200" dirty="0" smtClean="0"/>
              <a:t>Русско-японская война: предыстория</a:t>
            </a:r>
            <a:endParaRPr lang="ru-RU" sz="3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980728"/>
            <a:ext cx="7646627" cy="4799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Скругленный прямоугольник 2"/>
          <p:cNvSpPr/>
          <p:nvPr/>
        </p:nvSpPr>
        <p:spPr>
          <a:xfrm>
            <a:off x="1979712" y="5949280"/>
            <a:ext cx="5256584" cy="5040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КВЖД.</a:t>
            </a:r>
            <a:r>
              <a:rPr lang="en-US" dirty="0" smtClean="0"/>
              <a:t>  </a:t>
            </a:r>
            <a:r>
              <a:rPr lang="ru-RU" dirty="0" smtClean="0"/>
              <a:t>Открыта в 1903 г.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1268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Autofit/>
          </a:bodyPr>
          <a:lstStyle/>
          <a:p>
            <a:r>
              <a:rPr lang="ru-RU" sz="2800" dirty="0" smtClean="0"/>
              <a:t>Порт-Артур и Дальний: обсуждение 1897 г.</a:t>
            </a:r>
            <a:endParaRPr lang="ru-RU" sz="28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67544" y="1052736"/>
            <a:ext cx="4040188" cy="360040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М.Н. Муравьев: (</a:t>
            </a:r>
            <a:r>
              <a:rPr lang="ru-RU" dirty="0" err="1" smtClean="0"/>
              <a:t>мид</a:t>
            </a:r>
            <a:r>
              <a:rPr lang="ru-RU" dirty="0" smtClean="0"/>
              <a:t>)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4008" y="1052736"/>
            <a:ext cx="4041775" cy="360040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С.Ю. Витте: (</a:t>
            </a:r>
            <a:r>
              <a:rPr lang="ru-RU" dirty="0" err="1" smtClean="0"/>
              <a:t>минфин</a:t>
            </a:r>
            <a:r>
              <a:rPr lang="ru-RU" dirty="0" smtClean="0"/>
              <a:t>)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457200" y="1484784"/>
            <a:ext cx="4040188" cy="4641379"/>
          </a:xfrm>
        </p:spPr>
        <p:txBody>
          <a:bodyPr/>
          <a:lstStyle/>
          <a:p>
            <a:r>
              <a:rPr lang="ru-RU" dirty="0" smtClean="0"/>
              <a:t>«Весьма </a:t>
            </a:r>
            <a:r>
              <a:rPr lang="ru-RU" dirty="0"/>
              <a:t>своевременным, так как для России было бы желательно иметь порт на Тихом океане на дальнем востоке, причем порты эти… по стратегическому своему положению являются местами, которые имеют громадное значение</a:t>
            </a:r>
            <a:r>
              <a:rPr lang="ru-RU" dirty="0" smtClean="0"/>
              <a:t>».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14"/>
          </p:nvPr>
        </p:nvSpPr>
        <p:spPr>
          <a:xfrm>
            <a:off x="4645025" y="1412776"/>
            <a:ext cx="4247455" cy="4680519"/>
          </a:xfrm>
        </p:spPr>
        <p:txBody>
          <a:bodyPr>
            <a:noAutofit/>
          </a:bodyPr>
          <a:lstStyle/>
          <a:p>
            <a:r>
              <a:rPr lang="ru-RU" sz="1800" dirty="0"/>
              <a:t>После того как </a:t>
            </a:r>
            <a:r>
              <a:rPr lang="ru-RU" sz="1800" dirty="0" smtClean="0"/>
              <a:t>«</a:t>
            </a:r>
            <a:r>
              <a:rPr lang="ru-RU" sz="1800" dirty="0"/>
              <a:t>обязались защищать Китай от всяких поползновений Японии занять какую-либо часть китайской территории… </a:t>
            </a:r>
            <a:r>
              <a:rPr lang="ru-RU" sz="1800" dirty="0" smtClean="0"/>
              <a:t>подобного </a:t>
            </a:r>
            <a:r>
              <a:rPr lang="ru-RU" sz="1800" dirty="0"/>
              <a:t>рода захват явился бы мерою возмутительною и в высокой степени коварною… </a:t>
            </a:r>
            <a:r>
              <a:rPr lang="ru-RU" sz="1800" dirty="0" smtClean="0"/>
              <a:t>Занятие </a:t>
            </a:r>
            <a:r>
              <a:rPr lang="ru-RU" sz="1800" dirty="0"/>
              <a:t>Порт-Артура или Да-</a:t>
            </a:r>
            <a:r>
              <a:rPr lang="ru-RU" sz="1800" dirty="0" err="1"/>
              <a:t>лянь</a:t>
            </a:r>
            <a:r>
              <a:rPr lang="ru-RU" sz="1800" dirty="0"/>
              <a:t>-</a:t>
            </a:r>
            <a:r>
              <a:rPr lang="ru-RU" sz="1800" dirty="0" err="1"/>
              <a:t>вана</a:t>
            </a:r>
            <a:r>
              <a:rPr lang="ru-RU" sz="1800" dirty="0"/>
              <a:t> несомненно возбудит Китай и из страны крайне к нам расположенной и дружественной сделает страну нас ненавидящую, вследствие нашего коварства».</a:t>
            </a:r>
          </a:p>
        </p:txBody>
      </p:sp>
    </p:spTree>
    <p:extLst>
      <p:ext uri="{BB962C8B-B14F-4D97-AF65-F5344CB8AC3E}">
        <p14:creationId xmlns:p14="http://schemas.microsoft.com/office/powerpoint/2010/main" val="2730693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Autofit/>
          </a:bodyPr>
          <a:lstStyle/>
          <a:p>
            <a:r>
              <a:rPr lang="ru-RU" sz="2800" dirty="0" smtClean="0"/>
              <a:t>«Самодержавное» решение: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283968" y="1124744"/>
            <a:ext cx="4402832" cy="46447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 smtClean="0"/>
              <a:t>«А </a:t>
            </a:r>
            <a:r>
              <a:rPr lang="ru-RU" sz="2000" dirty="0"/>
              <a:t>знаете ли, Сергей Юльевич, я решил взять Порт-Артур и Да-</a:t>
            </a:r>
            <a:r>
              <a:rPr lang="ru-RU" sz="2000" dirty="0" err="1"/>
              <a:t>лянь</a:t>
            </a:r>
            <a:r>
              <a:rPr lang="ru-RU" sz="2000" dirty="0"/>
              <a:t>-</a:t>
            </a:r>
            <a:r>
              <a:rPr lang="ru-RU" sz="2000" dirty="0" err="1"/>
              <a:t>ван</a:t>
            </a:r>
            <a:r>
              <a:rPr lang="ru-RU" sz="2000" dirty="0"/>
              <a:t> и направил уже туда нашу флотилию с военной силой, — причем прибавил: — Я это сделал потому, что министр иностранных дел мне доложил после заседания, что, по его сведениям, английские суда крейсируют в местностях около Порт-Артура и Да-</a:t>
            </a:r>
            <a:r>
              <a:rPr lang="ru-RU" sz="2000" dirty="0" err="1"/>
              <a:t>лянь</a:t>
            </a:r>
            <a:r>
              <a:rPr lang="ru-RU" sz="2000" dirty="0"/>
              <a:t>-</a:t>
            </a:r>
            <a:r>
              <a:rPr lang="ru-RU" sz="2000" dirty="0" err="1"/>
              <a:t>ван</a:t>
            </a:r>
            <a:r>
              <a:rPr lang="ru-RU" sz="2000" dirty="0"/>
              <a:t> и что, если мы не захватим эти порты, то их захватят </a:t>
            </a:r>
            <a:r>
              <a:rPr lang="ru-RU" sz="2000" dirty="0" smtClean="0"/>
              <a:t>англичане».</a:t>
            </a:r>
            <a:endParaRPr lang="ru-RU" sz="2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052736"/>
            <a:ext cx="1728192" cy="2282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3619714"/>
            <a:ext cx="1601862" cy="2149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619714"/>
            <a:ext cx="1654800" cy="2149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6964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75240" cy="418058"/>
          </a:xfrm>
        </p:spPr>
        <p:txBody>
          <a:bodyPr>
            <a:normAutofit fontScale="90000"/>
          </a:bodyPr>
          <a:lstStyle/>
          <a:p>
            <a:r>
              <a:rPr lang="ru-RU" sz="2800" dirty="0" smtClean="0"/>
              <a:t>Театр Военных действий и ход войны</a:t>
            </a:r>
            <a:endParaRPr lang="ru-RU" sz="2800" dirty="0"/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5436096" y="908720"/>
            <a:ext cx="3250704" cy="521744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09.02.1904. </a:t>
            </a:r>
            <a:r>
              <a:rPr lang="ru-RU" dirty="0" smtClean="0"/>
              <a:t>бой </a:t>
            </a:r>
            <a:r>
              <a:rPr lang="ru-RU" dirty="0"/>
              <a:t>крейсера «Варяг»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27.02.1904</a:t>
            </a:r>
            <a:r>
              <a:rPr lang="ru-RU" dirty="0"/>
              <a:t>. Японский флот атаковал российскую военную базу Порт-Артур без объявления войны.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Апрель </a:t>
            </a:r>
            <a:r>
              <a:rPr lang="ru-RU" dirty="0"/>
              <a:t>1904. Столкновение армий на </a:t>
            </a:r>
            <a:r>
              <a:rPr lang="ru-RU" dirty="0" smtClean="0"/>
              <a:t>суше</a:t>
            </a:r>
            <a:endParaRPr lang="ru-RU" dirty="0"/>
          </a:p>
          <a:p>
            <a:pPr marL="0" indent="0">
              <a:buNone/>
            </a:pPr>
            <a:r>
              <a:rPr lang="ru-RU" dirty="0" smtClean="0"/>
              <a:t>Май </a:t>
            </a:r>
            <a:r>
              <a:rPr lang="ru-RU" dirty="0"/>
              <a:t>1904. Взятие японцами порта Дальний.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Август </a:t>
            </a:r>
            <a:r>
              <a:rPr lang="ru-RU" dirty="0"/>
              <a:t>1904. </a:t>
            </a:r>
            <a:r>
              <a:rPr lang="ru-RU" dirty="0" smtClean="0"/>
              <a:t>Сражение при </a:t>
            </a:r>
            <a:r>
              <a:rPr lang="ru-RU" dirty="0" err="1" smtClean="0"/>
              <a:t>Лаоляне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 smtClean="0"/>
              <a:t>Сентябрь-октябрь 1905. Сражение при </a:t>
            </a:r>
            <a:r>
              <a:rPr lang="ru-RU" dirty="0" err="1" smtClean="0"/>
              <a:t>Мукдене</a:t>
            </a:r>
            <a:r>
              <a:rPr lang="ru-RU" dirty="0" smtClean="0"/>
              <a:t>. </a:t>
            </a:r>
          </a:p>
          <a:p>
            <a:pPr marL="0" indent="0">
              <a:buNone/>
            </a:pPr>
            <a:r>
              <a:rPr lang="ru-RU" dirty="0" smtClean="0"/>
              <a:t>Январь </a:t>
            </a:r>
            <a:r>
              <a:rPr lang="ru-RU" dirty="0"/>
              <a:t>1905. Сдача Порт-Артура </a:t>
            </a:r>
            <a:r>
              <a:rPr lang="ru-RU" dirty="0" err="1"/>
              <a:t>Стесселем</a:t>
            </a:r>
            <a:r>
              <a:rPr lang="ru-RU" dirty="0"/>
              <a:t>.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Май </a:t>
            </a:r>
            <a:r>
              <a:rPr lang="ru-RU" dirty="0"/>
              <a:t>1905. Морской бой под Цусимой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Июль </a:t>
            </a:r>
            <a:r>
              <a:rPr lang="ru-RU" dirty="0"/>
              <a:t>1905. Вторжение японских войск на Сахалин. </a:t>
            </a: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099" name="Picture 3" descr="D:\Pictures\Picasa\Screen Captures\ВНЕШНЯЯ ПОЛИТИКА. РУССКО-ЯПОНСКАЯ ВОЙНА. Полные уроки — Гипермаркет знаний — Яндекс.Браузер 12.02.2017 114744.bmp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908720"/>
            <a:ext cx="5065585" cy="5105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496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err="1" smtClean="0"/>
              <a:t>Портсмутский</a:t>
            </a:r>
            <a:r>
              <a:rPr lang="ru-RU" sz="3200" dirty="0" smtClean="0"/>
              <a:t> мирный договор </a:t>
            </a:r>
            <a:r>
              <a:rPr lang="ru-RU" sz="3200" dirty="0"/>
              <a:t>(23.08.1905</a:t>
            </a:r>
            <a:r>
              <a:rPr lang="ru-RU" sz="3200" dirty="0" smtClean="0"/>
              <a:t>)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sz="half" idx="2"/>
          </p:nvPr>
        </p:nvSpPr>
        <p:spPr>
          <a:xfrm>
            <a:off x="179512" y="1587177"/>
            <a:ext cx="40386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Россия </a:t>
            </a:r>
            <a:r>
              <a:rPr lang="ru-RU" b="1" dirty="0" smtClean="0"/>
              <a:t>обязана: </a:t>
            </a:r>
          </a:p>
          <a:p>
            <a:r>
              <a:rPr lang="ru-RU" dirty="0" smtClean="0"/>
              <a:t>Отказаться </a:t>
            </a:r>
            <a:r>
              <a:rPr lang="ru-RU" dirty="0"/>
              <a:t>от притязаний на </a:t>
            </a:r>
            <a:r>
              <a:rPr lang="ru-RU" dirty="0" smtClean="0"/>
              <a:t>Маньчжурию.</a:t>
            </a:r>
          </a:p>
          <a:p>
            <a:r>
              <a:rPr lang="ru-RU" dirty="0" smtClean="0"/>
              <a:t>Отказаться </a:t>
            </a:r>
            <a:r>
              <a:rPr lang="ru-RU" dirty="0"/>
              <a:t>в пользу Японии от Курильских островов и половины острова Сахалин. </a:t>
            </a:r>
            <a:endParaRPr lang="ru-RU" dirty="0" smtClean="0"/>
          </a:p>
          <a:p>
            <a:r>
              <a:rPr lang="ru-RU" dirty="0" smtClean="0"/>
              <a:t>Признать </a:t>
            </a:r>
            <a:r>
              <a:rPr lang="ru-RU" dirty="0"/>
              <a:t>за Японией право на </a:t>
            </a:r>
            <a:r>
              <a:rPr lang="ru-RU" dirty="0" smtClean="0"/>
              <a:t>Корею.</a:t>
            </a:r>
          </a:p>
          <a:p>
            <a:r>
              <a:rPr lang="ru-RU" dirty="0" smtClean="0"/>
              <a:t>Передать </a:t>
            </a:r>
            <a:r>
              <a:rPr lang="ru-RU" dirty="0"/>
              <a:t>Японии право на аренду </a:t>
            </a:r>
            <a:r>
              <a:rPr lang="ru-RU" dirty="0" smtClean="0"/>
              <a:t>Порт-Артура.</a:t>
            </a:r>
          </a:p>
          <a:p>
            <a:r>
              <a:rPr lang="ru-RU" dirty="0" smtClean="0"/>
              <a:t>Выплатить </a:t>
            </a:r>
            <a:r>
              <a:rPr lang="ru-RU" dirty="0"/>
              <a:t>Японии контрибуцию за «содержание пленных</a:t>
            </a:r>
            <a:r>
              <a:rPr lang="ru-RU" dirty="0" smtClean="0"/>
              <a:t>».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4648200" y="1600201"/>
            <a:ext cx="4038600" cy="18288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 smtClean="0"/>
              <a:t>Россия сохраняет:</a:t>
            </a:r>
          </a:p>
          <a:p>
            <a:r>
              <a:rPr lang="ru-RU" dirty="0" smtClean="0"/>
              <a:t>Контроль над КВЖД</a:t>
            </a:r>
            <a:endParaRPr lang="en-US" dirty="0" smtClean="0"/>
          </a:p>
          <a:p>
            <a:r>
              <a:rPr lang="ru-RU" dirty="0" smtClean="0"/>
              <a:t>Северную часть о. Сахалин.</a:t>
            </a:r>
          </a:p>
          <a:p>
            <a:r>
              <a:rPr lang="ru-RU" dirty="0" smtClean="0"/>
              <a:t>Право держать флот на Дальнем Востоке.</a:t>
            </a:r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3789040"/>
            <a:ext cx="4000500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2467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792088"/>
          </a:xfrm>
        </p:spPr>
        <p:txBody>
          <a:bodyPr/>
          <a:lstStyle/>
          <a:p>
            <a:r>
              <a:rPr lang="ru-RU" sz="3200" dirty="0" smtClean="0"/>
              <a:t>«Полицейский социализм»</a:t>
            </a:r>
            <a:endParaRPr lang="ru-RU" sz="3200" dirty="0"/>
          </a:p>
        </p:txBody>
      </p:sp>
      <p:sp>
        <p:nvSpPr>
          <p:cNvPr id="11" name="Текст 10"/>
          <p:cNvSpPr>
            <a:spLocks noGrp="1"/>
          </p:cNvSpPr>
          <p:nvPr>
            <p:ph type="body" idx="1"/>
          </p:nvPr>
        </p:nvSpPr>
        <p:spPr>
          <a:xfrm>
            <a:off x="4645025" y="1535113"/>
            <a:ext cx="4041775" cy="381719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Проявления:</a:t>
            </a:r>
            <a:endParaRPr lang="ru-RU" dirty="0"/>
          </a:p>
        </p:txBody>
      </p:sp>
      <p:sp>
        <p:nvSpPr>
          <p:cNvPr id="10" name="Объект 9"/>
          <p:cNvSpPr>
            <a:spLocks noGrp="1"/>
          </p:cNvSpPr>
          <p:nvPr>
            <p:ph sz="quarter" idx="13"/>
          </p:nvPr>
        </p:nvSpPr>
        <p:spPr>
          <a:xfrm>
            <a:off x="457200" y="1340769"/>
            <a:ext cx="3250704" cy="1152127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Автор: С.В. </a:t>
            </a:r>
            <a:r>
              <a:rPr lang="ru-RU" dirty="0" err="1" smtClean="0"/>
              <a:t>Зубатов</a:t>
            </a:r>
            <a:r>
              <a:rPr lang="ru-RU" dirty="0" smtClean="0"/>
              <a:t>, начальник Московского охранного отделения </a:t>
            </a:r>
            <a:endParaRPr lang="ru-RU" dirty="0"/>
          </a:p>
        </p:txBody>
      </p:sp>
      <p:sp>
        <p:nvSpPr>
          <p:cNvPr id="12" name="Объект 11"/>
          <p:cNvSpPr>
            <a:spLocks noGrp="1"/>
          </p:cNvSpPr>
          <p:nvPr>
            <p:ph sz="quarter" idx="14"/>
          </p:nvPr>
        </p:nvSpPr>
        <p:spPr>
          <a:xfrm>
            <a:off x="4645025" y="1988840"/>
            <a:ext cx="4041775" cy="4137323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Создание рабочих организаций под контролем полиции.</a:t>
            </a:r>
          </a:p>
          <a:p>
            <a:r>
              <a:rPr lang="ru-RU" dirty="0" smtClean="0"/>
              <a:t>Внедрение полицейских агентов-провокаторов в революционные организация.</a:t>
            </a:r>
          </a:p>
          <a:p>
            <a:r>
              <a:rPr lang="ru-RU" dirty="0" smtClean="0"/>
              <a:t>Провокация революционеров на выступления, с последующими репрессиями.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754" y="2348880"/>
            <a:ext cx="2869992" cy="3805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1745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936104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ru-RU" sz="2800" dirty="0" smtClean="0"/>
              <a:t>Создание революционных партий.</a:t>
            </a:r>
            <a:br>
              <a:rPr lang="ru-RU" sz="2800" dirty="0" smtClean="0"/>
            </a:br>
            <a:r>
              <a:rPr lang="ru-RU" sz="2800" dirty="0" smtClean="0"/>
              <a:t>Партия социалистов-революционеров</a:t>
            </a:r>
            <a:endParaRPr lang="ru-RU" sz="2800" dirty="0"/>
          </a:p>
        </p:txBody>
      </p:sp>
      <p:sp>
        <p:nvSpPr>
          <p:cNvPr id="10" name="Текст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За границей</a:t>
            </a:r>
            <a:endParaRPr lang="ru-RU" dirty="0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 smtClean="0"/>
              <a:t>В России:</a:t>
            </a:r>
            <a:endParaRPr lang="ru-RU" dirty="0"/>
          </a:p>
        </p:txBody>
      </p:sp>
      <p:sp>
        <p:nvSpPr>
          <p:cNvPr id="11" name="Объект 10"/>
          <p:cNvSpPr>
            <a:spLocks noGrp="1"/>
          </p:cNvSpPr>
          <p:nvPr>
            <p:ph sz="quarter" idx="13"/>
          </p:nvPr>
        </p:nvSpPr>
        <p:spPr>
          <a:xfrm>
            <a:off x="457200" y="2174875"/>
            <a:ext cx="4040188" cy="1990692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Кружок старых народовольцев.</a:t>
            </a:r>
          </a:p>
          <a:p>
            <a:r>
              <a:rPr lang="ru-RU" dirty="0" smtClean="0"/>
              <a:t>Фонд вольной русской прессы.</a:t>
            </a:r>
          </a:p>
          <a:p>
            <a:r>
              <a:rPr lang="ru-RU" dirty="0" smtClean="0"/>
              <a:t>Аграрно-социалистическая лига</a:t>
            </a:r>
            <a:endParaRPr lang="ru-RU" dirty="0"/>
          </a:p>
        </p:txBody>
      </p:sp>
      <p:sp>
        <p:nvSpPr>
          <p:cNvPr id="13" name="Объект 12"/>
          <p:cNvSpPr>
            <a:spLocks noGrp="1"/>
          </p:cNvSpPr>
          <p:nvPr>
            <p:ph sz="quarter" idx="14"/>
          </p:nvPr>
        </p:nvSpPr>
        <p:spPr>
          <a:xfrm>
            <a:off x="4645025" y="2174875"/>
            <a:ext cx="4041775" cy="2063463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Северный союз социалистов-революционеров (1897, Москва)</a:t>
            </a:r>
          </a:p>
          <a:p>
            <a:r>
              <a:rPr lang="ru-RU" dirty="0" smtClean="0"/>
              <a:t>Южный союз социалистов-революционеров (1900)</a:t>
            </a:r>
          </a:p>
          <a:p>
            <a:r>
              <a:rPr lang="ru-RU" dirty="0" smtClean="0"/>
              <a:t>Союз эсеров (1901)</a:t>
            </a:r>
            <a:endParaRPr lang="ru-RU" dirty="0"/>
          </a:p>
        </p:txBody>
      </p:sp>
      <p:sp>
        <p:nvSpPr>
          <p:cNvPr id="14" name="Овал 13"/>
          <p:cNvSpPr/>
          <p:nvPr/>
        </p:nvSpPr>
        <p:spPr>
          <a:xfrm>
            <a:off x="1907704" y="4437112"/>
            <a:ext cx="5688632" cy="10081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Газета «Революционная Россия»</a:t>
            </a:r>
            <a:endParaRPr lang="ru-RU" dirty="0"/>
          </a:p>
        </p:txBody>
      </p:sp>
      <p:sp>
        <p:nvSpPr>
          <p:cNvPr id="15" name="Стрелка углом вверх 14"/>
          <p:cNvSpPr/>
          <p:nvPr/>
        </p:nvSpPr>
        <p:spPr>
          <a:xfrm rot="10800000">
            <a:off x="4300031" y="3623768"/>
            <a:ext cx="765890" cy="612200"/>
          </a:xfrm>
          <a:prstGeom prst="bentUp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елка вправо 15"/>
          <p:cNvSpPr/>
          <p:nvPr/>
        </p:nvSpPr>
        <p:spPr>
          <a:xfrm rot="2536628">
            <a:off x="1158090" y="4238345"/>
            <a:ext cx="1158304" cy="360040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трелка вниз 16"/>
          <p:cNvSpPr/>
          <p:nvPr/>
        </p:nvSpPr>
        <p:spPr>
          <a:xfrm>
            <a:off x="4572000" y="5589240"/>
            <a:ext cx="493921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1331640" y="6138038"/>
            <a:ext cx="7416824" cy="60333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Объявление о создании «Партии Социалистов-Революционеров»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9730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Боевая организация  ПСР</a:t>
            </a:r>
            <a:endParaRPr lang="ru-RU" dirty="0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457200" y="1600200"/>
            <a:ext cx="4546848" cy="4181685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1902 – убийство министра внутренних дел Д.</a:t>
            </a:r>
            <a:r>
              <a:rPr lang="ru-RU" dirty="0"/>
              <a:t> С.</a:t>
            </a:r>
            <a:r>
              <a:rPr lang="ru-RU" dirty="0" smtClean="0"/>
              <a:t> Сипягина</a:t>
            </a:r>
            <a:r>
              <a:rPr lang="ru-RU" dirty="0"/>
              <a:t> </a:t>
            </a:r>
            <a:r>
              <a:rPr lang="ru-RU" dirty="0" smtClean="0"/>
              <a:t>и покушение на Харьковского губернатора И.М. Оболенского</a:t>
            </a:r>
          </a:p>
          <a:p>
            <a:r>
              <a:rPr lang="ru-RU" dirty="0" smtClean="0"/>
              <a:t>1903 – убийство Уфимского губернатора И.М. Богдановича</a:t>
            </a:r>
          </a:p>
          <a:p>
            <a:r>
              <a:rPr lang="ru-RU" dirty="0" smtClean="0"/>
              <a:t>1904 –  убийство </a:t>
            </a:r>
            <a:r>
              <a:rPr lang="ru-RU" dirty="0" err="1" smtClean="0"/>
              <a:t>мвд</a:t>
            </a:r>
            <a:r>
              <a:rPr lang="ru-RU" dirty="0" smtClean="0"/>
              <a:t> В. фон Плеве</a:t>
            </a:r>
          </a:p>
          <a:p>
            <a:r>
              <a:rPr lang="ru-RU" smtClean="0"/>
              <a:t>1905 </a:t>
            </a:r>
            <a:r>
              <a:rPr lang="ru-RU" dirty="0" smtClean="0"/>
              <a:t>– убийство </a:t>
            </a:r>
            <a:r>
              <a:rPr lang="ru-RU" dirty="0" err="1" smtClean="0"/>
              <a:t>в.к</a:t>
            </a:r>
            <a:r>
              <a:rPr lang="ru-RU" dirty="0" smtClean="0"/>
              <a:t>. Сергея Александровича.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1268760"/>
            <a:ext cx="1685925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Скругленный прямоугольник 8"/>
          <p:cNvSpPr/>
          <p:nvPr/>
        </p:nvSpPr>
        <p:spPr>
          <a:xfrm>
            <a:off x="7380312" y="1826345"/>
            <a:ext cx="1512168" cy="52253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Г.А. Гершуни</a:t>
            </a:r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2894261"/>
            <a:ext cx="1637312" cy="2202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Скругленный прямоугольник 9"/>
          <p:cNvSpPr/>
          <p:nvPr/>
        </p:nvSpPr>
        <p:spPr>
          <a:xfrm>
            <a:off x="5753869" y="3738469"/>
            <a:ext cx="1512168" cy="51376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Е.Ф. </a:t>
            </a:r>
            <a:r>
              <a:rPr lang="ru-RU" dirty="0" err="1" smtClean="0"/>
              <a:t>Азеф</a:t>
            </a:r>
            <a:endParaRPr lang="ru-RU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4437112"/>
            <a:ext cx="1716328" cy="2210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Скругленный прямоугольник 10"/>
          <p:cNvSpPr/>
          <p:nvPr/>
        </p:nvSpPr>
        <p:spPr>
          <a:xfrm>
            <a:off x="7380312" y="5542483"/>
            <a:ext cx="1637312" cy="47880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Б. В. Савинков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4161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3200" dirty="0"/>
              <a:t>Создание революционных партий.</a:t>
            </a:r>
            <a:br>
              <a:rPr lang="ru-RU" sz="3200" dirty="0"/>
            </a:br>
            <a:r>
              <a:rPr lang="ru-RU" sz="2800" dirty="0" smtClean="0"/>
              <a:t>Российская социал-демократическая рабочая партия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 smtClean="0"/>
              <a:t>1883 – деятели «Черного передела» во главе с Г.В. Плехановым создают организацию «Освобождение труда».</a:t>
            </a:r>
          </a:p>
          <a:p>
            <a:r>
              <a:rPr lang="ru-RU" dirty="0" smtClean="0"/>
              <a:t>1883-1887 – создание марксистских кружков </a:t>
            </a:r>
            <a:r>
              <a:rPr lang="ru-RU" dirty="0"/>
              <a:t>в России (Д. </a:t>
            </a:r>
            <a:r>
              <a:rPr lang="ru-RU" dirty="0" smtClean="0"/>
              <a:t>Благоева, П</a:t>
            </a:r>
            <a:r>
              <a:rPr lang="ru-RU" dirty="0"/>
              <a:t>. В. </a:t>
            </a:r>
            <a:r>
              <a:rPr lang="ru-RU" dirty="0" err="1"/>
              <a:t>Точисского</a:t>
            </a:r>
            <a:r>
              <a:rPr lang="ru-RU" dirty="0"/>
              <a:t> (1885—1888), </a:t>
            </a:r>
            <a:r>
              <a:rPr lang="ru-RU" dirty="0" smtClean="0"/>
              <a:t>Н</a:t>
            </a:r>
            <a:r>
              <a:rPr lang="ru-RU" dirty="0"/>
              <a:t>. Е. Федосеева </a:t>
            </a:r>
            <a:r>
              <a:rPr lang="ru-RU" dirty="0" smtClean="0"/>
              <a:t>М</a:t>
            </a:r>
            <a:r>
              <a:rPr lang="ru-RU" dirty="0"/>
              <a:t>. И. </a:t>
            </a:r>
            <a:r>
              <a:rPr lang="ru-RU" dirty="0" err="1" smtClean="0"/>
              <a:t>Бруснева</a:t>
            </a:r>
            <a:r>
              <a:rPr lang="ru-RU" dirty="0" smtClean="0"/>
              <a:t>).</a:t>
            </a:r>
          </a:p>
          <a:p>
            <a:r>
              <a:rPr lang="ru-RU" dirty="0"/>
              <a:t>1887 – создание «</a:t>
            </a:r>
            <a:r>
              <a:rPr lang="ru-RU" dirty="0" err="1" smtClean="0"/>
              <a:t>Всеобщиего</a:t>
            </a:r>
            <a:r>
              <a:rPr lang="ru-RU" dirty="0" smtClean="0"/>
              <a:t> Еврейского Рабочего Союза </a:t>
            </a:r>
            <a:r>
              <a:rPr lang="ru-RU" dirty="0"/>
              <a:t>в Литве, Польше и России», </a:t>
            </a:r>
            <a:r>
              <a:rPr lang="ru-RU" dirty="0" smtClean="0"/>
              <a:t>(«</a:t>
            </a:r>
            <a:r>
              <a:rPr lang="ru-RU" dirty="0"/>
              <a:t>Бунд</a:t>
            </a:r>
            <a:r>
              <a:rPr lang="ru-RU" dirty="0" smtClean="0"/>
              <a:t>»).</a:t>
            </a:r>
          </a:p>
          <a:p>
            <a:r>
              <a:rPr lang="ru-RU" dirty="0" smtClean="0"/>
              <a:t>1894 – появление «легального марксизма» П.Б. Струве, С.Н. Булгакова, Н.А. Бердяева, </a:t>
            </a:r>
            <a:r>
              <a:rPr lang="ru-RU" dirty="0"/>
              <a:t>М. И. </a:t>
            </a:r>
            <a:r>
              <a:rPr lang="ru-RU" dirty="0" err="1" smtClean="0"/>
              <a:t>Туган</a:t>
            </a:r>
            <a:r>
              <a:rPr lang="ru-RU" dirty="0" smtClean="0"/>
              <a:t>-Барановского и др.</a:t>
            </a:r>
          </a:p>
          <a:p>
            <a:r>
              <a:rPr lang="ru-RU" dirty="0" smtClean="0"/>
              <a:t>1895 преобразование кружка </a:t>
            </a:r>
            <a:r>
              <a:rPr lang="ru-RU" dirty="0" err="1" smtClean="0"/>
              <a:t>Бруснева</a:t>
            </a:r>
            <a:r>
              <a:rPr lang="ru-RU" dirty="0"/>
              <a:t> </a:t>
            </a:r>
            <a:r>
              <a:rPr lang="ru-RU" dirty="0" smtClean="0"/>
              <a:t>Петербургский «Союз </a:t>
            </a:r>
            <a:r>
              <a:rPr lang="ru-RU" dirty="0"/>
              <a:t>борьбы за освобождение рабочего класса</a:t>
            </a:r>
            <a:r>
              <a:rPr lang="ru-RU" dirty="0" smtClean="0"/>
              <a:t>» во главе с В.И. </a:t>
            </a:r>
            <a:r>
              <a:rPr lang="ru-RU" dirty="0" err="1" smtClean="0"/>
              <a:t>Ульяновм</a:t>
            </a:r>
            <a:r>
              <a:rPr lang="ru-RU" dirty="0"/>
              <a:t> (Лениным) и Ю.О. </a:t>
            </a:r>
            <a:r>
              <a:rPr lang="ru-RU" dirty="0" err="1" smtClean="0"/>
              <a:t>Цедербаумом</a:t>
            </a:r>
            <a:r>
              <a:rPr lang="ru-RU" dirty="0" smtClean="0"/>
              <a:t> (Мартовым).</a:t>
            </a:r>
          </a:p>
          <a:p>
            <a:r>
              <a:rPr lang="ru-RU" dirty="0" smtClean="0"/>
              <a:t>1898 – первый съезд (Минск</a:t>
            </a:r>
            <a:r>
              <a:rPr lang="ru-RU" dirty="0"/>
              <a:t>), «Манифест Российской социал-демократической рабочей партии», написанный </a:t>
            </a:r>
            <a:r>
              <a:rPr lang="ru-RU" dirty="0" smtClean="0"/>
              <a:t>П.Б. Струве.</a:t>
            </a:r>
          </a:p>
          <a:p>
            <a:r>
              <a:rPr lang="ru-RU" dirty="0" smtClean="0"/>
              <a:t>1900 – создание газеты «Искра»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2629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 smtClean="0"/>
              <a:t>II </a:t>
            </a:r>
            <a:r>
              <a:rPr lang="ru-RU" sz="2800" dirty="0" smtClean="0"/>
              <a:t>съезд РСДРП (1903)</a:t>
            </a:r>
            <a:br>
              <a:rPr lang="ru-RU" sz="2800" dirty="0" smtClean="0"/>
            </a:br>
            <a:r>
              <a:rPr lang="ru-RU" sz="2800" dirty="0" smtClean="0"/>
              <a:t>Раскол среди «искровцев» по поводу 1 п. «Устава»</a:t>
            </a:r>
            <a:endParaRPr lang="ru-RU" sz="2800" dirty="0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Вариант Мартова:</a:t>
            </a:r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 smtClean="0"/>
              <a:t>Вариант Ленина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«Принадлежащим к Российской социал-демократической рабочей партии считается всякий, кто, признавая ее программу, активно работает для проведения в жизнь ее задач под контролем и руководством органов </a:t>
            </a:r>
            <a:r>
              <a:rPr lang="ru-RU" dirty="0" smtClean="0"/>
              <a:t>партии</a:t>
            </a:r>
            <a:r>
              <a:rPr lang="ru-RU" dirty="0"/>
              <a:t>».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4"/>
          </p:nvPr>
        </p:nvSpPr>
        <p:spPr>
          <a:xfrm>
            <a:off x="4645025" y="2174875"/>
            <a:ext cx="4041775" cy="3198341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«</a:t>
            </a:r>
            <a:r>
              <a:rPr lang="ru-RU" dirty="0"/>
              <a:t>Членом партии считается всякий, признающий ее программу и поддерживающий партию как материальными средствами, так и личным участием в одной из партийных организаций».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3563888" y="5733256"/>
            <a:ext cx="5184576" cy="79208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Принята формулировка Мартова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0318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92088"/>
          </a:xfrm>
        </p:spPr>
        <p:txBody>
          <a:bodyPr>
            <a:normAutofit fontScale="90000"/>
          </a:bodyPr>
          <a:lstStyle/>
          <a:p>
            <a:r>
              <a:rPr lang="ru-RU" sz="2000" dirty="0" smtClean="0"/>
              <a:t>Главный орган управления партией: редакция газеты «Искра»</a:t>
            </a:r>
            <a:endParaRPr lang="ru-RU" sz="20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88545" y="935018"/>
            <a:ext cx="2915303" cy="609600"/>
          </a:xfrm>
        </p:spPr>
        <p:txBody>
          <a:bodyPr/>
          <a:lstStyle/>
          <a:p>
            <a:r>
              <a:rPr lang="ru-RU" sz="2000" b="1" dirty="0" smtClean="0"/>
              <a:t>Вариант Мартова:</a:t>
            </a:r>
            <a:endParaRPr lang="ru-RU" sz="2000" b="1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3573302" y="1052736"/>
            <a:ext cx="2438858" cy="491882"/>
          </a:xfrm>
        </p:spPr>
        <p:txBody>
          <a:bodyPr>
            <a:normAutofit/>
          </a:bodyPr>
          <a:lstStyle/>
          <a:p>
            <a:r>
              <a:rPr lang="ru-RU" sz="2000" b="1" dirty="0" smtClean="0"/>
              <a:t>Вариант Ленина</a:t>
            </a:r>
            <a:endParaRPr lang="ru-RU" sz="2000" b="1" dirty="0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457200" y="1916833"/>
            <a:ext cx="2458616" cy="1512168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Оставить 6 редакторов прошлого состава.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14"/>
          </p:nvPr>
        </p:nvSpPr>
        <p:spPr>
          <a:xfrm>
            <a:off x="3419872" y="1844824"/>
            <a:ext cx="3414710" cy="1440160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Оставить только троих «активных» редакторов: Плеханова, Ленина, Мартова.</a:t>
            </a:r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260934" y="3717031"/>
            <a:ext cx="3312368" cy="207991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Большинство получило предложение Ленина. С этого времени его сторонники – «большевики». Его противники – «меньшевики»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3717032"/>
            <a:ext cx="1667524" cy="2094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Скругленный прямоугольник 7"/>
          <p:cNvSpPr/>
          <p:nvPr/>
        </p:nvSpPr>
        <p:spPr>
          <a:xfrm>
            <a:off x="3923928" y="6021288"/>
            <a:ext cx="1667524" cy="43204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Г.В. Плеханов</a:t>
            </a:r>
            <a:endParaRPr lang="ru-RU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1452" y="3706591"/>
            <a:ext cx="1584176" cy="2115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Скругленный прямоугольник 8"/>
          <p:cNvSpPr/>
          <p:nvPr/>
        </p:nvSpPr>
        <p:spPr>
          <a:xfrm>
            <a:off x="5663460" y="6021288"/>
            <a:ext cx="1440159" cy="43204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В.И. Ленин</a:t>
            </a:r>
            <a:endParaRPr lang="ru-RU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9624" y="3737487"/>
            <a:ext cx="1686521" cy="1686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Скругленный прямоугольник 9"/>
          <p:cNvSpPr/>
          <p:nvPr/>
        </p:nvSpPr>
        <p:spPr>
          <a:xfrm>
            <a:off x="7317063" y="5796951"/>
            <a:ext cx="1656184" cy="43204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Ю.О. Мартов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774" y="1196750"/>
            <a:ext cx="1451742" cy="2054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1060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События января 1905 г.</a:t>
            </a:r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023098"/>
            <a:ext cx="2232248" cy="2671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2848" y="888110"/>
            <a:ext cx="3977249" cy="278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692795"/>
            <a:ext cx="3955033" cy="2732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8508" y="3692795"/>
            <a:ext cx="3710335" cy="2680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7168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126754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dirty="0" smtClean="0"/>
              <a:t>Результат курса на консервацию политического и экономического режима: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988840"/>
            <a:ext cx="8229600" cy="3989040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9 января 1905 г. – «Кровавое воскресенье» (прямое следствие политики «полицейского социализма»).</a:t>
            </a:r>
          </a:p>
          <a:p>
            <a:r>
              <a:rPr lang="ru-RU" dirty="0" smtClean="0"/>
              <a:t>Февраль – апрель: первая забастовочная волна.</a:t>
            </a:r>
          </a:p>
          <a:p>
            <a:r>
              <a:rPr lang="ru-RU" dirty="0" smtClean="0"/>
              <a:t>15 мая – первый совет рабочих депутатов (Иваново).</a:t>
            </a:r>
          </a:p>
          <a:p>
            <a:r>
              <a:rPr lang="ru-RU" dirty="0" smtClean="0"/>
              <a:t>Май - июль: массовые бунты крестьян с требованием передела земли.</a:t>
            </a:r>
          </a:p>
          <a:p>
            <a:r>
              <a:rPr lang="ru-RU" dirty="0" smtClean="0"/>
              <a:t>Июнь: восстание на броненосцах «</a:t>
            </a:r>
            <a:r>
              <a:rPr lang="ru-RU" dirty="0"/>
              <a:t>Григорий Потемкин» и </a:t>
            </a:r>
            <a:r>
              <a:rPr lang="ru-RU" dirty="0" smtClean="0"/>
              <a:t>«Георгий </a:t>
            </a:r>
            <a:r>
              <a:rPr lang="ru-RU" dirty="0"/>
              <a:t>Победоносец</a:t>
            </a:r>
            <a:r>
              <a:rPr lang="ru-RU" dirty="0" smtClean="0"/>
              <a:t>».</a:t>
            </a:r>
          </a:p>
          <a:p>
            <a:r>
              <a:rPr lang="ru-RU" dirty="0" smtClean="0"/>
              <a:t>Сентябрь: первая общегородская политическая стачка в Москве.</a:t>
            </a:r>
          </a:p>
          <a:p>
            <a:r>
              <a:rPr lang="ru-RU" dirty="0" smtClean="0"/>
              <a:t>Октябрь: всероссийская политическая стачка.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317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591344"/>
          </a:xfrm>
        </p:spPr>
        <p:txBody>
          <a:bodyPr>
            <a:normAutofit fontScale="90000"/>
          </a:bodyPr>
          <a:lstStyle/>
          <a:p>
            <a:r>
              <a:rPr lang="ru-RU" sz="2600" dirty="0" smtClean="0"/>
              <a:t>Попытка эволюции самодержавного режима</a:t>
            </a:r>
            <a:endParaRPr lang="ru-RU" sz="26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67544" y="1412776"/>
            <a:ext cx="3931920" cy="312440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 smtClean="0"/>
              <a:t>Принцип: свобода (политика)</a:t>
            </a:r>
            <a:endParaRPr lang="ru-RU" b="1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788024" y="1484784"/>
            <a:ext cx="3931920" cy="312440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 smtClean="0"/>
              <a:t>Принцип централизация</a:t>
            </a:r>
            <a:endParaRPr lang="ru-RU" b="1" dirty="0"/>
          </a:p>
        </p:txBody>
      </p:sp>
      <p:sp>
        <p:nvSpPr>
          <p:cNvPr id="4" name="Объект 3"/>
          <p:cNvSpPr>
            <a:spLocks noGrp="1"/>
          </p:cNvSpPr>
          <p:nvPr>
            <p:ph sz="quarter" idx="13"/>
          </p:nvPr>
        </p:nvSpPr>
        <p:spPr>
          <a:xfrm>
            <a:off x="457200" y="1988840"/>
            <a:ext cx="3931920" cy="3456384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ru-RU" dirty="0" smtClean="0"/>
              <a:t>Манифест 17 октября:</a:t>
            </a:r>
          </a:p>
          <a:p>
            <a:r>
              <a:rPr lang="ru-RU" dirty="0" smtClean="0"/>
              <a:t>Введение гражданских свобод.</a:t>
            </a:r>
          </a:p>
          <a:p>
            <a:r>
              <a:rPr lang="ru-RU" dirty="0" smtClean="0"/>
              <a:t>Разрешение политической деятельности.</a:t>
            </a:r>
          </a:p>
          <a:p>
            <a:r>
              <a:rPr lang="ru-RU" dirty="0" smtClean="0"/>
              <a:t>Преобразование объявленной законосовещательной думы в законодательную.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14"/>
          </p:nvPr>
        </p:nvSpPr>
        <p:spPr>
          <a:xfrm>
            <a:off x="4788024" y="1844824"/>
            <a:ext cx="3931920" cy="3600400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Сохранения за монархом права назначать правительство, руководить внешней и оборонной политикой.</a:t>
            </a:r>
          </a:p>
          <a:p>
            <a:r>
              <a:rPr lang="ru-RU" dirty="0" smtClean="0"/>
              <a:t>Подавление революционных выступлений вооруженной силой.</a:t>
            </a:r>
          </a:p>
          <a:p>
            <a:r>
              <a:rPr lang="ru-RU" dirty="0" smtClean="0"/>
              <a:t>Введение полевых судов.</a:t>
            </a:r>
          </a:p>
          <a:p>
            <a:r>
              <a:rPr lang="ru-RU" dirty="0" smtClean="0"/>
              <a:t>Право губернаторов на административную ссылку.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6619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04664"/>
            <a:ext cx="4666216" cy="439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7225" y="405099"/>
            <a:ext cx="1852108" cy="2606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2919" y="404664"/>
            <a:ext cx="1729466" cy="2607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8048" y="3038054"/>
            <a:ext cx="3044304" cy="372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1439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ru-RU" dirty="0" smtClean="0"/>
              <a:t>Российский либерализм</a:t>
            </a:r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467544" y="1988840"/>
            <a:ext cx="2520280" cy="86409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Союз «освобождения»</a:t>
            </a:r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539552" y="3573016"/>
            <a:ext cx="2448272" cy="86409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Союз земцев-конституционалистов</a:t>
            </a:r>
            <a:endParaRPr lang="ru-RU" dirty="0"/>
          </a:p>
        </p:txBody>
      </p:sp>
      <p:cxnSp>
        <p:nvCxnSpPr>
          <p:cNvPr id="7" name="Прямая со стрелкой 6"/>
          <p:cNvCxnSpPr/>
          <p:nvPr/>
        </p:nvCxnSpPr>
        <p:spPr>
          <a:xfrm>
            <a:off x="2987824" y="2420888"/>
            <a:ext cx="792088" cy="792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>
            <a:stCxn id="5" idx="3"/>
          </p:cNvCxnSpPr>
          <p:nvPr/>
        </p:nvCxnSpPr>
        <p:spPr>
          <a:xfrm flipV="1">
            <a:off x="2987824" y="3356992"/>
            <a:ext cx="792088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Скругленный прямоугольник 9"/>
          <p:cNvSpPr/>
          <p:nvPr/>
        </p:nvSpPr>
        <p:spPr>
          <a:xfrm>
            <a:off x="3851920" y="2708920"/>
            <a:ext cx="2016224" cy="129614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Октябрь 1905 г.</a:t>
            </a:r>
          </a:p>
          <a:p>
            <a:pPr algn="ctr"/>
            <a:r>
              <a:rPr lang="ru-RU" dirty="0" smtClean="0"/>
              <a:t>Первый съезд партии конституционных демократов</a:t>
            </a:r>
            <a:endParaRPr lang="ru-RU" dirty="0"/>
          </a:p>
        </p:txBody>
      </p:sp>
      <p:sp>
        <p:nvSpPr>
          <p:cNvPr id="11" name="Стрелка вправо 10"/>
          <p:cNvSpPr/>
          <p:nvPr/>
        </p:nvSpPr>
        <p:spPr>
          <a:xfrm>
            <a:off x="5940152" y="3284984"/>
            <a:ext cx="576064" cy="144016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660232" y="2708920"/>
            <a:ext cx="2160240" cy="136815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Январь 1906 г. </a:t>
            </a:r>
          </a:p>
          <a:p>
            <a:pPr algn="ctr"/>
            <a:r>
              <a:rPr lang="ru-RU" dirty="0" smtClean="0"/>
              <a:t>новое название – «Партия народной свободы»</a:t>
            </a:r>
            <a:endParaRPr lang="ru-RU" dirty="0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3201081" y="6093296"/>
            <a:ext cx="1620180" cy="504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П.Н. Милюков</a:t>
            </a:r>
            <a:endParaRPr lang="ru-RU" dirty="0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6660232" y="6183515"/>
            <a:ext cx="1512168" cy="504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Князь П.Д. </a:t>
            </a:r>
            <a:r>
              <a:rPr lang="ru-RU" dirty="0"/>
              <a:t>Д</a:t>
            </a:r>
            <a:r>
              <a:rPr lang="ru-RU" dirty="0" smtClean="0"/>
              <a:t>олгоруков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4257156"/>
            <a:ext cx="1068710" cy="1692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197" y="4154196"/>
            <a:ext cx="1172042" cy="1898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477" y="1052736"/>
            <a:ext cx="2177720" cy="1487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Скругленный прямоугольник 14"/>
          <p:cNvSpPr/>
          <p:nvPr/>
        </p:nvSpPr>
        <p:spPr>
          <a:xfrm>
            <a:off x="7092280" y="1124744"/>
            <a:ext cx="1728192" cy="108012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Газета выходила в 1906 – 1918 гг.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501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792088"/>
          </a:xfrm>
        </p:spPr>
        <p:txBody>
          <a:bodyPr/>
          <a:lstStyle/>
          <a:p>
            <a:r>
              <a:rPr lang="ru-RU" dirty="0" smtClean="0"/>
              <a:t>Русский консерватизм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6059016" cy="4525963"/>
          </a:xfrm>
        </p:spPr>
        <p:txBody>
          <a:bodyPr>
            <a:normAutofit/>
          </a:bodyPr>
          <a:lstStyle/>
          <a:p>
            <a:r>
              <a:rPr lang="ru-RU" dirty="0" smtClean="0"/>
              <a:t>Октябрь 1905 г. – начинается оформление движения земцев и предпринимателей в поддержку «манифеста 17 октября».</a:t>
            </a:r>
          </a:p>
          <a:p>
            <a:r>
              <a:rPr lang="ru-RU" dirty="0" smtClean="0"/>
              <a:t>Февраль 1906 – первый съезд «Союза 17 октября».</a:t>
            </a:r>
          </a:p>
          <a:p>
            <a:r>
              <a:rPr lang="ru-RU" dirty="0" smtClean="0"/>
              <a:t>Декабрь 1905 г. – выходит газета «Голос» Москвы.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1340768"/>
            <a:ext cx="1576289" cy="2418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кругленный прямоугольник 3"/>
          <p:cNvSpPr/>
          <p:nvPr/>
        </p:nvSpPr>
        <p:spPr>
          <a:xfrm>
            <a:off x="6732240" y="3933056"/>
            <a:ext cx="1656184" cy="32403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А.И. </a:t>
            </a:r>
            <a:r>
              <a:rPr lang="ru-RU" dirty="0" err="1"/>
              <a:t>Г</a:t>
            </a:r>
            <a:r>
              <a:rPr lang="ru-RU" dirty="0" err="1" smtClean="0"/>
              <a:t>учков</a:t>
            </a:r>
            <a:endParaRPr lang="ru-RU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4581128"/>
            <a:ext cx="2885306" cy="1829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9472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3" y="1323975"/>
            <a:ext cx="8181975" cy="421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2871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60648"/>
            <a:ext cx="4175792" cy="2601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260648"/>
            <a:ext cx="4483872" cy="288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99" y="2862362"/>
            <a:ext cx="4727426" cy="302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294" y="3019457"/>
            <a:ext cx="4250035" cy="2708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0142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400" dirty="0" smtClean="0"/>
              <a:t>Первая государственная дума</a:t>
            </a:r>
            <a:br>
              <a:rPr lang="ru-RU" sz="2400" dirty="0" smtClean="0"/>
            </a:br>
            <a:r>
              <a:rPr lang="ru-RU" sz="2400" dirty="0" smtClean="0"/>
              <a:t>27 апреля – 9 июля 1906 г.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3970784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Фракции:</a:t>
            </a:r>
          </a:p>
          <a:p>
            <a:r>
              <a:rPr lang="ru-RU" dirty="0" smtClean="0"/>
              <a:t>кадеты </a:t>
            </a:r>
            <a:r>
              <a:rPr lang="ru-RU" dirty="0"/>
              <a:t>— </a:t>
            </a:r>
            <a:r>
              <a:rPr lang="ru-RU" dirty="0" smtClean="0"/>
              <a:t>176,</a:t>
            </a:r>
          </a:p>
          <a:p>
            <a:r>
              <a:rPr lang="ru-RU" dirty="0" smtClean="0"/>
              <a:t>трудовая группа </a:t>
            </a:r>
            <a:r>
              <a:rPr lang="ru-RU" dirty="0"/>
              <a:t>— </a:t>
            </a:r>
            <a:r>
              <a:rPr lang="ru-RU" dirty="0" smtClean="0"/>
              <a:t>96,</a:t>
            </a:r>
          </a:p>
          <a:p>
            <a:r>
              <a:rPr lang="ru-RU" dirty="0"/>
              <a:t>автономисты — 70 </a:t>
            </a:r>
            <a:r>
              <a:rPr lang="ru-RU" dirty="0" smtClean="0"/>
              <a:t>,</a:t>
            </a:r>
          </a:p>
          <a:p>
            <a:r>
              <a:rPr lang="ru-RU" dirty="0" smtClean="0"/>
              <a:t>РСДРП (м) – 18,</a:t>
            </a:r>
          </a:p>
          <a:p>
            <a:r>
              <a:rPr lang="ru-RU" dirty="0" smtClean="0"/>
              <a:t>октябристы </a:t>
            </a:r>
            <a:r>
              <a:rPr lang="ru-RU" dirty="0"/>
              <a:t>— 16, </a:t>
            </a:r>
            <a:endParaRPr lang="ru-RU" dirty="0" smtClean="0"/>
          </a:p>
          <a:p>
            <a:r>
              <a:rPr lang="ru-RU" dirty="0"/>
              <a:t>прогрессисты — </a:t>
            </a:r>
            <a:r>
              <a:rPr lang="ru-RU" dirty="0" smtClean="0"/>
              <a:t>12,</a:t>
            </a:r>
          </a:p>
          <a:p>
            <a:r>
              <a:rPr lang="ru-RU" dirty="0" smtClean="0"/>
              <a:t>вне фракций– 100.</a:t>
            </a:r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1340768"/>
            <a:ext cx="4824536" cy="4601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1283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00811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2800" dirty="0" smtClean="0"/>
              <a:t>Вторая государственная дума</a:t>
            </a:r>
            <a:br>
              <a:rPr lang="ru-RU" sz="2800" dirty="0" smtClean="0"/>
            </a:br>
            <a:r>
              <a:rPr lang="ru-RU" sz="2800" dirty="0" smtClean="0"/>
              <a:t>20 февраля – 3 июня 1907 г.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4474840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 smtClean="0"/>
              <a:t>Фракции</a:t>
            </a:r>
          </a:p>
          <a:p>
            <a:r>
              <a:rPr lang="ru-RU" dirty="0" smtClean="0"/>
              <a:t>трудовая </a:t>
            </a:r>
            <a:r>
              <a:rPr lang="ru-RU" dirty="0"/>
              <a:t>крестьянская </a:t>
            </a:r>
            <a:r>
              <a:rPr lang="ru-RU" dirty="0" smtClean="0"/>
              <a:t>— </a:t>
            </a:r>
            <a:r>
              <a:rPr lang="ru-RU" dirty="0"/>
              <a:t>104 </a:t>
            </a:r>
            <a:endParaRPr lang="ru-RU" dirty="0" smtClean="0"/>
          </a:p>
          <a:p>
            <a:r>
              <a:rPr lang="ru-RU" dirty="0" smtClean="0"/>
              <a:t>Конституционных демократов </a:t>
            </a:r>
            <a:r>
              <a:rPr lang="ru-RU" dirty="0"/>
              <a:t>— </a:t>
            </a:r>
            <a:r>
              <a:rPr lang="ru-RU" dirty="0" smtClean="0"/>
              <a:t>98,</a:t>
            </a:r>
          </a:p>
          <a:p>
            <a:r>
              <a:rPr lang="ru-RU" dirty="0" smtClean="0"/>
              <a:t>социал-демократическая— 65,</a:t>
            </a:r>
          </a:p>
          <a:p>
            <a:r>
              <a:rPr lang="ru-RU" dirty="0" smtClean="0"/>
              <a:t>беспартийные </a:t>
            </a:r>
            <a:r>
              <a:rPr lang="ru-RU" dirty="0"/>
              <a:t>— </a:t>
            </a:r>
            <a:r>
              <a:rPr lang="ru-RU" dirty="0" smtClean="0"/>
              <a:t>50,</a:t>
            </a:r>
          </a:p>
          <a:p>
            <a:r>
              <a:rPr lang="ru-RU" dirty="0" smtClean="0"/>
              <a:t>польское </a:t>
            </a:r>
            <a:r>
              <a:rPr lang="ru-RU" dirty="0"/>
              <a:t>коло — 46, </a:t>
            </a:r>
            <a:endParaRPr lang="ru-RU" dirty="0" smtClean="0"/>
          </a:p>
          <a:p>
            <a:r>
              <a:rPr lang="ru-RU" dirty="0" smtClean="0"/>
              <a:t>фракция </a:t>
            </a:r>
            <a:r>
              <a:rPr lang="ru-RU" dirty="0"/>
              <a:t>октябристов и группа умеренных — 44, </a:t>
            </a:r>
            <a:endParaRPr lang="ru-RU" dirty="0" smtClean="0"/>
          </a:p>
          <a:p>
            <a:r>
              <a:rPr lang="ru-RU" dirty="0" smtClean="0"/>
              <a:t>социалисты-революционеры </a:t>
            </a:r>
            <a:r>
              <a:rPr lang="ru-RU" dirty="0"/>
              <a:t>— </a:t>
            </a:r>
            <a:r>
              <a:rPr lang="ru-RU" dirty="0" smtClean="0"/>
              <a:t>37,</a:t>
            </a:r>
          </a:p>
          <a:p>
            <a:r>
              <a:rPr lang="ru-RU" dirty="0" smtClean="0"/>
              <a:t>мусульманская </a:t>
            </a:r>
            <a:r>
              <a:rPr lang="ru-RU" dirty="0"/>
              <a:t>фракция — 30, казачья группа — </a:t>
            </a:r>
            <a:r>
              <a:rPr lang="ru-RU" dirty="0" smtClean="0"/>
              <a:t>17,</a:t>
            </a:r>
          </a:p>
          <a:p>
            <a:r>
              <a:rPr lang="ru-RU" dirty="0" smtClean="0"/>
              <a:t>народно-социалистическая </a:t>
            </a:r>
            <a:r>
              <a:rPr lang="ru-RU" dirty="0"/>
              <a:t>фракция — </a:t>
            </a:r>
            <a:r>
              <a:rPr lang="ru-RU" dirty="0" smtClean="0"/>
              <a:t>16,</a:t>
            </a:r>
          </a:p>
          <a:p>
            <a:r>
              <a:rPr lang="ru-RU" dirty="0" smtClean="0"/>
              <a:t>правых </a:t>
            </a:r>
            <a:r>
              <a:rPr lang="ru-RU" dirty="0"/>
              <a:t>монархистов — 10, </a:t>
            </a:r>
            <a:endParaRPr lang="ru-RU" dirty="0" smtClean="0"/>
          </a:p>
          <a:p>
            <a:r>
              <a:rPr lang="ru-RU" dirty="0" smtClean="0"/>
              <a:t>партия </a:t>
            </a:r>
            <a:r>
              <a:rPr lang="ru-RU" dirty="0"/>
              <a:t>демократических </a:t>
            </a:r>
            <a:r>
              <a:rPr lang="ru-RU" dirty="0" smtClean="0"/>
              <a:t>реформ - 1.</a:t>
            </a:r>
            <a:endParaRPr lang="ru-RU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366" y="1628800"/>
            <a:ext cx="4080897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кругленный прямоугольник 3"/>
          <p:cNvSpPr/>
          <p:nvPr/>
        </p:nvSpPr>
        <p:spPr>
          <a:xfrm>
            <a:off x="5220072" y="4941168"/>
            <a:ext cx="3240360" cy="72008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Открытие заседаний </a:t>
            </a:r>
            <a:r>
              <a:rPr lang="en-US" dirty="0" smtClean="0"/>
              <a:t>II </a:t>
            </a:r>
            <a:r>
              <a:rPr lang="ru-RU" dirty="0" smtClean="0"/>
              <a:t>думы.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3303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sz="3200" dirty="0" smtClean="0"/>
              <a:t>3-июньский государственный переворот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80728"/>
            <a:ext cx="8291264" cy="532859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 smtClean="0"/>
              <a:t>Причина: </a:t>
            </a:r>
            <a:r>
              <a:rPr lang="ru-RU" dirty="0" smtClean="0"/>
              <a:t>принципиальное несогласие в позициях большинства Думы и правительства Столыпина.</a:t>
            </a:r>
          </a:p>
          <a:p>
            <a:pPr marL="0" indent="0">
              <a:buNone/>
            </a:pPr>
            <a:r>
              <a:rPr lang="ru-RU" b="1" dirty="0" smtClean="0"/>
              <a:t>Повод:</a:t>
            </a:r>
            <a:r>
              <a:rPr lang="ru-RU" dirty="0" smtClean="0"/>
              <a:t> обвинение 55 членов с-д фракции Думы в государственной изменен.</a:t>
            </a:r>
          </a:p>
          <a:p>
            <a:pPr marL="0" indent="0">
              <a:buNone/>
            </a:pPr>
            <a:r>
              <a:rPr lang="ru-RU" b="1" dirty="0" smtClean="0"/>
              <a:t>Действия:</a:t>
            </a:r>
          </a:p>
          <a:p>
            <a:r>
              <a:rPr lang="ru-RU" dirty="0" smtClean="0"/>
              <a:t>Роспуск думы в соответствии </a:t>
            </a:r>
            <a:r>
              <a:rPr lang="ru-RU" smtClean="0"/>
              <a:t>с «Основными </a:t>
            </a:r>
            <a:r>
              <a:rPr lang="ru-RU" dirty="0" smtClean="0"/>
              <a:t>законами» Российской империи</a:t>
            </a:r>
            <a:r>
              <a:rPr lang="ru-RU" dirty="0"/>
              <a:t>: </a:t>
            </a:r>
            <a:r>
              <a:rPr lang="ru-RU" dirty="0" smtClean="0"/>
              <a:t>ст. 105 </a:t>
            </a:r>
            <a:r>
              <a:rPr lang="ru-RU" b="1" dirty="0" smtClean="0"/>
              <a:t>«Государственная </a:t>
            </a:r>
            <a:r>
              <a:rPr lang="ru-RU" b="1" dirty="0"/>
              <a:t>Дума может быть до истечения </a:t>
            </a:r>
            <a:r>
              <a:rPr lang="ru-RU" b="1" dirty="0" smtClean="0"/>
              <a:t>пятилетнего срока </a:t>
            </a:r>
            <a:r>
              <a:rPr lang="ru-RU" b="1" dirty="0"/>
              <a:t>полномочий ее Членов распущена указом Государя  Императора</a:t>
            </a:r>
            <a:r>
              <a:rPr lang="ru-RU" b="1" dirty="0" smtClean="0"/>
              <a:t>. Тем </a:t>
            </a:r>
            <a:r>
              <a:rPr lang="ru-RU" b="1" dirty="0"/>
              <a:t>же указом назначаются новые выборы в Думу и время ее </a:t>
            </a:r>
            <a:r>
              <a:rPr lang="ru-RU" b="1" dirty="0" smtClean="0"/>
              <a:t>созыва».</a:t>
            </a:r>
          </a:p>
          <a:p>
            <a:r>
              <a:rPr lang="ru-RU" dirty="0" smtClean="0"/>
              <a:t>Введение нового избирательного закона волей императора, вопреки тексту «Основных </a:t>
            </a:r>
            <a:r>
              <a:rPr lang="ru-RU" dirty="0"/>
              <a:t>законов»: </a:t>
            </a:r>
            <a:r>
              <a:rPr lang="ru-RU" dirty="0" smtClean="0"/>
              <a:t>ст. 87</a:t>
            </a:r>
            <a:r>
              <a:rPr lang="ru-RU" dirty="0"/>
              <a:t>. </a:t>
            </a:r>
            <a:r>
              <a:rPr lang="ru-RU" dirty="0" smtClean="0"/>
              <a:t>«</a:t>
            </a:r>
            <a:r>
              <a:rPr lang="ru-RU" b="1" dirty="0" smtClean="0"/>
              <a:t>Во </a:t>
            </a:r>
            <a:r>
              <a:rPr lang="ru-RU" b="1" dirty="0"/>
              <a:t>время прекращения занятий Государственной Думы, если чрезвычайные обстоятельства вызовут необходимость в такой мере, которая требует обсуждения в порядке законодательном, Совет Министров представляет о ней Государю Императору непосредственно. Мера эта не может, однако, вносить изменений ни в Основные Государственные Законы, ни в учреждения Государственного Совета или Государственной Думы, ни в постановления о выборах в Совет или в </a:t>
            </a:r>
            <a:r>
              <a:rPr lang="ru-RU" b="1" dirty="0" smtClean="0"/>
              <a:t>Думу».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978879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32656"/>
            <a:ext cx="8867050" cy="5807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7654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648</TotalTime>
  <Words>1734</Words>
  <Application>Microsoft Office PowerPoint</Application>
  <PresentationFormat>Экран (4:3)</PresentationFormat>
  <Paragraphs>185</Paragraphs>
  <Slides>28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29" baseType="lpstr">
      <vt:lpstr>Исполнительная</vt:lpstr>
      <vt:lpstr>Эволюция абсолютной монархии в России в нач. XX вв.</vt:lpstr>
      <vt:lpstr>Николай II. Стратегические решения начала царствования.</vt:lpstr>
      <vt:lpstr>Николай II. Стратегические решения начала царствования.</vt:lpstr>
      <vt:lpstr>Последствия принятых стратегических решений:</vt:lpstr>
      <vt:lpstr>Начало периода империалистических войн</vt:lpstr>
      <vt:lpstr>Русско-японская война: предыстория</vt:lpstr>
      <vt:lpstr>Порт-Артур и Дальний: обсуждение 1897 г.</vt:lpstr>
      <vt:lpstr>«Самодержавное» решение:</vt:lpstr>
      <vt:lpstr>Театр Военных действий и ход войны</vt:lpstr>
      <vt:lpstr>Портсмутский мирный договор (23.08.1905)</vt:lpstr>
      <vt:lpstr>«Полицейский социализм»</vt:lpstr>
      <vt:lpstr>Создание революционных партий. Партия социалистов-революционеров</vt:lpstr>
      <vt:lpstr>Боевая организация  ПСР</vt:lpstr>
      <vt:lpstr>Создание революционных партий. Российская социал-демократическая рабочая партия</vt:lpstr>
      <vt:lpstr>II съезд РСДРП (1903) Раскол среди «искровцев» по поводу 1 п. «Устава»</vt:lpstr>
      <vt:lpstr>Главный орган управления партией: редакция газеты «Искра»</vt:lpstr>
      <vt:lpstr>События января 1905 г.</vt:lpstr>
      <vt:lpstr>Результат курса на консервацию политического и экономического режима:</vt:lpstr>
      <vt:lpstr>Попытка эволюции самодержавного режима</vt:lpstr>
      <vt:lpstr>Презентация PowerPoint</vt:lpstr>
      <vt:lpstr>Российский либерализм</vt:lpstr>
      <vt:lpstr>Русский консерватизм</vt:lpstr>
      <vt:lpstr>Презентация PowerPoint</vt:lpstr>
      <vt:lpstr>Презентация PowerPoint</vt:lpstr>
      <vt:lpstr>Первая государственная дума 27 апреля – 9 июля 1906 г.</vt:lpstr>
      <vt:lpstr>Вторая государственная дума 20 февраля – 3 июня 1907 г.</vt:lpstr>
      <vt:lpstr>3-июньский государственный переворот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Эволюция абсолютной монархии в России во второй пол. XIX – нач. XX вв.</dc:title>
  <dc:creator>User</dc:creator>
  <cp:lastModifiedBy>User</cp:lastModifiedBy>
  <cp:revision>66</cp:revision>
  <dcterms:created xsi:type="dcterms:W3CDTF">2014-10-22T12:08:16Z</dcterms:created>
  <dcterms:modified xsi:type="dcterms:W3CDTF">2021-10-07T07:18:39Z</dcterms:modified>
</cp:coreProperties>
</file>