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3" r:id="rId10"/>
    <p:sldId id="284" r:id="rId11"/>
    <p:sldId id="264" r:id="rId12"/>
    <p:sldId id="265" r:id="rId13"/>
    <p:sldId id="282" r:id="rId14"/>
    <p:sldId id="285" r:id="rId15"/>
    <p:sldId id="286" r:id="rId16"/>
    <p:sldId id="287" r:id="rId17"/>
    <p:sldId id="288" r:id="rId18"/>
    <p:sldId id="289" r:id="rId19"/>
    <p:sldId id="290" r:id="rId20"/>
    <p:sldId id="266" r:id="rId21"/>
    <p:sldId id="267" r:id="rId22"/>
    <p:sldId id="268" r:id="rId23"/>
    <p:sldId id="269" r:id="rId24"/>
    <p:sldId id="270" r:id="rId25"/>
  </p:sldIdLst>
  <p:sldSz cx="10080625" cy="7559675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1788" y="90"/>
      </p:cViewPr>
      <p:guideLst>
        <p:guide orient="horz" pos="2381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A4EC27-E0B7-4983-A150-AC2E8A4A273F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ADEC523-1BFC-4DD3-ADCB-0FC0C27BB324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>
              <a:solidFill>
                <a:srgbClr val="FF0000"/>
              </a:solidFill>
            </a:rPr>
            <a:t>Распад империи Чингисхана</a:t>
          </a:r>
        </a:p>
      </dgm:t>
    </dgm:pt>
    <dgm:pt modelId="{7C4E4438-1BA3-4F51-AEFC-22B4805EF09B}" type="parTrans" cxnId="{66A1BA44-B705-406E-9527-FAF54788C2BB}">
      <dgm:prSet/>
      <dgm:spPr/>
      <dgm:t>
        <a:bodyPr/>
        <a:lstStyle/>
        <a:p>
          <a:endParaRPr lang="ru-RU"/>
        </a:p>
      </dgm:t>
    </dgm:pt>
    <dgm:pt modelId="{BA527B35-F333-42A6-8EF1-3D6CE4589CD8}" type="sibTrans" cxnId="{66A1BA44-B705-406E-9527-FAF54788C2BB}">
      <dgm:prSet/>
      <dgm:spPr/>
      <dgm:t>
        <a:bodyPr/>
        <a:lstStyle/>
        <a:p>
          <a:endParaRPr lang="ru-RU"/>
        </a:p>
      </dgm:t>
    </dgm:pt>
    <dgm:pt modelId="{209904EF-6032-4E5C-8F77-6C0C843D665D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scene3d>
          <a:camera prst="orthographicFront"/>
          <a:lightRig rig="threePt" dir="t"/>
        </a:scene3d>
        <a:sp3d>
          <a:bevelT prst="relaxedInset"/>
        </a:sp3d>
      </dgm:spPr>
      <dgm:t>
        <a:bodyPr/>
        <a:lstStyle/>
        <a:p>
          <a:r>
            <a:rPr lang="ru-RU" dirty="0"/>
            <a:t>в 60-х гг. XIII века Хулагу, захватив Иран, перенес туда столицу и положил начало новой династии иранских правителей</a:t>
          </a:r>
        </a:p>
      </dgm:t>
    </dgm:pt>
    <dgm:pt modelId="{13EE392F-E33C-40C3-8183-2085F0AD9C9B}" type="parTrans" cxnId="{8D6B2E57-6207-45A5-A354-75918102D41F}">
      <dgm:prSet/>
      <dgm:spPr/>
      <dgm:t>
        <a:bodyPr/>
        <a:lstStyle/>
        <a:p>
          <a:endParaRPr lang="ru-RU"/>
        </a:p>
      </dgm:t>
    </dgm:pt>
    <dgm:pt modelId="{31C728A3-D2F8-40BC-8919-3E7158703D5A}" type="sibTrans" cxnId="{8D6B2E57-6207-45A5-A354-75918102D41F}">
      <dgm:prSet/>
      <dgm:spPr/>
      <dgm:t>
        <a:bodyPr/>
        <a:lstStyle/>
        <a:p>
          <a:endParaRPr lang="ru-RU"/>
        </a:p>
      </dgm:t>
    </dgm:pt>
    <dgm:pt modelId="{EE7C000C-2E97-45D5-9A19-6B8661EFBCAF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scene3d>
          <a:camera prst="orthographicFront"/>
          <a:lightRig rig="threePt" dir="t"/>
        </a:scene3d>
        <a:sp3d>
          <a:bevelT prst="relaxedInset"/>
        </a:sp3d>
      </dgm:spPr>
      <dgm:t>
        <a:bodyPr/>
        <a:lstStyle/>
        <a:p>
          <a:r>
            <a:rPr lang="ru-RU" dirty="0"/>
            <a:t>в 80-е – 90-е гг. – </a:t>
          </a:r>
          <a:r>
            <a:rPr lang="ru-RU" dirty="0" err="1"/>
            <a:t>Кубилай</a:t>
          </a:r>
          <a:r>
            <a:rPr lang="ru-RU" dirty="0"/>
            <a:t> основал в Пекине собственную - юанскую - династию</a:t>
          </a:r>
        </a:p>
      </dgm:t>
    </dgm:pt>
    <dgm:pt modelId="{4FE8E5B5-6DE1-43E5-8DF2-8FF63E85C267}" type="parTrans" cxnId="{4DEFB71C-2A49-43AB-AEE0-622E10D33D76}">
      <dgm:prSet/>
      <dgm:spPr/>
      <dgm:t>
        <a:bodyPr/>
        <a:lstStyle/>
        <a:p>
          <a:endParaRPr lang="ru-RU"/>
        </a:p>
      </dgm:t>
    </dgm:pt>
    <dgm:pt modelId="{5199F05E-4ED0-4BCE-B256-397A42C9C1D6}" type="sibTrans" cxnId="{4DEFB71C-2A49-43AB-AEE0-622E10D33D76}">
      <dgm:prSet/>
      <dgm:spPr/>
      <dgm:t>
        <a:bodyPr/>
        <a:lstStyle/>
        <a:p>
          <a:endParaRPr lang="ru-RU"/>
        </a:p>
      </dgm:t>
    </dgm:pt>
    <dgm:pt modelId="{13BAAF22-F3AE-413E-813F-D617950BFB42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>
              <a:solidFill>
                <a:srgbClr val="FF0000"/>
              </a:solidFill>
            </a:rPr>
            <a:t>Принятие мусульманства </a:t>
          </a:r>
        </a:p>
      </dgm:t>
    </dgm:pt>
    <dgm:pt modelId="{B9CAA785-ACA1-4AD1-82A6-BB00BADA7DDE}" type="parTrans" cxnId="{36934D3D-649E-4C40-9B76-5D8F62ACDF9C}">
      <dgm:prSet/>
      <dgm:spPr/>
      <dgm:t>
        <a:bodyPr/>
        <a:lstStyle/>
        <a:p>
          <a:endParaRPr lang="ru-RU"/>
        </a:p>
      </dgm:t>
    </dgm:pt>
    <dgm:pt modelId="{009B9021-85F5-47E3-B875-FED6241D0FB4}" type="sibTrans" cxnId="{36934D3D-649E-4C40-9B76-5D8F62ACDF9C}">
      <dgm:prSet/>
      <dgm:spPr/>
      <dgm:t>
        <a:bodyPr/>
        <a:lstStyle/>
        <a:p>
          <a:endParaRPr lang="ru-RU"/>
        </a:p>
      </dgm:t>
    </dgm:pt>
    <dgm:pt modelId="{C013A052-C6F2-4FD3-B708-BDEDC24FA7F4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scene3d>
          <a:camera prst="orthographicFront"/>
          <a:lightRig rig="threePt" dir="t"/>
        </a:scene3d>
        <a:sp3d>
          <a:bevelT prst="relaxedInset"/>
        </a:sp3d>
      </dgm:spPr>
      <dgm:t>
        <a:bodyPr/>
        <a:lstStyle/>
        <a:p>
          <a:r>
            <a:rPr lang="en-US" dirty="0"/>
            <a:t>II </a:t>
          </a:r>
          <a:r>
            <a:rPr lang="ru-RU" dirty="0"/>
            <a:t>четверть </a:t>
          </a:r>
          <a:r>
            <a:rPr lang="en-US" dirty="0"/>
            <a:t>XIV </a:t>
          </a:r>
          <a:r>
            <a:rPr lang="ru-RU" dirty="0"/>
            <a:t>века: хан Золотой Орды Узбек сам принимает мусульманство и принуждает к этому своих чиновников и войска.</a:t>
          </a:r>
        </a:p>
      </dgm:t>
    </dgm:pt>
    <dgm:pt modelId="{2A351E52-7FD3-4FDB-AECF-80B08C5F8EDB}" type="parTrans" cxnId="{4C5585AD-1BC8-41F7-96A3-08BD610EC283}">
      <dgm:prSet/>
      <dgm:spPr/>
      <dgm:t>
        <a:bodyPr/>
        <a:lstStyle/>
        <a:p>
          <a:endParaRPr lang="ru-RU"/>
        </a:p>
      </dgm:t>
    </dgm:pt>
    <dgm:pt modelId="{C9AF243D-5F64-4546-93B5-4E8CDB443534}" type="sibTrans" cxnId="{4C5585AD-1BC8-41F7-96A3-08BD610EC283}">
      <dgm:prSet/>
      <dgm:spPr/>
      <dgm:t>
        <a:bodyPr/>
        <a:lstStyle/>
        <a:p>
          <a:endParaRPr lang="ru-RU"/>
        </a:p>
      </dgm:t>
    </dgm:pt>
    <dgm:pt modelId="{54A609A6-A016-425F-9CC1-05BB644F3736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>
              <a:solidFill>
                <a:srgbClr val="FF0000"/>
              </a:solidFill>
            </a:rPr>
            <a:t>«Замятня» в Орде</a:t>
          </a:r>
        </a:p>
      </dgm:t>
    </dgm:pt>
    <dgm:pt modelId="{78455457-31DF-47DF-993A-6E9A2250409E}" type="parTrans" cxnId="{940C27AA-BEF3-44B5-A308-635D15D7C3F3}">
      <dgm:prSet/>
      <dgm:spPr/>
      <dgm:t>
        <a:bodyPr/>
        <a:lstStyle/>
        <a:p>
          <a:endParaRPr lang="ru-RU"/>
        </a:p>
      </dgm:t>
    </dgm:pt>
    <dgm:pt modelId="{9EF1B1FC-CA9D-4F46-9273-1F35CC7F1C65}" type="sibTrans" cxnId="{940C27AA-BEF3-44B5-A308-635D15D7C3F3}">
      <dgm:prSet/>
      <dgm:spPr/>
      <dgm:t>
        <a:bodyPr/>
        <a:lstStyle/>
        <a:p>
          <a:endParaRPr lang="ru-RU"/>
        </a:p>
      </dgm:t>
    </dgm:pt>
    <dgm:pt modelId="{152620CA-B167-483D-879D-45E99B42504F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scene3d>
          <a:camera prst="orthographicFront"/>
          <a:lightRig rig="threePt" dir="t"/>
        </a:scene3d>
        <a:sp3d>
          <a:bevelT prst="relaxedInset"/>
        </a:sp3d>
      </dgm:spPr>
      <dgm:t>
        <a:bodyPr/>
        <a:lstStyle/>
        <a:p>
          <a:r>
            <a:rPr lang="ru-RU" dirty="0"/>
            <a:t>1346 год: приход чумы из Китая;</a:t>
          </a:r>
        </a:p>
      </dgm:t>
    </dgm:pt>
    <dgm:pt modelId="{F2795F43-A707-4BFD-B23E-9ABD4BC91ABE}" type="parTrans" cxnId="{991D27EF-9960-48FA-9F94-87497BF3E299}">
      <dgm:prSet/>
      <dgm:spPr/>
      <dgm:t>
        <a:bodyPr/>
        <a:lstStyle/>
        <a:p>
          <a:endParaRPr lang="ru-RU"/>
        </a:p>
      </dgm:t>
    </dgm:pt>
    <dgm:pt modelId="{E191FAAB-7BF0-447C-9FD1-E9F7A122365C}" type="sibTrans" cxnId="{991D27EF-9960-48FA-9F94-87497BF3E299}">
      <dgm:prSet/>
      <dgm:spPr/>
      <dgm:t>
        <a:bodyPr/>
        <a:lstStyle/>
        <a:p>
          <a:endParaRPr lang="ru-RU"/>
        </a:p>
      </dgm:t>
    </dgm:pt>
    <dgm:pt modelId="{EB38B1CD-A780-420A-838E-2F8C2A541E8B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scene3d>
          <a:camera prst="orthographicFront"/>
          <a:lightRig rig="threePt" dir="t"/>
        </a:scene3d>
        <a:sp3d>
          <a:bevelT prst="relaxedInset"/>
        </a:sp3d>
      </dgm:spPr>
      <dgm:t>
        <a:bodyPr/>
        <a:lstStyle/>
        <a:p>
          <a:r>
            <a:rPr lang="ru-RU" dirty="0"/>
            <a:t>1359 год: свержение хана Бердибека и 20 лет междоусобной борьбы за власть в Золотой орде.</a:t>
          </a:r>
        </a:p>
      </dgm:t>
    </dgm:pt>
    <dgm:pt modelId="{FBCE8691-D635-4D86-BB79-7164B5DA32F5}" type="parTrans" cxnId="{144E2089-6089-42C0-8B56-95E38F3BDA92}">
      <dgm:prSet/>
      <dgm:spPr/>
      <dgm:t>
        <a:bodyPr/>
        <a:lstStyle/>
        <a:p>
          <a:endParaRPr lang="ru-RU"/>
        </a:p>
      </dgm:t>
    </dgm:pt>
    <dgm:pt modelId="{8D2E0E2C-F140-43BF-BB21-884158BCC087}" type="sibTrans" cxnId="{144E2089-6089-42C0-8B56-95E38F3BDA92}">
      <dgm:prSet/>
      <dgm:spPr/>
      <dgm:t>
        <a:bodyPr/>
        <a:lstStyle/>
        <a:p>
          <a:endParaRPr lang="ru-RU"/>
        </a:p>
      </dgm:t>
    </dgm:pt>
    <dgm:pt modelId="{7086F1AB-2308-49F2-A508-43D13F9A2C49}" type="pres">
      <dgm:prSet presAssocID="{F8A4EC27-E0B7-4983-A150-AC2E8A4A273F}" presName="linearFlow" presStyleCnt="0">
        <dgm:presLayoutVars>
          <dgm:dir/>
          <dgm:animLvl val="lvl"/>
          <dgm:resizeHandles val="exact"/>
        </dgm:presLayoutVars>
      </dgm:prSet>
      <dgm:spPr/>
    </dgm:pt>
    <dgm:pt modelId="{22FFBADD-2EFE-4B9D-81A6-FC3147A15405}" type="pres">
      <dgm:prSet presAssocID="{FADEC523-1BFC-4DD3-ADCB-0FC0C27BB324}" presName="composite" presStyleCnt="0"/>
      <dgm:spPr/>
    </dgm:pt>
    <dgm:pt modelId="{59E008FC-0267-4C53-A7CD-0B51FEC6EFA5}" type="pres">
      <dgm:prSet presAssocID="{FADEC523-1BFC-4DD3-ADCB-0FC0C27BB324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042F5B19-42BF-45B4-A902-C7B5984985F9}" type="pres">
      <dgm:prSet presAssocID="{FADEC523-1BFC-4DD3-ADCB-0FC0C27BB324}" presName="descendantText" presStyleLbl="alignAcc1" presStyleIdx="0" presStyleCnt="3">
        <dgm:presLayoutVars>
          <dgm:bulletEnabled val="1"/>
        </dgm:presLayoutVars>
      </dgm:prSet>
      <dgm:spPr/>
    </dgm:pt>
    <dgm:pt modelId="{4759897B-F9FE-40DC-A23A-F0AF34D8A8F9}" type="pres">
      <dgm:prSet presAssocID="{BA527B35-F333-42A6-8EF1-3D6CE4589CD8}" presName="sp" presStyleCnt="0"/>
      <dgm:spPr/>
    </dgm:pt>
    <dgm:pt modelId="{6273ED78-8303-4DF0-9C2B-9F4326784149}" type="pres">
      <dgm:prSet presAssocID="{13BAAF22-F3AE-413E-813F-D617950BFB42}" presName="composite" presStyleCnt="0"/>
      <dgm:spPr/>
    </dgm:pt>
    <dgm:pt modelId="{0BAF2564-61D3-4913-9D97-419287D15CFC}" type="pres">
      <dgm:prSet presAssocID="{13BAAF22-F3AE-413E-813F-D617950BFB42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6D2FB178-9773-46D2-B4EB-5EBC7A2E7F35}" type="pres">
      <dgm:prSet presAssocID="{13BAAF22-F3AE-413E-813F-D617950BFB42}" presName="descendantText" presStyleLbl="alignAcc1" presStyleIdx="1" presStyleCnt="3">
        <dgm:presLayoutVars>
          <dgm:bulletEnabled val="1"/>
        </dgm:presLayoutVars>
      </dgm:prSet>
      <dgm:spPr/>
    </dgm:pt>
    <dgm:pt modelId="{ABBEF323-8EFF-4D6E-A68F-B06844E6AF6B}" type="pres">
      <dgm:prSet presAssocID="{009B9021-85F5-47E3-B875-FED6241D0FB4}" presName="sp" presStyleCnt="0"/>
      <dgm:spPr/>
    </dgm:pt>
    <dgm:pt modelId="{344319C4-8BE9-457D-85A3-78E9FE66A491}" type="pres">
      <dgm:prSet presAssocID="{54A609A6-A016-425F-9CC1-05BB644F3736}" presName="composite" presStyleCnt="0"/>
      <dgm:spPr/>
    </dgm:pt>
    <dgm:pt modelId="{33D278D5-1D67-4AE3-A291-9DDD38F374FD}" type="pres">
      <dgm:prSet presAssocID="{54A609A6-A016-425F-9CC1-05BB644F3736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0352CD36-FF5E-4B76-B6F9-B88E8D448A86}" type="pres">
      <dgm:prSet presAssocID="{54A609A6-A016-425F-9CC1-05BB644F3736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7E46990A-34CC-431B-870C-CC80CA34CCE7}" type="presOf" srcId="{EB38B1CD-A780-420A-838E-2F8C2A541E8B}" destId="{0352CD36-FF5E-4B76-B6F9-B88E8D448A86}" srcOrd="0" destOrd="1" presId="urn:microsoft.com/office/officeart/2005/8/layout/chevron2"/>
    <dgm:cxn modelId="{4DEFB71C-2A49-43AB-AEE0-622E10D33D76}" srcId="{FADEC523-1BFC-4DD3-ADCB-0FC0C27BB324}" destId="{EE7C000C-2E97-45D5-9A19-6B8661EFBCAF}" srcOrd="1" destOrd="0" parTransId="{4FE8E5B5-6DE1-43E5-8DF2-8FF63E85C267}" sibTransId="{5199F05E-4ED0-4BCE-B256-397A42C9C1D6}"/>
    <dgm:cxn modelId="{2EBFF51D-FFB8-431C-A435-4D88EB115B56}" type="presOf" srcId="{F8A4EC27-E0B7-4983-A150-AC2E8A4A273F}" destId="{7086F1AB-2308-49F2-A508-43D13F9A2C49}" srcOrd="0" destOrd="0" presId="urn:microsoft.com/office/officeart/2005/8/layout/chevron2"/>
    <dgm:cxn modelId="{5F697F28-4D1B-4EE6-8CF8-003F9EB9058B}" type="presOf" srcId="{54A609A6-A016-425F-9CC1-05BB644F3736}" destId="{33D278D5-1D67-4AE3-A291-9DDD38F374FD}" srcOrd="0" destOrd="0" presId="urn:microsoft.com/office/officeart/2005/8/layout/chevron2"/>
    <dgm:cxn modelId="{70D23E2B-8F01-4A2A-B83C-5302EAA871C3}" type="presOf" srcId="{FADEC523-1BFC-4DD3-ADCB-0FC0C27BB324}" destId="{59E008FC-0267-4C53-A7CD-0B51FEC6EFA5}" srcOrd="0" destOrd="0" presId="urn:microsoft.com/office/officeart/2005/8/layout/chevron2"/>
    <dgm:cxn modelId="{36934D3D-649E-4C40-9B76-5D8F62ACDF9C}" srcId="{F8A4EC27-E0B7-4983-A150-AC2E8A4A273F}" destId="{13BAAF22-F3AE-413E-813F-D617950BFB42}" srcOrd="1" destOrd="0" parTransId="{B9CAA785-ACA1-4AD1-82A6-BB00BADA7DDE}" sibTransId="{009B9021-85F5-47E3-B875-FED6241D0FB4}"/>
    <dgm:cxn modelId="{66A1BA44-B705-406E-9527-FAF54788C2BB}" srcId="{F8A4EC27-E0B7-4983-A150-AC2E8A4A273F}" destId="{FADEC523-1BFC-4DD3-ADCB-0FC0C27BB324}" srcOrd="0" destOrd="0" parTransId="{7C4E4438-1BA3-4F51-AEFC-22B4805EF09B}" sibTransId="{BA527B35-F333-42A6-8EF1-3D6CE4589CD8}"/>
    <dgm:cxn modelId="{2B4F134B-9237-45E1-BB74-919B98C8F433}" type="presOf" srcId="{13BAAF22-F3AE-413E-813F-D617950BFB42}" destId="{0BAF2564-61D3-4913-9D97-419287D15CFC}" srcOrd="0" destOrd="0" presId="urn:microsoft.com/office/officeart/2005/8/layout/chevron2"/>
    <dgm:cxn modelId="{8D6B2E57-6207-45A5-A354-75918102D41F}" srcId="{FADEC523-1BFC-4DD3-ADCB-0FC0C27BB324}" destId="{209904EF-6032-4E5C-8F77-6C0C843D665D}" srcOrd="0" destOrd="0" parTransId="{13EE392F-E33C-40C3-8183-2085F0AD9C9B}" sibTransId="{31C728A3-D2F8-40BC-8919-3E7158703D5A}"/>
    <dgm:cxn modelId="{144E2089-6089-42C0-8B56-95E38F3BDA92}" srcId="{54A609A6-A016-425F-9CC1-05BB644F3736}" destId="{EB38B1CD-A780-420A-838E-2F8C2A541E8B}" srcOrd="1" destOrd="0" parTransId="{FBCE8691-D635-4D86-BB79-7164B5DA32F5}" sibTransId="{8D2E0E2C-F140-43BF-BB21-884158BCC087}"/>
    <dgm:cxn modelId="{940C27AA-BEF3-44B5-A308-635D15D7C3F3}" srcId="{F8A4EC27-E0B7-4983-A150-AC2E8A4A273F}" destId="{54A609A6-A016-425F-9CC1-05BB644F3736}" srcOrd="2" destOrd="0" parTransId="{78455457-31DF-47DF-993A-6E9A2250409E}" sibTransId="{9EF1B1FC-CA9D-4F46-9273-1F35CC7F1C65}"/>
    <dgm:cxn modelId="{4C5585AD-1BC8-41F7-96A3-08BD610EC283}" srcId="{13BAAF22-F3AE-413E-813F-D617950BFB42}" destId="{C013A052-C6F2-4FD3-B708-BDEDC24FA7F4}" srcOrd="0" destOrd="0" parTransId="{2A351E52-7FD3-4FDB-AECF-80B08C5F8EDB}" sibTransId="{C9AF243D-5F64-4546-93B5-4E8CDB443534}"/>
    <dgm:cxn modelId="{64705FB1-8288-46C9-9C29-F8E3DFEEC101}" type="presOf" srcId="{C013A052-C6F2-4FD3-B708-BDEDC24FA7F4}" destId="{6D2FB178-9773-46D2-B4EB-5EBC7A2E7F35}" srcOrd="0" destOrd="0" presId="urn:microsoft.com/office/officeart/2005/8/layout/chevron2"/>
    <dgm:cxn modelId="{6B8F1BC1-652B-4B7A-B776-91C96976FD4E}" type="presOf" srcId="{152620CA-B167-483D-879D-45E99B42504F}" destId="{0352CD36-FF5E-4B76-B6F9-B88E8D448A86}" srcOrd="0" destOrd="0" presId="urn:microsoft.com/office/officeart/2005/8/layout/chevron2"/>
    <dgm:cxn modelId="{9A6BB3C5-C84B-4C16-8373-488D22C41B57}" type="presOf" srcId="{209904EF-6032-4E5C-8F77-6C0C843D665D}" destId="{042F5B19-42BF-45B4-A902-C7B5984985F9}" srcOrd="0" destOrd="0" presId="urn:microsoft.com/office/officeart/2005/8/layout/chevron2"/>
    <dgm:cxn modelId="{991D27EF-9960-48FA-9F94-87497BF3E299}" srcId="{54A609A6-A016-425F-9CC1-05BB644F3736}" destId="{152620CA-B167-483D-879D-45E99B42504F}" srcOrd="0" destOrd="0" parTransId="{F2795F43-A707-4BFD-B23E-9ABD4BC91ABE}" sibTransId="{E191FAAB-7BF0-447C-9FD1-E9F7A122365C}"/>
    <dgm:cxn modelId="{99BDE2F4-FE20-4877-AD58-5BB4A1FB0211}" type="presOf" srcId="{EE7C000C-2E97-45D5-9A19-6B8661EFBCAF}" destId="{042F5B19-42BF-45B4-A902-C7B5984985F9}" srcOrd="0" destOrd="1" presId="urn:microsoft.com/office/officeart/2005/8/layout/chevron2"/>
    <dgm:cxn modelId="{0026343E-DEF1-40CB-BA87-0F5A75832FDA}" type="presParOf" srcId="{7086F1AB-2308-49F2-A508-43D13F9A2C49}" destId="{22FFBADD-2EFE-4B9D-81A6-FC3147A15405}" srcOrd="0" destOrd="0" presId="urn:microsoft.com/office/officeart/2005/8/layout/chevron2"/>
    <dgm:cxn modelId="{DA760A32-C3E1-4EEA-9A97-64EE8330BB65}" type="presParOf" srcId="{22FFBADD-2EFE-4B9D-81A6-FC3147A15405}" destId="{59E008FC-0267-4C53-A7CD-0B51FEC6EFA5}" srcOrd="0" destOrd="0" presId="urn:microsoft.com/office/officeart/2005/8/layout/chevron2"/>
    <dgm:cxn modelId="{F11CEA2E-10EF-4E18-AB40-01AC8C90C68C}" type="presParOf" srcId="{22FFBADD-2EFE-4B9D-81A6-FC3147A15405}" destId="{042F5B19-42BF-45B4-A902-C7B5984985F9}" srcOrd="1" destOrd="0" presId="urn:microsoft.com/office/officeart/2005/8/layout/chevron2"/>
    <dgm:cxn modelId="{947A5397-D734-4F99-B32B-8E03335D4794}" type="presParOf" srcId="{7086F1AB-2308-49F2-A508-43D13F9A2C49}" destId="{4759897B-F9FE-40DC-A23A-F0AF34D8A8F9}" srcOrd="1" destOrd="0" presId="urn:microsoft.com/office/officeart/2005/8/layout/chevron2"/>
    <dgm:cxn modelId="{1EF997E6-2478-42C8-B936-70ACA35DE7AD}" type="presParOf" srcId="{7086F1AB-2308-49F2-A508-43D13F9A2C49}" destId="{6273ED78-8303-4DF0-9C2B-9F4326784149}" srcOrd="2" destOrd="0" presId="urn:microsoft.com/office/officeart/2005/8/layout/chevron2"/>
    <dgm:cxn modelId="{3EFB0C97-5595-470A-A72B-3ED5812256BE}" type="presParOf" srcId="{6273ED78-8303-4DF0-9C2B-9F4326784149}" destId="{0BAF2564-61D3-4913-9D97-419287D15CFC}" srcOrd="0" destOrd="0" presId="urn:microsoft.com/office/officeart/2005/8/layout/chevron2"/>
    <dgm:cxn modelId="{D3E6324D-172B-4FAD-9B57-E4E13E037472}" type="presParOf" srcId="{6273ED78-8303-4DF0-9C2B-9F4326784149}" destId="{6D2FB178-9773-46D2-B4EB-5EBC7A2E7F35}" srcOrd="1" destOrd="0" presId="urn:microsoft.com/office/officeart/2005/8/layout/chevron2"/>
    <dgm:cxn modelId="{A875883E-905E-4478-A0F6-785B4F5BA2C2}" type="presParOf" srcId="{7086F1AB-2308-49F2-A508-43D13F9A2C49}" destId="{ABBEF323-8EFF-4D6E-A68F-B06844E6AF6B}" srcOrd="3" destOrd="0" presId="urn:microsoft.com/office/officeart/2005/8/layout/chevron2"/>
    <dgm:cxn modelId="{E306B951-6229-43B7-90D6-C560AD81BDAE}" type="presParOf" srcId="{7086F1AB-2308-49F2-A508-43D13F9A2C49}" destId="{344319C4-8BE9-457D-85A3-78E9FE66A491}" srcOrd="4" destOrd="0" presId="urn:microsoft.com/office/officeart/2005/8/layout/chevron2"/>
    <dgm:cxn modelId="{F9CA31E2-9A43-45F6-9AEF-3B59A7C1F340}" type="presParOf" srcId="{344319C4-8BE9-457D-85A3-78E9FE66A491}" destId="{33D278D5-1D67-4AE3-A291-9DDD38F374FD}" srcOrd="0" destOrd="0" presId="urn:microsoft.com/office/officeart/2005/8/layout/chevron2"/>
    <dgm:cxn modelId="{D1EF756A-3D40-45BE-BAF9-F0B0B4AF004B}" type="presParOf" srcId="{344319C4-8BE9-457D-85A3-78E9FE66A491}" destId="{0352CD36-FF5E-4B76-B6F9-B88E8D448A8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E008FC-0267-4C53-A7CD-0B51FEC6EFA5}">
      <dsp:nvSpPr>
        <dsp:cNvPr id="0" name=""/>
        <dsp:cNvSpPr/>
      </dsp:nvSpPr>
      <dsp:spPr>
        <a:xfrm rot="5400000">
          <a:off x="-268600" y="269600"/>
          <a:ext cx="1790669" cy="1253468"/>
        </a:xfrm>
        <a:prstGeom prst="chevron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>
              <a:solidFill>
                <a:srgbClr val="FF0000"/>
              </a:solidFill>
            </a:rPr>
            <a:t>Распад империи Чингисхана</a:t>
          </a:r>
        </a:p>
      </dsp:txBody>
      <dsp:txXfrm rot="-5400000">
        <a:off x="1" y="627733"/>
        <a:ext cx="1253468" cy="537201"/>
      </dsp:txXfrm>
    </dsp:sp>
    <dsp:sp modelId="{042F5B19-42BF-45B4-A902-C7B5984985F9}">
      <dsp:nvSpPr>
        <dsp:cNvPr id="0" name=""/>
        <dsp:cNvSpPr/>
      </dsp:nvSpPr>
      <dsp:spPr>
        <a:xfrm rot="5400000">
          <a:off x="4581841" y="-3327372"/>
          <a:ext cx="1163935" cy="7820681"/>
        </a:xfrm>
        <a:prstGeom prst="round2Same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/>
        </a:scene3d>
        <a:sp3d>
          <a:bevelT prst="relaxedInset"/>
        </a:sp3d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в 60-х гг. XIII века Хулагу, захватив Иран, перенес туда столицу и положил начало новой династии иранских правителей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в 80-е – 90-е гг. – </a:t>
          </a:r>
          <a:r>
            <a:rPr lang="ru-RU" sz="1600" kern="1200" dirty="0" err="1"/>
            <a:t>Кубилай</a:t>
          </a:r>
          <a:r>
            <a:rPr lang="ru-RU" sz="1600" kern="1200" dirty="0"/>
            <a:t> основал в Пекине собственную - юанскую - династию</a:t>
          </a:r>
        </a:p>
      </dsp:txBody>
      <dsp:txXfrm rot="-5400000">
        <a:off x="1253469" y="57819"/>
        <a:ext cx="7763862" cy="1050297"/>
      </dsp:txXfrm>
    </dsp:sp>
    <dsp:sp modelId="{0BAF2564-61D3-4913-9D97-419287D15CFC}">
      <dsp:nvSpPr>
        <dsp:cNvPr id="0" name=""/>
        <dsp:cNvSpPr/>
      </dsp:nvSpPr>
      <dsp:spPr>
        <a:xfrm rot="5400000">
          <a:off x="-268600" y="1868021"/>
          <a:ext cx="1790669" cy="1253468"/>
        </a:xfrm>
        <a:prstGeom prst="chevron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>
              <a:solidFill>
                <a:srgbClr val="FF0000"/>
              </a:solidFill>
            </a:rPr>
            <a:t>Принятие мусульманства </a:t>
          </a:r>
        </a:p>
      </dsp:txBody>
      <dsp:txXfrm rot="-5400000">
        <a:off x="1" y="2226154"/>
        <a:ext cx="1253468" cy="537201"/>
      </dsp:txXfrm>
    </dsp:sp>
    <dsp:sp modelId="{6D2FB178-9773-46D2-B4EB-5EBC7A2E7F35}">
      <dsp:nvSpPr>
        <dsp:cNvPr id="0" name=""/>
        <dsp:cNvSpPr/>
      </dsp:nvSpPr>
      <dsp:spPr>
        <a:xfrm rot="5400000">
          <a:off x="4581841" y="-1728951"/>
          <a:ext cx="1163935" cy="7820681"/>
        </a:xfrm>
        <a:prstGeom prst="round2Same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/>
        </a:scene3d>
        <a:sp3d>
          <a:bevelT prst="relaxedInset"/>
        </a:sp3d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II </a:t>
          </a:r>
          <a:r>
            <a:rPr lang="ru-RU" sz="1600" kern="1200" dirty="0"/>
            <a:t>четверть </a:t>
          </a:r>
          <a:r>
            <a:rPr lang="en-US" sz="1600" kern="1200" dirty="0"/>
            <a:t>XIV </a:t>
          </a:r>
          <a:r>
            <a:rPr lang="ru-RU" sz="1600" kern="1200" dirty="0"/>
            <a:t>века: хан Золотой Орды Узбек сам принимает мусульманство и принуждает к этому своих чиновников и войска.</a:t>
          </a:r>
        </a:p>
      </dsp:txBody>
      <dsp:txXfrm rot="-5400000">
        <a:off x="1253469" y="1656240"/>
        <a:ext cx="7763862" cy="1050297"/>
      </dsp:txXfrm>
    </dsp:sp>
    <dsp:sp modelId="{33D278D5-1D67-4AE3-A291-9DDD38F374FD}">
      <dsp:nvSpPr>
        <dsp:cNvPr id="0" name=""/>
        <dsp:cNvSpPr/>
      </dsp:nvSpPr>
      <dsp:spPr>
        <a:xfrm rot="5400000">
          <a:off x="-268600" y="3466442"/>
          <a:ext cx="1790669" cy="1253468"/>
        </a:xfrm>
        <a:prstGeom prst="chevron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>
              <a:solidFill>
                <a:srgbClr val="FF0000"/>
              </a:solidFill>
            </a:rPr>
            <a:t>«Замятня» в Орде</a:t>
          </a:r>
        </a:p>
      </dsp:txBody>
      <dsp:txXfrm rot="-5400000">
        <a:off x="1" y="3824575"/>
        <a:ext cx="1253468" cy="537201"/>
      </dsp:txXfrm>
    </dsp:sp>
    <dsp:sp modelId="{0352CD36-FF5E-4B76-B6F9-B88E8D448A86}">
      <dsp:nvSpPr>
        <dsp:cNvPr id="0" name=""/>
        <dsp:cNvSpPr/>
      </dsp:nvSpPr>
      <dsp:spPr>
        <a:xfrm rot="5400000">
          <a:off x="4581841" y="-130530"/>
          <a:ext cx="1163935" cy="7820681"/>
        </a:xfrm>
        <a:prstGeom prst="round2Same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/>
        </a:scene3d>
        <a:sp3d>
          <a:bevelT prst="relaxedInset"/>
        </a:sp3d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1346 год: приход чумы из Китая;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1359 год: свержение хана Бердибека и 20 лет междоусобной борьбы за власть в Золотой орде.</a:t>
          </a:r>
        </a:p>
      </dsp:txBody>
      <dsp:txXfrm rot="-5400000">
        <a:off x="1253469" y="3254661"/>
        <a:ext cx="7763862" cy="10502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ru-RU" sz="1400" b="0" i="0" u="none" strike="noStrike" kern="1200" dirty="0">
              <a:ln>
                <a:noFill/>
              </a:ln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3" name="Дата 2"/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ru-RU" sz="1400" b="0" i="0" u="none" strike="noStrike" kern="1200" dirty="0">
              <a:ln>
                <a:noFill/>
              </a:ln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4" name="Нижний колонтитул 3"/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ru-RU" sz="1400" b="0" i="0" u="none" strike="noStrike" kern="1200" dirty="0">
              <a:ln>
                <a:noFill/>
              </a:ln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5" name="Номер слайда 4"/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/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8D9FB39C-4144-4D67-933D-4FF7182AC650}" type="slidenum">
              <a:t>‹#›</a:t>
            </a:fld>
            <a:endParaRPr lang="ru-RU" sz="1400" b="0" i="0" u="none" strike="noStrike" kern="1200" dirty="0">
              <a:ln>
                <a:noFill/>
              </a:ln>
              <a:latin typeface="Arial" pitchFamily="18"/>
              <a:ea typeface="Microsoft YaHei" pitchFamily="2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42053184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4" name="Верхний колонтитул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/>
          <a:lstStyle>
            <a:lvl1pPr lvl="0" rtl="0" hangingPunct="0">
              <a:buNone/>
              <a:tabLst/>
              <a:defRPr lang="ru-RU" sz="1400" kern="1200">
                <a:latin typeface="Times New Roman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5" name="Дата 4"/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/>
          <a:lstStyle>
            <a:lvl1pPr lvl="0" algn="r" rtl="0" hangingPunct="0">
              <a:buNone/>
              <a:tabLst/>
              <a:defRPr lang="ru-RU" sz="1400" kern="1200">
                <a:latin typeface="Times New Roman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/>
          <a:lstStyle>
            <a:lvl1pPr lvl="0" rtl="0" hangingPunct="0">
              <a:buNone/>
              <a:tabLst/>
              <a:defRPr lang="ru-RU" sz="1400" kern="1200">
                <a:latin typeface="Times New Roman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/>
          <a:lstStyle>
            <a:lvl1pPr lvl="0" algn="r" rtl="0" hangingPunct="0">
              <a:buNone/>
              <a:tabLst/>
              <a:defRPr lang="ru-RU" sz="1400" kern="1200">
                <a:latin typeface="Times New Roman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fld id="{6315B421-FD26-4A14-B37C-52D613660465}" type="slidenum"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9521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ru-RU" sz="2000" b="0" i="0" u="none" strike="noStrike" kern="1200">
        <a:ln>
          <a:noFill/>
        </a:ln>
        <a:latin typeface="Arial" pitchFamily="18"/>
        <a:ea typeface="Microsoft YaHei" pitchFamily="2"/>
        <a:cs typeface="Mangal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6047" y="671972"/>
            <a:ext cx="8568531" cy="470379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094" y="5459765"/>
            <a:ext cx="7056438" cy="1343942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/>
            <a:fld id="{370659CE-5A89-42E5-BC3D-A00CAF872FD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lvl="0"/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757CDEF-7F7C-4B1D-9846-CE9DDC2F601D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300" y="1511936"/>
            <a:ext cx="8568531" cy="2761381"/>
          </a:xfrm>
        </p:spPr>
        <p:txBody>
          <a:bodyPr anchor="b"/>
          <a:lstStyle>
            <a:lvl1pPr algn="ctr" defTabSz="100794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3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300" y="4485058"/>
            <a:ext cx="8568531" cy="1247696"/>
          </a:xfrm>
        </p:spPr>
        <p:txBody>
          <a:bodyPr anchor="t"/>
          <a:lstStyle>
            <a:lvl1pPr marL="0" indent="0" algn="ct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50397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22F4C69-B15D-4E6D-93E0-8D39F743B726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4956307" y="4325814"/>
            <a:ext cx="93455" cy="934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794" tIns="50397" rIns="100794" bIns="50397"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5176821" y="4325814"/>
            <a:ext cx="93455" cy="934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794" tIns="50397" rIns="100794" bIns="50397"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4736844" y="4325814"/>
            <a:ext cx="93455" cy="934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794" tIns="50397" rIns="100794" bIns="50397"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4318" y="1763925"/>
            <a:ext cx="4452276" cy="4989036"/>
          </a:xfrm>
        </p:spPr>
        <p:txBody>
          <a:bodyPr/>
          <a:lstStyle>
            <a:lvl1pPr>
              <a:defRPr sz="26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1CC034A-481F-4012-A51E-37BF6A41D01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3225" y="1763924"/>
            <a:ext cx="4455636" cy="498938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763924"/>
            <a:ext cx="4454027" cy="671971"/>
          </a:xfrm>
        </p:spPr>
        <p:txBody>
          <a:bodyPr anchor="b">
            <a:noAutofit/>
          </a:bodyPr>
          <a:lstStyle>
            <a:lvl1pPr marL="0" indent="0" algn="ctr">
              <a:buNone/>
              <a:defRPr sz="2600" b="0"/>
            </a:lvl1pPr>
            <a:lvl2pPr marL="503972" indent="0">
              <a:buNone/>
              <a:defRPr sz="2200" b="1"/>
            </a:lvl2pPr>
            <a:lvl3pPr marL="1007943" indent="0">
              <a:buNone/>
              <a:defRPr sz="2000" b="1"/>
            </a:lvl3pPr>
            <a:lvl4pPr marL="1511915" indent="0">
              <a:buNone/>
              <a:defRPr sz="1800" b="1"/>
            </a:lvl4pPr>
            <a:lvl5pPr marL="2015886" indent="0">
              <a:buNone/>
              <a:defRPr sz="1800" b="1"/>
            </a:lvl5pPr>
            <a:lvl6pPr marL="2519858" indent="0">
              <a:buNone/>
              <a:defRPr sz="1800" b="1"/>
            </a:lvl6pPr>
            <a:lvl7pPr marL="3023829" indent="0">
              <a:buNone/>
              <a:defRPr sz="1800" b="1"/>
            </a:lvl7pPr>
            <a:lvl8pPr marL="3527801" indent="0">
              <a:buNone/>
              <a:defRPr sz="1800" b="1"/>
            </a:lvl8pPr>
            <a:lvl9pPr marL="4031772" indent="0">
              <a:buNone/>
              <a:defRPr sz="18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4318" y="1763924"/>
            <a:ext cx="4455776" cy="671971"/>
          </a:xfrm>
        </p:spPr>
        <p:txBody>
          <a:bodyPr anchor="b">
            <a:noAutofit/>
          </a:bodyPr>
          <a:lstStyle>
            <a:lvl1pPr marL="0" indent="0" algn="ctr">
              <a:buNone/>
              <a:defRPr sz="2600" b="0"/>
            </a:lvl1pPr>
            <a:lvl2pPr marL="503972" indent="0">
              <a:buNone/>
              <a:defRPr sz="2200" b="1"/>
            </a:lvl2pPr>
            <a:lvl3pPr marL="1007943" indent="0">
              <a:buNone/>
              <a:defRPr sz="2000" b="1"/>
            </a:lvl3pPr>
            <a:lvl4pPr marL="1511915" indent="0">
              <a:buNone/>
              <a:defRPr sz="1800" b="1"/>
            </a:lvl4pPr>
            <a:lvl5pPr marL="2015886" indent="0">
              <a:buNone/>
              <a:defRPr sz="1800" b="1"/>
            </a:lvl5pPr>
            <a:lvl6pPr marL="2519858" indent="0">
              <a:buNone/>
              <a:defRPr sz="1800" b="1"/>
            </a:lvl6pPr>
            <a:lvl7pPr marL="3023829" indent="0">
              <a:buNone/>
              <a:defRPr sz="1800" b="1"/>
            </a:lvl7pPr>
            <a:lvl8pPr marL="3527801" indent="0">
              <a:buNone/>
              <a:defRPr sz="1800" b="1"/>
            </a:lvl8pPr>
            <a:lvl9pPr marL="4031772" indent="0">
              <a:buNone/>
              <a:defRPr sz="18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94F4A10-5F9D-4101-ADCE-5E6CF71CFB7D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504031" y="2439255"/>
            <a:ext cx="4455636" cy="431405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5151200" y="2439256"/>
            <a:ext cx="4455636" cy="431356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80400AB-10BB-49E9-9263-E9439A246EEB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9DDC0F9-F816-4B95-814E-EA89F9EC10B3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12154" y="293987"/>
            <a:ext cx="3316456" cy="2309901"/>
          </a:xfrm>
        </p:spPr>
        <p:txBody>
          <a:bodyPr anchor="b"/>
          <a:lstStyle>
            <a:lvl1pPr algn="ctr">
              <a:lnSpc>
                <a:spcPct val="100000"/>
              </a:lnSpc>
              <a:defRPr sz="31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799" y="300988"/>
            <a:ext cx="5507592" cy="6451973"/>
          </a:xfrm>
        </p:spPr>
        <p:txBody>
          <a:bodyPr/>
          <a:lstStyle>
            <a:lvl1pPr>
              <a:defRPr sz="3500"/>
            </a:lvl1pPr>
            <a:lvl2pPr>
              <a:defRPr sz="31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2154" y="2687885"/>
            <a:ext cx="3316456" cy="4065076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800"/>
            </a:lvl1pPr>
            <a:lvl2pPr marL="503972" indent="0">
              <a:buNone/>
              <a:defRPr sz="1300"/>
            </a:lvl2pPr>
            <a:lvl3pPr marL="1007943" indent="0">
              <a:buNone/>
              <a:defRPr sz="1100"/>
            </a:lvl3pPr>
            <a:lvl4pPr marL="1511915" indent="0">
              <a:buNone/>
              <a:defRPr sz="1000"/>
            </a:lvl4pPr>
            <a:lvl5pPr marL="2015886" indent="0">
              <a:buNone/>
              <a:defRPr sz="1000"/>
            </a:lvl5pPr>
            <a:lvl6pPr marL="2519858" indent="0">
              <a:buNone/>
              <a:defRPr sz="1000"/>
            </a:lvl6pPr>
            <a:lvl7pPr marL="3023829" indent="0">
              <a:buNone/>
              <a:defRPr sz="1000"/>
            </a:lvl7pPr>
            <a:lvl8pPr marL="3527801" indent="0">
              <a:buNone/>
              <a:defRPr sz="1000"/>
            </a:lvl8pPr>
            <a:lvl9pPr marL="4031772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24A3802-6A4C-473B-B383-10F3F53169D9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1616" y="251989"/>
            <a:ext cx="6296889" cy="986958"/>
          </a:xfrm>
        </p:spPr>
        <p:txBody>
          <a:bodyPr anchor="b"/>
          <a:lstStyle>
            <a:lvl1pPr algn="ctr">
              <a:lnSpc>
                <a:spcPct val="100000"/>
              </a:lnSpc>
              <a:defRPr sz="31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2604" y="1259946"/>
            <a:ext cx="6674913" cy="5005660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500"/>
            </a:lvl1pPr>
            <a:lvl2pPr marL="503972" indent="0">
              <a:buNone/>
              <a:defRPr sz="3100"/>
            </a:lvl2pPr>
            <a:lvl3pPr marL="1007943" indent="0">
              <a:buNone/>
              <a:defRPr sz="2600"/>
            </a:lvl3pPr>
            <a:lvl4pPr marL="1511915" indent="0">
              <a:buNone/>
              <a:defRPr sz="2200"/>
            </a:lvl4pPr>
            <a:lvl5pPr marL="2015886" indent="0">
              <a:buNone/>
              <a:defRPr sz="2200"/>
            </a:lvl5pPr>
            <a:lvl6pPr marL="2519858" indent="0">
              <a:buNone/>
              <a:defRPr sz="2200"/>
            </a:lvl6pPr>
            <a:lvl7pPr marL="3023829" indent="0">
              <a:buNone/>
              <a:defRPr sz="2200"/>
            </a:lvl7pPr>
            <a:lvl8pPr marL="3527801" indent="0">
              <a:buNone/>
              <a:defRPr sz="2200"/>
            </a:lvl8pPr>
            <a:lvl9pPr marL="4031772" indent="0">
              <a:buNone/>
              <a:defRPr sz="22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51616" y="6404725"/>
            <a:ext cx="6296889" cy="587975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503972" indent="0">
              <a:buNone/>
              <a:defRPr sz="1300"/>
            </a:lvl2pPr>
            <a:lvl3pPr marL="1007943" indent="0">
              <a:buNone/>
              <a:defRPr sz="1100"/>
            </a:lvl3pPr>
            <a:lvl4pPr marL="1511915" indent="0">
              <a:buNone/>
              <a:defRPr sz="1000"/>
            </a:lvl4pPr>
            <a:lvl5pPr marL="2015886" indent="0">
              <a:buNone/>
              <a:defRPr sz="1000"/>
            </a:lvl5pPr>
            <a:lvl6pPr marL="2519858" indent="0">
              <a:buNone/>
              <a:defRPr sz="1000"/>
            </a:lvl6pPr>
            <a:lvl7pPr marL="3023829" indent="0">
              <a:buNone/>
              <a:defRPr sz="1000"/>
            </a:lvl7pPr>
            <a:lvl8pPr marL="3527801" indent="0">
              <a:buNone/>
              <a:defRPr sz="1000"/>
            </a:lvl8pPr>
            <a:lvl9pPr marL="4031772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CB46EAF-627E-422D-B154-9D6D983F62EE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4E3ADDE-1295-4E75-BC23-01AC3BA015BD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453" y="302738"/>
            <a:ext cx="2268141" cy="6450223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4031" y="302738"/>
            <a:ext cx="6636411" cy="645022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FAC31B9-304E-4372-9829-CEE07E197718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031" y="0"/>
            <a:ext cx="9072563" cy="1763924"/>
          </a:xfrm>
          <a:prstGeom prst="rect">
            <a:avLst/>
          </a:prstGeom>
        </p:spPr>
        <p:txBody>
          <a:bodyPr vert="horz" lIns="100794" tIns="50397" rIns="100794" bIns="50397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763925"/>
            <a:ext cx="9072563" cy="4989036"/>
          </a:xfrm>
          <a:prstGeom prst="rect">
            <a:avLst/>
          </a:prstGeom>
        </p:spPr>
        <p:txBody>
          <a:bodyPr vert="horz" lIns="100794" tIns="50397" rIns="100794" bIns="50397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15149" y="7006699"/>
            <a:ext cx="2299643" cy="402483"/>
          </a:xfrm>
          <a:prstGeom prst="rect">
            <a:avLst/>
          </a:prstGeom>
        </p:spPr>
        <p:txBody>
          <a:bodyPr vert="horz" lIns="100794" tIns="50397" rIns="50397" bIns="50397" rtlCol="0" anchor="ctr"/>
          <a:lstStyle>
            <a:lvl1pPr algn="r">
              <a:defRPr sz="13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6684" y="7006699"/>
            <a:ext cx="3139695" cy="402483"/>
          </a:xfrm>
          <a:prstGeom prst="rect">
            <a:avLst/>
          </a:prstGeom>
        </p:spPr>
        <p:txBody>
          <a:bodyPr vert="horz" lIns="50397" tIns="50397" rIns="100794" bIns="50397" rtlCol="0" anchor="ctr"/>
          <a:lstStyle>
            <a:lvl1pPr algn="l">
              <a:defRPr sz="13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18371" y="7006699"/>
            <a:ext cx="619538" cy="402483"/>
          </a:xfrm>
          <a:prstGeom prst="rect">
            <a:avLst/>
          </a:prstGeom>
        </p:spPr>
        <p:txBody>
          <a:bodyPr vert="horz" lIns="30238" tIns="50397" rIns="50397" bIns="50397" rtlCol="0" anchor="ctr"/>
          <a:lstStyle>
            <a:lvl1pPr algn="l">
              <a:defRPr sz="13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lvl="0"/>
            <a:fld id="{56A3DED6-126D-4785-A473-457C8C90DBA9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9324093" y="7164367"/>
            <a:ext cx="93455" cy="934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794" tIns="50397" rIns="100794" bIns="50397" rtlCol="0" anchor="ctr"/>
          <a:lstStyle/>
          <a:p>
            <a:pPr marL="0" algn="ctr" defTabSz="1007943" rtl="0" eaLnBrk="1" latinLnBrk="0" hangingPunct="1"/>
            <a:endParaRPr lang="en-US" sz="2000" kern="1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627414" y="7164367"/>
            <a:ext cx="93455" cy="934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794" tIns="50397" rIns="100794" bIns="50397" rtlCol="0" anchor="ctr"/>
          <a:lstStyle/>
          <a:p>
            <a:pPr algn="ctr"/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007943" rtl="0" eaLnBrk="1" latinLnBrk="0" hangingPunct="1">
        <a:lnSpc>
          <a:spcPts val="6393"/>
        </a:lnSpc>
        <a:spcBef>
          <a:spcPct val="0"/>
        </a:spcBef>
        <a:buNone/>
        <a:defRPr sz="60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77979" indent="-377979" algn="l" defTabSz="1007943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818954" indent="-314982" algn="l" defTabSz="1007943" rtl="0" eaLnBrk="1" latinLnBrk="0" hangingPunct="1">
        <a:spcBef>
          <a:spcPct val="20000"/>
        </a:spcBef>
        <a:buFont typeface="Courier New" pitchFamily="49" charset="0"/>
        <a:buChar char="o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259929" indent="-251986" algn="l" defTabSz="1007943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763900" indent="-251986" algn="l" defTabSz="1007943" rtl="0" eaLnBrk="1" latinLnBrk="0" hangingPunct="1">
        <a:spcBef>
          <a:spcPct val="20000"/>
        </a:spcBef>
        <a:buFont typeface="Courier New" pitchFamily="49" charset="0"/>
        <a:buChar char="o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267872" indent="-251986" algn="l" defTabSz="1007943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771844" indent="-251986" algn="l" defTabSz="1007943" rtl="0" eaLnBrk="1" latinLnBrk="0" hangingPunct="1">
        <a:spcBef>
          <a:spcPct val="20000"/>
        </a:spcBef>
        <a:buFont typeface="Courier New" pitchFamily="49" charset="0"/>
        <a:buChar char="o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3275815" indent="-251986" algn="l" defTabSz="1007943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779787" indent="-251986" algn="l" defTabSz="1007943" rtl="0" eaLnBrk="1" latinLnBrk="0" hangingPunct="1">
        <a:spcBef>
          <a:spcPct val="20000"/>
        </a:spcBef>
        <a:buFont typeface="Courier New" pitchFamily="49" charset="0"/>
        <a:buChar char="o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4283758" indent="-251986" algn="l" defTabSz="1007943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791840" y="1331565"/>
            <a:ext cx="8569325" cy="1620837"/>
          </a:xfrm>
        </p:spPr>
        <p:txBody>
          <a:bodyPr/>
          <a:lstStyle/>
          <a:p>
            <a:pPr>
              <a:buNone/>
            </a:pPr>
            <a:r>
              <a:rPr lang="ru-RU" sz="5400" dirty="0"/>
              <a:t>История России</a:t>
            </a:r>
          </a:p>
        </p:txBody>
      </p:sp>
      <p:sp>
        <p:nvSpPr>
          <p:cNvPr id="2" name="Подзаголовок 1"/>
          <p:cNvSpPr txBox="1">
            <a:spLocks noGrp="1"/>
          </p:cNvSpPr>
          <p:nvPr>
            <p:ph type="subTitle" idx="1"/>
          </p:nvPr>
        </p:nvSpPr>
        <p:spPr>
          <a:xfrm>
            <a:off x="1511920" y="3275781"/>
            <a:ext cx="7056437" cy="1931988"/>
          </a:xfrm>
        </p:spPr>
        <p:txBody>
          <a:bodyPr anchor="ctr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lvl="0" indent="0" algn="ctr">
              <a:buNone/>
            </a:pPr>
            <a:r>
              <a:rPr lang="ru-RU">
                <a:solidFill>
                  <a:schemeClr val="tx1"/>
                </a:solidFill>
              </a:rPr>
              <a:t>Лекция 5</a:t>
            </a:r>
            <a:endParaRPr lang="ru-RU" dirty="0">
              <a:solidFill>
                <a:schemeClr val="tx1"/>
              </a:solidFill>
            </a:endParaRPr>
          </a:p>
          <a:p>
            <a:pPr lvl="0">
              <a:buNone/>
            </a:pPr>
            <a:r>
              <a:rPr lang="ru-RU" dirty="0">
                <a:solidFill>
                  <a:schemeClr val="tx1"/>
                </a:solidFill>
              </a:rPr>
              <a:t>Северо-Восточная Русь</a:t>
            </a:r>
          </a:p>
          <a:p>
            <a:pPr lvl="0">
              <a:buNone/>
            </a:pPr>
            <a:r>
              <a:rPr lang="ru-RU" dirty="0">
                <a:solidFill>
                  <a:schemeClr val="tx1"/>
                </a:solidFill>
              </a:rPr>
              <a:t>под властью Орды</a:t>
            </a:r>
          </a:p>
          <a:p>
            <a:pPr lvl="0">
              <a:buNone/>
            </a:pPr>
            <a:r>
              <a:rPr lang="ru-RU" dirty="0">
                <a:solidFill>
                  <a:schemeClr val="tx1"/>
                </a:solidFill>
              </a:rPr>
              <a:t>(II треть XIII — к. XV вв.)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0" y="301625"/>
            <a:ext cx="9072563" cy="814388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3600" dirty="0"/>
              <a:t>Кочевая цивилизация: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1009651" y="1187450"/>
            <a:ext cx="8279134" cy="4989513"/>
          </a:xfrm>
        </p:spPr>
        <p:txBody>
          <a:bodyPr>
            <a:normAutofit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600" dirty="0"/>
              <a:t>Не способна к устойчивому развитию, поскольку исключает вариативность деятельности по получению благ.</a:t>
            </a:r>
          </a:p>
          <a:p>
            <a:pPr lvl="0"/>
            <a:r>
              <a:rPr lang="ru-RU" sz="2600" dirty="0"/>
              <a:t>Достигает стадии вождества или «суперсложного вождества», в котором переходит к захватам территорий.</a:t>
            </a:r>
          </a:p>
          <a:p>
            <a:pPr lvl="0"/>
            <a:r>
              <a:rPr lang="ru-RU" sz="2600" dirty="0"/>
              <a:t>Существование КЦ прямо зависит от способности к новым захватам.</a:t>
            </a:r>
          </a:p>
          <a:p>
            <a:pPr lvl="0"/>
            <a:r>
              <a:rPr lang="ru-RU" sz="2600" dirty="0"/>
              <a:t>Когда новые захваты невозможны, возникает «цивилизационная развилка» при взаимодействии КЦ с аграрными цивилизациями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647824" y="301625"/>
            <a:ext cx="8424739" cy="957932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lang="ru-RU" sz="2800" dirty="0"/>
              <a:t>Варианты взаимодействия кочевой цивилизации с аграрной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1009651" y="1619597"/>
            <a:ext cx="7991102" cy="5039966"/>
          </a:xfrm>
        </p:spPr>
        <p:txBody>
          <a:bodyPr>
            <a:normAutofit fontScale="92500"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200" dirty="0"/>
              <a:t>Захват власти в аграрной цивилизации с последующим «растворение» среди местного населения (монголы в Китае, Индии).</a:t>
            </a:r>
          </a:p>
          <a:p>
            <a:pPr lvl="0"/>
            <a:r>
              <a:rPr lang="ru-RU" sz="2200" dirty="0"/>
              <a:t>Сохранение двух культур: элиты (завоевателей) и подданных, при условии, что культура завоевателей эволюционирует  в сторону аграрной цивилизации (арабы в Малой Азии, арии в Индии, маньчжуры в Китае).</a:t>
            </a:r>
          </a:p>
          <a:p>
            <a:pPr lvl="0"/>
            <a:r>
              <a:rPr lang="ru-RU" sz="2200" dirty="0"/>
              <a:t>Разрушение аграрной цивилизации и ее уничтожение (монголы в Средней Азии и в Волжской </a:t>
            </a:r>
            <a:r>
              <a:rPr lang="ru-RU" sz="2200" dirty="0" err="1"/>
              <a:t>Булгарии</a:t>
            </a:r>
            <a:r>
              <a:rPr lang="ru-RU" sz="2200" dirty="0"/>
              <a:t>).</a:t>
            </a:r>
          </a:p>
          <a:p>
            <a:pPr lvl="0"/>
            <a:r>
              <a:rPr lang="ru-RU" sz="2200" dirty="0"/>
              <a:t>Кочевникам не удается захватить территорию аграрной цивилизации, но они получают доходы за счет постоянного военного давления (гунны).</a:t>
            </a:r>
          </a:p>
          <a:p>
            <a:pPr lvl="0"/>
            <a:r>
              <a:rPr lang="ru-RU" sz="2200" dirty="0"/>
              <a:t>Кочевники обращают народ аграрной цивилизации в своего данника (хазары и монголы на Руси).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0" y="301625"/>
            <a:ext cx="9072563" cy="669925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3200" dirty="0"/>
              <a:t>Монгольская Орда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719832" y="971550"/>
            <a:ext cx="8352731" cy="5111750"/>
          </a:xfrm>
        </p:spPr>
        <p:txBody>
          <a:bodyPr>
            <a:normAutofit fontScale="92500"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400" dirty="0"/>
              <a:t>С 1206 г. - во главе объединенных монгольских племен — Темучжин (с титулом Чингисхан).</a:t>
            </a:r>
          </a:p>
          <a:p>
            <a:pPr lvl="0"/>
            <a:r>
              <a:rPr lang="ru-RU" sz="2400" dirty="0"/>
              <a:t>12011 — монголы подчинили соседние племена: бурят, уйгуров, киргизов.</a:t>
            </a:r>
          </a:p>
          <a:p>
            <a:pPr lvl="0"/>
            <a:r>
              <a:rPr lang="ru-RU" sz="2400" dirty="0"/>
              <a:t>1215 — захват Пекина и северной части Китая.</a:t>
            </a:r>
          </a:p>
          <a:p>
            <a:pPr lvl="0"/>
            <a:r>
              <a:rPr lang="ru-RU" sz="2400" dirty="0"/>
              <a:t>1219-1220 — захват государства Хорезмшахов.</a:t>
            </a:r>
          </a:p>
          <a:p>
            <a:pPr lvl="0"/>
            <a:r>
              <a:rPr lang="ru-RU" sz="2400" dirty="0"/>
              <a:t>1221 — поход отряда Джебе и Субудея в Закавказье, Иран, Половецкие степи и Булгар. 31 мая — сражение на Калке.</a:t>
            </a:r>
          </a:p>
          <a:p>
            <a:pPr lvl="0"/>
            <a:r>
              <a:rPr lang="ru-RU" sz="2400" dirty="0"/>
              <a:t>1235  - внук Чингисхана Бату-хан объявлен главой войск «западного улуса».</a:t>
            </a:r>
          </a:p>
          <a:p>
            <a:pPr lvl="0"/>
            <a:r>
              <a:rPr lang="ru-RU" sz="2400" dirty="0"/>
              <a:t>1236 — Разгром Булгарии.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2087983" y="265113"/>
            <a:ext cx="6048673" cy="625475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3600" dirty="0"/>
              <a:t>Походы Батыя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087984" y="1225800"/>
            <a:ext cx="6264695" cy="5628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0" y="301625"/>
            <a:ext cx="9072563" cy="741363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3600" dirty="0"/>
              <a:t>Последствия «батыева разорения»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575816" y="1258888"/>
            <a:ext cx="8496747" cy="4989512"/>
          </a:xfrm>
        </p:spPr>
        <p:txBody>
          <a:bodyPr/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600" dirty="0"/>
              <a:t>Сокращение населения (по примерным подсчетам) на треть.</a:t>
            </a:r>
          </a:p>
          <a:p>
            <a:pPr lvl="0"/>
            <a:r>
              <a:rPr lang="ru-RU" sz="2600" dirty="0"/>
              <a:t>«Запустение» сельскохозяйственных земель, особенно Малой Руси.</a:t>
            </a:r>
          </a:p>
          <a:p>
            <a:pPr lvl="0"/>
            <a:r>
              <a:rPr lang="ru-RU" sz="2600" dirty="0"/>
              <a:t>Сокращение количества городов наполовину.</a:t>
            </a:r>
          </a:p>
          <a:p>
            <a:pPr lvl="0"/>
            <a:r>
              <a:rPr lang="ru-RU" sz="2600" dirty="0"/>
              <a:t>Резкое падение ремесленного производства из-за отсутствия ремесленников и спроса.</a:t>
            </a:r>
          </a:p>
          <a:p>
            <a:pPr lvl="0"/>
            <a:r>
              <a:rPr lang="ru-RU" sz="2600" dirty="0"/>
              <a:t>Прекращение общерусской торговли, регионализация экономических интересов.</a:t>
            </a:r>
          </a:p>
          <a:p>
            <a:pPr lvl="0"/>
            <a:r>
              <a:rPr lang="ru-RU" sz="2600" dirty="0"/>
              <a:t>Падение значения «Пути из Варяг в Греки».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863848" y="301625"/>
            <a:ext cx="8208715" cy="814388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3600" dirty="0"/>
              <a:t>Что называется «ордынским игом»?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503808" y="1116013"/>
            <a:ext cx="8568755" cy="4989512"/>
          </a:xfrm>
        </p:spPr>
        <p:txBody>
          <a:bodyPr/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marL="108000" lvl="0" indent="0">
              <a:buNone/>
            </a:pPr>
            <a:r>
              <a:rPr lang="ru-RU" sz="2200" dirty="0"/>
              <a:t>Для сохранения собственной власти князья обязаны получать в Орде </a:t>
            </a:r>
            <a:r>
              <a:rPr lang="ru-RU" sz="2200" b="1" dirty="0"/>
              <a:t>ярлык</a:t>
            </a:r>
            <a:r>
              <a:rPr lang="ru-RU" sz="2200" dirty="0"/>
              <a:t> — документ на право управления. Теперь князья — служебники хана.</a:t>
            </a:r>
          </a:p>
          <a:p>
            <a:pPr marL="108000" lvl="0" indent="0">
              <a:buNone/>
            </a:pPr>
            <a:r>
              <a:rPr lang="ru-RU" sz="2200" dirty="0"/>
              <a:t>В 1350-е годы проведена перепись и установлена сумма </a:t>
            </a:r>
            <a:r>
              <a:rPr lang="ru-RU" sz="2200" b="1" dirty="0"/>
              <a:t>дани</a:t>
            </a:r>
            <a:r>
              <a:rPr lang="ru-RU" sz="2200" dirty="0"/>
              <a:t> с пахотной земли.</a:t>
            </a:r>
          </a:p>
          <a:p>
            <a:pPr marL="108000" lvl="0" indent="0">
              <a:buNone/>
            </a:pPr>
            <a:r>
              <a:rPr lang="ru-RU" sz="2200" dirty="0"/>
              <a:t>В том случае, если хан недоволен действиями князя или размером дани, Орда действует по одному из двух вариантов: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ru-RU" sz="2200" dirty="0"/>
              <a:t>Первый — вызов князя в орду, с последующей казнью и передачей ярлыка другому князю.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ru-RU" sz="2200" dirty="0"/>
              <a:t>Второй — отправление войска в русские земли с приказом убить всех мужчин и забрать все ценное имущество. Минимальная численность такого отряда — 1 тумен.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0" y="301625"/>
            <a:ext cx="9072563" cy="835025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3200" dirty="0"/>
              <a:t>Альтернативные стратегии поведения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575816" y="1331565"/>
            <a:ext cx="4427538" cy="5421313"/>
          </a:xfrm>
        </p:spPr>
        <p:txBody>
          <a:bodyPr/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>
              <a:buNone/>
            </a:pPr>
            <a:r>
              <a:rPr lang="ru-RU" sz="2400" dirty="0"/>
              <a:t>Даниил Галицкий:</a:t>
            </a:r>
          </a:p>
          <a:p>
            <a:pPr lvl="0"/>
            <a:r>
              <a:rPr lang="ru-RU" sz="2000" dirty="0"/>
              <a:t>Во время похода Батыя был в Венгрии и явился в Орду последним из русских князей.</a:t>
            </a:r>
          </a:p>
          <a:p>
            <a:pPr lvl="0"/>
            <a:r>
              <a:rPr lang="ru-RU" sz="2000" dirty="0"/>
              <a:t>Выдал дочь за вел. князя Андрея Ярославича в расчёте на антиордынский союз.</a:t>
            </a:r>
          </a:p>
          <a:p>
            <a:pPr lvl="0"/>
            <a:r>
              <a:rPr lang="ru-RU" sz="2000" dirty="0"/>
              <a:t>Принял титул короля от папы Римского, в надежде на организацию крестового похода.</a:t>
            </a:r>
          </a:p>
          <a:p>
            <a:pPr lvl="0"/>
            <a:r>
              <a:rPr lang="ru-RU" sz="2000" dirty="0"/>
              <a:t>Оказал успешное сопротивление отрядам чингизида Куремсы .</a:t>
            </a:r>
          </a:p>
        </p:txBody>
      </p:sp>
      <p:sp>
        <p:nvSpPr>
          <p:cNvPr id="4" name="Текст 3"/>
          <p:cNvSpPr txBox="1">
            <a:spLocks noGrp="1"/>
          </p:cNvSpPr>
          <p:nvPr>
            <p:ph type="body" idx="4294967295"/>
          </p:nvPr>
        </p:nvSpPr>
        <p:spPr>
          <a:xfrm>
            <a:off x="5328344" y="1331565"/>
            <a:ext cx="4427537" cy="5121275"/>
          </a:xfrm>
        </p:spPr>
        <p:txBody>
          <a:bodyPr>
            <a:normAutofit fontScale="92500"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>
              <a:buNone/>
            </a:pPr>
            <a:r>
              <a:rPr lang="ru-RU" sz="2400" dirty="0"/>
              <a:t>Александр Невский</a:t>
            </a:r>
          </a:p>
          <a:p>
            <a:pPr lvl="0"/>
            <a:r>
              <a:rPr lang="ru-RU" sz="2000" dirty="0"/>
              <a:t>В</a:t>
            </a:r>
            <a:r>
              <a:rPr lang="ru-RU" sz="1800" dirty="0"/>
              <a:t>о время похода Батыя был с отцом и сопротивления не оказывал.</a:t>
            </a:r>
          </a:p>
          <a:p>
            <a:pPr lvl="0"/>
            <a:r>
              <a:rPr lang="ru-RU" sz="1800" dirty="0"/>
              <a:t>Ездил за ярлыком к Батыю и в Каракорум, получил ярлык на Киев, но в нем не остался.</a:t>
            </a:r>
          </a:p>
          <a:p>
            <a:pPr lvl="0"/>
            <a:r>
              <a:rPr lang="ru-RU" sz="1800" dirty="0"/>
              <a:t>Побратался с сыном Батыя Сартаком.</a:t>
            </a:r>
          </a:p>
          <a:p>
            <a:pPr lvl="0"/>
            <a:r>
              <a:rPr lang="ru-RU" sz="1800" dirty="0"/>
              <a:t>Помог Орде провести перепись в Новгородской земле.</a:t>
            </a:r>
          </a:p>
          <a:p>
            <a:pPr lvl="0"/>
            <a:r>
              <a:rPr lang="ru-RU" sz="1800" dirty="0"/>
              <a:t>Договорился о том, что русских людей не будут брать в войско Орды.</a:t>
            </a:r>
          </a:p>
          <a:p>
            <a:pPr lvl="0"/>
            <a:r>
              <a:rPr lang="ru-RU" sz="1800" dirty="0"/>
              <a:t>«Отмолил» в орде брата Андрея, оказавшего сопротивление Неврюю.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323453"/>
            <a:ext cx="9072563" cy="648072"/>
          </a:xfrm>
        </p:spPr>
        <p:txBody>
          <a:bodyPr/>
          <a:lstStyle/>
          <a:p>
            <a:r>
              <a:rPr lang="ru-RU" sz="3600" dirty="0"/>
              <a:t>Угроза с Запада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4031" y="1187549"/>
            <a:ext cx="9072563" cy="4536504"/>
          </a:xfrm>
        </p:spPr>
        <p:txBody>
          <a:bodyPr>
            <a:normAutofit fontScale="92500" lnSpcReduction="20000"/>
          </a:bodyPr>
          <a:lstStyle/>
          <a:p>
            <a:r>
              <a:rPr lang="ru-RU" sz="2000" dirty="0"/>
              <a:t>Содержание: вторжение войск стран Европы и рыцарских объединений в прибалтийские земли с целью их завоевания.</a:t>
            </a:r>
          </a:p>
          <a:p>
            <a:r>
              <a:rPr lang="ru-RU" sz="2000" dirty="0"/>
              <a:t>Причины: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000" dirty="0"/>
              <a:t>Первая: исчерпанность земель, пригодных для с/х, в Западной Европе и провал крестовых походов на Восток.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000" dirty="0"/>
              <a:t>Вторая: стремление установить контроль над «путем серебра» – волжским торговым путем.</a:t>
            </a:r>
          </a:p>
          <a:p>
            <a:r>
              <a:rPr lang="ru-RU" sz="2000" dirty="0"/>
              <a:t>Идеологическое обоснование: необходимость распространить христианство на те народы Прибалтики, которые оставались «язычниками».</a:t>
            </a:r>
          </a:p>
          <a:p>
            <a:r>
              <a:rPr lang="ru-RU" sz="2000" dirty="0"/>
              <a:t>Организационный формы:</a:t>
            </a:r>
          </a:p>
          <a:p>
            <a:r>
              <a:rPr lang="ru-RU" sz="2000" dirty="0"/>
              <a:t>Походы, организуемые скандинавскими государствами (Швеция, Дания».</a:t>
            </a:r>
          </a:p>
          <a:p>
            <a:r>
              <a:rPr lang="ru-RU" sz="2000" dirty="0"/>
              <a:t>Организация международного крестового похода и формирование (либо переселение в Прибалтику) духовно-рыцарских орденов.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1223888" y="6012085"/>
            <a:ext cx="7776864" cy="86409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Орден  в Средневековье – корпоративная организация (монахов или рыцарей), имеющая собственный устав и внегосударственный характер.</a:t>
            </a:r>
          </a:p>
        </p:txBody>
      </p:sp>
    </p:spTree>
    <p:extLst>
      <p:ext uri="{BB962C8B-B14F-4D97-AF65-F5344CB8AC3E}">
        <p14:creationId xmlns:p14="http://schemas.microsoft.com/office/powerpoint/2010/main" val="1998069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395460"/>
            <a:ext cx="9072563" cy="648073"/>
          </a:xfrm>
        </p:spPr>
        <p:txBody>
          <a:bodyPr/>
          <a:lstStyle/>
          <a:p>
            <a:r>
              <a:rPr lang="ru-RU" sz="2400" dirty="0">
                <a:solidFill>
                  <a:srgbClr val="2F5897"/>
                </a:solidFill>
              </a:rPr>
              <a:t>Угроза с Запада: </a:t>
            </a:r>
            <a:r>
              <a:rPr lang="ru-RU" sz="2400" dirty="0"/>
              <a:t>Последовательность действий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4031" y="1331565"/>
            <a:ext cx="9072563" cy="5421396"/>
          </a:xfrm>
        </p:spPr>
        <p:txBody>
          <a:bodyPr>
            <a:normAutofit fontScale="92500" lnSpcReduction="20000"/>
          </a:bodyPr>
          <a:lstStyle/>
          <a:p>
            <a:r>
              <a:rPr lang="ru-RU" sz="2000" dirty="0"/>
              <a:t>1157 –  вторжение Швеции в Финляндию и ее временная оккупация (прекращена в 1230-е гг.).</a:t>
            </a:r>
          </a:p>
          <a:p>
            <a:r>
              <a:rPr lang="ru-RU" sz="2000" dirty="0"/>
              <a:t>1199 – начало крестового похода в Прибалтику под руководством еп. Адальберта.</a:t>
            </a:r>
          </a:p>
          <a:p>
            <a:r>
              <a:rPr lang="ru-RU" sz="2000" dirty="0"/>
              <a:t>1201 – основание Риги, 1202 – основания «Братства рыцарей христовых» (Ордена Меченосцев).</a:t>
            </a:r>
          </a:p>
          <a:p>
            <a:r>
              <a:rPr lang="ru-RU" sz="2000" dirty="0"/>
              <a:t>1208 – подчинение ордену ливов и летов.</a:t>
            </a:r>
          </a:p>
          <a:p>
            <a:r>
              <a:rPr lang="ru-RU" sz="2000" dirty="0"/>
              <a:t>1219 – поход Дании в земли эстов и основание Ревеля (Таллинна).</a:t>
            </a:r>
          </a:p>
          <a:p>
            <a:r>
              <a:rPr lang="ru-RU" sz="2000" dirty="0"/>
              <a:t>1232 –  прибытие в Польшу рыцарей Тевтонского ордена и начало завоевание земель пруссов (Восточной Пруссии)</a:t>
            </a:r>
          </a:p>
          <a:p>
            <a:r>
              <a:rPr lang="ru-RU" sz="2000" dirty="0"/>
              <a:t>1234 –  победа новгородских войск во главе с кн. Ярославом Всеволодовичем над меченосцами в сражении у Омовжи (земли города Юрьева).</a:t>
            </a:r>
          </a:p>
          <a:p>
            <a:r>
              <a:rPr lang="ru-RU" sz="2000" dirty="0"/>
              <a:t>1237 – организация </a:t>
            </a:r>
            <a:r>
              <a:rPr lang="en-US" sz="2000" dirty="0"/>
              <a:t>II </a:t>
            </a:r>
            <a:r>
              <a:rPr lang="ru-RU" sz="2000" dirty="0"/>
              <a:t>крестового похода в Финляндию; создание Ливонского ордена путем слияния орденов: Тевтонского и меченосцев.</a:t>
            </a:r>
          </a:p>
          <a:p>
            <a:r>
              <a:rPr lang="ru-RU" sz="2000" dirty="0"/>
              <a:t>15 июля 1240 – победа новгородских войск под командованием кн. Александра Ярославича в сражении на Неве.</a:t>
            </a:r>
          </a:p>
          <a:p>
            <a:r>
              <a:rPr lang="ru-RU" sz="2000" dirty="0"/>
              <a:t>1240 – захват Ливонским орденом Изборска и Пскова.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949563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0" y="301625"/>
            <a:ext cx="9072563" cy="741363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2400" dirty="0"/>
              <a:t>Александр Невский и российская тактика ведения боя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223888" y="1547589"/>
            <a:ext cx="7964839" cy="5059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863848" y="301625"/>
            <a:ext cx="8208715" cy="736600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3200" dirty="0"/>
              <a:t>Тверская альтернатива I пол. XIV века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791840" y="1187549"/>
            <a:ext cx="8929688" cy="5062538"/>
          </a:xfrm>
        </p:spPr>
        <p:txBody>
          <a:bodyPr/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>
              <a:buNone/>
            </a:pPr>
            <a:r>
              <a:rPr lang="ru-RU" sz="2400" b="1" dirty="0"/>
              <a:t>Тверь (потомки Ярослава Ярославича) - </a:t>
            </a:r>
            <a:r>
              <a:rPr lang="ru-RU" sz="2400" dirty="0"/>
              <a:t>сильнейшие князья начала века, княжество — форпост Орды на западе.</a:t>
            </a:r>
          </a:p>
          <a:p>
            <a:pPr lvl="0"/>
            <a:r>
              <a:rPr lang="ru-RU" sz="2400" dirty="0"/>
              <a:t>Михаил Ярославич — казнен в Орде по обвинению в убийстве сестры хана.</a:t>
            </a:r>
          </a:p>
          <a:p>
            <a:pPr lvl="0"/>
            <a:r>
              <a:rPr lang="ru-RU" sz="2400" dirty="0"/>
              <a:t>Дмитрий Михайлович — казнен в Орде после того, как убил Юрия Даниловича.</a:t>
            </a:r>
          </a:p>
          <a:p>
            <a:pPr lvl="0"/>
            <a:r>
              <a:rPr lang="ru-RU" sz="2400" dirty="0"/>
              <a:t>Александр Михайлович — потерял княжение, и был казнен вследствие Тверского восстания 1327 г.</a:t>
            </a:r>
          </a:p>
          <a:p>
            <a:pPr lvl="0"/>
            <a:r>
              <a:rPr lang="ru-RU" sz="2400" dirty="0"/>
              <a:t>1345 — 1368 — регулярные междоусобицы между потомками Александра и Константина Михайловичей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3999" y="301320"/>
            <a:ext cx="9071640" cy="886229"/>
          </a:xfrm>
        </p:spPr>
        <p:txBody>
          <a:bodyPr/>
          <a:lstStyle/>
          <a:p>
            <a:pPr>
              <a:buNone/>
            </a:pPr>
            <a:r>
              <a:rPr lang="ru-RU" sz="2800" dirty="0"/>
              <a:t>Альтернативы I пол. XIV века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3808" y="1547589"/>
            <a:ext cx="9071640" cy="4989240"/>
          </a:xfrm>
        </p:spPr>
        <p:txBody>
          <a:bodyPr/>
          <a:lstStyle/>
          <a:p>
            <a:r>
              <a:rPr lang="ru-RU" sz="2400" dirty="0"/>
              <a:t>Москва (потомки Даниила Александровича) — одно из самых маленьких княжеств.</a:t>
            </a:r>
          </a:p>
          <a:p>
            <a:r>
              <a:rPr lang="ru-RU" sz="2400" dirty="0"/>
              <a:t>Юрий Данилович получил ярлык на великое княжение, женившись на сестре хана Кончаке; отобрал у Рязани Коломну.</a:t>
            </a:r>
          </a:p>
          <a:p>
            <a:r>
              <a:rPr lang="ru-RU" sz="2400" dirty="0"/>
              <a:t>Иван Данилович  получил ярлык, подавив тверское восстание; подружился с митрополитом Петром; начал систематическое собирание земель.</a:t>
            </a:r>
          </a:p>
          <a:p>
            <a:r>
              <a:rPr lang="ru-RU" sz="2400" dirty="0"/>
              <a:t>После Калиты (1340) – «третное владение» Москвой, исключавшее междоусобицы.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512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251444"/>
            <a:ext cx="9072563" cy="10801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900" dirty="0"/>
              <a:t>Начальные условия для восстановления суверенитета Руси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6241271"/>
              </p:ext>
            </p:extLst>
          </p:nvPr>
        </p:nvGraphicFramePr>
        <p:xfrm>
          <a:off x="503238" y="1763713"/>
          <a:ext cx="9074150" cy="4989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5109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323452"/>
            <a:ext cx="9072563" cy="72008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2800" dirty="0"/>
              <a:t>Следствия изменений в состоянии Орды в </a:t>
            </a:r>
            <a:r>
              <a:rPr lang="en-US" sz="2800" dirty="0"/>
              <a:t>XIV </a:t>
            </a:r>
            <a:r>
              <a:rPr lang="ru-RU" sz="2800" dirty="0"/>
              <a:t>в.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3808" y="1403573"/>
            <a:ext cx="9072563" cy="4989036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Каракорум очень быстро утерял контроль над провинциями. Русь оказалась в сфере власти «Улуса Джучи», именуемого с </a:t>
            </a:r>
            <a:r>
              <a:rPr lang="en-US" dirty="0"/>
              <a:t>XV </a:t>
            </a:r>
            <a:r>
              <a:rPr lang="ru-RU" dirty="0"/>
              <a:t>века «Золотой ордой».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Переселение ордынских ханов на Русь (как это произошло в Китае, Индии и Иране) было невозможно по цивилизационным причинам. Элита орды не могла существовать вне культуры кочевья.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Принятие мусульманства в Орде сделало невозможным объединение (интеграцию) русской и ордынской элит.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Со второй четверти </a:t>
            </a:r>
            <a:r>
              <a:rPr lang="en-US" dirty="0"/>
              <a:t>XIV </a:t>
            </a:r>
            <a:r>
              <a:rPr lang="ru-RU" dirty="0"/>
              <a:t>века объем реальной власти Орды постоянно сокращался. При этом номинально власть хана Золотой орды признавалась наивысшей – царской.</a:t>
            </a:r>
          </a:p>
        </p:txBody>
      </p:sp>
    </p:spTree>
    <p:extLst>
      <p:ext uri="{BB962C8B-B14F-4D97-AF65-F5344CB8AC3E}">
        <p14:creationId xmlns:p14="http://schemas.microsoft.com/office/powerpoint/2010/main" val="3556865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251445"/>
            <a:ext cx="9072563" cy="792088"/>
          </a:xfrm>
        </p:spPr>
        <p:txBody>
          <a:bodyPr>
            <a:normAutofit fontScale="90000"/>
          </a:bodyPr>
          <a:lstStyle/>
          <a:p>
            <a:r>
              <a:rPr lang="ru-RU" sz="3500" dirty="0"/>
              <a:t>Московские князья в отношениях с Ордой: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4031" y="1477948"/>
            <a:ext cx="9072563" cy="5661745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Юрий Данилович: вступил в борьбу за ярлык великого князя Владимирского, женившись на жене хана. Зарублен в Орде тверским князем Дмитрием Грозные очи.</a:t>
            </a:r>
          </a:p>
          <a:p>
            <a:r>
              <a:rPr lang="ru-RU" dirty="0"/>
              <a:t>Иван Данилович Калита: помог подавить восстание в Твери (1327 г.) и получил ярлык на половину великого княжения; право самому собирать дань; обещание не посылать «рати» в Московскую землю; обещание передать ярлык его сыну.</a:t>
            </a:r>
          </a:p>
          <a:p>
            <a:r>
              <a:rPr lang="ru-RU" dirty="0"/>
              <a:t>Иван Иванович Красный: в 1357 году не пустил к себе ханского посла, приехавшего установить межевание между Москвой и Рязанью.</a:t>
            </a:r>
          </a:p>
          <a:p>
            <a:r>
              <a:rPr lang="ru-RU" dirty="0"/>
              <a:t>Дмитрий Иванович Донской: в 1362 году получил ярлык без поездки в Орду; отказался платить дань Мамаю и в Куликовской битве (1380 г.) разбил его войска. Получил ярлык на великое княжение и восстановил выплату дани после разграбления Москвы Тохтамышем.</a:t>
            </a:r>
          </a:p>
          <a:p>
            <a:r>
              <a:rPr lang="ru-RU" dirty="0"/>
              <a:t>Василий </a:t>
            </a:r>
            <a:r>
              <a:rPr lang="en-US" dirty="0"/>
              <a:t>I </a:t>
            </a:r>
            <a:r>
              <a:rPr lang="ru-RU" dirty="0"/>
              <a:t>Дмитриевич: несколько лет не платил дани, пока Москву не осадил Едигей (1408).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7929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323453"/>
            <a:ext cx="9072563" cy="864096"/>
          </a:xfrm>
        </p:spPr>
        <p:txBody>
          <a:bodyPr>
            <a:normAutofit fontScale="90000"/>
          </a:bodyPr>
          <a:lstStyle/>
          <a:p>
            <a:r>
              <a:rPr lang="ru-RU" sz="3500" dirty="0"/>
              <a:t>Московские князья в отношениях с вечем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4031" y="1403573"/>
            <a:ext cx="9072563" cy="5349388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Иван Калита</a:t>
            </a:r>
            <a:r>
              <a:rPr lang="ru-RU" dirty="0"/>
              <a:t>: увез</a:t>
            </a:r>
            <a:r>
              <a:rPr lang="en-US" dirty="0"/>
              <a:t> </a:t>
            </a:r>
            <a:r>
              <a:rPr lang="ru-RU" dirty="0"/>
              <a:t>вечевой колокол из Твери в Москву; повесил за ноги «старейшаго болярина ростовскаго, именем Аверкый».</a:t>
            </a:r>
          </a:p>
          <a:p>
            <a:r>
              <a:rPr lang="ru-RU" b="1" dirty="0"/>
              <a:t>Симеон Грозный</a:t>
            </a:r>
            <a:r>
              <a:rPr lang="ru-RU" dirty="0"/>
              <a:t>: изгнал из города московского тысяцкого Алексея Хвоста и его детей после жесткого конфликта с ними.</a:t>
            </a:r>
          </a:p>
          <a:p>
            <a:r>
              <a:rPr lang="ru-RU" b="1" dirty="0"/>
              <a:t>Иван Красный</a:t>
            </a:r>
            <a:r>
              <a:rPr lang="ru-RU" dirty="0"/>
              <a:t>: вернул Алексея Хвоста, но вскоре тот был таинственно убит. Тысяцким стал боярин Василий Вельяминов.</a:t>
            </a:r>
          </a:p>
          <a:p>
            <a:r>
              <a:rPr lang="ru-RU" b="1" dirty="0"/>
              <a:t>Дмитрий Донской</a:t>
            </a:r>
            <a:r>
              <a:rPr lang="ru-RU" dirty="0"/>
              <a:t>: «Августа в 30 день на память святого мученика Феликса (…) убьен бысть Иванъ Васильевъ сынъ Тысяцкого, мечемъ поятъ бысть на Кучкове поле, у города у Москвы, повелениемъ князя великого Дмитрия Ивановичя» (св. Феликс, епископ Равенны, враждовал с императором Юстинианом </a:t>
            </a:r>
            <a:r>
              <a:rPr lang="en-US" dirty="0"/>
              <a:t>II</a:t>
            </a:r>
            <a:r>
              <a:rPr lang="ru-RU" dirty="0"/>
              <a:t>, был арестован и примирился с государем).</a:t>
            </a:r>
          </a:p>
        </p:txBody>
      </p:sp>
    </p:spTree>
    <p:extLst>
      <p:ext uri="{BB962C8B-B14F-4D97-AF65-F5344CB8AC3E}">
        <p14:creationId xmlns:p14="http://schemas.microsoft.com/office/powerpoint/2010/main" val="2634567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395461"/>
            <a:ext cx="9072563" cy="936104"/>
          </a:xfrm>
        </p:spPr>
        <p:txBody>
          <a:bodyPr>
            <a:noAutofit/>
          </a:bodyPr>
          <a:lstStyle/>
          <a:p>
            <a:r>
              <a:rPr lang="ru-RU" sz="3500" dirty="0"/>
              <a:t>Московское вече отмирает: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9272204"/>
              </p:ext>
            </p:extLst>
          </p:nvPr>
        </p:nvGraphicFramePr>
        <p:xfrm>
          <a:off x="350965" y="1475581"/>
          <a:ext cx="9140542" cy="42384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7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51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28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Повесть о нашествии Тохтамыша.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События происходят в 1382 г.</a:t>
                      </a:r>
                    </a:p>
                  </a:txBody>
                  <a:tcPr marL="49003" marR="49003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4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9003" marR="49003" marT="0" marB="0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Сказание о нашествии Едигея.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 b="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События</a:t>
                      </a:r>
                      <a:r>
                        <a:rPr lang="ru-RU" sz="24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 происходят в 1408 г.</a:t>
                      </a:r>
                    </a:p>
                  </a:txBody>
                  <a:tcPr marL="49003" marR="49003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61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imes New Roman"/>
                          <a:ea typeface="Times New Roman"/>
                        </a:rPr>
                        <a:t>«Бяху людие смущени, яко овца, не имуще пастуха, гражданстии народи възмятошася и въсколибашася якои пьани. (…) И </a:t>
                      </a:r>
                      <a:r>
                        <a:rPr lang="ru-RU" sz="2600" b="1" dirty="0">
                          <a:effectLst/>
                          <a:latin typeface="Times New Roman"/>
                          <a:ea typeface="Times New Roman"/>
                        </a:rPr>
                        <a:t>створиша вече, позвониша въ вся колоколы</a:t>
                      </a:r>
                      <a:r>
                        <a:rPr lang="ru-RU" sz="2600" dirty="0">
                          <a:effectLst/>
                          <a:latin typeface="Times New Roman"/>
                          <a:ea typeface="Times New Roman"/>
                        </a:rPr>
                        <a:t>».</a:t>
                      </a:r>
                    </a:p>
                  </a:txBody>
                  <a:tcPr marL="49003" marR="49003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ru-RU" sz="2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9003" marR="49003" marT="0" marB="0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imes New Roman"/>
                          <a:ea typeface="Times New Roman"/>
                        </a:rPr>
                        <a:t>«И людие </a:t>
                      </a:r>
                      <a:r>
                        <a:rPr lang="ru-RU" sz="2600" b="1" dirty="0">
                          <a:effectLst/>
                          <a:latin typeface="Times New Roman"/>
                          <a:ea typeface="Times New Roman"/>
                        </a:rPr>
                        <a:t>начаша зело бежати</a:t>
                      </a:r>
                      <a:r>
                        <a:rPr lang="ru-RU" sz="2600" dirty="0">
                          <a:effectLst/>
                          <a:latin typeface="Times New Roman"/>
                          <a:ea typeface="Times New Roman"/>
                        </a:rPr>
                        <a:t>, небрегуще ни о имении, ни о ином ни о чем же. И начаша злая бывати въ человецехь, и хишници грабяче явишася. Повелеша же посады града жещи».</a:t>
                      </a:r>
                    </a:p>
                  </a:txBody>
                  <a:tcPr marL="49003" marR="49003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Скругленный прямоугольник 2"/>
          <p:cNvSpPr/>
          <p:nvPr/>
        </p:nvSpPr>
        <p:spPr>
          <a:xfrm>
            <a:off x="674201" y="6084093"/>
            <a:ext cx="8494069" cy="873130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0783" tIns="50392" rIns="100783" bIns="50392" rtlCol="0" anchor="ctr"/>
          <a:lstStyle/>
          <a:p>
            <a:pPr algn="ctr" defTabSz="1007838"/>
            <a:r>
              <a:rPr lang="ru-RU" dirty="0">
                <a:solidFill>
                  <a:prstClr val="black"/>
                </a:solidFill>
              </a:rPr>
              <a:t>Отсутствие вечевой реакции на осаду города в 1408 г. – свидетельство того, что вечевая традиция умерла. </a:t>
            </a:r>
          </a:p>
        </p:txBody>
      </p:sp>
    </p:spTree>
    <p:extLst>
      <p:ext uri="{BB962C8B-B14F-4D97-AF65-F5344CB8AC3E}">
        <p14:creationId xmlns:p14="http://schemas.microsoft.com/office/powerpoint/2010/main" val="4146736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3808" y="251445"/>
            <a:ext cx="9072563" cy="129645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3500" dirty="0"/>
              <a:t>Иерархи церкви в отношении с московскими князьями: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Петр (1308–1326). Начал строительство каменного храма в Москве; наблюдая за ним, подолгу жил в гостях у Ивана Калиты. После смерти канонизирован как месточтимый московский святой.</a:t>
            </a:r>
          </a:p>
          <a:p>
            <a:r>
              <a:rPr lang="ru-RU" dirty="0"/>
              <a:t>Феогност (1328–1353). Перенес в Москву свою резиденцию. Поддержал Московских князей в борьбе за лидерство. Вступил в конфликт с Симеоном Грозным по поводу </a:t>
            </a:r>
            <a:r>
              <a:rPr lang="en-US" dirty="0"/>
              <a:t>III </a:t>
            </a:r>
            <a:r>
              <a:rPr lang="ru-RU" dirty="0"/>
              <a:t>брака князя.</a:t>
            </a:r>
          </a:p>
          <a:p>
            <a:r>
              <a:rPr lang="ru-RU" dirty="0"/>
              <a:t>Алексий (1354–1378). Воспитатель Дмитрия Донского и фактический глава московского княжества в годы отрочества великого князя. Закрыл церкви рязанского княжества в дни конфликта рязанского князя с Москвой</a:t>
            </a:r>
          </a:p>
          <a:p>
            <a:r>
              <a:rPr lang="ru-RU" dirty="0"/>
              <a:t>Митяй. Ключник великого князя. Дмитрий Донской попытался добиться его поставления в митрополиты. Неудачно.</a:t>
            </a:r>
          </a:p>
        </p:txBody>
      </p:sp>
    </p:spTree>
    <p:extLst>
      <p:ext uri="{BB962C8B-B14F-4D97-AF65-F5344CB8AC3E}">
        <p14:creationId xmlns:p14="http://schemas.microsoft.com/office/powerpoint/2010/main" val="16785845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9072563" cy="431800"/>
          </a:xfrm>
        </p:spPr>
        <p:txBody>
          <a:bodyPr>
            <a:sp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2800" dirty="0"/>
              <a:t>Роль Новгорода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863848" y="1116013"/>
            <a:ext cx="8208715" cy="2487047"/>
          </a:xfrm>
        </p:spPr>
        <p:txBody>
          <a:bodyPr wrap="square">
            <a:spAutoFit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000" dirty="0"/>
              <a:t>Новгород ни разу не подвергался ордынскому разорению.</a:t>
            </a:r>
          </a:p>
          <a:p>
            <a:pPr lvl="0"/>
            <a:r>
              <a:rPr lang="ru-RU" sz="2000" dirty="0"/>
              <a:t>Вместо дани Новгородская земля платила черный бор.</a:t>
            </a:r>
          </a:p>
          <a:p>
            <a:pPr lvl="0"/>
            <a:r>
              <a:rPr lang="ru-RU" sz="2000" dirty="0"/>
              <a:t>Новгород играл ключевую роль в торговле по «Волжскому пути», в торговле между Азией и Европой.</a:t>
            </a:r>
          </a:p>
          <a:p>
            <a:pPr lvl="0"/>
            <a:r>
              <a:rPr lang="ru-RU" sz="2000" dirty="0"/>
              <a:t>В Новгороде работали ремесленники более 1000 специальностей.</a:t>
            </a:r>
          </a:p>
        </p:txBody>
      </p:sp>
      <p:sp>
        <p:nvSpPr>
          <p:cNvPr id="4" name="Текст 3"/>
          <p:cNvSpPr txBox="1">
            <a:spLocks noGrp="1"/>
          </p:cNvSpPr>
          <p:nvPr>
            <p:ph type="body" idx="4294967295"/>
          </p:nvPr>
        </p:nvSpPr>
        <p:spPr>
          <a:xfrm>
            <a:off x="935856" y="3851276"/>
            <a:ext cx="8136707" cy="1944786"/>
          </a:xfrm>
        </p:spPr>
        <p:txBody>
          <a:bodyPr>
            <a:normAutofit fontScale="85000" lnSpcReduction="20000"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marL="108000" lvl="0" indent="0" algn="ctr">
              <a:buNone/>
            </a:pPr>
            <a:r>
              <a:rPr lang="ru-RU" sz="1800" b="1" dirty="0"/>
              <a:t>КТО ПРАВИТ Новгородом, ТОТ ИМЕЕТ ВСЁ!!!</a:t>
            </a:r>
          </a:p>
          <a:p>
            <a:pPr marL="108000" lvl="0" indent="0">
              <a:buNone/>
            </a:pPr>
            <a:endParaRPr lang="ru-RU" sz="1800" dirty="0"/>
          </a:p>
          <a:p>
            <a:pPr marL="108000" lvl="0" indent="0">
              <a:buNone/>
            </a:pPr>
            <a:r>
              <a:rPr lang="ru-RU" sz="1800" dirty="0"/>
              <a:t>Со II трети XII века Новгородцы сами выбирают себе князя и могут его изгнать...</a:t>
            </a:r>
          </a:p>
          <a:p>
            <a:pPr marL="108000" lvl="0" indent="0" algn="ctr">
              <a:buNone/>
            </a:pPr>
            <a:r>
              <a:rPr lang="ru-RU" sz="1800" dirty="0"/>
              <a:t>но</a:t>
            </a:r>
          </a:p>
          <a:p>
            <a:pPr marL="108000" lvl="0" indent="0" algn="l">
              <a:buNone/>
            </a:pPr>
            <a:r>
              <a:rPr lang="ru-RU" sz="1800" dirty="0"/>
              <a:t> … по традиции, идущей от Всеволода Большое Гнездо, преимущество было у Великого князя Владимирского.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583928" y="6012085"/>
            <a:ext cx="7200800" cy="79208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В 1246 г. князь Симеон Иванович гордый утвердил свою власть в Новгороде и получил новые ресурсы для возвышения Москвы.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0" y="301625"/>
            <a:ext cx="9072563" cy="598488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2800" dirty="0"/>
              <a:t>Альтернатива III четв. XIV в.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719832" y="1331565"/>
            <a:ext cx="4425950" cy="4968875"/>
          </a:xfrm>
        </p:spPr>
        <p:txBody>
          <a:bodyPr>
            <a:normAutofit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>
              <a:buNone/>
            </a:pPr>
            <a:r>
              <a:rPr lang="ru-RU" sz="1600" dirty="0"/>
              <a:t>Новгород</a:t>
            </a:r>
          </a:p>
          <a:p>
            <a:pPr lvl="0"/>
            <a:r>
              <a:rPr lang="ru-RU" sz="1600" dirty="0"/>
              <a:t>Обладает уникальной для Руси свободой: от князя, от Орды, от руководства церкви</a:t>
            </a:r>
          </a:p>
          <a:p>
            <a:pPr lvl="0"/>
            <a:r>
              <a:rPr lang="ru-RU" sz="1600" dirty="0"/>
              <a:t>Обеспечивает движение товаров по «пути серебра».</a:t>
            </a:r>
          </a:p>
          <a:p>
            <a:pPr lvl="0"/>
            <a:r>
              <a:rPr lang="ru-RU" sz="1600" dirty="0"/>
              <a:t>Заинтересован в сохранении «низа», т. е. княжеств по Оке и Волге, под властью Орды</a:t>
            </a:r>
          </a:p>
          <a:p>
            <a:pPr lvl="0"/>
            <a:r>
              <a:rPr lang="ru-RU" sz="1600" dirty="0"/>
              <a:t>Отправляет «на низ» ушкуйников.</a:t>
            </a:r>
          </a:p>
          <a:p>
            <a:pPr lvl="0"/>
            <a:r>
              <a:rPr lang="ru-RU" sz="1600" dirty="0"/>
              <a:t>Стремится установить прямые отношения с Литвой, Польшей и Ордой.</a:t>
            </a:r>
          </a:p>
          <a:p>
            <a:pPr marL="108000" lvl="0" indent="0">
              <a:buNone/>
            </a:pPr>
            <a:endParaRPr lang="ru-RU" sz="1600" dirty="0"/>
          </a:p>
          <a:p>
            <a:pPr marL="108000" lvl="0" indent="0">
              <a:buNone/>
            </a:pPr>
            <a:r>
              <a:rPr lang="ru-RU" sz="1600" b="1" dirty="0"/>
              <a:t>БЛИЖАЙШИЙ АНАЛОГ – ВЕНЕЦИАНСКАЯ РЕСПУБЛИКА</a:t>
            </a:r>
          </a:p>
        </p:txBody>
      </p:sp>
      <p:sp>
        <p:nvSpPr>
          <p:cNvPr id="4" name="Текст 3"/>
          <p:cNvSpPr txBox="1">
            <a:spLocks noGrp="1"/>
          </p:cNvSpPr>
          <p:nvPr>
            <p:ph type="body" idx="4294967295"/>
          </p:nvPr>
        </p:nvSpPr>
        <p:spPr>
          <a:xfrm>
            <a:off x="5654675" y="1258888"/>
            <a:ext cx="4425950" cy="4968875"/>
          </a:xfrm>
        </p:spPr>
        <p:txBody>
          <a:bodyPr>
            <a:normAutofit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>
              <a:buNone/>
            </a:pPr>
            <a:r>
              <a:rPr lang="ru-RU" sz="1600" dirty="0"/>
              <a:t>Москва (Дмитрий Иванович):</a:t>
            </a:r>
          </a:p>
          <a:p>
            <a:pPr lvl="0"/>
            <a:r>
              <a:rPr lang="ru-RU" sz="1600" dirty="0"/>
              <a:t>Запрещает новгородцам ушкуйничать на Волге и ее притоках.</a:t>
            </a:r>
          </a:p>
          <a:p>
            <a:pPr lvl="0"/>
            <a:r>
              <a:rPr lang="ru-RU" sz="1600" dirty="0"/>
              <a:t>Настаивает на своем праве отвечать перед Ордой за Все русские земли.</a:t>
            </a:r>
          </a:p>
          <a:p>
            <a:pPr lvl="0"/>
            <a:r>
              <a:rPr lang="ru-RU" sz="1600" dirty="0"/>
              <a:t>Претендует на собственную роль в делах церкви.</a:t>
            </a:r>
          </a:p>
          <a:p>
            <a:pPr lvl="0"/>
            <a:r>
              <a:rPr lang="ru-RU" sz="1600" dirty="0"/>
              <a:t>Выдвигает идею общерусского единства для достижения свободы от власти Орды</a:t>
            </a:r>
          </a:p>
          <a:p>
            <a:pPr marL="108000" lvl="0" indent="0">
              <a:buNone/>
            </a:pPr>
            <a:endParaRPr lang="ru-RU" sz="1600" dirty="0"/>
          </a:p>
          <a:p>
            <a:pPr marL="108000" lvl="0" indent="0">
              <a:buNone/>
            </a:pPr>
            <a:endParaRPr lang="ru-RU" sz="1600" dirty="0"/>
          </a:p>
          <a:p>
            <a:pPr marL="108000" lvl="0" indent="0">
              <a:buNone/>
            </a:pPr>
            <a:endParaRPr lang="ru-RU" sz="1600" dirty="0"/>
          </a:p>
          <a:p>
            <a:pPr marL="108000" lvl="0" indent="0">
              <a:buNone/>
            </a:pPr>
            <a:r>
              <a:rPr lang="ru-RU" sz="1600" b="1" dirty="0"/>
              <a:t>БЛИЖАЙШИЙ АНАЛОГ- КОРОЛЕВСТВО ЛЕОНА  КАСТИЛИИ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935856" y="323453"/>
            <a:ext cx="8136707" cy="922516"/>
          </a:xfrm>
        </p:spPr>
        <p:txBody>
          <a:bodyPr wrap="square">
            <a:sp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2800" dirty="0"/>
              <a:t>Общерусский характер Куликовской битвы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791840" y="1768475"/>
            <a:ext cx="8280723" cy="4603750"/>
          </a:xfrm>
        </p:spPr>
        <p:txBody>
          <a:bodyPr/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400" dirty="0"/>
              <a:t>Войско составили помимо московской и серпуховской, также дружины из Ростова, Белоозера, Ярославля, Суздали, Смоленска.</a:t>
            </a:r>
          </a:p>
          <a:p>
            <a:pPr lvl="0"/>
            <a:r>
              <a:rPr lang="ru-RU" sz="2400" dirty="0"/>
              <a:t>Демонстративная поддержка русской православной церкви (игуменом Сергием).</a:t>
            </a:r>
          </a:p>
          <a:p>
            <a:pPr lvl="0"/>
            <a:r>
              <a:rPr lang="ru-RU" sz="2400" dirty="0"/>
              <a:t>Дата сражения — 8.09 — рождество Богородицы, покровительницы Руси.</a:t>
            </a:r>
          </a:p>
          <a:p>
            <a:pPr lvl="0"/>
            <a:r>
              <a:rPr lang="ru-RU" sz="2400" dirty="0"/>
              <a:t>Восприятие битвы как общерусского подвига и точки отсчета новой истории Руси («Задонщина», «Сказание о Мамаевом побоище»)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69484" y="827509"/>
            <a:ext cx="8396884" cy="56886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0" y="301625"/>
            <a:ext cx="9072563" cy="741363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3200" dirty="0"/>
              <a:t>Русь и Орда: период противоборства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1009651" y="1187450"/>
            <a:ext cx="8783190" cy="4989513"/>
          </a:xfrm>
        </p:spPr>
        <p:txBody>
          <a:bodyPr/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000" dirty="0"/>
              <a:t>1375 — примерно с этого года Москва не платит дань.</a:t>
            </a:r>
          </a:p>
          <a:p>
            <a:pPr lvl="0"/>
            <a:r>
              <a:rPr lang="ru-RU" sz="2000" dirty="0"/>
              <a:t>1377 — Боброк Волынский захватил Булгар.</a:t>
            </a:r>
          </a:p>
          <a:p>
            <a:pPr lvl="0"/>
            <a:r>
              <a:rPr lang="ru-RU" sz="2000" dirty="0"/>
              <a:t>1377 — русские войска потерпели поражение на р. Пьяне.</a:t>
            </a:r>
          </a:p>
          <a:p>
            <a:pPr lvl="0"/>
            <a:r>
              <a:rPr lang="ru-RU" sz="2000" dirty="0"/>
              <a:t>1378 — разбито войско мурзы Бегича.</a:t>
            </a:r>
          </a:p>
          <a:p>
            <a:pPr lvl="0"/>
            <a:r>
              <a:rPr lang="ru-RU" sz="2000" dirty="0"/>
              <a:t>1380 — Куликовская битва.</a:t>
            </a:r>
          </a:p>
          <a:p>
            <a:pPr lvl="0"/>
            <a:r>
              <a:rPr lang="ru-RU" sz="2000" dirty="0"/>
              <a:t>1382 — приход Тохтамыша, дань восстановлена.</a:t>
            </a:r>
          </a:p>
          <a:p>
            <a:pPr lvl="0"/>
            <a:r>
              <a:rPr lang="ru-RU" sz="2000" dirty="0"/>
              <a:t>1389 — Дмитрий Донской оставляет великое княжение сыну как свою «вотчину».</a:t>
            </a:r>
          </a:p>
          <a:p>
            <a:pPr lvl="0"/>
            <a:r>
              <a:rPr lang="ru-RU" sz="2000" dirty="0"/>
              <a:t>1395 — Тимур (Темир-Аксак) с войском стоял на р. Воже, но на Русь не пошел. Русь не платит дань.</a:t>
            </a:r>
          </a:p>
          <a:p>
            <a:pPr lvl="0"/>
            <a:r>
              <a:rPr lang="ru-RU" sz="2000" dirty="0"/>
              <a:t>1408  - Мурза Едигей осадил Москву и восстановил выплату дани.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417</TotalTime>
  <Words>2125</Words>
  <Application>Microsoft Office PowerPoint</Application>
  <PresentationFormat>Произвольный</PresentationFormat>
  <Paragraphs>166</Paragraphs>
  <Slides>24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3" baseType="lpstr">
      <vt:lpstr>Arial</vt:lpstr>
      <vt:lpstr>Calibri</vt:lpstr>
      <vt:lpstr>Century Gothic</vt:lpstr>
      <vt:lpstr>Courier New</vt:lpstr>
      <vt:lpstr>Palatino Linotype</vt:lpstr>
      <vt:lpstr>StarSymbol</vt:lpstr>
      <vt:lpstr>Times New Roman</vt:lpstr>
      <vt:lpstr>Wingdings</vt:lpstr>
      <vt:lpstr>Исполнительная</vt:lpstr>
      <vt:lpstr>История России</vt:lpstr>
      <vt:lpstr>Кочевая цивилизация:</vt:lpstr>
      <vt:lpstr>Варианты взаимодействия кочевой цивилизации с аграрной</vt:lpstr>
      <vt:lpstr>Монгольская Орда</vt:lpstr>
      <vt:lpstr>Походы Батыя</vt:lpstr>
      <vt:lpstr>Последствия «батыева разорения»</vt:lpstr>
      <vt:lpstr>Что называется «ордынским игом»?</vt:lpstr>
      <vt:lpstr>Альтернативные стратегии поведения</vt:lpstr>
      <vt:lpstr>Угроза с Запада</vt:lpstr>
      <vt:lpstr>Угроза с Запада: Последовательность действий</vt:lpstr>
      <vt:lpstr>Александр Невский и российская тактика ведения боя</vt:lpstr>
      <vt:lpstr>Тверская альтернатива I пол. XIV века</vt:lpstr>
      <vt:lpstr>Альтернативы I пол. XIV века</vt:lpstr>
      <vt:lpstr>Начальные условия для восстановления суверенитета Руси</vt:lpstr>
      <vt:lpstr>Следствия изменений в состоянии Орды в XIV в.</vt:lpstr>
      <vt:lpstr>Московские князья в отношениях с Ордой:</vt:lpstr>
      <vt:lpstr>Московские князья в отношениях с вечем</vt:lpstr>
      <vt:lpstr>Московское вече отмирает:</vt:lpstr>
      <vt:lpstr>Иерархи церкви в отношении с московскими князьями:</vt:lpstr>
      <vt:lpstr>Роль Новгорода</vt:lpstr>
      <vt:lpstr>Альтернатива III четв. XIV в.</vt:lpstr>
      <vt:lpstr>Общерусский характер Куликовской битвы</vt:lpstr>
      <vt:lpstr>Презентация PowerPoint</vt:lpstr>
      <vt:lpstr>Русь и Орда: период противоборства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Константин Соловьев</dc:creator>
  <cp:lastModifiedBy>Константин Соловьев</cp:lastModifiedBy>
  <cp:revision>33</cp:revision>
  <dcterms:created xsi:type="dcterms:W3CDTF">2015-08-11T12:42:13Z</dcterms:created>
  <dcterms:modified xsi:type="dcterms:W3CDTF">2023-08-24T11:16:14Z</dcterms:modified>
</cp:coreProperties>
</file>